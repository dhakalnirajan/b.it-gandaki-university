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73" r:id="rId6"/>
    <p:sldId id="274" r:id="rId7"/>
    <p:sldId id="260" r:id="rId8"/>
    <p:sldId id="275" r:id="rId9"/>
    <p:sldId id="276" r:id="rId10"/>
    <p:sldId id="261" r:id="rId11"/>
    <p:sldId id="277" r:id="rId12"/>
    <p:sldId id="278" r:id="rId13"/>
    <p:sldId id="279" r:id="rId14"/>
    <p:sldId id="280" r:id="rId15"/>
    <p:sldId id="262" r:id="rId16"/>
    <p:sldId id="270" r:id="rId17"/>
    <p:sldId id="263" r:id="rId18"/>
    <p:sldId id="268" r:id="rId19"/>
    <p:sldId id="264" r:id="rId20"/>
    <p:sldId id="271" r:id="rId21"/>
    <p:sldId id="272" r:id="rId22"/>
    <p:sldId id="265" r:id="rId23"/>
    <p:sldId id="266" r:id="rId24"/>
    <p:sldId id="26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D6394F9-CA27-4B25-A77D-516EB90BA190}"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40A921-F3EA-4E1E-8E28-862AAAFC4D06}" type="slidenum">
              <a:rPr lang="en-US" smtClean="0"/>
              <a:t>‹#›</a:t>
            </a:fld>
            <a:endParaRPr lang="en-US"/>
          </a:p>
        </p:txBody>
      </p:sp>
    </p:spTree>
    <p:extLst>
      <p:ext uri="{BB962C8B-B14F-4D97-AF65-F5344CB8AC3E}">
        <p14:creationId xmlns:p14="http://schemas.microsoft.com/office/powerpoint/2010/main" val="2319623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6394F9-CA27-4B25-A77D-516EB90BA190}"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40A921-F3EA-4E1E-8E28-862AAAFC4D06}" type="slidenum">
              <a:rPr lang="en-US" smtClean="0"/>
              <a:t>‹#›</a:t>
            </a:fld>
            <a:endParaRPr lang="en-US"/>
          </a:p>
        </p:txBody>
      </p:sp>
    </p:spTree>
    <p:extLst>
      <p:ext uri="{BB962C8B-B14F-4D97-AF65-F5344CB8AC3E}">
        <p14:creationId xmlns:p14="http://schemas.microsoft.com/office/powerpoint/2010/main" val="1404319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D6394F9-CA27-4B25-A77D-516EB90BA190}"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40A921-F3EA-4E1E-8E28-862AAAFC4D06}" type="slidenum">
              <a:rPr lang="en-US" smtClean="0"/>
              <a:t>‹#›</a:t>
            </a:fld>
            <a:endParaRPr lang="en-US"/>
          </a:p>
        </p:txBody>
      </p:sp>
    </p:spTree>
    <p:extLst>
      <p:ext uri="{BB962C8B-B14F-4D97-AF65-F5344CB8AC3E}">
        <p14:creationId xmlns:p14="http://schemas.microsoft.com/office/powerpoint/2010/main" val="1661204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6394F9-CA27-4B25-A77D-516EB90BA190}"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40A921-F3EA-4E1E-8E28-862AAAFC4D06}" type="slidenum">
              <a:rPr lang="en-US" smtClean="0"/>
              <a:t>‹#›</a:t>
            </a:fld>
            <a:endParaRPr lang="en-US"/>
          </a:p>
        </p:txBody>
      </p:sp>
    </p:spTree>
    <p:extLst>
      <p:ext uri="{BB962C8B-B14F-4D97-AF65-F5344CB8AC3E}">
        <p14:creationId xmlns:p14="http://schemas.microsoft.com/office/powerpoint/2010/main" val="1459898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6394F9-CA27-4B25-A77D-516EB90BA190}"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40A921-F3EA-4E1E-8E28-862AAAFC4D06}" type="slidenum">
              <a:rPr lang="en-US" smtClean="0"/>
              <a:t>‹#›</a:t>
            </a:fld>
            <a:endParaRPr lang="en-US"/>
          </a:p>
        </p:txBody>
      </p:sp>
    </p:spTree>
    <p:extLst>
      <p:ext uri="{BB962C8B-B14F-4D97-AF65-F5344CB8AC3E}">
        <p14:creationId xmlns:p14="http://schemas.microsoft.com/office/powerpoint/2010/main" val="2646392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6394F9-CA27-4B25-A77D-516EB90BA190}"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40A921-F3EA-4E1E-8E28-862AAAFC4D06}" type="slidenum">
              <a:rPr lang="en-US" smtClean="0"/>
              <a:t>‹#›</a:t>
            </a:fld>
            <a:endParaRPr lang="en-US"/>
          </a:p>
        </p:txBody>
      </p:sp>
    </p:spTree>
    <p:extLst>
      <p:ext uri="{BB962C8B-B14F-4D97-AF65-F5344CB8AC3E}">
        <p14:creationId xmlns:p14="http://schemas.microsoft.com/office/powerpoint/2010/main" val="2503084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6394F9-CA27-4B25-A77D-516EB90BA190}"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40A921-F3EA-4E1E-8E28-862AAAFC4D06}" type="slidenum">
              <a:rPr lang="en-US" smtClean="0"/>
              <a:t>‹#›</a:t>
            </a:fld>
            <a:endParaRPr lang="en-US"/>
          </a:p>
        </p:txBody>
      </p:sp>
    </p:spTree>
    <p:extLst>
      <p:ext uri="{BB962C8B-B14F-4D97-AF65-F5344CB8AC3E}">
        <p14:creationId xmlns:p14="http://schemas.microsoft.com/office/powerpoint/2010/main" val="2822237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D6394F9-CA27-4B25-A77D-516EB90BA190}"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40A921-F3EA-4E1E-8E28-862AAAFC4D06}" type="slidenum">
              <a:rPr lang="en-US" smtClean="0"/>
              <a:t>‹#›</a:t>
            </a:fld>
            <a:endParaRPr lang="en-US"/>
          </a:p>
        </p:txBody>
      </p:sp>
    </p:spTree>
    <p:extLst>
      <p:ext uri="{BB962C8B-B14F-4D97-AF65-F5344CB8AC3E}">
        <p14:creationId xmlns:p14="http://schemas.microsoft.com/office/powerpoint/2010/main" val="1700155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D6394F9-CA27-4B25-A77D-516EB90BA190}"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40A921-F3EA-4E1E-8E28-862AAAFC4D06}" type="slidenum">
              <a:rPr lang="en-US" smtClean="0"/>
              <a:t>‹#›</a:t>
            </a:fld>
            <a:endParaRPr lang="en-US"/>
          </a:p>
        </p:txBody>
      </p:sp>
    </p:spTree>
    <p:extLst>
      <p:ext uri="{BB962C8B-B14F-4D97-AF65-F5344CB8AC3E}">
        <p14:creationId xmlns:p14="http://schemas.microsoft.com/office/powerpoint/2010/main" val="3255494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6394F9-CA27-4B25-A77D-516EB90BA190}"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40A921-F3EA-4E1E-8E28-862AAAFC4D06}" type="slidenum">
              <a:rPr lang="en-US" smtClean="0"/>
              <a:t>‹#›</a:t>
            </a:fld>
            <a:endParaRPr lang="en-US"/>
          </a:p>
        </p:txBody>
      </p:sp>
    </p:spTree>
    <p:extLst>
      <p:ext uri="{BB962C8B-B14F-4D97-AF65-F5344CB8AC3E}">
        <p14:creationId xmlns:p14="http://schemas.microsoft.com/office/powerpoint/2010/main" val="4155753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6394F9-CA27-4B25-A77D-516EB90BA190}"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40A921-F3EA-4E1E-8E28-862AAAFC4D06}" type="slidenum">
              <a:rPr lang="en-US" smtClean="0"/>
              <a:t>‹#›</a:t>
            </a:fld>
            <a:endParaRPr lang="en-US"/>
          </a:p>
        </p:txBody>
      </p:sp>
    </p:spTree>
    <p:extLst>
      <p:ext uri="{BB962C8B-B14F-4D97-AF65-F5344CB8AC3E}">
        <p14:creationId xmlns:p14="http://schemas.microsoft.com/office/powerpoint/2010/main" val="1599010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394F9-CA27-4B25-A77D-516EB90BA190}" type="datetimeFigureOut">
              <a:rPr lang="en-US" smtClean="0"/>
              <a:t>12/2/2025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40A921-F3EA-4E1E-8E28-862AAAFC4D06}" type="slidenum">
              <a:rPr lang="en-US" smtClean="0"/>
              <a:t>‹#›</a:t>
            </a:fld>
            <a:endParaRPr lang="en-US"/>
          </a:p>
        </p:txBody>
      </p:sp>
    </p:spTree>
    <p:extLst>
      <p:ext uri="{BB962C8B-B14F-4D97-AF65-F5344CB8AC3E}">
        <p14:creationId xmlns:p14="http://schemas.microsoft.com/office/powerpoint/2010/main" val="16207104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blog.ipleaders.in/private-international-law/" TargetMode="External"/><Relationship Id="rId2" Type="http://schemas.openxmlformats.org/officeDocument/2006/relationships/hyperlink" Target="https://lawbhoomi.com/nature-and-scope-of-private-international-law/"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libguides.uclawsf.edu/ComparativeLaw" TargetMode="External"/><Relationship Id="rId2" Type="http://schemas.openxmlformats.org/officeDocument/2006/relationships/hyperlink" Target="https://www.slideshare.net/slideshow/module-1-comparitive-lawpptx/254522944"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law.ox.ac.uk/content/option/comparative-law"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Overview of international and Comparative Law </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94587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800" dirty="0">
                <a:latin typeface="Times New Roman" panose="02020603050405020304" pitchFamily="18" charset="0"/>
                <a:cs typeface="Times New Roman" panose="02020603050405020304" pitchFamily="18" charset="0"/>
              </a:rPr>
              <a:t>Overview of International and Comparative Law</a:t>
            </a:r>
          </a:p>
        </p:txBody>
      </p:sp>
      <p:sp>
        <p:nvSpPr>
          <p:cNvPr id="3" name="Content Placeholder 2"/>
          <p:cNvSpPr>
            <a:spLocks noGrp="1"/>
          </p:cNvSpPr>
          <p:nvPr>
            <p:ph idx="1"/>
          </p:nvPr>
        </p:nvSpPr>
        <p:spPr>
          <a:xfrm>
            <a:off x="838200" y="2049145"/>
            <a:ext cx="10515600" cy="1456055"/>
          </a:xfrm>
        </p:spPr>
        <p:txBody>
          <a:bodyPr>
            <a:normAutofit/>
          </a:bodyPr>
          <a:lstStyle/>
          <a:p>
            <a:r>
              <a:rPr lang="en-US" sz="3200" dirty="0">
                <a:latin typeface="Times New Roman" panose="02020603050405020304" pitchFamily="18" charset="0"/>
                <a:cs typeface="Times New Roman" panose="02020603050405020304" pitchFamily="18" charset="0"/>
              </a:rPr>
              <a:t>International and comparative law are two interconnected but distinct fields that address the legal relationships and systems beyond a single nation-state.</a:t>
            </a:r>
          </a:p>
        </p:txBody>
      </p:sp>
    </p:spTree>
    <p:extLst>
      <p:ext uri="{BB962C8B-B14F-4D97-AF65-F5344CB8AC3E}">
        <p14:creationId xmlns:p14="http://schemas.microsoft.com/office/powerpoint/2010/main" val="482254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4555"/>
          </a:xfrm>
        </p:spPr>
        <p:txBody>
          <a:bodyPr/>
          <a:lstStyle/>
          <a:p>
            <a:pPr algn="ctr"/>
            <a:r>
              <a:rPr lang="en-US" dirty="0">
                <a:latin typeface="Times New Roman" panose="02020603050405020304" pitchFamily="18" charset="0"/>
                <a:cs typeface="Times New Roman" panose="02020603050405020304" pitchFamily="18" charset="0"/>
              </a:rPr>
              <a:t>International Law</a:t>
            </a:r>
          </a:p>
        </p:txBody>
      </p:sp>
      <p:sp>
        <p:nvSpPr>
          <p:cNvPr id="3" name="Content Placeholder 2"/>
          <p:cNvSpPr>
            <a:spLocks noGrp="1"/>
          </p:cNvSpPr>
          <p:nvPr>
            <p:ph idx="1"/>
          </p:nvPr>
        </p:nvSpPr>
        <p:spPr>
          <a:xfrm>
            <a:off x="416560" y="1341120"/>
            <a:ext cx="11419840" cy="5130800"/>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International law governs the legal relations between sovereign states and other international actors. It is primarily concerned with:</a:t>
            </a:r>
          </a:p>
          <a:p>
            <a:pPr lvl="1" algn="just"/>
            <a:r>
              <a:rPr lang="en-US" b="1" dirty="0">
                <a:latin typeface="Times New Roman" panose="02020603050405020304" pitchFamily="18" charset="0"/>
                <a:cs typeface="Times New Roman" panose="02020603050405020304" pitchFamily="18" charset="0"/>
              </a:rPr>
              <a:t>Treaties and Customary Law: </a:t>
            </a:r>
            <a:r>
              <a:rPr lang="en-US" dirty="0">
                <a:latin typeface="Times New Roman" panose="02020603050405020304" pitchFamily="18" charset="0"/>
                <a:cs typeface="Times New Roman" panose="02020603050405020304" pitchFamily="18" charset="0"/>
              </a:rPr>
              <a:t>The creation, interpretation, and enforcement of treaties, as well as unwritten norms recognized as binding by the international community.</a:t>
            </a:r>
          </a:p>
          <a:p>
            <a:pPr lvl="1" algn="just"/>
            <a:r>
              <a:rPr lang="en-US" b="1" dirty="0">
                <a:latin typeface="Times New Roman" panose="02020603050405020304" pitchFamily="18" charset="0"/>
                <a:cs typeface="Times New Roman" panose="02020603050405020304" pitchFamily="18" charset="0"/>
              </a:rPr>
              <a:t>Public International Law: </a:t>
            </a:r>
            <a:r>
              <a:rPr lang="en-US" dirty="0">
                <a:latin typeface="Times New Roman" panose="02020603050405020304" pitchFamily="18" charset="0"/>
                <a:cs typeface="Times New Roman" panose="02020603050405020304" pitchFamily="18" charset="0"/>
              </a:rPr>
              <a:t>Covers topics such as the law of nations, human rights, international humanitarian law, environmental law, and the prosecution of crimes against humanity.</a:t>
            </a:r>
          </a:p>
          <a:p>
            <a:pPr lvl="1" algn="just"/>
            <a:r>
              <a:rPr lang="en-US" b="1" dirty="0">
                <a:latin typeface="Times New Roman" panose="02020603050405020304" pitchFamily="18" charset="0"/>
                <a:cs typeface="Times New Roman" panose="02020603050405020304" pitchFamily="18" charset="0"/>
              </a:rPr>
              <a:t>Private International Law: </a:t>
            </a:r>
            <a:r>
              <a:rPr lang="en-US" dirty="0">
                <a:latin typeface="Times New Roman" panose="02020603050405020304" pitchFamily="18" charset="0"/>
                <a:cs typeface="Times New Roman" panose="02020603050405020304" pitchFamily="18" charset="0"/>
              </a:rPr>
              <a:t>Deals with cross-border private disputes, such as international business transactions and family law matters.</a:t>
            </a:r>
          </a:p>
          <a:p>
            <a:pPr lvl="1" algn="just"/>
            <a:r>
              <a:rPr lang="en-US" b="1" dirty="0">
                <a:latin typeface="Times New Roman" panose="02020603050405020304" pitchFamily="18" charset="0"/>
                <a:cs typeface="Times New Roman" panose="02020603050405020304" pitchFamily="18" charset="0"/>
              </a:rPr>
              <a:t>International Organizations: </a:t>
            </a:r>
            <a:r>
              <a:rPr lang="en-US" dirty="0">
                <a:latin typeface="Times New Roman" panose="02020603050405020304" pitchFamily="18" charset="0"/>
                <a:cs typeface="Times New Roman" panose="02020603050405020304" pitchFamily="18" charset="0"/>
              </a:rPr>
              <a:t>Includes the study of bodies like the United Nations and the mechanisms for international cooperation and dispute resolution.</a:t>
            </a:r>
          </a:p>
          <a:p>
            <a:pPr lvl="1" algn="just"/>
            <a:r>
              <a:rPr lang="en-US" b="1" dirty="0">
                <a:latin typeface="Times New Roman" panose="02020603050405020304" pitchFamily="18" charset="0"/>
                <a:cs typeface="Times New Roman" panose="02020603050405020304" pitchFamily="18" charset="0"/>
              </a:rPr>
              <a:t>Supranational Law: </a:t>
            </a:r>
            <a:r>
              <a:rPr lang="en-US" dirty="0">
                <a:latin typeface="Times New Roman" panose="02020603050405020304" pitchFamily="18" charset="0"/>
                <a:cs typeface="Times New Roman" panose="02020603050405020304" pitchFamily="18" charset="0"/>
              </a:rPr>
              <a:t>Occurs when states cede some sovereignty to a higher legal authority, such as the European Union.</a:t>
            </a:r>
          </a:p>
          <a:p>
            <a:pPr algn="just"/>
            <a:r>
              <a:rPr lang="en-US" dirty="0">
                <a:latin typeface="Times New Roman" panose="02020603050405020304" pitchFamily="18" charset="0"/>
                <a:cs typeface="Times New Roman" panose="02020603050405020304" pitchFamily="18" charset="0"/>
              </a:rPr>
              <a:t>International law is essential in today’s globalized world, regulating everything from trade and environmental protection to human rights and global security</a:t>
            </a:r>
          </a:p>
        </p:txBody>
      </p:sp>
    </p:spTree>
    <p:extLst>
      <p:ext uri="{BB962C8B-B14F-4D97-AF65-F5344CB8AC3E}">
        <p14:creationId xmlns:p14="http://schemas.microsoft.com/office/powerpoint/2010/main" val="1010165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925"/>
            <a:ext cx="10515600" cy="904875"/>
          </a:xfrm>
        </p:spPr>
        <p:txBody>
          <a:bodyPr/>
          <a:lstStyle/>
          <a:p>
            <a:pPr algn="ctr"/>
            <a:r>
              <a:rPr lang="en-US" b="1" dirty="0">
                <a:latin typeface="Times New Roman" panose="02020603050405020304" pitchFamily="18" charset="0"/>
                <a:cs typeface="Times New Roman" panose="02020603050405020304" pitchFamily="18" charset="0"/>
              </a:rPr>
              <a:t>Treaties and Customary Law</a:t>
            </a:r>
          </a:p>
        </p:txBody>
      </p:sp>
      <p:sp>
        <p:nvSpPr>
          <p:cNvPr id="3" name="Content Placeholder 2"/>
          <p:cNvSpPr>
            <a:spLocks noGrp="1"/>
          </p:cNvSpPr>
          <p:nvPr>
            <p:ph idx="1"/>
          </p:nvPr>
        </p:nvSpPr>
        <p:spPr>
          <a:xfrm>
            <a:off x="172720" y="1066800"/>
            <a:ext cx="11653520" cy="5455920"/>
          </a:xfrm>
        </p:spPr>
        <p:txBody>
          <a:bodyPr>
            <a:normAutofit lnSpcReduction="10000"/>
          </a:bodyPr>
          <a:lstStyle/>
          <a:p>
            <a:pPr marL="0" indent="0" algn="just">
              <a:buNone/>
            </a:pPr>
            <a:r>
              <a:rPr lang="en-US" dirty="0">
                <a:latin typeface="Times New Roman" panose="02020603050405020304" pitchFamily="18" charset="0"/>
                <a:cs typeface="Times New Roman" panose="02020603050405020304" pitchFamily="18" charset="0"/>
              </a:rPr>
              <a:t>Treaties and customary international law are two primary sources of international law, each with distinct characteristics and roles, but they often interact and influence one another.</a:t>
            </a:r>
          </a:p>
          <a:p>
            <a:pPr algn="just"/>
            <a:r>
              <a:rPr lang="en-US" b="1" dirty="0">
                <a:latin typeface="Times New Roman" panose="02020603050405020304" pitchFamily="18" charset="0"/>
                <a:cs typeface="Times New Roman" panose="02020603050405020304" pitchFamily="18" charset="0"/>
              </a:rPr>
              <a:t>Treaties</a:t>
            </a:r>
          </a:p>
          <a:p>
            <a:pPr lvl="1" algn="just"/>
            <a:r>
              <a:rPr lang="en-US" b="1"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Treaties are formal, written agreements between states (or other international actors) that are legally binding upon the parties who consent to them, usually through ratification.</a:t>
            </a:r>
          </a:p>
          <a:p>
            <a:pPr lvl="1" algn="just"/>
            <a:r>
              <a:rPr lang="en-US" b="1" dirty="0">
                <a:latin typeface="Times New Roman" panose="02020603050405020304" pitchFamily="18" charset="0"/>
                <a:cs typeface="Times New Roman" panose="02020603050405020304" pitchFamily="18" charset="0"/>
              </a:rPr>
              <a:t>Scope:</a:t>
            </a:r>
            <a:r>
              <a:rPr lang="en-US" dirty="0">
                <a:latin typeface="Times New Roman" panose="02020603050405020304" pitchFamily="18" charset="0"/>
                <a:cs typeface="Times New Roman" panose="02020603050405020304" pitchFamily="18" charset="0"/>
              </a:rPr>
              <a:t> They bind only the states that are parties to the treaty and do not affect the rights or obligations of non-parties.</a:t>
            </a:r>
          </a:p>
          <a:p>
            <a:pPr lvl="1" algn="just"/>
            <a:r>
              <a:rPr lang="en-US" b="1" dirty="0">
                <a:latin typeface="Times New Roman" panose="02020603050405020304" pitchFamily="18" charset="0"/>
                <a:cs typeface="Times New Roman" panose="02020603050405020304" pitchFamily="18" charset="0"/>
              </a:rPr>
              <a:t>Hierarchy:</a:t>
            </a:r>
            <a:r>
              <a:rPr lang="en-US" dirty="0">
                <a:latin typeface="Times New Roman" panose="02020603050405020304" pitchFamily="18" charset="0"/>
                <a:cs typeface="Times New Roman" panose="02020603050405020304" pitchFamily="18" charset="0"/>
              </a:rPr>
              <a:t> Between parties to a treaty, the treaty generally prevails over customary international law due to the principle </a:t>
            </a:r>
            <a:r>
              <a:rPr lang="en-US" i="1" dirty="0" err="1">
                <a:latin typeface="Times New Roman" panose="02020603050405020304" pitchFamily="18" charset="0"/>
                <a:cs typeface="Times New Roman" panose="02020603050405020304" pitchFamily="18" charset="0"/>
              </a:rPr>
              <a:t>lex</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specialis</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derogat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generali</a:t>
            </a:r>
            <a:r>
              <a:rPr lang="en-US" dirty="0">
                <a:latin typeface="Times New Roman" panose="02020603050405020304" pitchFamily="18" charset="0"/>
                <a:cs typeface="Times New Roman" panose="02020603050405020304" pitchFamily="18" charset="0"/>
              </a:rPr>
              <a:t> (a specific law overrides a general one). However, there is no strict hierarchy between treaties and customary law universally, as treaties do not bind non-parties.</a:t>
            </a:r>
          </a:p>
          <a:p>
            <a:pPr lvl="1" algn="just"/>
            <a:r>
              <a:rPr lang="en-US" b="1" dirty="0">
                <a:latin typeface="Times New Roman" panose="02020603050405020304" pitchFamily="18" charset="0"/>
                <a:cs typeface="Times New Roman" panose="02020603050405020304" pitchFamily="18" charset="0"/>
              </a:rPr>
              <a:t>Role in Custom Development:</a:t>
            </a:r>
            <a:r>
              <a:rPr lang="en-US" dirty="0">
                <a:latin typeface="Times New Roman" panose="02020603050405020304" pitchFamily="18" charset="0"/>
                <a:cs typeface="Times New Roman" panose="02020603050405020304" pitchFamily="18" charset="0"/>
              </a:rPr>
              <a:t> Treaties can codify existing customary international law, crystallize emerging customs, or initiate new customary norms through widespread state practice and acceptance over time</a:t>
            </a:r>
          </a:p>
        </p:txBody>
      </p:sp>
    </p:spTree>
    <p:extLst>
      <p:ext uri="{BB962C8B-B14F-4D97-AF65-F5344CB8AC3E}">
        <p14:creationId xmlns:p14="http://schemas.microsoft.com/office/powerpoint/2010/main" val="3066847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925"/>
            <a:ext cx="10515600" cy="904875"/>
          </a:xfrm>
        </p:spPr>
        <p:txBody>
          <a:bodyPr/>
          <a:lstStyle/>
          <a:p>
            <a:pPr algn="ctr"/>
            <a:r>
              <a:rPr lang="en-US" b="1" dirty="0">
                <a:latin typeface="Times New Roman" panose="02020603050405020304" pitchFamily="18" charset="0"/>
                <a:cs typeface="Times New Roman" panose="02020603050405020304" pitchFamily="18" charset="0"/>
              </a:rPr>
              <a:t>Treaties and Customary Law</a:t>
            </a:r>
          </a:p>
        </p:txBody>
      </p:sp>
      <p:sp>
        <p:nvSpPr>
          <p:cNvPr id="3" name="Content Placeholder 2"/>
          <p:cNvSpPr>
            <a:spLocks noGrp="1"/>
          </p:cNvSpPr>
          <p:nvPr>
            <p:ph idx="1"/>
          </p:nvPr>
        </p:nvSpPr>
        <p:spPr>
          <a:xfrm>
            <a:off x="172720" y="1066800"/>
            <a:ext cx="11653520" cy="5455920"/>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Customary International Law</a:t>
            </a:r>
          </a:p>
          <a:p>
            <a:pPr lvl="1" algn="just"/>
            <a:r>
              <a:rPr lang="en-US" b="1"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Customary international law arises from the consistent and general practice of states followed out of a sense of legal obligation (</a:t>
            </a:r>
            <a:r>
              <a:rPr lang="en-US" i="1" dirty="0" err="1">
                <a:latin typeface="Times New Roman" panose="02020603050405020304" pitchFamily="18" charset="0"/>
                <a:cs typeface="Times New Roman" panose="02020603050405020304" pitchFamily="18" charset="0"/>
              </a:rPr>
              <a:t>opinio</a:t>
            </a:r>
            <a:r>
              <a:rPr lang="en-US" i="1" dirty="0">
                <a:latin typeface="Times New Roman" panose="02020603050405020304" pitchFamily="18" charset="0"/>
                <a:cs typeface="Times New Roman" panose="02020603050405020304" pitchFamily="18" charset="0"/>
              </a:rPr>
              <a:t> juris</a:t>
            </a:r>
            <a:r>
              <a:rPr lang="en-US" dirty="0">
                <a:latin typeface="Times New Roman" panose="02020603050405020304" pitchFamily="18" charset="0"/>
                <a:cs typeface="Times New Roman" panose="02020603050405020304" pitchFamily="18" charset="0"/>
              </a:rPr>
              <a:t>), rather than from written agreements.</a:t>
            </a:r>
          </a:p>
          <a:p>
            <a:pPr lvl="1" algn="just"/>
            <a:r>
              <a:rPr lang="en-US" b="1" dirty="0">
                <a:latin typeface="Times New Roman" panose="02020603050405020304" pitchFamily="18" charset="0"/>
                <a:cs typeface="Times New Roman" panose="02020603050405020304" pitchFamily="18" charset="0"/>
              </a:rPr>
              <a:t>Elements:</a:t>
            </a:r>
            <a:r>
              <a:rPr lang="en-US" dirty="0">
                <a:latin typeface="Times New Roman" panose="02020603050405020304" pitchFamily="18" charset="0"/>
                <a:cs typeface="Times New Roman" panose="02020603050405020304" pitchFamily="18" charset="0"/>
              </a:rPr>
              <a:t> To establish a customary rule, two elements are required:</a:t>
            </a:r>
          </a:p>
          <a:p>
            <a:pPr lvl="2" algn="just"/>
            <a:r>
              <a:rPr lang="en-US" dirty="0">
                <a:latin typeface="Times New Roman" panose="02020603050405020304" pitchFamily="18" charset="0"/>
                <a:cs typeface="Times New Roman" panose="02020603050405020304" pitchFamily="18" charset="0"/>
              </a:rPr>
              <a:t>State Practice: A widespread, representative, and consistent practice by states.</a:t>
            </a:r>
          </a:p>
          <a:p>
            <a:pPr lvl="2" algn="just"/>
            <a:r>
              <a:rPr lang="en-US" dirty="0" err="1">
                <a:latin typeface="Times New Roman" panose="02020603050405020304" pitchFamily="18" charset="0"/>
                <a:cs typeface="Times New Roman" panose="02020603050405020304" pitchFamily="18" charset="0"/>
              </a:rPr>
              <a:t>Opinio</a:t>
            </a:r>
            <a:r>
              <a:rPr lang="en-US" dirty="0">
                <a:latin typeface="Times New Roman" panose="02020603050405020304" pitchFamily="18" charset="0"/>
                <a:cs typeface="Times New Roman" panose="02020603050405020304" pitchFamily="18" charset="0"/>
              </a:rPr>
              <a:t> Juris: The belief by states that such practice is legally obligatory.</a:t>
            </a:r>
          </a:p>
          <a:p>
            <a:pPr lvl="1" algn="just"/>
            <a:r>
              <a:rPr lang="en-US" b="1" dirty="0">
                <a:latin typeface="Times New Roman" panose="02020603050405020304" pitchFamily="18" charset="0"/>
                <a:cs typeface="Times New Roman" panose="02020603050405020304" pitchFamily="18" charset="0"/>
              </a:rPr>
              <a:t>Binding Nature:</a:t>
            </a:r>
            <a:r>
              <a:rPr lang="en-US" dirty="0">
                <a:latin typeface="Times New Roman" panose="02020603050405020304" pitchFamily="18" charset="0"/>
                <a:cs typeface="Times New Roman" panose="02020603050405020304" pitchFamily="18" charset="0"/>
              </a:rPr>
              <a:t> Customary law binds all states, including those not party to specific treaties, provided they have not persistently objected to the norm.</a:t>
            </a:r>
          </a:p>
          <a:p>
            <a:pPr lvl="1" algn="just"/>
            <a:r>
              <a:rPr lang="en-US" b="1" dirty="0">
                <a:latin typeface="Times New Roman" panose="02020603050405020304" pitchFamily="18" charset="0"/>
                <a:cs typeface="Times New Roman" panose="02020603050405020304" pitchFamily="18" charset="0"/>
              </a:rPr>
              <a:t>Examples:</a:t>
            </a:r>
            <a:r>
              <a:rPr lang="en-US" dirty="0">
                <a:latin typeface="Times New Roman" panose="02020603050405020304" pitchFamily="18" charset="0"/>
                <a:cs typeface="Times New Roman" panose="02020603050405020304" pitchFamily="18" charset="0"/>
              </a:rPr>
              <a:t> Principles like diplomatic immunity and the prohibition of genocide have become customary international law.</a:t>
            </a:r>
          </a:p>
          <a:p>
            <a:pPr lvl="1" algn="just"/>
            <a:r>
              <a:rPr lang="en-US" b="1" dirty="0">
                <a:latin typeface="Times New Roman" panose="02020603050405020304" pitchFamily="18" charset="0"/>
                <a:cs typeface="Times New Roman" panose="02020603050405020304" pitchFamily="18" charset="0"/>
              </a:rPr>
              <a:t>Sources of Evidence:</a:t>
            </a:r>
            <a:r>
              <a:rPr lang="en-US" dirty="0">
                <a:latin typeface="Times New Roman" panose="02020603050405020304" pitchFamily="18" charset="0"/>
                <a:cs typeface="Times New Roman" panose="02020603050405020304" pitchFamily="18" charset="0"/>
              </a:rPr>
              <a:t> Besides state practice and </a:t>
            </a:r>
            <a:r>
              <a:rPr lang="en-US" dirty="0" err="1">
                <a:latin typeface="Times New Roman" panose="02020603050405020304" pitchFamily="18" charset="0"/>
                <a:cs typeface="Times New Roman" panose="02020603050405020304" pitchFamily="18" charset="0"/>
              </a:rPr>
              <a:t>opinio</a:t>
            </a:r>
            <a:r>
              <a:rPr lang="en-US" dirty="0">
                <a:latin typeface="Times New Roman" panose="02020603050405020304" pitchFamily="18" charset="0"/>
                <a:cs typeface="Times New Roman" panose="02020603050405020304" pitchFamily="18" charset="0"/>
              </a:rPr>
              <a:t> juris, evidence such as treaties, judicial decisions, national legislation, and international organization practices can help identify customary law</a:t>
            </a:r>
          </a:p>
        </p:txBody>
      </p:sp>
    </p:spTree>
    <p:extLst>
      <p:ext uri="{BB962C8B-B14F-4D97-AF65-F5344CB8AC3E}">
        <p14:creationId xmlns:p14="http://schemas.microsoft.com/office/powerpoint/2010/main" val="3271468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925"/>
            <a:ext cx="10515600" cy="904875"/>
          </a:xfrm>
        </p:spPr>
        <p:txBody>
          <a:bodyPr/>
          <a:lstStyle/>
          <a:p>
            <a:pPr algn="ctr"/>
            <a:r>
              <a:rPr lang="en-US" b="1" dirty="0">
                <a:latin typeface="Times New Roman" panose="02020603050405020304" pitchFamily="18" charset="0"/>
                <a:cs typeface="Times New Roman" panose="02020603050405020304" pitchFamily="18" charset="0"/>
              </a:rPr>
              <a:t>Treaties and Customary Law</a:t>
            </a:r>
          </a:p>
        </p:txBody>
      </p:sp>
      <p:sp>
        <p:nvSpPr>
          <p:cNvPr id="3" name="Content Placeholder 2"/>
          <p:cNvSpPr>
            <a:spLocks noGrp="1"/>
          </p:cNvSpPr>
          <p:nvPr>
            <p:ph idx="1"/>
          </p:nvPr>
        </p:nvSpPr>
        <p:spPr>
          <a:xfrm>
            <a:off x="172720" y="1371600"/>
            <a:ext cx="11653520" cy="5598160"/>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Relationship and Interaction</a:t>
            </a:r>
          </a:p>
          <a:p>
            <a:pPr marL="0" indent="0" algn="just">
              <a:buNone/>
            </a:pPr>
            <a:endParaRPr lang="en-US" b="1"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Treaties and customary law are distinct but interrelated sources of international law.</a:t>
            </a:r>
          </a:p>
          <a:p>
            <a:pPr lvl="1" algn="just"/>
            <a:r>
              <a:rPr lang="en-US" dirty="0">
                <a:latin typeface="Times New Roman" panose="02020603050405020304" pitchFamily="18" charset="0"/>
                <a:cs typeface="Times New Roman" panose="02020603050405020304" pitchFamily="18" charset="0"/>
              </a:rPr>
              <a:t>Treaties may influence the formation of customary law by providing a written record of emerging norms that states begin to follow consistently.</a:t>
            </a:r>
          </a:p>
          <a:p>
            <a:pPr lvl="1" algn="just"/>
            <a:r>
              <a:rPr lang="en-US" dirty="0">
                <a:latin typeface="Times New Roman" panose="02020603050405020304" pitchFamily="18" charset="0"/>
                <a:cs typeface="Times New Roman" panose="02020603050405020304" pitchFamily="18" charset="0"/>
              </a:rPr>
              <a:t>Conversely, customary law can inform treaty interpretation and fill gaps where treaties are silent.</a:t>
            </a:r>
          </a:p>
          <a:p>
            <a:pPr lvl="1" algn="just"/>
            <a:r>
              <a:rPr lang="en-US" dirty="0">
                <a:latin typeface="Times New Roman" panose="02020603050405020304" pitchFamily="18" charset="0"/>
                <a:cs typeface="Times New Roman" panose="02020603050405020304" pitchFamily="18" charset="0"/>
              </a:rPr>
              <a:t>The International Court of Justice (ICJ) recognizes both as sources of international law under Article 38(1) of its Statute and has emphasized their complementary roles4.</a:t>
            </a:r>
          </a:p>
          <a:p>
            <a:pPr lvl="1" algn="just"/>
            <a:r>
              <a:rPr lang="en-US" dirty="0">
                <a:latin typeface="Times New Roman" panose="02020603050405020304" pitchFamily="18" charset="0"/>
                <a:cs typeface="Times New Roman" panose="02020603050405020304" pitchFamily="18" charset="0"/>
              </a:rPr>
              <a:t>While treaties bind only consenting parties, customary law has a broader binding effect, making it crucial for regulating international relations where treaties do not exist or are not universally accepted</a:t>
            </a:r>
          </a:p>
        </p:txBody>
      </p:sp>
    </p:spTree>
    <p:extLst>
      <p:ext uri="{BB962C8B-B14F-4D97-AF65-F5344CB8AC3E}">
        <p14:creationId xmlns:p14="http://schemas.microsoft.com/office/powerpoint/2010/main" val="1000245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1040" y="111125"/>
            <a:ext cx="10515600" cy="62039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Public International Law </a:t>
            </a:r>
          </a:p>
        </p:txBody>
      </p:sp>
      <p:sp>
        <p:nvSpPr>
          <p:cNvPr id="3" name="Content Placeholder 2"/>
          <p:cNvSpPr>
            <a:spLocks noGrp="1"/>
          </p:cNvSpPr>
          <p:nvPr>
            <p:ph idx="1"/>
          </p:nvPr>
        </p:nvSpPr>
        <p:spPr>
          <a:xfrm>
            <a:off x="345440" y="1168400"/>
            <a:ext cx="11531600" cy="5588000"/>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Public international law is the body of legal rules and principles that govern the rights and obligations of sovereign states and other international actors, such as international organizations, in their interactions with each other. It regulates a wide range of issues including diplomacy, war, human rights, international environmental protection, international criminal law, and economic relations.</a:t>
            </a:r>
          </a:p>
          <a:p>
            <a:pPr marL="0" indent="0" algn="just">
              <a:buNone/>
            </a:pPr>
            <a:r>
              <a:rPr lang="en-US" b="1" dirty="0">
                <a:latin typeface="Times New Roman" panose="02020603050405020304" pitchFamily="18" charset="0"/>
                <a:cs typeface="Times New Roman" panose="02020603050405020304" pitchFamily="18" charset="0"/>
              </a:rPr>
              <a:t>Key Features of Public International Law</a:t>
            </a:r>
          </a:p>
          <a:p>
            <a:pPr algn="just"/>
            <a:r>
              <a:rPr lang="en-US" b="1" dirty="0">
                <a:latin typeface="Times New Roman" panose="02020603050405020304" pitchFamily="18" charset="0"/>
                <a:cs typeface="Times New Roman" panose="02020603050405020304" pitchFamily="18" charset="0"/>
              </a:rPr>
              <a:t>Subjects</a:t>
            </a:r>
            <a:r>
              <a:rPr lang="en-US" dirty="0">
                <a:latin typeface="Times New Roman" panose="02020603050405020304" pitchFamily="18" charset="0"/>
                <a:cs typeface="Times New Roman" panose="02020603050405020304" pitchFamily="18" charset="0"/>
              </a:rPr>
              <a:t>: Primarily states, but also international organizations, non-governmental entities, and individuals increasingly participate within its scope.</a:t>
            </a:r>
          </a:p>
          <a:p>
            <a:pPr algn="just"/>
            <a:r>
              <a:rPr lang="en-US" b="1" dirty="0">
                <a:latin typeface="Times New Roman" panose="02020603050405020304" pitchFamily="18" charset="0"/>
                <a:cs typeface="Times New Roman" panose="02020603050405020304" pitchFamily="18" charset="0"/>
              </a:rPr>
              <a:t>Sources:</a:t>
            </a:r>
            <a:r>
              <a:rPr lang="en-US" dirty="0">
                <a:latin typeface="Times New Roman" panose="02020603050405020304" pitchFamily="18" charset="0"/>
                <a:cs typeface="Times New Roman" panose="02020603050405020304" pitchFamily="18" charset="0"/>
              </a:rPr>
              <a:t> According to Article 38(1) of the International Court of Justice (ICJ) Statute, the main sources are:</a:t>
            </a:r>
          </a:p>
          <a:p>
            <a:pPr lvl="1" algn="just"/>
            <a:r>
              <a:rPr lang="en-US" dirty="0">
                <a:latin typeface="Times New Roman" panose="02020603050405020304" pitchFamily="18" charset="0"/>
                <a:cs typeface="Times New Roman" panose="02020603050405020304" pitchFamily="18" charset="0"/>
              </a:rPr>
              <a:t>Treaties (formal written agreements between states)</a:t>
            </a:r>
          </a:p>
          <a:p>
            <a:pPr lvl="1" algn="just"/>
            <a:r>
              <a:rPr lang="en-US" dirty="0">
                <a:latin typeface="Times New Roman" panose="02020603050405020304" pitchFamily="18" charset="0"/>
                <a:cs typeface="Times New Roman" panose="02020603050405020304" pitchFamily="18" charset="0"/>
              </a:rPr>
              <a:t>Customary international law (general state practice accepted as law)</a:t>
            </a:r>
          </a:p>
          <a:p>
            <a:pPr lvl="1" algn="just"/>
            <a:r>
              <a:rPr lang="en-US" dirty="0">
                <a:latin typeface="Times New Roman" panose="02020603050405020304" pitchFamily="18" charset="0"/>
                <a:cs typeface="Times New Roman" panose="02020603050405020304" pitchFamily="18" charset="0"/>
              </a:rPr>
              <a:t>General principles of law recognized by civilized nations</a:t>
            </a:r>
          </a:p>
          <a:p>
            <a:pPr lvl="1" algn="just"/>
            <a:r>
              <a:rPr lang="en-US" dirty="0">
                <a:latin typeface="Times New Roman" panose="02020603050405020304" pitchFamily="18" charset="0"/>
                <a:cs typeface="Times New Roman" panose="02020603050405020304" pitchFamily="18" charset="0"/>
              </a:rPr>
              <a:t>Judicial decisions and the teachings of highly qualified legal scholars as subsidiary means for determining rules of law.</a:t>
            </a:r>
          </a:p>
        </p:txBody>
      </p:sp>
    </p:spTree>
    <p:extLst>
      <p:ext uri="{BB962C8B-B14F-4D97-AF65-F5344CB8AC3E}">
        <p14:creationId xmlns:p14="http://schemas.microsoft.com/office/powerpoint/2010/main" val="1898737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080" y="141605"/>
            <a:ext cx="10515600" cy="803275"/>
          </a:xfrm>
        </p:spPr>
        <p:txBody>
          <a:bodyPr/>
          <a:lstStyle/>
          <a:p>
            <a:pPr algn="ctr"/>
            <a:r>
              <a:rPr lang="en-US" b="1" dirty="0">
                <a:latin typeface="Times New Roman" panose="02020603050405020304" pitchFamily="18" charset="0"/>
                <a:cs typeface="Times New Roman" panose="02020603050405020304" pitchFamily="18" charset="0"/>
              </a:rPr>
              <a:t>Public International Law </a:t>
            </a:r>
          </a:p>
        </p:txBody>
      </p:sp>
      <p:sp>
        <p:nvSpPr>
          <p:cNvPr id="3" name="Content Placeholder 2"/>
          <p:cNvSpPr>
            <a:spLocks noGrp="1"/>
          </p:cNvSpPr>
          <p:nvPr>
            <p:ph idx="1"/>
          </p:nvPr>
        </p:nvSpPr>
        <p:spPr>
          <a:xfrm>
            <a:off x="416560" y="1168400"/>
            <a:ext cx="10937240" cy="5008563"/>
          </a:xfrm>
        </p:spPr>
        <p:txBody>
          <a:bodyPr>
            <a:normAutofit/>
          </a:bodyPr>
          <a:lstStyle/>
          <a:p>
            <a:pPr algn="just"/>
            <a:r>
              <a:rPr lang="en-US" b="1" dirty="0">
                <a:latin typeface="Times New Roman" panose="02020603050405020304" pitchFamily="18" charset="0"/>
                <a:cs typeface="Times New Roman" panose="02020603050405020304" pitchFamily="18" charset="0"/>
              </a:rPr>
              <a:t>Normative System:</a:t>
            </a:r>
            <a:r>
              <a:rPr lang="en-US" dirty="0">
                <a:latin typeface="Times New Roman" panose="02020603050405020304" pitchFamily="18" charset="0"/>
                <a:cs typeface="Times New Roman" panose="02020603050405020304" pitchFamily="18" charset="0"/>
              </a:rPr>
              <a:t> It establishes binding norms and standards that states and other international actors are expected to follow, although enforcement depends largely on state consent and international mechanisms rather than a centralized authority.</a:t>
            </a:r>
          </a:p>
          <a:p>
            <a:pPr algn="just"/>
            <a:r>
              <a:rPr lang="en-US" b="1" dirty="0">
                <a:latin typeface="Times New Roman" panose="02020603050405020304" pitchFamily="18" charset="0"/>
                <a:cs typeface="Times New Roman" panose="02020603050405020304" pitchFamily="18" charset="0"/>
              </a:rPr>
              <a:t>Dispute Resolution:</a:t>
            </a:r>
            <a:r>
              <a:rPr lang="en-US" dirty="0">
                <a:latin typeface="Times New Roman" panose="02020603050405020304" pitchFamily="18" charset="0"/>
                <a:cs typeface="Times New Roman" panose="02020603050405020304" pitchFamily="18" charset="0"/>
              </a:rPr>
              <a:t> Various international courts and arbitration tribunals, such as the ICJ, provide mechanisms for settling disputes arising under public international law.</a:t>
            </a:r>
          </a:p>
          <a:p>
            <a:pPr algn="just"/>
            <a:r>
              <a:rPr lang="en-US" b="1" dirty="0">
                <a:latin typeface="Times New Roman" panose="02020603050405020304" pitchFamily="18" charset="0"/>
                <a:cs typeface="Times New Roman" panose="02020603050405020304" pitchFamily="18" charset="0"/>
              </a:rPr>
              <a:t>Scope Expansion:</a:t>
            </a:r>
            <a:r>
              <a:rPr lang="en-US" dirty="0">
                <a:latin typeface="Times New Roman" panose="02020603050405020304" pitchFamily="18" charset="0"/>
                <a:cs typeface="Times New Roman" panose="02020603050405020304" pitchFamily="18" charset="0"/>
              </a:rPr>
              <a:t> Over time, public international law has expanded beyond traditional state-to-state relations to include human rights law, international environmental law, international criminal law, and economic law</a:t>
            </a:r>
          </a:p>
        </p:txBody>
      </p:sp>
    </p:spTree>
    <p:extLst>
      <p:ext uri="{BB962C8B-B14F-4D97-AF65-F5344CB8AC3E}">
        <p14:creationId xmlns:p14="http://schemas.microsoft.com/office/powerpoint/2010/main" val="1709418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080" y="141605"/>
            <a:ext cx="10515600" cy="803275"/>
          </a:xfrm>
        </p:spPr>
        <p:txBody>
          <a:bodyPr/>
          <a:lstStyle/>
          <a:p>
            <a:pPr algn="ctr"/>
            <a:r>
              <a:rPr lang="en-US" b="1" dirty="0">
                <a:latin typeface="Times New Roman" panose="02020603050405020304" pitchFamily="18" charset="0"/>
                <a:cs typeface="Times New Roman" panose="02020603050405020304" pitchFamily="18" charset="0"/>
              </a:rPr>
              <a:t>Public International Law </a:t>
            </a:r>
          </a:p>
        </p:txBody>
      </p:sp>
      <p:sp>
        <p:nvSpPr>
          <p:cNvPr id="3" name="Content Placeholder 2"/>
          <p:cNvSpPr>
            <a:spLocks noGrp="1"/>
          </p:cNvSpPr>
          <p:nvPr>
            <p:ph idx="1"/>
          </p:nvPr>
        </p:nvSpPr>
        <p:spPr>
          <a:xfrm>
            <a:off x="193040" y="1168400"/>
            <a:ext cx="11501120" cy="5008563"/>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Distinction from Private International Law</a:t>
            </a:r>
          </a:p>
          <a:p>
            <a:pPr algn="just"/>
            <a:r>
              <a:rPr lang="en-US" dirty="0">
                <a:latin typeface="Times New Roman" panose="02020603050405020304" pitchFamily="18" charset="0"/>
                <a:cs typeface="Times New Roman" panose="02020603050405020304" pitchFamily="18" charset="0"/>
              </a:rPr>
              <a:t>Public international law governs relations between states and international entities, whereas private international law deals with conflicts of laws and jurisdictional issues involving private parties across different national legal systems.</a:t>
            </a:r>
          </a:p>
          <a:p>
            <a:pPr marL="0" indent="0" algn="just">
              <a:buNone/>
            </a:pPr>
            <a:r>
              <a:rPr lang="en-US" b="1" dirty="0">
                <a:latin typeface="Times New Roman" panose="02020603050405020304" pitchFamily="18" charset="0"/>
                <a:cs typeface="Times New Roman" panose="02020603050405020304" pitchFamily="18" charset="0"/>
              </a:rPr>
              <a:t>Challenges</a:t>
            </a:r>
          </a:p>
          <a:p>
            <a:pPr algn="just"/>
            <a:r>
              <a:rPr lang="en-US" b="1" dirty="0">
                <a:latin typeface="Times New Roman" panose="02020603050405020304" pitchFamily="18" charset="0"/>
                <a:cs typeface="Times New Roman" panose="02020603050405020304" pitchFamily="18" charset="0"/>
              </a:rPr>
              <a:t>Enforcement: </a:t>
            </a:r>
            <a:r>
              <a:rPr lang="en-US" dirty="0">
                <a:latin typeface="Times New Roman" panose="02020603050405020304" pitchFamily="18" charset="0"/>
                <a:cs typeface="Times New Roman" panose="02020603050405020304" pitchFamily="18" charset="0"/>
              </a:rPr>
              <a:t>Lacking a centralized enforcement authority, compliance relies on state consent, diplomatic pressure, economic sanctions, or collective security measures.</a:t>
            </a:r>
          </a:p>
          <a:p>
            <a:pPr algn="just"/>
            <a:r>
              <a:rPr lang="en-US" b="1" dirty="0">
                <a:latin typeface="Times New Roman" panose="02020603050405020304" pitchFamily="18" charset="0"/>
                <a:cs typeface="Times New Roman" panose="02020603050405020304" pitchFamily="18" charset="0"/>
              </a:rPr>
              <a:t>Interpretation Variability</a:t>
            </a:r>
            <a:r>
              <a:rPr lang="en-US" dirty="0">
                <a:latin typeface="Times New Roman" panose="02020603050405020304" pitchFamily="18" charset="0"/>
                <a:cs typeface="Times New Roman" panose="02020603050405020304" pitchFamily="18" charset="0"/>
              </a:rPr>
              <a:t>: States may interpret international law differently, which can lead to disputes or inconsistent application.</a:t>
            </a:r>
          </a:p>
        </p:txBody>
      </p:sp>
    </p:spTree>
    <p:extLst>
      <p:ext uri="{BB962C8B-B14F-4D97-AF65-F5344CB8AC3E}">
        <p14:creationId xmlns:p14="http://schemas.microsoft.com/office/powerpoint/2010/main" val="3848967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3275"/>
          </a:xfrm>
        </p:spPr>
        <p:txBody>
          <a:bodyPr/>
          <a:lstStyle/>
          <a:p>
            <a:pPr algn="ctr"/>
            <a:r>
              <a:rPr lang="en-US" dirty="0">
                <a:latin typeface="Times New Roman" panose="02020603050405020304" pitchFamily="18" charset="0"/>
                <a:cs typeface="Times New Roman" panose="02020603050405020304" pitchFamily="18" charset="0"/>
              </a:rPr>
              <a:t>Private International Law </a:t>
            </a:r>
          </a:p>
        </p:txBody>
      </p:sp>
      <p:sp>
        <p:nvSpPr>
          <p:cNvPr id="3" name="Content Placeholder 2"/>
          <p:cNvSpPr>
            <a:spLocks noGrp="1"/>
          </p:cNvSpPr>
          <p:nvPr>
            <p:ph idx="1"/>
          </p:nvPr>
        </p:nvSpPr>
        <p:spPr>
          <a:xfrm>
            <a:off x="396240" y="1280160"/>
            <a:ext cx="11541760" cy="4896803"/>
          </a:xfrm>
        </p:spPr>
        <p:txBody>
          <a:bodyPr>
            <a:normAutofit fontScale="92500" lnSpcReduction="20000"/>
          </a:bodyPr>
          <a:lstStyle/>
          <a:p>
            <a:pPr marL="0" indent="0" algn="just">
              <a:buNone/>
            </a:pPr>
            <a:r>
              <a:rPr lang="en-US" dirty="0">
                <a:latin typeface="Times New Roman" panose="02020603050405020304" pitchFamily="18" charset="0"/>
                <a:cs typeface="Times New Roman" panose="02020603050405020304" pitchFamily="18" charset="0"/>
              </a:rPr>
              <a:t>Private international law, also known as conflict of laws, is the branch of law that deals with legal disputes involving foreign elements—situations where individuals, businesses, or entities from different countries are connected to a legal issue. It governs which country’s courts have jurisdiction, which legal system’s laws apply, and how foreign judgments are recognized and enforced within domestic legal systems.</a:t>
            </a:r>
          </a:p>
          <a:p>
            <a:pPr marL="0" indent="0" algn="just">
              <a:buNone/>
            </a:pPr>
            <a:r>
              <a:rPr lang="en-US" b="1" dirty="0">
                <a:latin typeface="Times New Roman" panose="02020603050405020304" pitchFamily="18" charset="0"/>
                <a:cs typeface="Times New Roman" panose="02020603050405020304" pitchFamily="18" charset="0"/>
              </a:rPr>
              <a:t>Nature of Private International Law</a:t>
            </a:r>
          </a:p>
          <a:p>
            <a:pPr algn="just"/>
            <a:r>
              <a:rPr lang="en-US" dirty="0">
                <a:latin typeface="Times New Roman" panose="02020603050405020304" pitchFamily="18" charset="0"/>
                <a:cs typeface="Times New Roman" panose="02020603050405020304" pitchFamily="18" charset="0"/>
              </a:rPr>
              <a:t>It is not a separate substantive law like contract or tort law but a set of procedural and choice-of-law rules that appear in cases with cross-border elements.</a:t>
            </a:r>
          </a:p>
          <a:p>
            <a:pPr algn="just"/>
            <a:r>
              <a:rPr lang="en-US" dirty="0">
                <a:latin typeface="Times New Roman" panose="02020603050405020304" pitchFamily="18" charset="0"/>
                <a:cs typeface="Times New Roman" panose="02020603050405020304" pitchFamily="18" charset="0"/>
              </a:rPr>
              <a:t>It operates within each country’s legal system to resolve conflicts arising from differing national laws.</a:t>
            </a:r>
          </a:p>
          <a:p>
            <a:pPr algn="just"/>
            <a:r>
              <a:rPr lang="en-US" dirty="0">
                <a:latin typeface="Times New Roman" panose="02020603050405020304" pitchFamily="18" charset="0"/>
                <a:cs typeface="Times New Roman" panose="02020603050405020304" pitchFamily="18" charset="0"/>
              </a:rPr>
              <a:t>Unlike public international law, which governs relations between states, private international law focuses on private parties and their rights and obligations across jurisdictions</a:t>
            </a:r>
          </a:p>
        </p:txBody>
      </p:sp>
    </p:spTree>
    <p:extLst>
      <p:ext uri="{BB962C8B-B14F-4D97-AF65-F5344CB8AC3E}">
        <p14:creationId xmlns:p14="http://schemas.microsoft.com/office/powerpoint/2010/main" val="2629584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3275"/>
          </a:xfrm>
        </p:spPr>
        <p:txBody>
          <a:bodyPr/>
          <a:lstStyle/>
          <a:p>
            <a:pPr algn="ctr"/>
            <a:r>
              <a:rPr lang="en-US" dirty="0">
                <a:latin typeface="Times New Roman" panose="02020603050405020304" pitchFamily="18" charset="0"/>
                <a:cs typeface="Times New Roman" panose="02020603050405020304" pitchFamily="18" charset="0"/>
              </a:rPr>
              <a:t>Private International Law </a:t>
            </a:r>
          </a:p>
        </p:txBody>
      </p:sp>
      <p:sp>
        <p:nvSpPr>
          <p:cNvPr id="3" name="Content Placeholder 2"/>
          <p:cNvSpPr>
            <a:spLocks noGrp="1"/>
          </p:cNvSpPr>
          <p:nvPr>
            <p:ph idx="1"/>
          </p:nvPr>
        </p:nvSpPr>
        <p:spPr>
          <a:xfrm>
            <a:off x="396240" y="1280160"/>
            <a:ext cx="11541760" cy="4896803"/>
          </a:xfrm>
        </p:spPr>
        <p:txBody>
          <a:bodyPr>
            <a:normAutofit lnSpcReduction="10000"/>
          </a:bodyPr>
          <a:lstStyle/>
          <a:p>
            <a:pPr marL="0" indent="0" algn="just">
              <a:buNone/>
            </a:pPr>
            <a:r>
              <a:rPr lang="en-US" b="1" dirty="0">
                <a:latin typeface="Times New Roman" panose="02020603050405020304" pitchFamily="18" charset="0"/>
                <a:cs typeface="Times New Roman" panose="02020603050405020304" pitchFamily="18" charset="0"/>
              </a:rPr>
              <a:t>Key Functions</a:t>
            </a:r>
          </a:p>
          <a:p>
            <a:pPr algn="just"/>
            <a:r>
              <a:rPr lang="en-US" b="1" dirty="0">
                <a:latin typeface="Times New Roman" panose="02020603050405020304" pitchFamily="18" charset="0"/>
                <a:cs typeface="Times New Roman" panose="02020603050405020304" pitchFamily="18" charset="0"/>
              </a:rPr>
              <a:t>Jurisdiction: </a:t>
            </a:r>
            <a:r>
              <a:rPr lang="en-US" dirty="0">
                <a:latin typeface="Times New Roman" panose="02020603050405020304" pitchFamily="18" charset="0"/>
                <a:cs typeface="Times New Roman" panose="02020603050405020304" pitchFamily="18" charset="0"/>
              </a:rPr>
              <a:t>Determines which country’s courts have the authority to hear a case involving foreign elements.</a:t>
            </a:r>
          </a:p>
          <a:p>
            <a:pPr algn="just"/>
            <a:r>
              <a:rPr lang="en-US" b="1" dirty="0">
                <a:latin typeface="Times New Roman" panose="02020603050405020304" pitchFamily="18" charset="0"/>
                <a:cs typeface="Times New Roman" panose="02020603050405020304" pitchFamily="18" charset="0"/>
              </a:rPr>
              <a:t>Choice of Law:</a:t>
            </a:r>
            <a:r>
              <a:rPr lang="en-US" dirty="0">
                <a:latin typeface="Times New Roman" panose="02020603050405020304" pitchFamily="18" charset="0"/>
                <a:cs typeface="Times New Roman" panose="02020603050405020304" pitchFamily="18" charset="0"/>
              </a:rPr>
              <a:t> Decides which jurisdiction’s substantive law applies to the dispute.</a:t>
            </a:r>
          </a:p>
          <a:p>
            <a:pPr algn="just"/>
            <a:r>
              <a:rPr lang="en-US" b="1" dirty="0">
                <a:latin typeface="Times New Roman" panose="02020603050405020304" pitchFamily="18" charset="0"/>
                <a:cs typeface="Times New Roman" panose="02020603050405020304" pitchFamily="18" charset="0"/>
              </a:rPr>
              <a:t>Recognition and Enforcement:</a:t>
            </a:r>
            <a:r>
              <a:rPr lang="en-US" dirty="0">
                <a:latin typeface="Times New Roman" panose="02020603050405020304" pitchFamily="18" charset="0"/>
                <a:cs typeface="Times New Roman" panose="02020603050405020304" pitchFamily="18" charset="0"/>
              </a:rPr>
              <a:t> Facilitates the acceptance and enforcement of foreign court judgments and arbitral awards within domestic courts</a:t>
            </a:r>
            <a:r>
              <a:rPr lang="en-US" dirty="0">
                <a:latin typeface="Times New Roman" panose="02020603050405020304" pitchFamily="18" charset="0"/>
                <a:cs typeface="Times New Roman" panose="02020603050405020304" pitchFamily="18" charset="0"/>
                <a:hlinkClick r:id="rId2"/>
              </a:rPr>
              <a:t>1</a:t>
            </a:r>
            <a:r>
              <a:rPr lang="en-US" dirty="0">
                <a:latin typeface="Times New Roman" panose="02020603050405020304" pitchFamily="18" charset="0"/>
                <a:cs typeface="Times New Roman" panose="02020603050405020304" pitchFamily="18" charset="0"/>
                <a:hlinkClick r:id="rId3"/>
              </a:rPr>
              <a:t>3</a:t>
            </a:r>
            <a:r>
              <a:rPr lang="en-US" dirty="0">
                <a:latin typeface="Times New Roman" panose="02020603050405020304" pitchFamily="18" charset="0"/>
                <a:cs typeface="Times New Roman" panose="02020603050405020304" pitchFamily="18" charset="0"/>
              </a:rPr>
              <a:t>.</a:t>
            </a:r>
          </a:p>
          <a:p>
            <a:pPr marL="0" indent="0" algn="just">
              <a:buNone/>
            </a:pPr>
            <a:r>
              <a:rPr lang="en-US" b="1" dirty="0">
                <a:latin typeface="Times New Roman" panose="02020603050405020304" pitchFamily="18" charset="0"/>
                <a:cs typeface="Times New Roman" panose="02020603050405020304" pitchFamily="18" charset="0"/>
              </a:rPr>
              <a:t>Scope</a:t>
            </a:r>
          </a:p>
          <a:p>
            <a:pPr algn="just"/>
            <a:r>
              <a:rPr lang="en-US" dirty="0">
                <a:latin typeface="Times New Roman" panose="02020603050405020304" pitchFamily="18" charset="0"/>
                <a:cs typeface="Times New Roman" panose="02020603050405020304" pitchFamily="18" charset="0"/>
              </a:rPr>
              <a:t>Private international law applies broadly across various legal areas including contracts, torts, family law (such as marriage and divorce), property rights, inheritance, and commercial transactions that involve multiple legal systems</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2950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3275"/>
          </a:xfrm>
        </p:spPr>
        <p:txBody>
          <a:bodyPr/>
          <a:lstStyle/>
          <a:p>
            <a:pPr algn="ctr"/>
            <a:r>
              <a:rPr lang="en-US" dirty="0">
                <a:latin typeface="Times New Roman" panose="02020603050405020304" pitchFamily="18" charset="0"/>
                <a:cs typeface="Times New Roman" panose="02020603050405020304" pitchFamily="18" charset="0"/>
              </a:rPr>
              <a:t>Private International Law </a:t>
            </a:r>
          </a:p>
        </p:txBody>
      </p:sp>
      <p:sp>
        <p:nvSpPr>
          <p:cNvPr id="3" name="Content Placeholder 2"/>
          <p:cNvSpPr>
            <a:spLocks noGrp="1"/>
          </p:cNvSpPr>
          <p:nvPr>
            <p:ph idx="1"/>
          </p:nvPr>
        </p:nvSpPr>
        <p:spPr>
          <a:xfrm>
            <a:off x="396240" y="1280160"/>
            <a:ext cx="11541760" cy="4896803"/>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Importance</a:t>
            </a:r>
          </a:p>
          <a:p>
            <a:pPr algn="just"/>
            <a:r>
              <a:rPr lang="en-US" dirty="0">
                <a:latin typeface="Times New Roman" panose="02020603050405020304" pitchFamily="18" charset="0"/>
                <a:cs typeface="Times New Roman" panose="02020603050405020304" pitchFamily="18" charset="0"/>
              </a:rPr>
              <a:t>It ensures fairness and predictability in cross-border legal matters by providing clear rules on jurisdiction and applicable law.</a:t>
            </a:r>
          </a:p>
          <a:p>
            <a:pPr algn="just"/>
            <a:r>
              <a:rPr lang="en-US" dirty="0">
                <a:latin typeface="Times New Roman" panose="02020603050405020304" pitchFamily="18" charset="0"/>
                <a:cs typeface="Times New Roman" panose="02020603050405020304" pitchFamily="18" charset="0"/>
              </a:rPr>
              <a:t>It helps resolve conflicts when laws of different countries collide, promoting legal certainty for individuals and businesses engaged in international activities.</a:t>
            </a:r>
          </a:p>
          <a:p>
            <a:pPr algn="just"/>
            <a:r>
              <a:rPr lang="en-US" dirty="0">
                <a:latin typeface="Times New Roman" panose="02020603050405020304" pitchFamily="18" charset="0"/>
                <a:cs typeface="Times New Roman" panose="02020603050405020304" pitchFamily="18" charset="0"/>
              </a:rPr>
              <a:t>It supports international cooperation by facilitating the enforcement of foreign judgments and harmonizing legal interactions</a:t>
            </a:r>
          </a:p>
        </p:txBody>
      </p:sp>
    </p:spTree>
    <p:extLst>
      <p:ext uri="{BB962C8B-B14F-4D97-AF65-F5344CB8AC3E}">
        <p14:creationId xmlns:p14="http://schemas.microsoft.com/office/powerpoint/2010/main" val="675963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925"/>
            <a:ext cx="10515600" cy="843915"/>
          </a:xfrm>
        </p:spPr>
        <p:txBody>
          <a:bodyPr>
            <a:noAutofit/>
          </a:bodyPr>
          <a:lstStyle/>
          <a:p>
            <a:pPr algn="ctr"/>
            <a:r>
              <a:rPr lang="en-US" sz="3200" b="1" dirty="0">
                <a:latin typeface="Times New Roman" panose="02020603050405020304" pitchFamily="18" charset="0"/>
                <a:cs typeface="Times New Roman" panose="02020603050405020304" pitchFamily="18" charset="0"/>
              </a:rPr>
              <a:t>Comparison between Public and private international Law</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43878216"/>
              </p:ext>
            </p:extLst>
          </p:nvPr>
        </p:nvGraphicFramePr>
        <p:xfrm>
          <a:off x="177800" y="1005840"/>
          <a:ext cx="11836400" cy="5329861"/>
        </p:xfrm>
        <a:graphic>
          <a:graphicData uri="http://schemas.openxmlformats.org/drawingml/2006/table">
            <a:tbl>
              <a:tblPr/>
              <a:tblGrid>
                <a:gridCol w="1672990">
                  <a:extLst>
                    <a:ext uri="{9D8B030D-6E8A-4147-A177-3AD203B41FA5}">
                      <a16:colId xmlns:a16="http://schemas.microsoft.com/office/drawing/2014/main" val="3881487604"/>
                    </a:ext>
                  </a:extLst>
                </a:gridCol>
                <a:gridCol w="4830364">
                  <a:extLst>
                    <a:ext uri="{9D8B030D-6E8A-4147-A177-3AD203B41FA5}">
                      <a16:colId xmlns:a16="http://schemas.microsoft.com/office/drawing/2014/main" val="1525838521"/>
                    </a:ext>
                  </a:extLst>
                </a:gridCol>
                <a:gridCol w="5333046">
                  <a:extLst>
                    <a:ext uri="{9D8B030D-6E8A-4147-A177-3AD203B41FA5}">
                      <a16:colId xmlns:a16="http://schemas.microsoft.com/office/drawing/2014/main" val="3491990777"/>
                    </a:ext>
                  </a:extLst>
                </a:gridCol>
              </a:tblGrid>
              <a:tr h="349438">
                <a:tc>
                  <a:txBody>
                    <a:bodyPr/>
                    <a:lstStyle/>
                    <a:p>
                      <a:pPr algn="just" fontAlgn="t" latinLnBrk="0"/>
                      <a:r>
                        <a:rPr lang="en-US" sz="2000" b="0">
                          <a:effectLst/>
                          <a:latin typeface="Times New Roman" panose="02020603050405020304" pitchFamily="18" charset="0"/>
                          <a:cs typeface="Times New Roman" panose="02020603050405020304" pitchFamily="18" charset="0"/>
                        </a:rPr>
                        <a:t>Aspect</a:t>
                      </a:r>
                    </a:p>
                  </a:txBody>
                  <a:tcPr marL="26056" marR="26056" marT="13028" marB="13028">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6350" cap="flat" cmpd="sng" algn="ctr">
                      <a:solidFill>
                        <a:srgbClr val="50966A"/>
                      </a:solidFill>
                      <a:prstDash val="solid"/>
                      <a:round/>
                      <a:headEnd type="none" w="med" len="med"/>
                      <a:tailEnd type="none" w="med" len="med"/>
                    </a:lnB>
                  </a:tcPr>
                </a:tc>
                <a:tc>
                  <a:txBody>
                    <a:bodyPr/>
                    <a:lstStyle/>
                    <a:p>
                      <a:pPr algn="just" fontAlgn="t" latinLnBrk="0"/>
                      <a:r>
                        <a:rPr lang="en-US" sz="2000" b="0">
                          <a:effectLst/>
                          <a:latin typeface="Times New Roman" panose="02020603050405020304" pitchFamily="18" charset="0"/>
                          <a:cs typeface="Times New Roman" panose="02020603050405020304" pitchFamily="18" charset="0"/>
                        </a:rPr>
                        <a:t>Public International Law</a:t>
                      </a:r>
                    </a:p>
                  </a:txBody>
                  <a:tcPr marL="26056" marR="26056" marT="13028" marB="13028">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6350" cap="flat" cmpd="sng" algn="ctr">
                      <a:solidFill>
                        <a:srgbClr val="50966A"/>
                      </a:solidFill>
                      <a:prstDash val="solid"/>
                      <a:round/>
                      <a:headEnd type="none" w="med" len="med"/>
                      <a:tailEnd type="none" w="med" len="med"/>
                    </a:lnB>
                  </a:tcPr>
                </a:tc>
                <a:tc>
                  <a:txBody>
                    <a:bodyPr/>
                    <a:lstStyle/>
                    <a:p>
                      <a:pPr algn="just" fontAlgn="t" latinLnBrk="0"/>
                      <a:r>
                        <a:rPr lang="en-US" sz="2000" b="0">
                          <a:effectLst/>
                          <a:latin typeface="Times New Roman" panose="02020603050405020304" pitchFamily="18" charset="0"/>
                          <a:cs typeface="Times New Roman" panose="02020603050405020304" pitchFamily="18" charset="0"/>
                        </a:rPr>
                        <a:t>Private International Law</a:t>
                      </a:r>
                    </a:p>
                  </a:txBody>
                  <a:tcPr marL="26056" marR="26056" marT="13028" marB="13028">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6350" cap="flat" cmpd="sng" algn="ctr">
                      <a:solidFill>
                        <a:srgbClr val="50B26A"/>
                      </a:solidFill>
                      <a:prstDash val="solid"/>
                      <a:round/>
                      <a:headEnd type="none" w="med" len="med"/>
                      <a:tailEnd type="none" w="med" len="med"/>
                    </a:lnB>
                  </a:tcPr>
                </a:tc>
                <a:extLst>
                  <a:ext uri="{0D108BD9-81ED-4DB2-BD59-A6C34878D82A}">
                    <a16:rowId xmlns:a16="http://schemas.microsoft.com/office/drawing/2014/main" val="1887698875"/>
                  </a:ext>
                </a:extLst>
              </a:tr>
              <a:tr h="1306816">
                <a:tc>
                  <a:txBody>
                    <a:bodyPr/>
                    <a:lstStyle/>
                    <a:p>
                      <a:pPr algn="just" fontAlgn="base" latinLnBrk="0"/>
                      <a:r>
                        <a:rPr lang="en-US" sz="2000" b="0">
                          <a:effectLst/>
                          <a:latin typeface="Times New Roman" panose="02020603050405020304" pitchFamily="18" charset="0"/>
                          <a:cs typeface="Times New Roman" panose="02020603050405020304" pitchFamily="18" charset="0"/>
                        </a:rPr>
                        <a:t>Nature and Scope</a:t>
                      </a:r>
                      <a:endParaRPr lang="en-US" sz="2000">
                        <a:effectLst/>
                        <a:latin typeface="Times New Roman" panose="02020603050405020304" pitchFamily="18" charset="0"/>
                        <a:cs typeface="Times New Roman" panose="02020603050405020304" pitchFamily="18" charset="0"/>
                      </a:endParaRPr>
                    </a:p>
                  </a:txBody>
                  <a:tcPr marL="26056" marR="26056" marT="13028" marB="13028" anchor="ctr">
                    <a:lnL w="6350" cap="flat" cmpd="sng" algn="ctr">
                      <a:solidFill>
                        <a:srgbClr val="50966A"/>
                      </a:solidFill>
                      <a:prstDash val="solid"/>
                      <a:round/>
                      <a:headEnd type="none" w="med" len="med"/>
                      <a:tailEnd type="none" w="med" len="med"/>
                    </a:lnL>
                    <a:lnR w="6350" cap="flat" cmpd="sng" algn="ctr">
                      <a:solidFill>
                        <a:srgbClr val="50966A"/>
                      </a:solidFill>
                      <a:prstDash val="solid"/>
                      <a:round/>
                      <a:headEnd type="none" w="med" len="med"/>
                      <a:tailEnd type="none" w="med" len="med"/>
                    </a:lnR>
                    <a:lnT w="6350" cap="flat" cmpd="sng" algn="ctr">
                      <a:solidFill>
                        <a:srgbClr val="50966A"/>
                      </a:solidFill>
                      <a:prstDash val="solid"/>
                      <a:round/>
                      <a:headEnd type="none" w="med" len="med"/>
                      <a:tailEnd type="none" w="med" len="med"/>
                    </a:lnT>
                    <a:lnB w="6350" cap="flat" cmpd="sng" algn="ctr">
                      <a:solidFill>
                        <a:srgbClr val="50C46A"/>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Governs legal relations between sovereign states and international organizations. Focuses on issues like sovereignty, peace, human rights, treaties, and diplomacy.</a:t>
                      </a:r>
                    </a:p>
                  </a:txBody>
                  <a:tcPr marL="26056" marR="26056" marT="13028" marB="13028" anchor="ctr">
                    <a:lnL w="6350" cap="flat" cmpd="sng" algn="ctr">
                      <a:solidFill>
                        <a:srgbClr val="50966A"/>
                      </a:solidFill>
                      <a:prstDash val="solid"/>
                      <a:round/>
                      <a:headEnd type="none" w="med" len="med"/>
                      <a:tailEnd type="none" w="med" len="med"/>
                    </a:lnL>
                    <a:lnR w="6350" cap="flat" cmpd="sng" algn="ctr">
                      <a:solidFill>
                        <a:srgbClr val="50B26A"/>
                      </a:solidFill>
                      <a:prstDash val="solid"/>
                      <a:round/>
                      <a:headEnd type="none" w="med" len="med"/>
                      <a:tailEnd type="none" w="med" len="med"/>
                    </a:lnR>
                    <a:lnT w="6350" cap="flat" cmpd="sng" algn="ctr">
                      <a:solidFill>
                        <a:srgbClr val="50966A"/>
                      </a:solidFill>
                      <a:prstDash val="solid"/>
                      <a:round/>
                      <a:headEnd type="none" w="med" len="med"/>
                      <a:tailEnd type="none" w="med" len="med"/>
                    </a:lnT>
                    <a:lnB w="6350" cap="flat" cmpd="sng" algn="ctr">
                      <a:solidFill>
                        <a:srgbClr val="D0AF6A"/>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Deals with cross-border disputes between private individuals, corporations, or entities. Concerned with conflicts of laws and jurisdiction in private matters.</a:t>
                      </a:r>
                    </a:p>
                  </a:txBody>
                  <a:tcPr marL="26056" marR="26056" marT="13028" marB="13028" anchor="ctr">
                    <a:lnL w="6350" cap="flat" cmpd="sng" algn="ctr">
                      <a:solidFill>
                        <a:srgbClr val="50B26A"/>
                      </a:solidFill>
                      <a:prstDash val="solid"/>
                      <a:round/>
                      <a:headEnd type="none" w="med" len="med"/>
                      <a:tailEnd type="none" w="med" len="med"/>
                    </a:lnL>
                    <a:lnR w="6350" cap="flat" cmpd="sng" algn="ctr">
                      <a:solidFill>
                        <a:srgbClr val="50B26A"/>
                      </a:solidFill>
                      <a:prstDash val="solid"/>
                      <a:round/>
                      <a:headEnd type="none" w="med" len="med"/>
                      <a:tailEnd type="none" w="med" len="med"/>
                    </a:lnR>
                    <a:lnT w="6350" cap="flat" cmpd="sng" algn="ctr">
                      <a:solidFill>
                        <a:srgbClr val="50B26A"/>
                      </a:solidFill>
                      <a:prstDash val="solid"/>
                      <a:round/>
                      <a:headEnd type="none" w="med" len="med"/>
                      <a:tailEnd type="none" w="med" len="med"/>
                    </a:lnT>
                    <a:lnB w="6350" cap="flat" cmpd="sng" algn="ctr">
                      <a:solidFill>
                        <a:srgbClr val="D0A76A"/>
                      </a:solidFill>
                      <a:prstDash val="solid"/>
                      <a:round/>
                      <a:headEnd type="none" w="med" len="med"/>
                      <a:tailEnd type="none" w="med" len="med"/>
                    </a:lnB>
                  </a:tcPr>
                </a:tc>
                <a:extLst>
                  <a:ext uri="{0D108BD9-81ED-4DB2-BD59-A6C34878D82A}">
                    <a16:rowId xmlns:a16="http://schemas.microsoft.com/office/drawing/2014/main" val="3808672266"/>
                  </a:ext>
                </a:extLst>
              </a:tr>
              <a:tr h="1121535">
                <a:tc>
                  <a:txBody>
                    <a:bodyPr/>
                    <a:lstStyle/>
                    <a:p>
                      <a:pPr algn="just" fontAlgn="base" latinLnBrk="0"/>
                      <a:r>
                        <a:rPr lang="en-US" sz="2000" b="0">
                          <a:effectLst/>
                          <a:latin typeface="Times New Roman" panose="02020603050405020304" pitchFamily="18" charset="0"/>
                          <a:cs typeface="Times New Roman" panose="02020603050405020304" pitchFamily="18" charset="0"/>
                        </a:rPr>
                        <a:t>Subjects</a:t>
                      </a:r>
                      <a:endParaRPr lang="en-US" sz="2000">
                        <a:effectLst/>
                        <a:latin typeface="Times New Roman" panose="02020603050405020304" pitchFamily="18" charset="0"/>
                        <a:cs typeface="Times New Roman" panose="02020603050405020304" pitchFamily="18" charset="0"/>
                      </a:endParaRPr>
                    </a:p>
                  </a:txBody>
                  <a:tcPr marL="26056" marR="26056" marT="13028" marB="13028" anchor="ctr">
                    <a:lnL w="6350" cap="flat" cmpd="sng" algn="ctr">
                      <a:solidFill>
                        <a:srgbClr val="50C46A"/>
                      </a:solidFill>
                      <a:prstDash val="solid"/>
                      <a:round/>
                      <a:headEnd type="none" w="med" len="med"/>
                      <a:tailEnd type="none" w="med" len="med"/>
                    </a:lnL>
                    <a:lnR w="6350" cap="flat" cmpd="sng" algn="ctr">
                      <a:solidFill>
                        <a:srgbClr val="D0AF6A"/>
                      </a:solidFill>
                      <a:prstDash val="solid"/>
                      <a:round/>
                      <a:headEnd type="none" w="med" len="med"/>
                      <a:tailEnd type="none" w="med" len="med"/>
                    </a:lnR>
                    <a:lnT w="6350" cap="flat" cmpd="sng" algn="ctr">
                      <a:solidFill>
                        <a:srgbClr val="50C46A"/>
                      </a:solidFill>
                      <a:prstDash val="solid"/>
                      <a:round/>
                      <a:headEnd type="none" w="med" len="med"/>
                      <a:tailEnd type="none" w="med" len="med"/>
                    </a:lnT>
                    <a:lnB w="6350" cap="flat" cmpd="sng" algn="ctr">
                      <a:solidFill>
                        <a:srgbClr val="50AD6A"/>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Primarily states, international organizations, and sometimes individuals (e.g., in human rights or international criminal law).</a:t>
                      </a:r>
                    </a:p>
                  </a:txBody>
                  <a:tcPr marL="26056" marR="26056" marT="13028" marB="13028" anchor="ctr">
                    <a:lnL w="6350" cap="flat" cmpd="sng" algn="ctr">
                      <a:solidFill>
                        <a:srgbClr val="D0AF6A"/>
                      </a:solidFill>
                      <a:prstDash val="solid"/>
                      <a:round/>
                      <a:headEnd type="none" w="med" len="med"/>
                      <a:tailEnd type="none" w="med" len="med"/>
                    </a:lnL>
                    <a:lnR w="6350" cap="flat" cmpd="sng" algn="ctr">
                      <a:solidFill>
                        <a:srgbClr val="D0A76A"/>
                      </a:solidFill>
                      <a:prstDash val="solid"/>
                      <a:round/>
                      <a:headEnd type="none" w="med" len="med"/>
                      <a:tailEnd type="none" w="med" len="med"/>
                    </a:lnR>
                    <a:lnT w="6350" cap="flat" cmpd="sng" algn="ctr">
                      <a:solidFill>
                        <a:srgbClr val="D0AF6A"/>
                      </a:solidFill>
                      <a:prstDash val="solid"/>
                      <a:round/>
                      <a:headEnd type="none" w="med" len="med"/>
                      <a:tailEnd type="none" w="med" len="med"/>
                    </a:lnT>
                    <a:lnB w="6350" cap="flat" cmpd="sng" algn="ctr">
                      <a:solidFill>
                        <a:srgbClr val="D0AF6A"/>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Private parties such as individuals, companies, and other non-state entities.</a:t>
                      </a:r>
                    </a:p>
                  </a:txBody>
                  <a:tcPr marL="26056" marR="26056" marT="13028" marB="13028" anchor="ctr">
                    <a:lnL w="6350" cap="flat" cmpd="sng" algn="ctr">
                      <a:solidFill>
                        <a:srgbClr val="D0A76A"/>
                      </a:solidFill>
                      <a:prstDash val="solid"/>
                      <a:round/>
                      <a:headEnd type="none" w="med" len="med"/>
                      <a:tailEnd type="none" w="med" len="med"/>
                    </a:lnL>
                    <a:lnR w="6350" cap="flat" cmpd="sng" algn="ctr">
                      <a:solidFill>
                        <a:srgbClr val="D0A76A"/>
                      </a:solidFill>
                      <a:prstDash val="solid"/>
                      <a:round/>
                      <a:headEnd type="none" w="med" len="med"/>
                      <a:tailEnd type="none" w="med" len="med"/>
                    </a:lnR>
                    <a:lnT w="6350" cap="flat" cmpd="sng" algn="ctr">
                      <a:solidFill>
                        <a:srgbClr val="D0A76A"/>
                      </a:solidFill>
                      <a:prstDash val="solid"/>
                      <a:round/>
                      <a:headEnd type="none" w="med" len="med"/>
                      <a:tailEnd type="none" w="med" len="med"/>
                    </a:lnT>
                    <a:lnB w="6350" cap="flat" cmpd="sng" algn="ctr">
                      <a:solidFill>
                        <a:srgbClr val="D0BD6A"/>
                      </a:solidFill>
                      <a:prstDash val="solid"/>
                      <a:round/>
                      <a:headEnd type="none" w="med" len="med"/>
                      <a:tailEnd type="none" w="med" len="med"/>
                    </a:lnB>
                  </a:tcPr>
                </a:tc>
                <a:extLst>
                  <a:ext uri="{0D108BD9-81ED-4DB2-BD59-A6C34878D82A}">
                    <a16:rowId xmlns:a16="http://schemas.microsoft.com/office/drawing/2014/main" val="801072353"/>
                  </a:ext>
                </a:extLst>
              </a:tr>
              <a:tr h="1030599">
                <a:tc>
                  <a:txBody>
                    <a:bodyPr/>
                    <a:lstStyle/>
                    <a:p>
                      <a:pPr algn="just" fontAlgn="base" latinLnBrk="0"/>
                      <a:r>
                        <a:rPr lang="en-US" sz="2000" b="0">
                          <a:effectLst/>
                          <a:latin typeface="Times New Roman" panose="02020603050405020304" pitchFamily="18" charset="0"/>
                          <a:cs typeface="Times New Roman" panose="02020603050405020304" pitchFamily="18" charset="0"/>
                        </a:rPr>
                        <a:t>Sources of Law</a:t>
                      </a:r>
                      <a:endParaRPr lang="en-US" sz="2000">
                        <a:effectLst/>
                        <a:latin typeface="Times New Roman" panose="02020603050405020304" pitchFamily="18" charset="0"/>
                        <a:cs typeface="Times New Roman" panose="02020603050405020304" pitchFamily="18" charset="0"/>
                      </a:endParaRPr>
                    </a:p>
                  </a:txBody>
                  <a:tcPr marL="26056" marR="26056" marT="13028" marB="13028" anchor="ctr">
                    <a:lnL w="6350" cap="flat" cmpd="sng" algn="ctr">
                      <a:solidFill>
                        <a:srgbClr val="50AD6A"/>
                      </a:solidFill>
                      <a:prstDash val="solid"/>
                      <a:round/>
                      <a:headEnd type="none" w="med" len="med"/>
                      <a:tailEnd type="none" w="med" len="med"/>
                    </a:lnL>
                    <a:lnR w="6350" cap="flat" cmpd="sng" algn="ctr">
                      <a:solidFill>
                        <a:srgbClr val="D0AF6A"/>
                      </a:solidFill>
                      <a:prstDash val="solid"/>
                      <a:round/>
                      <a:headEnd type="none" w="med" len="med"/>
                      <a:tailEnd type="none" w="med" len="med"/>
                    </a:lnR>
                    <a:lnT w="6350" cap="flat" cmpd="sng" algn="ctr">
                      <a:solidFill>
                        <a:srgbClr val="50AD6A"/>
                      </a:solidFill>
                      <a:prstDash val="solid"/>
                      <a:round/>
                      <a:headEnd type="none" w="med" len="med"/>
                      <a:tailEnd type="none" w="med" len="med"/>
                    </a:lnT>
                    <a:lnB w="6350" cap="flat" cmpd="sng" algn="ctr">
                      <a:solidFill>
                        <a:srgbClr val="50B06A"/>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Treaties, customary international law, general principles, and decisions of international bodies like the International Court of Justice (ICJ).</a:t>
                      </a:r>
                    </a:p>
                  </a:txBody>
                  <a:tcPr marL="26056" marR="26056" marT="13028" marB="13028" anchor="ctr">
                    <a:lnL w="6350" cap="flat" cmpd="sng" algn="ctr">
                      <a:solidFill>
                        <a:srgbClr val="D0AF6A"/>
                      </a:solidFill>
                      <a:prstDash val="solid"/>
                      <a:round/>
                      <a:headEnd type="none" w="med" len="med"/>
                      <a:tailEnd type="none" w="med" len="med"/>
                    </a:lnL>
                    <a:lnR w="6350" cap="flat" cmpd="sng" algn="ctr">
                      <a:solidFill>
                        <a:srgbClr val="D0BD6A"/>
                      </a:solidFill>
                      <a:prstDash val="solid"/>
                      <a:round/>
                      <a:headEnd type="none" w="med" len="med"/>
                      <a:tailEnd type="none" w="med" len="med"/>
                    </a:lnR>
                    <a:lnT w="6350" cap="flat" cmpd="sng" algn="ctr">
                      <a:solidFill>
                        <a:srgbClr val="D0AF6A"/>
                      </a:solidFill>
                      <a:prstDash val="solid"/>
                      <a:round/>
                      <a:headEnd type="none" w="med" len="med"/>
                      <a:tailEnd type="none" w="med" len="med"/>
                    </a:lnT>
                    <a:lnB w="6350" cap="flat" cmpd="sng" algn="ctr">
                      <a:solidFill>
                        <a:srgbClr val="50AB6A"/>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National legislation, treaties (e.g., Hague Conventions), judicial decisions, and international conventions related to private law.</a:t>
                      </a:r>
                    </a:p>
                  </a:txBody>
                  <a:tcPr marL="26056" marR="26056" marT="13028" marB="13028" anchor="ctr">
                    <a:lnL w="6350" cap="flat" cmpd="sng" algn="ctr">
                      <a:solidFill>
                        <a:srgbClr val="D0BD6A"/>
                      </a:solidFill>
                      <a:prstDash val="solid"/>
                      <a:round/>
                      <a:headEnd type="none" w="med" len="med"/>
                      <a:tailEnd type="none" w="med" len="med"/>
                    </a:lnL>
                    <a:lnR w="6350" cap="flat" cmpd="sng" algn="ctr">
                      <a:solidFill>
                        <a:srgbClr val="D0BD6A"/>
                      </a:solidFill>
                      <a:prstDash val="solid"/>
                      <a:round/>
                      <a:headEnd type="none" w="med" len="med"/>
                      <a:tailEnd type="none" w="med" len="med"/>
                    </a:lnR>
                    <a:lnT w="6350" cap="flat" cmpd="sng" algn="ctr">
                      <a:solidFill>
                        <a:srgbClr val="D0BD6A"/>
                      </a:solidFill>
                      <a:prstDash val="solid"/>
                      <a:round/>
                      <a:headEnd type="none" w="med" len="med"/>
                      <a:tailEnd type="none" w="med" len="med"/>
                    </a:lnT>
                    <a:lnB w="6350" cap="flat" cmpd="sng" algn="ctr">
                      <a:solidFill>
                        <a:srgbClr val="D0A96A"/>
                      </a:solidFill>
                      <a:prstDash val="solid"/>
                      <a:round/>
                      <a:headEnd type="none" w="med" len="med"/>
                      <a:tailEnd type="none" w="med" len="med"/>
                    </a:lnB>
                  </a:tcPr>
                </a:tc>
                <a:extLst>
                  <a:ext uri="{0D108BD9-81ED-4DB2-BD59-A6C34878D82A}">
                    <a16:rowId xmlns:a16="http://schemas.microsoft.com/office/drawing/2014/main" val="2613447068"/>
                  </a:ext>
                </a:extLst>
              </a:tr>
              <a:tr h="1306816">
                <a:tc>
                  <a:txBody>
                    <a:bodyPr/>
                    <a:lstStyle/>
                    <a:p>
                      <a:pPr algn="just" fontAlgn="base" latinLnBrk="0"/>
                      <a:r>
                        <a:rPr lang="en-US" sz="2000" b="0">
                          <a:effectLst/>
                          <a:latin typeface="Times New Roman" panose="02020603050405020304" pitchFamily="18" charset="0"/>
                          <a:cs typeface="Times New Roman" panose="02020603050405020304" pitchFamily="18" charset="0"/>
                        </a:rPr>
                        <a:t>Enforcement Mechanism</a:t>
                      </a:r>
                      <a:endParaRPr lang="en-US" sz="2000">
                        <a:effectLst/>
                        <a:latin typeface="Times New Roman" panose="02020603050405020304" pitchFamily="18" charset="0"/>
                        <a:cs typeface="Times New Roman" panose="02020603050405020304" pitchFamily="18" charset="0"/>
                      </a:endParaRPr>
                    </a:p>
                  </a:txBody>
                  <a:tcPr marL="26056" marR="26056" marT="13028" marB="13028" anchor="ctr">
                    <a:lnL w="6350" cap="flat" cmpd="sng" algn="ctr">
                      <a:solidFill>
                        <a:srgbClr val="50B06A"/>
                      </a:solidFill>
                      <a:prstDash val="solid"/>
                      <a:round/>
                      <a:headEnd type="none" w="med" len="med"/>
                      <a:tailEnd type="none" w="med" len="med"/>
                    </a:lnL>
                    <a:lnR w="6350" cap="flat" cmpd="sng" algn="ctr">
                      <a:solidFill>
                        <a:srgbClr val="50AB6A"/>
                      </a:solidFill>
                      <a:prstDash val="solid"/>
                      <a:round/>
                      <a:headEnd type="none" w="med" len="med"/>
                      <a:tailEnd type="none" w="med" len="med"/>
                    </a:lnR>
                    <a:lnT w="6350" cap="flat" cmpd="sng" algn="ctr">
                      <a:solidFill>
                        <a:srgbClr val="50B06A"/>
                      </a:solidFill>
                      <a:prstDash val="solid"/>
                      <a:round/>
                      <a:headEnd type="none" w="med" len="med"/>
                      <a:tailEnd type="none" w="med" len="med"/>
                    </a:lnT>
                    <a:lnB w="6350" cap="flat" cmpd="sng" algn="ctr">
                      <a:solidFill>
                        <a:srgbClr val="50B06A"/>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No centralized enforcement; relies on state consent, diplomatic pressure, economic sanctions, and international organizations.</a:t>
                      </a:r>
                    </a:p>
                  </a:txBody>
                  <a:tcPr marL="26056" marR="26056" marT="13028" marB="13028" anchor="ctr">
                    <a:lnL w="6350" cap="flat" cmpd="sng" algn="ctr">
                      <a:solidFill>
                        <a:srgbClr val="50AB6A"/>
                      </a:solidFill>
                      <a:prstDash val="solid"/>
                      <a:round/>
                      <a:headEnd type="none" w="med" len="med"/>
                      <a:tailEnd type="none" w="med" len="med"/>
                    </a:lnL>
                    <a:lnR w="6350" cap="flat" cmpd="sng" algn="ctr">
                      <a:solidFill>
                        <a:srgbClr val="D0A96A"/>
                      </a:solidFill>
                      <a:prstDash val="solid"/>
                      <a:round/>
                      <a:headEnd type="none" w="med" len="med"/>
                      <a:tailEnd type="none" w="med" len="med"/>
                    </a:lnR>
                    <a:lnT w="6350" cap="flat" cmpd="sng" algn="ctr">
                      <a:solidFill>
                        <a:srgbClr val="50AB6A"/>
                      </a:solidFill>
                      <a:prstDash val="solid"/>
                      <a:round/>
                      <a:headEnd type="none" w="med" len="med"/>
                      <a:tailEnd type="none" w="med" len="med"/>
                    </a:lnT>
                    <a:lnB w="6350" cap="flat" cmpd="sng" algn="ctr">
                      <a:solidFill>
                        <a:srgbClr val="50AB6A"/>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Enforced by domestic courts and arbitration panels; recognition and enforcement of foreign judgments depend on treaties and national laws</a:t>
                      </a:r>
                      <a:r>
                        <a:rPr lang="en-US" sz="2000" b="0" u="none" strike="noStrike" dirty="0">
                          <a:effectLst/>
                          <a:latin typeface="Times New Roman" panose="02020603050405020304" pitchFamily="18" charset="0"/>
                          <a:cs typeface="Times New Roman" panose="02020603050405020304" pitchFamily="18" charset="0"/>
                        </a:rPr>
                        <a:t>.</a:t>
                      </a:r>
                      <a:endParaRPr lang="en-US" sz="2000" dirty="0">
                        <a:effectLst/>
                        <a:latin typeface="Times New Roman" panose="02020603050405020304" pitchFamily="18" charset="0"/>
                        <a:cs typeface="Times New Roman" panose="02020603050405020304" pitchFamily="18" charset="0"/>
                      </a:endParaRPr>
                    </a:p>
                  </a:txBody>
                  <a:tcPr marL="26056" marR="26056" marT="13028" marB="13028" anchor="ctr">
                    <a:lnL w="6350" cap="flat" cmpd="sng" algn="ctr">
                      <a:solidFill>
                        <a:srgbClr val="D0A96A"/>
                      </a:solidFill>
                      <a:prstDash val="solid"/>
                      <a:round/>
                      <a:headEnd type="none" w="med" len="med"/>
                      <a:tailEnd type="none" w="med" len="med"/>
                    </a:lnL>
                    <a:lnR w="6350" cap="flat" cmpd="sng" algn="ctr">
                      <a:solidFill>
                        <a:srgbClr val="D0A96A"/>
                      </a:solidFill>
                      <a:prstDash val="solid"/>
                      <a:round/>
                      <a:headEnd type="none" w="med" len="med"/>
                      <a:tailEnd type="none" w="med" len="med"/>
                    </a:lnR>
                    <a:lnT w="6350" cap="flat" cmpd="sng" algn="ctr">
                      <a:solidFill>
                        <a:srgbClr val="D0A96A"/>
                      </a:solidFill>
                      <a:prstDash val="solid"/>
                      <a:round/>
                      <a:headEnd type="none" w="med" len="med"/>
                      <a:tailEnd type="none" w="med" len="med"/>
                    </a:lnT>
                    <a:lnB w="6350" cap="flat" cmpd="sng" algn="ctr">
                      <a:solidFill>
                        <a:srgbClr val="D0A96A"/>
                      </a:solidFill>
                      <a:prstDash val="solid"/>
                      <a:round/>
                      <a:headEnd type="none" w="med" len="med"/>
                      <a:tailEnd type="none" w="med" len="med"/>
                    </a:lnB>
                  </a:tcPr>
                </a:tc>
                <a:extLst>
                  <a:ext uri="{0D108BD9-81ED-4DB2-BD59-A6C34878D82A}">
                    <a16:rowId xmlns:a16="http://schemas.microsoft.com/office/drawing/2014/main" val="2131377622"/>
                  </a:ext>
                </a:extLst>
              </a:tr>
            </a:tbl>
          </a:graphicData>
        </a:graphic>
      </p:graphicFrame>
    </p:spTree>
    <p:extLst>
      <p:ext uri="{BB962C8B-B14F-4D97-AF65-F5344CB8AC3E}">
        <p14:creationId xmlns:p14="http://schemas.microsoft.com/office/powerpoint/2010/main" val="2594396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843915"/>
          </a:xfrm>
        </p:spPr>
        <p:txBody>
          <a:bodyPr>
            <a:noAutofit/>
          </a:bodyPr>
          <a:lstStyle/>
          <a:p>
            <a:pPr algn="ctr"/>
            <a:r>
              <a:rPr lang="en-US" sz="3200" b="1" dirty="0">
                <a:latin typeface="Times New Roman" panose="02020603050405020304" pitchFamily="18" charset="0"/>
                <a:cs typeface="Times New Roman" panose="02020603050405020304" pitchFamily="18" charset="0"/>
              </a:rPr>
              <a:t>Comparison between Public and private international Law</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122353540"/>
              </p:ext>
            </p:extLst>
          </p:nvPr>
        </p:nvGraphicFramePr>
        <p:xfrm>
          <a:off x="142240" y="727491"/>
          <a:ext cx="11897360" cy="6128330"/>
        </p:xfrm>
        <a:graphic>
          <a:graphicData uri="http://schemas.openxmlformats.org/drawingml/2006/table">
            <a:tbl>
              <a:tblPr/>
              <a:tblGrid>
                <a:gridCol w="1717251">
                  <a:extLst>
                    <a:ext uri="{9D8B030D-6E8A-4147-A177-3AD203B41FA5}">
                      <a16:colId xmlns:a16="http://schemas.microsoft.com/office/drawing/2014/main" val="3028166633"/>
                    </a:ext>
                  </a:extLst>
                </a:gridCol>
                <a:gridCol w="5141470">
                  <a:extLst>
                    <a:ext uri="{9D8B030D-6E8A-4147-A177-3AD203B41FA5}">
                      <a16:colId xmlns:a16="http://schemas.microsoft.com/office/drawing/2014/main" val="3946480325"/>
                    </a:ext>
                  </a:extLst>
                </a:gridCol>
                <a:gridCol w="5038639">
                  <a:extLst>
                    <a:ext uri="{9D8B030D-6E8A-4147-A177-3AD203B41FA5}">
                      <a16:colId xmlns:a16="http://schemas.microsoft.com/office/drawing/2014/main" val="4214378256"/>
                    </a:ext>
                  </a:extLst>
                </a:gridCol>
              </a:tblGrid>
              <a:tr h="913404">
                <a:tc>
                  <a:txBody>
                    <a:bodyPr/>
                    <a:lstStyle/>
                    <a:p>
                      <a:pPr algn="l" fontAlgn="base" latinLnBrk="0"/>
                      <a:r>
                        <a:rPr lang="en-US" sz="2000" b="0" dirty="0">
                          <a:effectLst/>
                          <a:latin typeface="Times New Roman" panose="02020603050405020304" pitchFamily="18" charset="0"/>
                          <a:cs typeface="Times New Roman" panose="02020603050405020304" pitchFamily="18" charset="0"/>
                        </a:rPr>
                        <a:t>Focus</a:t>
                      </a:r>
                      <a:endParaRPr lang="en-US" sz="2000" dirty="0">
                        <a:effectLst/>
                        <a:latin typeface="Times New Roman" panose="02020603050405020304" pitchFamily="18" charset="0"/>
                        <a:cs typeface="Times New Roman" panose="02020603050405020304" pitchFamily="18" charset="0"/>
                      </a:endParaRPr>
                    </a:p>
                  </a:txBody>
                  <a:tcPr marL="20920" marR="20920" marT="10460" marB="10460" anchor="ctr">
                    <a:lnL w="6350" cap="flat" cmpd="sng" algn="ctr">
                      <a:solidFill>
                        <a:srgbClr val="90D7DB"/>
                      </a:solidFill>
                      <a:prstDash val="solid"/>
                      <a:round/>
                      <a:headEnd type="none" w="med" len="med"/>
                      <a:tailEnd type="none" w="med" len="med"/>
                    </a:lnL>
                    <a:lnR w="6350" cap="flat" cmpd="sng" algn="ctr">
                      <a:solidFill>
                        <a:srgbClr val="90E5DB"/>
                      </a:solidFill>
                      <a:prstDash val="solid"/>
                      <a:round/>
                      <a:headEnd type="none" w="med" len="med"/>
                      <a:tailEnd type="none" w="med" len="med"/>
                    </a:lnR>
                    <a:lnT w="6350" cap="flat" cmpd="sng" algn="ctr">
                      <a:solidFill>
                        <a:srgbClr val="90D7DB"/>
                      </a:solidFill>
                      <a:prstDash val="solid"/>
                      <a:round/>
                      <a:headEnd type="none" w="med" len="med"/>
                      <a:tailEnd type="none" w="med" len="med"/>
                    </a:lnT>
                    <a:lnB w="6350" cap="flat" cmpd="sng" algn="ctr">
                      <a:solidFill>
                        <a:srgbClr val="10D9DB"/>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Peace, security, state sovereignty, diplomatic relations, international responsibility, and global cooperation.</a:t>
                      </a:r>
                    </a:p>
                  </a:txBody>
                  <a:tcPr marL="20920" marR="20920" marT="10460" marB="10460" anchor="ctr">
                    <a:lnL w="6350" cap="flat" cmpd="sng" algn="ctr">
                      <a:solidFill>
                        <a:srgbClr val="90E5DB"/>
                      </a:solidFill>
                      <a:prstDash val="solid"/>
                      <a:round/>
                      <a:headEnd type="none" w="med" len="med"/>
                      <a:tailEnd type="none" w="med" len="med"/>
                    </a:lnL>
                    <a:lnR w="6350" cap="flat" cmpd="sng" algn="ctr">
                      <a:solidFill>
                        <a:srgbClr val="90DDDB"/>
                      </a:solidFill>
                      <a:prstDash val="solid"/>
                      <a:round/>
                      <a:headEnd type="none" w="med" len="med"/>
                      <a:tailEnd type="none" w="med" len="med"/>
                    </a:lnR>
                    <a:lnT w="6350" cap="flat" cmpd="sng" algn="ctr">
                      <a:solidFill>
                        <a:srgbClr val="90E5DB"/>
                      </a:solidFill>
                      <a:prstDash val="solid"/>
                      <a:round/>
                      <a:headEnd type="none" w="med" len="med"/>
                      <a:tailEnd type="none" w="med" len="med"/>
                    </a:lnT>
                    <a:lnB w="6350" cap="flat" cmpd="sng" algn="ctr">
                      <a:solidFill>
                        <a:srgbClr val="90D4DB"/>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Jurisdiction, choice of applicable law, recognition and enforcement of foreign judgments in private disputes.</a:t>
                      </a:r>
                    </a:p>
                  </a:txBody>
                  <a:tcPr marL="20920" marR="20920" marT="10460" marB="10460" anchor="ctr">
                    <a:lnL w="6350" cap="flat" cmpd="sng" algn="ctr">
                      <a:solidFill>
                        <a:srgbClr val="90DDDB"/>
                      </a:solidFill>
                      <a:prstDash val="solid"/>
                      <a:round/>
                      <a:headEnd type="none" w="med" len="med"/>
                      <a:tailEnd type="none" w="med" len="med"/>
                    </a:lnL>
                    <a:lnR w="6350" cap="flat" cmpd="sng" algn="ctr">
                      <a:solidFill>
                        <a:srgbClr val="90DDDB"/>
                      </a:solidFill>
                      <a:prstDash val="solid"/>
                      <a:round/>
                      <a:headEnd type="none" w="med" len="med"/>
                      <a:tailEnd type="none" w="med" len="med"/>
                    </a:lnR>
                    <a:lnT w="6350" cap="flat" cmpd="sng" algn="ctr">
                      <a:solidFill>
                        <a:srgbClr val="90DDDB"/>
                      </a:solidFill>
                      <a:prstDash val="solid"/>
                      <a:round/>
                      <a:headEnd type="none" w="med" len="med"/>
                      <a:tailEnd type="none" w="med" len="med"/>
                    </a:lnT>
                    <a:lnB w="6350" cap="flat" cmpd="sng" algn="ctr">
                      <a:solidFill>
                        <a:srgbClr val="10CDDB"/>
                      </a:solidFill>
                      <a:prstDash val="solid"/>
                      <a:round/>
                      <a:headEnd type="none" w="med" len="med"/>
                      <a:tailEnd type="none" w="med" len="med"/>
                    </a:lnB>
                  </a:tcPr>
                </a:tc>
                <a:extLst>
                  <a:ext uri="{0D108BD9-81ED-4DB2-BD59-A6C34878D82A}">
                    <a16:rowId xmlns:a16="http://schemas.microsoft.com/office/drawing/2014/main" val="3682296151"/>
                  </a:ext>
                </a:extLst>
              </a:tr>
              <a:tr h="1211062">
                <a:tc>
                  <a:txBody>
                    <a:bodyPr/>
                    <a:lstStyle/>
                    <a:p>
                      <a:pPr algn="l" fontAlgn="base" latinLnBrk="0"/>
                      <a:r>
                        <a:rPr lang="en-US" sz="2000" b="0" dirty="0">
                          <a:effectLst/>
                          <a:latin typeface="Times New Roman" panose="02020603050405020304" pitchFamily="18" charset="0"/>
                          <a:cs typeface="Times New Roman" panose="02020603050405020304" pitchFamily="18" charset="0"/>
                        </a:rPr>
                        <a:t>Dispute Resolution</a:t>
                      </a:r>
                      <a:endParaRPr lang="en-US" sz="2000" dirty="0">
                        <a:effectLst/>
                        <a:latin typeface="Times New Roman" panose="02020603050405020304" pitchFamily="18" charset="0"/>
                        <a:cs typeface="Times New Roman" panose="02020603050405020304" pitchFamily="18" charset="0"/>
                      </a:endParaRPr>
                    </a:p>
                  </a:txBody>
                  <a:tcPr marL="20920" marR="20920" marT="10460" marB="10460" anchor="ctr">
                    <a:lnL w="6350" cap="flat" cmpd="sng" algn="ctr">
                      <a:solidFill>
                        <a:srgbClr val="10D9DB"/>
                      </a:solidFill>
                      <a:prstDash val="solid"/>
                      <a:round/>
                      <a:headEnd type="none" w="med" len="med"/>
                      <a:tailEnd type="none" w="med" len="med"/>
                    </a:lnL>
                    <a:lnR w="6350" cap="flat" cmpd="sng" algn="ctr">
                      <a:solidFill>
                        <a:srgbClr val="90D4DB"/>
                      </a:solidFill>
                      <a:prstDash val="solid"/>
                      <a:round/>
                      <a:headEnd type="none" w="med" len="med"/>
                      <a:tailEnd type="none" w="med" len="med"/>
                    </a:lnR>
                    <a:lnT w="6350" cap="flat" cmpd="sng" algn="ctr">
                      <a:solidFill>
                        <a:srgbClr val="10D9DB"/>
                      </a:solidFill>
                      <a:prstDash val="solid"/>
                      <a:round/>
                      <a:headEnd type="none" w="med" len="med"/>
                      <a:tailEnd type="none" w="med" len="med"/>
                    </a:lnT>
                    <a:lnB w="6350" cap="flat" cmpd="sng" algn="ctr">
                      <a:solidFill>
                        <a:srgbClr val="10D6DB"/>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International courts and tribunals such as the ICJ, International Criminal Court (ICC), and arbitration panels.</a:t>
                      </a:r>
                    </a:p>
                  </a:txBody>
                  <a:tcPr marL="20920" marR="20920" marT="10460" marB="10460" anchor="ctr">
                    <a:lnL w="6350" cap="flat" cmpd="sng" algn="ctr">
                      <a:solidFill>
                        <a:srgbClr val="90D4DB"/>
                      </a:solidFill>
                      <a:prstDash val="solid"/>
                      <a:round/>
                      <a:headEnd type="none" w="med" len="med"/>
                      <a:tailEnd type="none" w="med" len="med"/>
                    </a:lnL>
                    <a:lnR w="6350" cap="flat" cmpd="sng" algn="ctr">
                      <a:solidFill>
                        <a:srgbClr val="10CDDB"/>
                      </a:solidFill>
                      <a:prstDash val="solid"/>
                      <a:round/>
                      <a:headEnd type="none" w="med" len="med"/>
                      <a:tailEnd type="none" w="med" len="med"/>
                    </a:lnR>
                    <a:lnT w="6350" cap="flat" cmpd="sng" algn="ctr">
                      <a:solidFill>
                        <a:srgbClr val="90D4DB"/>
                      </a:solidFill>
                      <a:prstDash val="solid"/>
                      <a:round/>
                      <a:headEnd type="none" w="med" len="med"/>
                      <a:tailEnd type="none" w="med" len="med"/>
                    </a:lnT>
                    <a:lnB w="6350" cap="flat" cmpd="sng" algn="ctr">
                      <a:solidFill>
                        <a:srgbClr val="10CDDB"/>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National courts and arbitration panels; international organizations like the Hague Conference and UNIDROIT work on harmonization.</a:t>
                      </a:r>
                    </a:p>
                  </a:txBody>
                  <a:tcPr marL="20920" marR="20920" marT="10460" marB="10460" anchor="ctr">
                    <a:lnL w="6350" cap="flat" cmpd="sng" algn="ctr">
                      <a:solidFill>
                        <a:srgbClr val="10CDDB"/>
                      </a:solidFill>
                      <a:prstDash val="solid"/>
                      <a:round/>
                      <a:headEnd type="none" w="med" len="med"/>
                      <a:tailEnd type="none" w="med" len="med"/>
                    </a:lnL>
                    <a:lnR w="6350" cap="flat" cmpd="sng" algn="ctr">
                      <a:solidFill>
                        <a:srgbClr val="10CDDB"/>
                      </a:solidFill>
                      <a:prstDash val="solid"/>
                      <a:round/>
                      <a:headEnd type="none" w="med" len="med"/>
                      <a:tailEnd type="none" w="med" len="med"/>
                    </a:lnR>
                    <a:lnT w="6350" cap="flat" cmpd="sng" algn="ctr">
                      <a:solidFill>
                        <a:srgbClr val="10CDDB"/>
                      </a:solidFill>
                      <a:prstDash val="solid"/>
                      <a:round/>
                      <a:headEnd type="none" w="med" len="med"/>
                      <a:tailEnd type="none" w="med" len="med"/>
                    </a:lnT>
                    <a:lnB w="6350" cap="flat" cmpd="sng" algn="ctr">
                      <a:solidFill>
                        <a:srgbClr val="10D0DB"/>
                      </a:solidFill>
                      <a:prstDash val="solid"/>
                      <a:round/>
                      <a:headEnd type="none" w="med" len="med"/>
                      <a:tailEnd type="none" w="med" len="med"/>
                    </a:lnB>
                  </a:tcPr>
                </a:tc>
                <a:extLst>
                  <a:ext uri="{0D108BD9-81ED-4DB2-BD59-A6C34878D82A}">
                    <a16:rowId xmlns:a16="http://schemas.microsoft.com/office/drawing/2014/main" val="3699335879"/>
                  </a:ext>
                </a:extLst>
              </a:tr>
              <a:tr h="725865">
                <a:tc>
                  <a:txBody>
                    <a:bodyPr/>
                    <a:lstStyle/>
                    <a:p>
                      <a:pPr algn="l" fontAlgn="base" latinLnBrk="0"/>
                      <a:r>
                        <a:rPr lang="en-US" sz="2000" b="0" dirty="0">
                          <a:effectLst/>
                          <a:latin typeface="Times New Roman" panose="02020603050405020304" pitchFamily="18" charset="0"/>
                          <a:cs typeface="Times New Roman" panose="02020603050405020304" pitchFamily="18" charset="0"/>
                        </a:rPr>
                        <a:t>Examples of Issues</a:t>
                      </a:r>
                      <a:endParaRPr lang="en-US" sz="2000" dirty="0">
                        <a:effectLst/>
                        <a:latin typeface="Times New Roman" panose="02020603050405020304" pitchFamily="18" charset="0"/>
                        <a:cs typeface="Times New Roman" panose="02020603050405020304" pitchFamily="18" charset="0"/>
                      </a:endParaRPr>
                    </a:p>
                  </a:txBody>
                  <a:tcPr marL="20920" marR="20920" marT="10460" marB="10460" anchor="ctr">
                    <a:lnL w="6350" cap="flat" cmpd="sng" algn="ctr">
                      <a:solidFill>
                        <a:srgbClr val="10D6DB"/>
                      </a:solidFill>
                      <a:prstDash val="solid"/>
                      <a:round/>
                      <a:headEnd type="none" w="med" len="med"/>
                      <a:tailEnd type="none" w="med" len="med"/>
                    </a:lnL>
                    <a:lnR w="6350" cap="flat" cmpd="sng" algn="ctr">
                      <a:solidFill>
                        <a:srgbClr val="10CDDB"/>
                      </a:solidFill>
                      <a:prstDash val="solid"/>
                      <a:round/>
                      <a:headEnd type="none" w="med" len="med"/>
                      <a:tailEnd type="none" w="med" len="med"/>
                    </a:lnR>
                    <a:lnT w="6350" cap="flat" cmpd="sng" algn="ctr">
                      <a:solidFill>
                        <a:srgbClr val="10D6DB"/>
                      </a:solidFill>
                      <a:prstDash val="solid"/>
                      <a:round/>
                      <a:headEnd type="none" w="med" len="med"/>
                      <a:tailEnd type="none" w="med" len="med"/>
                    </a:lnT>
                    <a:lnB w="6350" cap="flat" cmpd="sng" algn="ctr">
                      <a:solidFill>
                        <a:srgbClr val="90E2DB"/>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Treaty negotiations, use of force, diplomatic immunity, human rights, environmental treaties.</a:t>
                      </a:r>
                    </a:p>
                  </a:txBody>
                  <a:tcPr marL="20920" marR="20920" marT="10460" marB="10460" anchor="ctr">
                    <a:lnL w="6350" cap="flat" cmpd="sng" algn="ctr">
                      <a:solidFill>
                        <a:srgbClr val="10CDDB"/>
                      </a:solidFill>
                      <a:prstDash val="solid"/>
                      <a:round/>
                      <a:headEnd type="none" w="med" len="med"/>
                      <a:tailEnd type="none" w="med" len="med"/>
                    </a:lnL>
                    <a:lnR w="6350" cap="flat" cmpd="sng" algn="ctr">
                      <a:solidFill>
                        <a:srgbClr val="10D0DB"/>
                      </a:solidFill>
                      <a:prstDash val="solid"/>
                      <a:round/>
                      <a:headEnd type="none" w="med" len="med"/>
                      <a:tailEnd type="none" w="med" len="med"/>
                    </a:lnR>
                    <a:lnT w="6350" cap="flat" cmpd="sng" algn="ctr">
                      <a:solidFill>
                        <a:srgbClr val="10CDDB"/>
                      </a:solidFill>
                      <a:prstDash val="solid"/>
                      <a:round/>
                      <a:headEnd type="none" w="med" len="med"/>
                      <a:tailEnd type="none" w="med" len="med"/>
                    </a:lnT>
                    <a:lnB w="6350" cap="flat" cmpd="sng" algn="ctr">
                      <a:solidFill>
                        <a:srgbClr val="10CEDB"/>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Cross-border contracts, torts, family law matters, inheritance, and commercial disputes.</a:t>
                      </a:r>
                    </a:p>
                  </a:txBody>
                  <a:tcPr marL="20920" marR="20920" marT="10460" marB="10460" anchor="ctr">
                    <a:lnL w="6350" cap="flat" cmpd="sng" algn="ctr">
                      <a:solidFill>
                        <a:srgbClr val="10D0DB"/>
                      </a:solidFill>
                      <a:prstDash val="solid"/>
                      <a:round/>
                      <a:headEnd type="none" w="med" len="med"/>
                      <a:tailEnd type="none" w="med" len="med"/>
                    </a:lnL>
                    <a:lnR w="6350" cap="flat" cmpd="sng" algn="ctr">
                      <a:solidFill>
                        <a:srgbClr val="10D0DB"/>
                      </a:solidFill>
                      <a:prstDash val="solid"/>
                      <a:round/>
                      <a:headEnd type="none" w="med" len="med"/>
                      <a:tailEnd type="none" w="med" len="med"/>
                    </a:lnR>
                    <a:lnT w="6350" cap="flat" cmpd="sng" algn="ctr">
                      <a:solidFill>
                        <a:srgbClr val="10D0DB"/>
                      </a:solidFill>
                      <a:prstDash val="solid"/>
                      <a:round/>
                      <a:headEnd type="none" w="med" len="med"/>
                      <a:tailEnd type="none" w="med" len="med"/>
                    </a:lnT>
                    <a:lnB w="6350" cap="flat" cmpd="sng" algn="ctr">
                      <a:solidFill>
                        <a:srgbClr val="90D4DB"/>
                      </a:solidFill>
                      <a:prstDash val="solid"/>
                      <a:round/>
                      <a:headEnd type="none" w="med" len="med"/>
                      <a:tailEnd type="none" w="med" len="med"/>
                    </a:lnB>
                  </a:tcPr>
                </a:tc>
                <a:extLst>
                  <a:ext uri="{0D108BD9-81ED-4DB2-BD59-A6C34878D82A}">
                    <a16:rowId xmlns:a16="http://schemas.microsoft.com/office/drawing/2014/main" val="4024746660"/>
                  </a:ext>
                </a:extLst>
              </a:tr>
              <a:tr h="913404">
                <a:tc>
                  <a:txBody>
                    <a:bodyPr/>
                    <a:lstStyle/>
                    <a:p>
                      <a:pPr algn="l" fontAlgn="base" latinLnBrk="0"/>
                      <a:r>
                        <a:rPr lang="en-US" sz="2000" b="0" dirty="0">
                          <a:effectLst/>
                          <a:latin typeface="Times New Roman" panose="02020603050405020304" pitchFamily="18" charset="0"/>
                          <a:cs typeface="Times New Roman" panose="02020603050405020304" pitchFamily="18" charset="0"/>
                        </a:rPr>
                        <a:t>State Sovereignty</a:t>
                      </a:r>
                      <a:endParaRPr lang="en-US" sz="2000" dirty="0">
                        <a:effectLst/>
                        <a:latin typeface="Times New Roman" panose="02020603050405020304" pitchFamily="18" charset="0"/>
                        <a:cs typeface="Times New Roman" panose="02020603050405020304" pitchFamily="18" charset="0"/>
                      </a:endParaRPr>
                    </a:p>
                  </a:txBody>
                  <a:tcPr marL="20920" marR="20920" marT="10460" marB="10460" anchor="ctr">
                    <a:lnL w="6350" cap="flat" cmpd="sng" algn="ctr">
                      <a:solidFill>
                        <a:srgbClr val="90E2DB"/>
                      </a:solidFill>
                      <a:prstDash val="solid"/>
                      <a:round/>
                      <a:headEnd type="none" w="med" len="med"/>
                      <a:tailEnd type="none" w="med" len="med"/>
                    </a:lnL>
                    <a:lnR w="6350" cap="flat" cmpd="sng" algn="ctr">
                      <a:solidFill>
                        <a:srgbClr val="10CEDB"/>
                      </a:solidFill>
                      <a:prstDash val="solid"/>
                      <a:round/>
                      <a:headEnd type="none" w="med" len="med"/>
                      <a:tailEnd type="none" w="med" len="med"/>
                    </a:lnR>
                    <a:lnT w="6350" cap="flat" cmpd="sng" algn="ctr">
                      <a:solidFill>
                        <a:srgbClr val="90E2DB"/>
                      </a:solidFill>
                      <a:prstDash val="solid"/>
                      <a:round/>
                      <a:headEnd type="none" w="med" len="med"/>
                      <a:tailEnd type="none" w="med" len="med"/>
                    </a:lnT>
                    <a:lnB w="6350" cap="flat" cmpd="sng" algn="ctr">
                      <a:solidFill>
                        <a:srgbClr val="10CEDB"/>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Involves limitations on state sovereignty for international cooperation and order.</a:t>
                      </a:r>
                    </a:p>
                  </a:txBody>
                  <a:tcPr marL="20920" marR="20920" marT="10460" marB="10460" anchor="ctr">
                    <a:lnL w="6350" cap="flat" cmpd="sng" algn="ctr">
                      <a:solidFill>
                        <a:srgbClr val="10CEDB"/>
                      </a:solidFill>
                      <a:prstDash val="solid"/>
                      <a:round/>
                      <a:headEnd type="none" w="med" len="med"/>
                      <a:tailEnd type="none" w="med" len="med"/>
                    </a:lnL>
                    <a:lnR w="6350" cap="flat" cmpd="sng" algn="ctr">
                      <a:solidFill>
                        <a:srgbClr val="90D4DB"/>
                      </a:solidFill>
                      <a:prstDash val="solid"/>
                      <a:round/>
                      <a:headEnd type="none" w="med" len="med"/>
                      <a:tailEnd type="none" w="med" len="med"/>
                    </a:lnR>
                    <a:lnT w="6350" cap="flat" cmpd="sng" algn="ctr">
                      <a:solidFill>
                        <a:srgbClr val="10CEDB"/>
                      </a:solidFill>
                      <a:prstDash val="solid"/>
                      <a:round/>
                      <a:headEnd type="none" w="med" len="med"/>
                      <a:tailEnd type="none" w="med" len="med"/>
                    </a:lnT>
                    <a:lnB w="6350" cap="flat" cmpd="sng" algn="ctr">
                      <a:solidFill>
                        <a:srgbClr val="90E0DB"/>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Balances state sovereignty with the need for predictability in cross-border private legal matters.</a:t>
                      </a:r>
                    </a:p>
                  </a:txBody>
                  <a:tcPr marL="20920" marR="20920" marT="10460" marB="10460" anchor="ctr">
                    <a:lnL w="6350" cap="flat" cmpd="sng" algn="ctr">
                      <a:solidFill>
                        <a:srgbClr val="90D4DB"/>
                      </a:solidFill>
                      <a:prstDash val="solid"/>
                      <a:round/>
                      <a:headEnd type="none" w="med" len="med"/>
                      <a:tailEnd type="none" w="med" len="med"/>
                    </a:lnL>
                    <a:lnR w="6350" cap="flat" cmpd="sng" algn="ctr">
                      <a:solidFill>
                        <a:srgbClr val="90D4DB"/>
                      </a:solidFill>
                      <a:prstDash val="solid"/>
                      <a:round/>
                      <a:headEnd type="none" w="med" len="med"/>
                      <a:tailEnd type="none" w="med" len="med"/>
                    </a:lnR>
                    <a:lnT w="6350" cap="flat" cmpd="sng" algn="ctr">
                      <a:solidFill>
                        <a:srgbClr val="90D4DB"/>
                      </a:solidFill>
                      <a:prstDash val="solid"/>
                      <a:round/>
                      <a:headEnd type="none" w="med" len="med"/>
                      <a:tailEnd type="none" w="med" len="med"/>
                    </a:lnT>
                    <a:lnB w="6350" cap="flat" cmpd="sng" algn="ctr">
                      <a:solidFill>
                        <a:srgbClr val="90E0DB"/>
                      </a:solidFill>
                      <a:prstDash val="solid"/>
                      <a:round/>
                      <a:headEnd type="none" w="med" len="med"/>
                      <a:tailEnd type="none" w="med" len="med"/>
                    </a:lnB>
                  </a:tcPr>
                </a:tc>
                <a:extLst>
                  <a:ext uri="{0D108BD9-81ED-4DB2-BD59-A6C34878D82A}">
                    <a16:rowId xmlns:a16="http://schemas.microsoft.com/office/drawing/2014/main" val="3877199048"/>
                  </a:ext>
                </a:extLst>
              </a:tr>
              <a:tr h="615746">
                <a:tc>
                  <a:txBody>
                    <a:bodyPr/>
                    <a:lstStyle/>
                    <a:p>
                      <a:pPr algn="l" fontAlgn="base" latinLnBrk="0"/>
                      <a:r>
                        <a:rPr lang="en-US" sz="2000" b="0" dirty="0">
                          <a:effectLst/>
                          <a:latin typeface="Times New Roman" panose="02020603050405020304" pitchFamily="18" charset="0"/>
                          <a:cs typeface="Times New Roman" panose="02020603050405020304" pitchFamily="18" charset="0"/>
                        </a:rPr>
                        <a:t>Uniformity</a:t>
                      </a:r>
                      <a:endParaRPr lang="en-US" sz="2000" dirty="0">
                        <a:effectLst/>
                        <a:latin typeface="Times New Roman" panose="02020603050405020304" pitchFamily="18" charset="0"/>
                        <a:cs typeface="Times New Roman" panose="02020603050405020304" pitchFamily="18" charset="0"/>
                      </a:endParaRPr>
                    </a:p>
                  </a:txBody>
                  <a:tcPr marL="20920" marR="20920" marT="10460" marB="10460" anchor="ctr">
                    <a:lnL w="6350" cap="flat" cmpd="sng" algn="ctr">
                      <a:solidFill>
                        <a:srgbClr val="10CEDB"/>
                      </a:solidFill>
                      <a:prstDash val="solid"/>
                      <a:round/>
                      <a:headEnd type="none" w="med" len="med"/>
                      <a:tailEnd type="none" w="med" len="med"/>
                    </a:lnL>
                    <a:lnR w="6350" cap="flat" cmpd="sng" algn="ctr">
                      <a:solidFill>
                        <a:srgbClr val="90E0DB"/>
                      </a:solidFill>
                      <a:prstDash val="solid"/>
                      <a:round/>
                      <a:headEnd type="none" w="med" len="med"/>
                      <a:tailEnd type="none" w="med" len="med"/>
                    </a:lnR>
                    <a:lnT w="6350" cap="flat" cmpd="sng" algn="ctr">
                      <a:solidFill>
                        <a:srgbClr val="10CEDB"/>
                      </a:solidFill>
                      <a:prstDash val="solid"/>
                      <a:round/>
                      <a:headEnd type="none" w="med" len="med"/>
                      <a:tailEnd type="none" w="med" len="med"/>
                    </a:lnT>
                    <a:lnB w="6350" cap="flat" cmpd="sng" algn="ctr">
                      <a:solidFill>
                        <a:srgbClr val="10E1DB"/>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Public international law is generally uniform and applies equally to all states.</a:t>
                      </a:r>
                    </a:p>
                  </a:txBody>
                  <a:tcPr marL="20920" marR="20920" marT="10460" marB="10460" anchor="ctr">
                    <a:lnL w="6350" cap="flat" cmpd="sng" algn="ctr">
                      <a:solidFill>
                        <a:srgbClr val="90E0DB"/>
                      </a:solidFill>
                      <a:prstDash val="solid"/>
                      <a:round/>
                      <a:headEnd type="none" w="med" len="med"/>
                      <a:tailEnd type="none" w="med" len="med"/>
                    </a:lnL>
                    <a:lnR w="6350" cap="flat" cmpd="sng" algn="ctr">
                      <a:solidFill>
                        <a:srgbClr val="90E0DB"/>
                      </a:solidFill>
                      <a:prstDash val="solid"/>
                      <a:round/>
                      <a:headEnd type="none" w="med" len="med"/>
                      <a:tailEnd type="none" w="med" len="med"/>
                    </a:lnR>
                    <a:lnT w="6350" cap="flat" cmpd="sng" algn="ctr">
                      <a:solidFill>
                        <a:srgbClr val="90E0DB"/>
                      </a:solidFill>
                      <a:prstDash val="solid"/>
                      <a:round/>
                      <a:headEnd type="none" w="med" len="med"/>
                      <a:tailEnd type="none" w="med" len="med"/>
                    </a:lnT>
                    <a:lnB w="6350" cap="flat" cmpd="sng" algn="ctr">
                      <a:solidFill>
                        <a:srgbClr val="90D4DB"/>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Private international law varies by country, reflecting differences in domestic legal systems.</a:t>
                      </a:r>
                    </a:p>
                  </a:txBody>
                  <a:tcPr marL="20920" marR="20920" marT="10460" marB="10460" anchor="ctr">
                    <a:lnL w="6350" cap="flat" cmpd="sng" algn="ctr">
                      <a:solidFill>
                        <a:srgbClr val="90E0DB"/>
                      </a:solidFill>
                      <a:prstDash val="solid"/>
                      <a:round/>
                      <a:headEnd type="none" w="med" len="med"/>
                      <a:tailEnd type="none" w="med" len="med"/>
                    </a:lnL>
                    <a:lnR w="6350" cap="flat" cmpd="sng" algn="ctr">
                      <a:solidFill>
                        <a:srgbClr val="90E0DB"/>
                      </a:solidFill>
                      <a:prstDash val="solid"/>
                      <a:round/>
                      <a:headEnd type="none" w="med" len="med"/>
                      <a:tailEnd type="none" w="med" len="med"/>
                    </a:lnR>
                    <a:lnT w="6350" cap="flat" cmpd="sng" algn="ctr">
                      <a:solidFill>
                        <a:srgbClr val="90E0DB"/>
                      </a:solidFill>
                      <a:prstDash val="solid"/>
                      <a:round/>
                      <a:headEnd type="none" w="med" len="med"/>
                      <a:tailEnd type="none" w="med" len="med"/>
                    </a:lnT>
                    <a:lnB w="6350" cap="flat" cmpd="sng" algn="ctr">
                      <a:solidFill>
                        <a:srgbClr val="10CEDB"/>
                      </a:solidFill>
                      <a:prstDash val="solid"/>
                      <a:round/>
                      <a:headEnd type="none" w="med" len="med"/>
                      <a:tailEnd type="none" w="med" len="med"/>
                    </a:lnB>
                  </a:tcPr>
                </a:tc>
                <a:extLst>
                  <a:ext uri="{0D108BD9-81ED-4DB2-BD59-A6C34878D82A}">
                    <a16:rowId xmlns:a16="http://schemas.microsoft.com/office/drawing/2014/main" val="1479605658"/>
                  </a:ext>
                </a:extLst>
              </a:tr>
              <a:tr h="725865">
                <a:tc>
                  <a:txBody>
                    <a:bodyPr/>
                    <a:lstStyle/>
                    <a:p>
                      <a:pPr algn="l" fontAlgn="base" latinLnBrk="0"/>
                      <a:r>
                        <a:rPr lang="en-US" sz="2000" b="0" dirty="0">
                          <a:effectLst/>
                          <a:latin typeface="Times New Roman" panose="02020603050405020304" pitchFamily="18" charset="0"/>
                          <a:cs typeface="Times New Roman" panose="02020603050405020304" pitchFamily="18" charset="0"/>
                        </a:rPr>
                        <a:t>Courts</a:t>
                      </a:r>
                      <a:endParaRPr lang="en-US" sz="2000" dirty="0">
                        <a:effectLst/>
                        <a:latin typeface="Times New Roman" panose="02020603050405020304" pitchFamily="18" charset="0"/>
                        <a:cs typeface="Times New Roman" panose="02020603050405020304" pitchFamily="18" charset="0"/>
                      </a:endParaRPr>
                    </a:p>
                  </a:txBody>
                  <a:tcPr marL="20920" marR="20920" marT="10460" marB="10460" anchor="ctr">
                    <a:lnL w="6350" cap="flat" cmpd="sng" algn="ctr">
                      <a:solidFill>
                        <a:srgbClr val="10E1DB"/>
                      </a:solidFill>
                      <a:prstDash val="solid"/>
                      <a:round/>
                      <a:headEnd type="none" w="med" len="med"/>
                      <a:tailEnd type="none" w="med" len="med"/>
                    </a:lnL>
                    <a:lnR w="6350" cap="flat" cmpd="sng" algn="ctr">
                      <a:solidFill>
                        <a:srgbClr val="90D4DB"/>
                      </a:solidFill>
                      <a:prstDash val="solid"/>
                      <a:round/>
                      <a:headEnd type="none" w="med" len="med"/>
                      <a:tailEnd type="none" w="med" len="med"/>
                    </a:lnR>
                    <a:lnT w="6350" cap="flat" cmpd="sng" algn="ctr">
                      <a:solidFill>
                        <a:srgbClr val="10E1DB"/>
                      </a:solidFill>
                      <a:prstDash val="solid"/>
                      <a:round/>
                      <a:headEnd type="none" w="med" len="med"/>
                      <a:tailEnd type="none" w="med" len="med"/>
                    </a:lnT>
                    <a:lnB w="6350" cap="flat" cmpd="sng" algn="ctr">
                      <a:solidFill>
                        <a:srgbClr val="90E0DB"/>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No predetermined court; disputes resolved through international courts or diplomatic means.</a:t>
                      </a:r>
                    </a:p>
                  </a:txBody>
                  <a:tcPr marL="20920" marR="20920" marT="10460" marB="10460" anchor="ctr">
                    <a:lnL w="6350" cap="flat" cmpd="sng" algn="ctr">
                      <a:solidFill>
                        <a:srgbClr val="90D4DB"/>
                      </a:solidFill>
                      <a:prstDash val="solid"/>
                      <a:round/>
                      <a:headEnd type="none" w="med" len="med"/>
                      <a:tailEnd type="none" w="med" len="med"/>
                    </a:lnL>
                    <a:lnR w="6350" cap="flat" cmpd="sng" algn="ctr">
                      <a:solidFill>
                        <a:srgbClr val="10CEDB"/>
                      </a:solidFill>
                      <a:prstDash val="solid"/>
                      <a:round/>
                      <a:headEnd type="none" w="med" len="med"/>
                      <a:tailEnd type="none" w="med" len="med"/>
                    </a:lnR>
                    <a:lnT w="6350" cap="flat" cmpd="sng" algn="ctr">
                      <a:solidFill>
                        <a:srgbClr val="90D4DB"/>
                      </a:solidFill>
                      <a:prstDash val="solid"/>
                      <a:round/>
                      <a:headEnd type="none" w="med" len="med"/>
                      <a:tailEnd type="none" w="med" len="med"/>
                    </a:lnT>
                    <a:lnB w="6350" cap="flat" cmpd="sng" algn="ctr">
                      <a:solidFill>
                        <a:srgbClr val="90D8DB"/>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Predetermined courts within national legal systems handle cases; arbitration is common.</a:t>
                      </a:r>
                    </a:p>
                  </a:txBody>
                  <a:tcPr marL="20920" marR="20920" marT="10460" marB="10460" anchor="ctr">
                    <a:lnL w="6350" cap="flat" cmpd="sng" algn="ctr">
                      <a:solidFill>
                        <a:srgbClr val="10CEDB"/>
                      </a:solidFill>
                      <a:prstDash val="solid"/>
                      <a:round/>
                      <a:headEnd type="none" w="med" len="med"/>
                      <a:tailEnd type="none" w="med" len="med"/>
                    </a:lnL>
                    <a:lnR w="6350" cap="flat" cmpd="sng" algn="ctr">
                      <a:solidFill>
                        <a:srgbClr val="10CEDB"/>
                      </a:solidFill>
                      <a:prstDash val="solid"/>
                      <a:round/>
                      <a:headEnd type="none" w="med" len="med"/>
                      <a:tailEnd type="none" w="med" len="med"/>
                    </a:lnR>
                    <a:lnT w="6350" cap="flat" cmpd="sng" algn="ctr">
                      <a:solidFill>
                        <a:srgbClr val="10CEDB"/>
                      </a:solidFill>
                      <a:prstDash val="solid"/>
                      <a:round/>
                      <a:headEnd type="none" w="med" len="med"/>
                      <a:tailEnd type="none" w="med" len="med"/>
                    </a:lnT>
                    <a:lnB w="6350" cap="flat" cmpd="sng" algn="ctr">
                      <a:solidFill>
                        <a:srgbClr val="90D5DB"/>
                      </a:solidFill>
                      <a:prstDash val="solid"/>
                      <a:round/>
                      <a:headEnd type="none" w="med" len="med"/>
                      <a:tailEnd type="none" w="med" len="med"/>
                    </a:lnB>
                  </a:tcPr>
                </a:tc>
                <a:extLst>
                  <a:ext uri="{0D108BD9-81ED-4DB2-BD59-A6C34878D82A}">
                    <a16:rowId xmlns:a16="http://schemas.microsoft.com/office/drawing/2014/main" val="945562804"/>
                  </a:ext>
                </a:extLst>
              </a:tr>
              <a:tr h="913404">
                <a:tc>
                  <a:txBody>
                    <a:bodyPr/>
                    <a:lstStyle/>
                    <a:p>
                      <a:pPr algn="l" fontAlgn="base" latinLnBrk="0"/>
                      <a:r>
                        <a:rPr lang="en-US" sz="2000" b="0" dirty="0">
                          <a:effectLst/>
                          <a:latin typeface="Times New Roman" panose="02020603050405020304" pitchFamily="18" charset="0"/>
                          <a:cs typeface="Times New Roman" panose="02020603050405020304" pitchFamily="18" charset="0"/>
                        </a:rPr>
                        <a:t>Impact on Individuals and Corporations</a:t>
                      </a:r>
                      <a:endParaRPr lang="en-US" sz="2000" dirty="0">
                        <a:effectLst/>
                        <a:latin typeface="Times New Roman" panose="02020603050405020304" pitchFamily="18" charset="0"/>
                        <a:cs typeface="Times New Roman" panose="02020603050405020304" pitchFamily="18" charset="0"/>
                      </a:endParaRPr>
                    </a:p>
                  </a:txBody>
                  <a:tcPr marL="20920" marR="20920" marT="10460" marB="10460" anchor="ctr">
                    <a:lnL w="6350" cap="flat" cmpd="sng" algn="ctr">
                      <a:solidFill>
                        <a:srgbClr val="90E0DB"/>
                      </a:solidFill>
                      <a:prstDash val="solid"/>
                      <a:round/>
                      <a:headEnd type="none" w="med" len="med"/>
                      <a:tailEnd type="none" w="med" len="med"/>
                    </a:lnL>
                    <a:lnR w="6350" cap="flat" cmpd="sng" algn="ctr">
                      <a:solidFill>
                        <a:srgbClr val="90D8DB"/>
                      </a:solidFill>
                      <a:prstDash val="solid"/>
                      <a:round/>
                      <a:headEnd type="none" w="med" len="med"/>
                      <a:tailEnd type="none" w="med" len="med"/>
                    </a:lnR>
                    <a:lnT w="6350" cap="flat" cmpd="sng" algn="ctr">
                      <a:solidFill>
                        <a:srgbClr val="90E0DB"/>
                      </a:solidFill>
                      <a:prstDash val="solid"/>
                      <a:round/>
                      <a:headEnd type="none" w="med" len="med"/>
                      <a:tailEnd type="none" w="med" len="med"/>
                    </a:lnT>
                    <a:lnB w="6350" cap="flat" cmpd="sng" algn="ctr">
                      <a:solidFill>
                        <a:srgbClr val="90E0DB"/>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Primarily affects states but increasingly holds individuals accountable (e.g., international criminal law).</a:t>
                      </a:r>
                    </a:p>
                  </a:txBody>
                  <a:tcPr marL="20920" marR="20920" marT="10460" marB="10460" anchor="ctr">
                    <a:lnL w="6350" cap="flat" cmpd="sng" algn="ctr">
                      <a:solidFill>
                        <a:srgbClr val="90D8DB"/>
                      </a:solidFill>
                      <a:prstDash val="solid"/>
                      <a:round/>
                      <a:headEnd type="none" w="med" len="med"/>
                      <a:tailEnd type="none" w="med" len="med"/>
                    </a:lnL>
                    <a:lnR w="6350" cap="flat" cmpd="sng" algn="ctr">
                      <a:solidFill>
                        <a:srgbClr val="90D5DB"/>
                      </a:solidFill>
                      <a:prstDash val="solid"/>
                      <a:round/>
                      <a:headEnd type="none" w="med" len="med"/>
                      <a:tailEnd type="none" w="med" len="med"/>
                    </a:lnR>
                    <a:lnT w="6350" cap="flat" cmpd="sng" algn="ctr">
                      <a:solidFill>
                        <a:srgbClr val="90D8DB"/>
                      </a:solidFill>
                      <a:prstDash val="solid"/>
                      <a:round/>
                      <a:headEnd type="none" w="med" len="med"/>
                      <a:tailEnd type="none" w="med" len="med"/>
                    </a:lnT>
                    <a:lnB w="6350" cap="flat" cmpd="sng" algn="ctr">
                      <a:solidFill>
                        <a:srgbClr val="90D8DB"/>
                      </a:solidFill>
                      <a:prstDash val="solid"/>
                      <a:round/>
                      <a:headEnd type="none" w="med" len="med"/>
                      <a:tailEnd type="none" w="med" len="med"/>
                    </a:lnB>
                  </a:tcPr>
                </a:tc>
                <a:tc>
                  <a:txBody>
                    <a:bodyPr/>
                    <a:lstStyle/>
                    <a:p>
                      <a:pPr algn="just" fontAlgn="base" latinLnBrk="0"/>
                      <a:r>
                        <a:rPr lang="en-US" sz="2000" dirty="0">
                          <a:effectLst/>
                          <a:latin typeface="Times New Roman" panose="02020603050405020304" pitchFamily="18" charset="0"/>
                          <a:cs typeface="Times New Roman" panose="02020603050405020304" pitchFamily="18" charset="0"/>
                        </a:rPr>
                        <a:t>Directly impacts private individuals and corporations involved in international transactions or disputes.</a:t>
                      </a:r>
                    </a:p>
                  </a:txBody>
                  <a:tcPr marL="20920" marR="20920" marT="10460" marB="10460" anchor="ctr">
                    <a:lnL w="6350" cap="flat" cmpd="sng" algn="ctr">
                      <a:solidFill>
                        <a:srgbClr val="90D5DB"/>
                      </a:solidFill>
                      <a:prstDash val="solid"/>
                      <a:round/>
                      <a:headEnd type="none" w="med" len="med"/>
                      <a:tailEnd type="none" w="med" len="med"/>
                    </a:lnL>
                    <a:lnR w="6350" cap="flat" cmpd="sng" algn="ctr">
                      <a:solidFill>
                        <a:srgbClr val="90D5DB"/>
                      </a:solidFill>
                      <a:prstDash val="solid"/>
                      <a:round/>
                      <a:headEnd type="none" w="med" len="med"/>
                      <a:tailEnd type="none" w="med" len="med"/>
                    </a:lnR>
                    <a:lnT w="6350" cap="flat" cmpd="sng" algn="ctr">
                      <a:solidFill>
                        <a:srgbClr val="90D5DB"/>
                      </a:solidFill>
                      <a:prstDash val="solid"/>
                      <a:round/>
                      <a:headEnd type="none" w="med" len="med"/>
                      <a:tailEnd type="none" w="med" len="med"/>
                    </a:lnT>
                    <a:lnB w="6350" cap="flat" cmpd="sng" algn="ctr">
                      <a:solidFill>
                        <a:srgbClr val="90D5DB"/>
                      </a:solidFill>
                      <a:prstDash val="solid"/>
                      <a:round/>
                      <a:headEnd type="none" w="med" len="med"/>
                      <a:tailEnd type="none" w="med" len="med"/>
                    </a:lnB>
                  </a:tcPr>
                </a:tc>
                <a:extLst>
                  <a:ext uri="{0D108BD9-81ED-4DB2-BD59-A6C34878D82A}">
                    <a16:rowId xmlns:a16="http://schemas.microsoft.com/office/drawing/2014/main" val="35118073"/>
                  </a:ext>
                </a:extLst>
              </a:tr>
            </a:tbl>
          </a:graphicData>
        </a:graphic>
      </p:graphicFrame>
    </p:spTree>
    <p:extLst>
      <p:ext uri="{BB962C8B-B14F-4D97-AF65-F5344CB8AC3E}">
        <p14:creationId xmlns:p14="http://schemas.microsoft.com/office/powerpoint/2010/main" val="3146487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1605"/>
            <a:ext cx="10515600" cy="803275"/>
          </a:xfrm>
        </p:spPr>
        <p:txBody>
          <a:bodyPr/>
          <a:lstStyle/>
          <a:p>
            <a:pPr algn="ctr"/>
            <a:r>
              <a:rPr lang="en-US" b="1" dirty="0">
                <a:latin typeface="Times New Roman" panose="02020603050405020304" pitchFamily="18" charset="0"/>
                <a:cs typeface="Times New Roman" panose="02020603050405020304" pitchFamily="18" charset="0"/>
              </a:rPr>
              <a:t>International Organizations</a:t>
            </a:r>
          </a:p>
        </p:txBody>
      </p:sp>
      <p:sp>
        <p:nvSpPr>
          <p:cNvPr id="3" name="Content Placeholder 2"/>
          <p:cNvSpPr>
            <a:spLocks noGrp="1"/>
          </p:cNvSpPr>
          <p:nvPr>
            <p:ph idx="1"/>
          </p:nvPr>
        </p:nvSpPr>
        <p:spPr>
          <a:xfrm>
            <a:off x="162560" y="1087120"/>
            <a:ext cx="11409680" cy="5516880"/>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International organizations are institutional arrangements established by multiple countries to facilitate cross-border cooperation on various global issues, coordinate policies, and achieve shared objectives. They typically draw membership from at least three states and operate across several countries, possessing their own legal personality under international law.</a:t>
            </a:r>
          </a:p>
          <a:p>
            <a:pPr algn="just"/>
            <a:r>
              <a:rPr lang="en-US" dirty="0">
                <a:latin typeface="Times New Roman" panose="02020603050405020304" pitchFamily="18" charset="0"/>
                <a:cs typeface="Times New Roman" panose="02020603050405020304" pitchFamily="18" charset="0"/>
              </a:rPr>
              <a:t>Types of International Organizations</a:t>
            </a:r>
          </a:p>
          <a:p>
            <a:pPr lvl="1" algn="just"/>
            <a:r>
              <a:rPr lang="en-US" b="1" dirty="0">
                <a:latin typeface="Times New Roman" panose="02020603050405020304" pitchFamily="18" charset="0"/>
                <a:cs typeface="Times New Roman" panose="02020603050405020304" pitchFamily="18" charset="0"/>
              </a:rPr>
              <a:t>Intergovernmental Organizations (IGOs):</a:t>
            </a:r>
            <a:r>
              <a:rPr lang="en-US" dirty="0">
                <a:latin typeface="Times New Roman" panose="02020603050405020304" pitchFamily="18" charset="0"/>
                <a:cs typeface="Times New Roman" panose="02020603050405020304" pitchFamily="18" charset="0"/>
              </a:rPr>
              <a:t> Formed by treaties between sovereign states, these organizations have formal agreements and permanent secretariats. Examples include the United Nations (UN), World Trade Organization (WTO), African Union, and the European Union.</a:t>
            </a:r>
          </a:p>
          <a:p>
            <a:pPr lvl="1" algn="just"/>
            <a:r>
              <a:rPr lang="en-US" b="1" dirty="0">
                <a:latin typeface="Times New Roman" panose="02020603050405020304" pitchFamily="18" charset="0"/>
                <a:cs typeface="Times New Roman" panose="02020603050405020304" pitchFamily="18" charset="0"/>
              </a:rPr>
              <a:t>International Non-Governmental Organizations (INGOs):</a:t>
            </a:r>
            <a:r>
              <a:rPr lang="en-US" dirty="0">
                <a:latin typeface="Times New Roman" panose="02020603050405020304" pitchFamily="18" charset="0"/>
                <a:cs typeface="Times New Roman" panose="02020603050405020304" pitchFamily="18" charset="0"/>
              </a:rPr>
              <a:t> Composed of private individuals or groups, often focusing on humanitarian, environmental, or advocacy issues.</a:t>
            </a:r>
          </a:p>
          <a:p>
            <a:pPr lvl="1" algn="just"/>
            <a:r>
              <a:rPr lang="en-US" b="1" dirty="0">
                <a:latin typeface="Times New Roman" panose="02020603050405020304" pitchFamily="18" charset="0"/>
                <a:cs typeface="Times New Roman" panose="02020603050405020304" pitchFamily="18" charset="0"/>
              </a:rPr>
              <a:t>Multinational Enterprises:</a:t>
            </a:r>
            <a:r>
              <a:rPr lang="en-US" dirty="0">
                <a:latin typeface="Times New Roman" panose="02020603050405020304" pitchFamily="18" charset="0"/>
                <a:cs typeface="Times New Roman" panose="02020603050405020304" pitchFamily="18" charset="0"/>
              </a:rPr>
              <a:t> Corporations operating in multiple countries but sometimes included in broader discussions on international organizations.</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2692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1605"/>
            <a:ext cx="10515600" cy="803275"/>
          </a:xfrm>
        </p:spPr>
        <p:txBody>
          <a:bodyPr/>
          <a:lstStyle/>
          <a:p>
            <a:pPr algn="ctr"/>
            <a:r>
              <a:rPr lang="en-US" b="1" dirty="0">
                <a:latin typeface="Times New Roman" panose="02020603050405020304" pitchFamily="18" charset="0"/>
                <a:cs typeface="Times New Roman" panose="02020603050405020304" pitchFamily="18" charset="0"/>
              </a:rPr>
              <a:t>International Organizations</a:t>
            </a:r>
          </a:p>
        </p:txBody>
      </p:sp>
      <p:sp>
        <p:nvSpPr>
          <p:cNvPr id="3" name="Content Placeholder 2"/>
          <p:cNvSpPr>
            <a:spLocks noGrp="1"/>
          </p:cNvSpPr>
          <p:nvPr>
            <p:ph idx="1"/>
          </p:nvPr>
        </p:nvSpPr>
        <p:spPr>
          <a:xfrm>
            <a:off x="254000" y="1432560"/>
            <a:ext cx="11409680" cy="3982720"/>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Examples of International Organizations</a:t>
            </a:r>
          </a:p>
          <a:p>
            <a:pPr marL="0" indent="0" algn="just">
              <a:buNone/>
            </a:pPr>
            <a:endParaRPr lang="en-US" sz="900" b="1" dirty="0">
              <a:latin typeface="Times New Roman" panose="02020603050405020304" pitchFamily="18" charset="0"/>
              <a:cs typeface="Times New Roman" panose="02020603050405020304" pitchFamily="18" charset="0"/>
            </a:endParaRPr>
          </a:p>
          <a:p>
            <a:pPr lvl="1" algn="just"/>
            <a:r>
              <a:rPr lang="en-US" b="1" dirty="0">
                <a:latin typeface="Times New Roman" panose="02020603050405020304" pitchFamily="18" charset="0"/>
                <a:cs typeface="Times New Roman" panose="02020603050405020304" pitchFamily="18" charset="0"/>
              </a:rPr>
              <a:t>Global/Worldwide Organizations:</a:t>
            </a:r>
            <a:r>
              <a:rPr lang="en-US" dirty="0">
                <a:latin typeface="Times New Roman" panose="02020603050405020304" pitchFamily="18" charset="0"/>
                <a:cs typeface="Times New Roman" panose="02020603050405020304" pitchFamily="18" charset="0"/>
              </a:rPr>
              <a:t> United Nations and its specialized agencies (WHO, UNESCO, ILO), World Bank, International Monetary Fund (IMF), International Criminal Court (ICC), and others.</a:t>
            </a:r>
          </a:p>
          <a:p>
            <a:pPr lvl="1" algn="just"/>
            <a:r>
              <a:rPr lang="en-US" b="1" dirty="0">
                <a:latin typeface="Times New Roman" panose="02020603050405020304" pitchFamily="18" charset="0"/>
                <a:cs typeface="Times New Roman" panose="02020603050405020304" pitchFamily="18" charset="0"/>
              </a:rPr>
              <a:t>Cultural and Regional Organizations:</a:t>
            </a:r>
            <a:r>
              <a:rPr lang="en-US" dirty="0">
                <a:latin typeface="Times New Roman" panose="02020603050405020304" pitchFamily="18" charset="0"/>
                <a:cs typeface="Times New Roman" panose="02020603050405020304" pitchFamily="18" charset="0"/>
              </a:rPr>
              <a:t> Commonwealth of Nations, Arab League</a:t>
            </a:r>
            <a:r>
              <a:rPr lang="en-US">
                <a:latin typeface="Times New Roman" panose="02020603050405020304" pitchFamily="18" charset="0"/>
                <a:cs typeface="Times New Roman" panose="02020603050405020304" pitchFamily="18" charset="0"/>
              </a:rPr>
              <a:t>, Organization </a:t>
            </a:r>
            <a:r>
              <a:rPr lang="en-US" dirty="0">
                <a:latin typeface="Times New Roman" panose="02020603050405020304" pitchFamily="18" charset="0"/>
                <a:cs typeface="Times New Roman" panose="02020603050405020304" pitchFamily="18" charset="0"/>
              </a:rPr>
              <a:t>of Islamic Cooperation, African Union, etc..</a:t>
            </a:r>
          </a:p>
          <a:p>
            <a:pPr lvl="1" algn="just"/>
            <a:r>
              <a:rPr lang="en-US" b="1" dirty="0">
                <a:latin typeface="Times New Roman" panose="02020603050405020304" pitchFamily="18" charset="0"/>
                <a:cs typeface="Times New Roman" panose="02020603050405020304" pitchFamily="18" charset="0"/>
              </a:rPr>
              <a:t>Economic Organizations:</a:t>
            </a:r>
            <a:r>
              <a:rPr lang="en-US" dirty="0">
                <a:latin typeface="Times New Roman" panose="02020603050405020304" pitchFamily="18" charset="0"/>
                <a:cs typeface="Times New Roman" panose="02020603050405020304" pitchFamily="18" charset="0"/>
              </a:rPr>
              <a:t> WTO, OECD, OPEC, and regional development banks</a:t>
            </a:r>
          </a:p>
        </p:txBody>
      </p:sp>
    </p:spTree>
    <p:extLst>
      <p:ext uri="{BB962C8B-B14F-4D97-AF65-F5344CB8AC3E}">
        <p14:creationId xmlns:p14="http://schemas.microsoft.com/office/powerpoint/2010/main" val="1640313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480" y="335280"/>
            <a:ext cx="10515600" cy="803275"/>
          </a:xfrm>
        </p:spPr>
        <p:txBody>
          <a:bodyPr/>
          <a:lstStyle/>
          <a:p>
            <a:pPr algn="ctr"/>
            <a:r>
              <a:rPr lang="en-US" b="1" dirty="0">
                <a:latin typeface="Times New Roman" panose="02020603050405020304" pitchFamily="18" charset="0"/>
                <a:cs typeface="Times New Roman" panose="02020603050405020304" pitchFamily="18" charset="0"/>
              </a:rPr>
              <a:t>Supranational Law </a:t>
            </a:r>
          </a:p>
        </p:txBody>
      </p:sp>
      <p:sp>
        <p:nvSpPr>
          <p:cNvPr id="3" name="Content Placeholder 2"/>
          <p:cNvSpPr>
            <a:spLocks noGrp="1"/>
          </p:cNvSpPr>
          <p:nvPr>
            <p:ph idx="1"/>
          </p:nvPr>
        </p:nvSpPr>
        <p:spPr>
          <a:xfrm>
            <a:off x="274320" y="1388744"/>
            <a:ext cx="11673840" cy="5133976"/>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Supranational law is a distinct form of international law where sovereign states explicitly limit their individual rights and submit certain judicial decisions to common, binding institutions or tribunals established by treaty. </a:t>
            </a:r>
          </a:p>
          <a:p>
            <a:pPr algn="just"/>
            <a:r>
              <a:rPr lang="en-US" dirty="0">
                <a:latin typeface="Times New Roman" panose="02020603050405020304" pitchFamily="18" charset="0"/>
                <a:cs typeface="Times New Roman" panose="02020603050405020304" pitchFamily="18" charset="0"/>
              </a:rPr>
              <a:t>Unlike traditional public international law, which governs relations between states based on mutual consent and often lacks direct enforcement mechanisms, supranational law involves a partial transfer of sovereignty from member states to a higher authority that can make decisions binding on those states and their citizens.</a:t>
            </a:r>
          </a:p>
          <a:p>
            <a:pPr algn="just"/>
            <a:r>
              <a:rPr lang="en-US" dirty="0">
                <a:latin typeface="Times New Roman" panose="02020603050405020304" pitchFamily="18" charset="0"/>
                <a:cs typeface="Times New Roman" panose="02020603050405020304" pitchFamily="18" charset="0"/>
              </a:rPr>
              <a:t>A key feature of supranational law is that it creates a legal order above the nation-state level, where the supranational institutions have the power to enforce laws directly on member states and individuals, independent of national legislation. This means that supranational law can have "direct effect," obliging member states to comply even if national laws conflict with supranational rules.</a:t>
            </a:r>
          </a:p>
        </p:txBody>
      </p:sp>
    </p:spTree>
    <p:extLst>
      <p:ext uri="{BB962C8B-B14F-4D97-AF65-F5344CB8AC3E}">
        <p14:creationId xmlns:p14="http://schemas.microsoft.com/office/powerpoint/2010/main" val="1833953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480" y="335280"/>
            <a:ext cx="10515600" cy="803275"/>
          </a:xfrm>
        </p:spPr>
        <p:txBody>
          <a:bodyPr/>
          <a:lstStyle/>
          <a:p>
            <a:pPr algn="ctr"/>
            <a:r>
              <a:rPr lang="en-US" b="1" dirty="0">
                <a:latin typeface="Times New Roman" panose="02020603050405020304" pitchFamily="18" charset="0"/>
                <a:cs typeface="Times New Roman" panose="02020603050405020304" pitchFamily="18" charset="0"/>
              </a:rPr>
              <a:t>Supranational Law </a:t>
            </a:r>
          </a:p>
        </p:txBody>
      </p:sp>
      <p:sp>
        <p:nvSpPr>
          <p:cNvPr id="3" name="Content Placeholder 2"/>
          <p:cNvSpPr>
            <a:spLocks noGrp="1"/>
          </p:cNvSpPr>
          <p:nvPr>
            <p:ph idx="1"/>
          </p:nvPr>
        </p:nvSpPr>
        <p:spPr>
          <a:xfrm>
            <a:off x="274320" y="1388744"/>
            <a:ext cx="11673840" cy="5133976"/>
          </a:xfrm>
        </p:spPr>
        <p:txBody>
          <a:bodyPr>
            <a:normAutofit/>
          </a:bodyPr>
          <a:lstStyle/>
          <a:p>
            <a:pPr algn="just"/>
            <a:r>
              <a:rPr lang="en-US" dirty="0">
                <a:latin typeface="Times New Roman" panose="02020603050405020304" pitchFamily="18" charset="0"/>
                <a:cs typeface="Times New Roman" panose="02020603050405020304" pitchFamily="18" charset="0"/>
              </a:rPr>
              <a:t>The European Union (EU) is the most prominent example of a supranational legal system. In the EU, member states have pooled sovereignty in various policy areas, allowing EU institutions, such as the European Court of Justice (ECJ), to enforce legal norms that override conflicting national laws. The ECJ has described EU law as "a new legal order of international law" that confers rights and obligations on both member states and their citizens.</a:t>
            </a:r>
          </a:p>
          <a:p>
            <a:pPr algn="just"/>
            <a:r>
              <a:rPr lang="en-US" dirty="0">
                <a:latin typeface="Times New Roman" panose="02020603050405020304" pitchFamily="18" charset="0"/>
                <a:cs typeface="Times New Roman" panose="02020603050405020304" pitchFamily="18" charset="0"/>
              </a:rPr>
              <a:t> The EU also enforces human rights through instruments like the Charter of Fundamental Rights of the European Union and the European Convention on Human Rights, integrated into its legal framework.</a:t>
            </a:r>
          </a:p>
        </p:txBody>
      </p:sp>
    </p:spTree>
    <p:extLst>
      <p:ext uri="{BB962C8B-B14F-4D97-AF65-F5344CB8AC3E}">
        <p14:creationId xmlns:p14="http://schemas.microsoft.com/office/powerpoint/2010/main" val="2648418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925"/>
            <a:ext cx="10515600" cy="742315"/>
          </a:xfrm>
        </p:spPr>
        <p:txBody>
          <a:bodyPr/>
          <a:lstStyle/>
          <a:p>
            <a:pPr algn="ctr"/>
            <a:r>
              <a:rPr lang="en-US" dirty="0">
                <a:latin typeface="Times New Roman" panose="02020603050405020304" pitchFamily="18" charset="0"/>
                <a:cs typeface="Times New Roman" panose="02020603050405020304" pitchFamily="18" charset="0"/>
              </a:rPr>
              <a:t>Comparative Law</a:t>
            </a:r>
          </a:p>
        </p:txBody>
      </p:sp>
      <p:sp>
        <p:nvSpPr>
          <p:cNvPr id="3" name="Content Placeholder 2"/>
          <p:cNvSpPr>
            <a:spLocks noGrp="1"/>
          </p:cNvSpPr>
          <p:nvPr>
            <p:ph idx="1"/>
          </p:nvPr>
        </p:nvSpPr>
        <p:spPr>
          <a:xfrm>
            <a:off x="325120" y="1097280"/>
            <a:ext cx="11694160" cy="5079683"/>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Comparative law is the academic discipline devoted to studying and comparing the laws and legal systems of different countries. Its main aspects include:</a:t>
            </a:r>
          </a:p>
          <a:p>
            <a:pPr lvl="1" algn="just"/>
            <a:r>
              <a:rPr lang="en-US" b="1" dirty="0">
                <a:latin typeface="Times New Roman" panose="02020603050405020304" pitchFamily="18" charset="0"/>
                <a:cs typeface="Times New Roman" panose="02020603050405020304" pitchFamily="18" charset="0"/>
              </a:rPr>
              <a:t>Legal Systems Analysis: </a:t>
            </a:r>
            <a:r>
              <a:rPr lang="en-US" dirty="0">
                <a:latin typeface="Times New Roman" panose="02020603050405020304" pitchFamily="18" charset="0"/>
                <a:cs typeface="Times New Roman" panose="02020603050405020304" pitchFamily="18" charset="0"/>
              </a:rPr>
              <a:t>Examines similarities and differences between legal systems, such as common law, civil law, Islamic law, Hindu law, and others.</a:t>
            </a:r>
          </a:p>
          <a:p>
            <a:pPr lvl="1" algn="just"/>
            <a:r>
              <a:rPr lang="en-US" b="1" dirty="0">
                <a:latin typeface="Times New Roman" panose="02020603050405020304" pitchFamily="18" charset="0"/>
                <a:cs typeface="Times New Roman" panose="02020603050405020304" pitchFamily="18" charset="0"/>
              </a:rPr>
              <a:t>Legal Families: </a:t>
            </a:r>
            <a:r>
              <a:rPr lang="en-US" dirty="0">
                <a:latin typeface="Times New Roman" panose="02020603050405020304" pitchFamily="18" charset="0"/>
                <a:cs typeface="Times New Roman" panose="02020603050405020304" pitchFamily="18" charset="0"/>
              </a:rPr>
              <a:t>Classifies legal systems into families or groups based on shared characteristics (e.g., civil law, common law, socialist law, religious law).</a:t>
            </a:r>
          </a:p>
          <a:p>
            <a:pPr lvl="1" algn="just"/>
            <a:r>
              <a:rPr lang="en-US" b="1" dirty="0">
                <a:latin typeface="Times New Roman" panose="02020603050405020304" pitchFamily="18" charset="0"/>
                <a:cs typeface="Times New Roman" panose="02020603050405020304" pitchFamily="18" charset="0"/>
              </a:rPr>
              <a:t>Purpose: </a:t>
            </a:r>
            <a:r>
              <a:rPr lang="en-US" dirty="0">
                <a:latin typeface="Times New Roman" panose="02020603050405020304" pitchFamily="18" charset="0"/>
                <a:cs typeface="Times New Roman" panose="02020603050405020304" pitchFamily="18" charset="0"/>
              </a:rPr>
              <a:t>Helps deepen understanding of foreign legal systems, improve domestic law, and sometimes support the harmonization or unification of laws across borders.</a:t>
            </a:r>
          </a:p>
          <a:p>
            <a:pPr lvl="1" algn="just"/>
            <a:r>
              <a:rPr lang="en-US" b="1" dirty="0">
                <a:latin typeface="Times New Roman" panose="02020603050405020304" pitchFamily="18" charset="0"/>
                <a:cs typeface="Times New Roman" panose="02020603050405020304" pitchFamily="18" charset="0"/>
              </a:rPr>
              <a:t>Applications: </a:t>
            </a:r>
            <a:r>
              <a:rPr lang="en-US" dirty="0">
                <a:latin typeface="Times New Roman" panose="02020603050405020304" pitchFamily="18" charset="0"/>
                <a:cs typeface="Times New Roman" panose="02020603050405020304" pitchFamily="18" charset="0"/>
              </a:rPr>
              <a:t>Informs law reform, international legal practice, and the work of international institutions by providing insights into how different legal rules function in various societies.</a:t>
            </a:r>
          </a:p>
          <a:p>
            <a:pPr algn="just"/>
            <a:r>
              <a:rPr lang="en-US" dirty="0">
                <a:latin typeface="Times New Roman" panose="02020603050405020304" pitchFamily="18" charset="0"/>
                <a:cs typeface="Times New Roman" panose="02020603050405020304" pitchFamily="18" charset="0"/>
              </a:rPr>
              <a:t>Comparative law is not only theoretical but also practical, aiding in the drafting of international treaties, resolving conflicts of law, and facilitating international business and cooperation</a:t>
            </a:r>
          </a:p>
        </p:txBody>
      </p:sp>
    </p:spTree>
    <p:extLst>
      <p:ext uri="{BB962C8B-B14F-4D97-AF65-F5344CB8AC3E}">
        <p14:creationId xmlns:p14="http://schemas.microsoft.com/office/powerpoint/2010/main" val="33226726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925"/>
            <a:ext cx="10515600" cy="742315"/>
          </a:xfrm>
        </p:spPr>
        <p:txBody>
          <a:bodyPr/>
          <a:lstStyle/>
          <a:p>
            <a:pPr algn="ctr"/>
            <a:r>
              <a:rPr lang="en-US" dirty="0">
                <a:latin typeface="Times New Roman" panose="02020603050405020304" pitchFamily="18" charset="0"/>
                <a:cs typeface="Times New Roman" panose="02020603050405020304" pitchFamily="18" charset="0"/>
              </a:rPr>
              <a:t>Comparative Law</a:t>
            </a:r>
          </a:p>
        </p:txBody>
      </p:sp>
      <p:sp>
        <p:nvSpPr>
          <p:cNvPr id="3" name="Content Placeholder 2"/>
          <p:cNvSpPr>
            <a:spLocks noGrp="1"/>
          </p:cNvSpPr>
          <p:nvPr>
            <p:ph idx="1"/>
          </p:nvPr>
        </p:nvSpPr>
        <p:spPr>
          <a:xfrm>
            <a:off x="325120" y="1097280"/>
            <a:ext cx="11694160" cy="5079683"/>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Key Aspects of Comparative Law</a:t>
            </a:r>
          </a:p>
          <a:p>
            <a:pPr lvl="1"/>
            <a:r>
              <a:rPr lang="en-US" b="1" dirty="0">
                <a:latin typeface="Times New Roman" panose="02020603050405020304" pitchFamily="18" charset="0"/>
                <a:cs typeface="Times New Roman" panose="02020603050405020304" pitchFamily="18" charset="0"/>
              </a:rPr>
              <a:t>Scope: </a:t>
            </a:r>
            <a:r>
              <a:rPr lang="en-US" dirty="0">
                <a:latin typeface="Times New Roman" panose="02020603050405020304" pitchFamily="18" charset="0"/>
                <a:cs typeface="Times New Roman" panose="02020603050405020304" pitchFamily="18" charset="0"/>
              </a:rPr>
              <a:t>It compares entire legal systems (macro-level) or specific legal rules and issues (micro-level) across countries</a:t>
            </a:r>
            <a:r>
              <a:rPr lang="en-US" dirty="0">
                <a:latin typeface="Times New Roman" panose="02020603050405020304" pitchFamily="18" charset="0"/>
                <a:cs typeface="Times New Roman" panose="02020603050405020304" pitchFamily="18" charset="0"/>
                <a:hlinkClick r:id="rId2"/>
              </a:rPr>
              <a:t>5</a:t>
            </a:r>
            <a:r>
              <a:rPr lang="en-US" dirty="0">
                <a:latin typeface="Times New Roman" panose="02020603050405020304" pitchFamily="18" charset="0"/>
                <a:cs typeface="Times New Roman" panose="02020603050405020304" pitchFamily="18" charset="0"/>
              </a:rPr>
              <a:t>. It also examines the relationship between national law and international law, including customary and trade rules</a:t>
            </a:r>
            <a:r>
              <a:rPr lang="en-US" dirty="0">
                <a:latin typeface="Times New Roman" panose="02020603050405020304" pitchFamily="18" charset="0"/>
                <a:cs typeface="Times New Roman" panose="02020603050405020304" pitchFamily="18" charset="0"/>
                <a:hlinkClick r:id="rId3"/>
              </a:rPr>
              <a:t>1</a:t>
            </a:r>
            <a:r>
              <a:rPr lang="en-US" dirty="0">
                <a:latin typeface="Times New Roman" panose="02020603050405020304" pitchFamily="18" charset="0"/>
                <a:cs typeface="Times New Roman" panose="02020603050405020304" pitchFamily="18" charset="0"/>
              </a:rPr>
              <a:t>.</a:t>
            </a:r>
          </a:p>
          <a:p>
            <a:pPr lvl="1"/>
            <a:r>
              <a:rPr lang="en-US" b="1" dirty="0">
                <a:latin typeface="Times New Roman" panose="02020603050405020304" pitchFamily="18" charset="0"/>
                <a:cs typeface="Times New Roman" panose="02020603050405020304" pitchFamily="18" charset="0"/>
              </a:rPr>
              <a:t>Legal Families: </a:t>
            </a:r>
            <a:r>
              <a:rPr lang="en-US" dirty="0">
                <a:latin typeface="Times New Roman" panose="02020603050405020304" pitchFamily="18" charset="0"/>
                <a:cs typeface="Times New Roman" panose="02020603050405020304" pitchFamily="18" charset="0"/>
              </a:rPr>
              <a:t>The two major legal families studied are common law and civil law, which differ in origins, sources of law, and treatment of precedent</a:t>
            </a:r>
            <a:r>
              <a:rPr lang="en-US" dirty="0">
                <a:latin typeface="Times New Roman" panose="02020603050405020304" pitchFamily="18" charset="0"/>
                <a:cs typeface="Times New Roman" panose="02020603050405020304" pitchFamily="18" charset="0"/>
                <a:hlinkClick r:id="rId3"/>
              </a:rPr>
              <a:t>1</a:t>
            </a:r>
            <a:r>
              <a:rPr lang="en-US" dirty="0">
                <a:latin typeface="Times New Roman" panose="02020603050405020304" pitchFamily="18" charset="0"/>
                <a:cs typeface="Times New Roman" panose="02020603050405020304" pitchFamily="18" charset="0"/>
              </a:rPr>
              <a:t>.</a:t>
            </a:r>
          </a:p>
          <a:p>
            <a:pPr lvl="1"/>
            <a:r>
              <a:rPr lang="en-US" b="1" dirty="0">
                <a:latin typeface="Times New Roman" panose="02020603050405020304" pitchFamily="18" charset="0"/>
                <a:cs typeface="Times New Roman" panose="02020603050405020304" pitchFamily="18" charset="0"/>
              </a:rPr>
              <a:t>Methodology:</a:t>
            </a:r>
            <a:r>
              <a:rPr lang="en-US" dirty="0">
                <a:latin typeface="Times New Roman" panose="02020603050405020304" pitchFamily="18" charset="0"/>
                <a:cs typeface="Times New Roman" panose="02020603050405020304" pitchFamily="18" charset="0"/>
              </a:rPr>
              <a:t> Comparative law requires a neutral, objective approach to evaluate both the "external law" (written statutes, codes) and the "internal law" (law in action, cultural and social influences on law). This involves acquiring skills to overcome cultural bias and deeply understanding the context of foreign legal systems.</a:t>
            </a:r>
          </a:p>
          <a:p>
            <a:pPr lvl="1"/>
            <a:r>
              <a:rPr lang="en-US" b="1" dirty="0">
                <a:latin typeface="Times New Roman" panose="02020603050405020304" pitchFamily="18" charset="0"/>
                <a:cs typeface="Times New Roman" panose="02020603050405020304" pitchFamily="18" charset="0"/>
              </a:rPr>
              <a:t>Functional Approach: </a:t>
            </a:r>
            <a:r>
              <a:rPr lang="en-US" dirty="0">
                <a:latin typeface="Times New Roman" panose="02020603050405020304" pitchFamily="18" charset="0"/>
                <a:cs typeface="Times New Roman" panose="02020603050405020304" pitchFamily="18" charset="0"/>
              </a:rPr>
              <a:t>A central principle is functionality—comparing legal rules or systems that address similar social problems, even if the means differ, to understand how different societies solve comparable issues.</a:t>
            </a:r>
          </a:p>
        </p:txBody>
      </p:sp>
    </p:spTree>
    <p:extLst>
      <p:ext uri="{BB962C8B-B14F-4D97-AF65-F5344CB8AC3E}">
        <p14:creationId xmlns:p14="http://schemas.microsoft.com/office/powerpoint/2010/main" val="464681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925"/>
            <a:ext cx="10515600" cy="742315"/>
          </a:xfrm>
        </p:spPr>
        <p:txBody>
          <a:bodyPr/>
          <a:lstStyle/>
          <a:p>
            <a:pPr algn="ctr"/>
            <a:r>
              <a:rPr lang="en-US" dirty="0">
                <a:latin typeface="Times New Roman" panose="02020603050405020304" pitchFamily="18" charset="0"/>
                <a:cs typeface="Times New Roman" panose="02020603050405020304" pitchFamily="18" charset="0"/>
              </a:rPr>
              <a:t>Comparative Law</a:t>
            </a:r>
          </a:p>
        </p:txBody>
      </p:sp>
      <p:sp>
        <p:nvSpPr>
          <p:cNvPr id="3" name="Content Placeholder 2"/>
          <p:cNvSpPr>
            <a:spLocks noGrp="1"/>
          </p:cNvSpPr>
          <p:nvPr>
            <p:ph idx="1"/>
          </p:nvPr>
        </p:nvSpPr>
        <p:spPr>
          <a:xfrm>
            <a:off x="355600" y="1341120"/>
            <a:ext cx="11694160" cy="5079683"/>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Purposes and Benefits</a:t>
            </a:r>
          </a:p>
          <a:p>
            <a:pPr lvl="1" algn="just"/>
            <a:r>
              <a:rPr lang="en-US" b="1" dirty="0">
                <a:latin typeface="Times New Roman" panose="02020603050405020304" pitchFamily="18" charset="0"/>
                <a:cs typeface="Times New Roman" panose="02020603050405020304" pitchFamily="18" charset="0"/>
              </a:rPr>
              <a:t>Understanding and Reform:</a:t>
            </a:r>
            <a:r>
              <a:rPr lang="en-US" dirty="0">
                <a:latin typeface="Times New Roman" panose="02020603050405020304" pitchFamily="18" charset="0"/>
                <a:cs typeface="Times New Roman" panose="02020603050405020304" pitchFamily="18" charset="0"/>
              </a:rPr>
              <a:t> It helps legal professionals understand their own legal system better by contrasting it with others, potentially inspiring legal reform</a:t>
            </a:r>
            <a:r>
              <a:rPr lang="en-US" dirty="0">
                <a:latin typeface="Times New Roman" panose="02020603050405020304" pitchFamily="18" charset="0"/>
                <a:cs typeface="Times New Roman" panose="02020603050405020304" pitchFamily="18" charset="0"/>
                <a:hlinkClick r:id="rId2"/>
              </a:rPr>
              <a:t>7</a:t>
            </a:r>
            <a:r>
              <a:rPr lang="en-US" dirty="0">
                <a:latin typeface="Times New Roman" panose="02020603050405020304" pitchFamily="18" charset="0"/>
                <a:cs typeface="Times New Roman" panose="02020603050405020304" pitchFamily="18" charset="0"/>
              </a:rPr>
              <a:t>.</a:t>
            </a:r>
          </a:p>
          <a:p>
            <a:pPr lvl="1" algn="just"/>
            <a:r>
              <a:rPr lang="en-US" b="1" dirty="0">
                <a:latin typeface="Times New Roman" panose="02020603050405020304" pitchFamily="18" charset="0"/>
                <a:cs typeface="Times New Roman" panose="02020603050405020304" pitchFamily="18" charset="0"/>
              </a:rPr>
              <a:t>Promoting Legal Pluralism:</a:t>
            </a:r>
            <a:r>
              <a:rPr lang="en-US" dirty="0">
                <a:latin typeface="Times New Roman" panose="02020603050405020304" pitchFamily="18" charset="0"/>
                <a:cs typeface="Times New Roman" panose="02020603050405020304" pitchFamily="18" charset="0"/>
              </a:rPr>
              <a:t> It counters parochialism by exposing lawyers and scholars to diverse legal traditions, showing law as a complex social institution influenced by history, culture, and language.</a:t>
            </a:r>
          </a:p>
          <a:p>
            <a:pPr lvl="1" algn="just"/>
            <a:r>
              <a:rPr lang="en-US" b="1" dirty="0">
                <a:latin typeface="Times New Roman" panose="02020603050405020304" pitchFamily="18" charset="0"/>
                <a:cs typeface="Times New Roman" panose="02020603050405020304" pitchFamily="18" charset="0"/>
              </a:rPr>
              <a:t>Harmonization and Cooperation: </a:t>
            </a:r>
            <a:r>
              <a:rPr lang="en-US" dirty="0">
                <a:latin typeface="Times New Roman" panose="02020603050405020304" pitchFamily="18" charset="0"/>
                <a:cs typeface="Times New Roman" panose="02020603050405020304" pitchFamily="18" charset="0"/>
              </a:rPr>
              <a:t>Comparative law supports law reform, harmonization, and unification efforts in international and regional contexts by identifying compatible legal principles.</a:t>
            </a:r>
          </a:p>
          <a:p>
            <a:pPr lvl="1" algn="just"/>
            <a:r>
              <a:rPr lang="en-US" b="1" dirty="0">
                <a:latin typeface="Times New Roman" panose="02020603050405020304" pitchFamily="18" charset="0"/>
                <a:cs typeface="Times New Roman" panose="02020603050405020304" pitchFamily="18" charset="0"/>
              </a:rPr>
              <a:t>Academic and Practical Tool:</a:t>
            </a:r>
            <a:r>
              <a:rPr lang="en-US" dirty="0">
                <a:latin typeface="Times New Roman" panose="02020603050405020304" pitchFamily="18" charset="0"/>
                <a:cs typeface="Times New Roman" panose="02020603050405020304" pitchFamily="18" charset="0"/>
              </a:rPr>
              <a:t> It is used in legal education, research, and practice, especially in international law, human rights, commercial law, and conflict of laws</a:t>
            </a:r>
          </a:p>
          <a:p>
            <a:pPr marL="914400" lvl="2" indent="0"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86596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2405"/>
            <a:ext cx="10515600" cy="823595"/>
          </a:xfrm>
        </p:spPr>
        <p:txBody>
          <a:bodyPr/>
          <a:lstStyle/>
          <a:p>
            <a:pPr algn="ctr"/>
            <a:r>
              <a:rPr lang="en-US" b="1" dirty="0">
                <a:latin typeface="Times New Roman" panose="02020603050405020304" pitchFamily="18" charset="0"/>
                <a:cs typeface="Times New Roman" panose="02020603050405020304" pitchFamily="18" charset="0"/>
              </a:rPr>
              <a:t>Relationship and Importance</a:t>
            </a:r>
          </a:p>
        </p:txBody>
      </p:sp>
      <p:sp>
        <p:nvSpPr>
          <p:cNvPr id="3" name="Content Placeholder 2"/>
          <p:cNvSpPr>
            <a:spLocks noGrp="1"/>
          </p:cNvSpPr>
          <p:nvPr>
            <p:ph idx="1"/>
          </p:nvPr>
        </p:nvSpPr>
        <p:spPr>
          <a:xfrm>
            <a:off x="447040" y="1290320"/>
            <a:ext cx="11328400" cy="4886643"/>
          </a:xfrm>
        </p:spPr>
        <p:txBody>
          <a:bodyPr>
            <a:normAutofit/>
          </a:bodyPr>
          <a:lstStyle/>
          <a:p>
            <a:pPr algn="just"/>
            <a:r>
              <a:rPr lang="en-US" b="1" dirty="0">
                <a:latin typeface="Times New Roman" panose="02020603050405020304" pitchFamily="18" charset="0"/>
                <a:cs typeface="Times New Roman" panose="02020603050405020304" pitchFamily="18" charset="0"/>
              </a:rPr>
              <a:t>Interconnected Fields: </a:t>
            </a:r>
            <a:r>
              <a:rPr lang="en-US" dirty="0">
                <a:latin typeface="Times New Roman" panose="02020603050405020304" pitchFamily="18" charset="0"/>
                <a:cs typeface="Times New Roman" panose="02020603050405020304" pitchFamily="18" charset="0"/>
              </a:rPr>
              <a:t>While international law focuses on rules governing states and international entities, comparative law provides the tools to understand and analyze the diverse domestic legal systems that interact on the international stage.</a:t>
            </a:r>
          </a:p>
          <a:p>
            <a:pPr algn="just"/>
            <a:r>
              <a:rPr lang="en-US" b="1" dirty="0">
                <a:latin typeface="Times New Roman" panose="02020603050405020304" pitchFamily="18" charset="0"/>
                <a:cs typeface="Times New Roman" panose="02020603050405020304" pitchFamily="18" charset="0"/>
              </a:rPr>
              <a:t>Globalization: </a:t>
            </a:r>
            <a:r>
              <a:rPr lang="en-US" dirty="0">
                <a:latin typeface="Times New Roman" panose="02020603050405020304" pitchFamily="18" charset="0"/>
                <a:cs typeface="Times New Roman" panose="02020603050405020304" pitchFamily="18" charset="0"/>
              </a:rPr>
              <a:t>The increasing interconnectedness of economies and societies has amplified the importance of both fields, as lawyers, policymakers, and scholars must navigate a complex web of national and international legal norms.</a:t>
            </a:r>
          </a:p>
          <a:p>
            <a:pPr algn="just"/>
            <a:r>
              <a:rPr lang="en-US" b="1" dirty="0">
                <a:latin typeface="Times New Roman" panose="02020603050405020304" pitchFamily="18" charset="0"/>
                <a:cs typeface="Times New Roman" panose="02020603050405020304" pitchFamily="18" charset="0"/>
              </a:rPr>
              <a:t>Professional Practice: </a:t>
            </a:r>
            <a:r>
              <a:rPr lang="en-US" dirty="0">
                <a:latin typeface="Times New Roman" panose="02020603050405020304" pitchFamily="18" charset="0"/>
                <a:cs typeface="Times New Roman" panose="02020603050405020304" pitchFamily="18" charset="0"/>
              </a:rPr>
              <a:t>Many legal careers now require expertise in both international and comparative law, especially in areas like international business, human rights advocacy, and global governance</a:t>
            </a:r>
          </a:p>
        </p:txBody>
      </p:sp>
    </p:spTree>
    <p:extLst>
      <p:ext uri="{BB962C8B-B14F-4D97-AF65-F5344CB8AC3E}">
        <p14:creationId xmlns:p14="http://schemas.microsoft.com/office/powerpoint/2010/main" val="32226530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Academic and Professional Study</a:t>
            </a:r>
          </a:p>
        </p:txBody>
      </p:sp>
      <p:sp>
        <p:nvSpPr>
          <p:cNvPr id="3" name="Content Placeholder 2"/>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Leading law schools offer comprehensive programs in international and comparative law, with courses covering foundational topics, advanced seminars, and practical experiences such as moot courts and study abroad opportunities. These programs prepare students to work in multinational law firms, international organizations, government agencies, and NGOs</a:t>
            </a:r>
          </a:p>
        </p:txBody>
      </p:sp>
    </p:spTree>
    <p:extLst>
      <p:ext uri="{BB962C8B-B14F-4D97-AF65-F5344CB8AC3E}">
        <p14:creationId xmlns:p14="http://schemas.microsoft.com/office/powerpoint/2010/main" val="3078521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 summary, international law regulates the conduct of states and international actors, while comparative law systematically analyzes and compares the world’s diverse legal systems. Both are essential for understanding and navigating the legal dimensions of an increasingly interconnected world</a:t>
            </a:r>
          </a:p>
        </p:txBody>
      </p:sp>
    </p:spTree>
    <p:extLst>
      <p:ext uri="{BB962C8B-B14F-4D97-AF65-F5344CB8AC3E}">
        <p14:creationId xmlns:p14="http://schemas.microsoft.com/office/powerpoint/2010/main" val="20434020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2875</Words>
  <Application>Microsoft Office PowerPoint</Application>
  <PresentationFormat>Widescreen</PresentationFormat>
  <Paragraphs>156</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Times New Roman</vt:lpstr>
      <vt:lpstr>Office Theme</vt:lpstr>
      <vt:lpstr>Overview of international and Comparative Law </vt:lpstr>
      <vt:lpstr>Overview of International and Comparative Law</vt:lpstr>
      <vt:lpstr>International Law</vt:lpstr>
      <vt:lpstr>Treaties and Customary Law</vt:lpstr>
      <vt:lpstr>Treaties and Customary Law</vt:lpstr>
      <vt:lpstr>Treaties and Customary Law</vt:lpstr>
      <vt:lpstr>Public International Law </vt:lpstr>
      <vt:lpstr>Public International Law </vt:lpstr>
      <vt:lpstr>Public International Law </vt:lpstr>
      <vt:lpstr>Private International Law </vt:lpstr>
      <vt:lpstr>Private International Law </vt:lpstr>
      <vt:lpstr>Private International Law </vt:lpstr>
      <vt:lpstr>Comparison between Public and private international Law</vt:lpstr>
      <vt:lpstr>Comparison between Public and private international Law</vt:lpstr>
      <vt:lpstr>International Organizations</vt:lpstr>
      <vt:lpstr>International Organizations</vt:lpstr>
      <vt:lpstr>Supranational Law </vt:lpstr>
      <vt:lpstr>Supranational Law </vt:lpstr>
      <vt:lpstr>Comparative Law</vt:lpstr>
      <vt:lpstr>Comparative Law</vt:lpstr>
      <vt:lpstr>Comparative Law</vt:lpstr>
      <vt:lpstr>Relationship and Importance</vt:lpstr>
      <vt:lpstr>Academic and Professional Study</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international and Comparative Law</dc:title>
  <dc:creator>USER</dc:creator>
  <cp:lastModifiedBy>Ravi Silwal</cp:lastModifiedBy>
  <cp:revision>8</cp:revision>
  <dcterms:created xsi:type="dcterms:W3CDTF">2025-06-03T16:42:30Z</dcterms:created>
  <dcterms:modified xsi:type="dcterms:W3CDTF">2025-12-02T01:55:17Z</dcterms:modified>
</cp:coreProperties>
</file>