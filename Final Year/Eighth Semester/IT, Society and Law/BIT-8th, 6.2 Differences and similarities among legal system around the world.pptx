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7" d="100"/>
          <a:sy n="77" d="100"/>
        </p:scale>
        <p:origin x="806"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007E8EA-7BEA-407F-8078-410B864D7BD8}" type="datetimeFigureOut">
              <a:rPr lang="en-US" smtClean="0"/>
              <a:t>6/4/2025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26972D-450A-428E-A404-D9D6FEEC51DF}" type="slidenum">
              <a:rPr lang="en-US" smtClean="0"/>
              <a:t>‹#›</a:t>
            </a:fld>
            <a:endParaRPr lang="en-US"/>
          </a:p>
        </p:txBody>
      </p:sp>
    </p:spTree>
    <p:extLst>
      <p:ext uri="{BB962C8B-B14F-4D97-AF65-F5344CB8AC3E}">
        <p14:creationId xmlns:p14="http://schemas.microsoft.com/office/powerpoint/2010/main" val="8643860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007E8EA-7BEA-407F-8078-410B864D7BD8}" type="datetimeFigureOut">
              <a:rPr lang="en-US" smtClean="0"/>
              <a:t>6/4/2025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26972D-450A-428E-A404-D9D6FEEC51DF}" type="slidenum">
              <a:rPr lang="en-US" smtClean="0"/>
              <a:t>‹#›</a:t>
            </a:fld>
            <a:endParaRPr lang="en-US"/>
          </a:p>
        </p:txBody>
      </p:sp>
    </p:spTree>
    <p:extLst>
      <p:ext uri="{BB962C8B-B14F-4D97-AF65-F5344CB8AC3E}">
        <p14:creationId xmlns:p14="http://schemas.microsoft.com/office/powerpoint/2010/main" val="31726374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007E8EA-7BEA-407F-8078-410B864D7BD8}" type="datetimeFigureOut">
              <a:rPr lang="en-US" smtClean="0"/>
              <a:t>6/4/2025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26972D-450A-428E-A404-D9D6FEEC51DF}" type="slidenum">
              <a:rPr lang="en-US" smtClean="0"/>
              <a:t>‹#›</a:t>
            </a:fld>
            <a:endParaRPr lang="en-US"/>
          </a:p>
        </p:txBody>
      </p:sp>
    </p:spTree>
    <p:extLst>
      <p:ext uri="{BB962C8B-B14F-4D97-AF65-F5344CB8AC3E}">
        <p14:creationId xmlns:p14="http://schemas.microsoft.com/office/powerpoint/2010/main" val="38220544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007E8EA-7BEA-407F-8078-410B864D7BD8}" type="datetimeFigureOut">
              <a:rPr lang="en-US" smtClean="0"/>
              <a:t>6/4/2025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26972D-450A-428E-A404-D9D6FEEC51DF}" type="slidenum">
              <a:rPr lang="en-US" smtClean="0"/>
              <a:t>‹#›</a:t>
            </a:fld>
            <a:endParaRPr lang="en-US"/>
          </a:p>
        </p:txBody>
      </p:sp>
    </p:spTree>
    <p:extLst>
      <p:ext uri="{BB962C8B-B14F-4D97-AF65-F5344CB8AC3E}">
        <p14:creationId xmlns:p14="http://schemas.microsoft.com/office/powerpoint/2010/main" val="16099237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007E8EA-7BEA-407F-8078-410B864D7BD8}" type="datetimeFigureOut">
              <a:rPr lang="en-US" smtClean="0"/>
              <a:t>6/4/2025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026972D-450A-428E-A404-D9D6FEEC51DF}" type="slidenum">
              <a:rPr lang="en-US" smtClean="0"/>
              <a:t>‹#›</a:t>
            </a:fld>
            <a:endParaRPr lang="en-US"/>
          </a:p>
        </p:txBody>
      </p:sp>
    </p:spTree>
    <p:extLst>
      <p:ext uri="{BB962C8B-B14F-4D97-AF65-F5344CB8AC3E}">
        <p14:creationId xmlns:p14="http://schemas.microsoft.com/office/powerpoint/2010/main" val="7675740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007E8EA-7BEA-407F-8078-410B864D7BD8}" type="datetimeFigureOut">
              <a:rPr lang="en-US" smtClean="0"/>
              <a:t>6/4/2025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026972D-450A-428E-A404-D9D6FEEC51DF}" type="slidenum">
              <a:rPr lang="en-US" smtClean="0"/>
              <a:t>‹#›</a:t>
            </a:fld>
            <a:endParaRPr lang="en-US"/>
          </a:p>
        </p:txBody>
      </p:sp>
    </p:spTree>
    <p:extLst>
      <p:ext uri="{BB962C8B-B14F-4D97-AF65-F5344CB8AC3E}">
        <p14:creationId xmlns:p14="http://schemas.microsoft.com/office/powerpoint/2010/main" val="1771504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007E8EA-7BEA-407F-8078-410B864D7BD8}" type="datetimeFigureOut">
              <a:rPr lang="en-US" smtClean="0"/>
              <a:t>6/4/2025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026972D-450A-428E-A404-D9D6FEEC51DF}" type="slidenum">
              <a:rPr lang="en-US" smtClean="0"/>
              <a:t>‹#›</a:t>
            </a:fld>
            <a:endParaRPr lang="en-US"/>
          </a:p>
        </p:txBody>
      </p:sp>
    </p:spTree>
    <p:extLst>
      <p:ext uri="{BB962C8B-B14F-4D97-AF65-F5344CB8AC3E}">
        <p14:creationId xmlns:p14="http://schemas.microsoft.com/office/powerpoint/2010/main" val="32595458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007E8EA-7BEA-407F-8078-410B864D7BD8}" type="datetimeFigureOut">
              <a:rPr lang="en-US" smtClean="0"/>
              <a:t>6/4/2025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26972D-450A-428E-A404-D9D6FEEC51DF}" type="slidenum">
              <a:rPr lang="en-US" smtClean="0"/>
              <a:t>‹#›</a:t>
            </a:fld>
            <a:endParaRPr lang="en-US"/>
          </a:p>
        </p:txBody>
      </p:sp>
    </p:spTree>
    <p:extLst>
      <p:ext uri="{BB962C8B-B14F-4D97-AF65-F5344CB8AC3E}">
        <p14:creationId xmlns:p14="http://schemas.microsoft.com/office/powerpoint/2010/main" val="35626820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007E8EA-7BEA-407F-8078-410B864D7BD8}" type="datetimeFigureOut">
              <a:rPr lang="en-US" smtClean="0"/>
              <a:t>6/4/2025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26972D-450A-428E-A404-D9D6FEEC51DF}" type="slidenum">
              <a:rPr lang="en-US" smtClean="0"/>
              <a:t>‹#›</a:t>
            </a:fld>
            <a:endParaRPr lang="en-US"/>
          </a:p>
        </p:txBody>
      </p:sp>
    </p:spTree>
    <p:extLst>
      <p:ext uri="{BB962C8B-B14F-4D97-AF65-F5344CB8AC3E}">
        <p14:creationId xmlns:p14="http://schemas.microsoft.com/office/powerpoint/2010/main" val="21015791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007E8EA-7BEA-407F-8078-410B864D7BD8}" type="datetimeFigureOut">
              <a:rPr lang="en-US" smtClean="0"/>
              <a:t>6/4/2025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26972D-450A-428E-A404-D9D6FEEC51DF}" type="slidenum">
              <a:rPr lang="en-US" smtClean="0"/>
              <a:t>‹#›</a:t>
            </a:fld>
            <a:endParaRPr lang="en-US"/>
          </a:p>
        </p:txBody>
      </p:sp>
    </p:spTree>
    <p:extLst>
      <p:ext uri="{BB962C8B-B14F-4D97-AF65-F5344CB8AC3E}">
        <p14:creationId xmlns:p14="http://schemas.microsoft.com/office/powerpoint/2010/main" val="41347448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007E8EA-7BEA-407F-8078-410B864D7BD8}" type="datetimeFigureOut">
              <a:rPr lang="en-US" smtClean="0"/>
              <a:t>6/4/2025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26972D-450A-428E-A404-D9D6FEEC51DF}" type="slidenum">
              <a:rPr lang="en-US" smtClean="0"/>
              <a:t>‹#›</a:t>
            </a:fld>
            <a:endParaRPr lang="en-US"/>
          </a:p>
        </p:txBody>
      </p:sp>
    </p:spTree>
    <p:extLst>
      <p:ext uri="{BB962C8B-B14F-4D97-AF65-F5344CB8AC3E}">
        <p14:creationId xmlns:p14="http://schemas.microsoft.com/office/powerpoint/2010/main" val="28786893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007E8EA-7BEA-407F-8078-410B864D7BD8}" type="datetimeFigureOut">
              <a:rPr lang="en-US" smtClean="0"/>
              <a:t>6/4/2025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026972D-450A-428E-A404-D9D6FEEC51DF}" type="slidenum">
              <a:rPr lang="en-US" smtClean="0"/>
              <a:t>‹#›</a:t>
            </a:fld>
            <a:endParaRPr lang="en-US"/>
          </a:p>
        </p:txBody>
      </p:sp>
    </p:spTree>
    <p:extLst>
      <p:ext uri="{BB962C8B-B14F-4D97-AF65-F5344CB8AC3E}">
        <p14:creationId xmlns:p14="http://schemas.microsoft.com/office/powerpoint/2010/main" val="22268143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15440" y="1650683"/>
            <a:ext cx="9144000" cy="2387600"/>
          </a:xfrm>
        </p:spPr>
        <p:txBody>
          <a:bodyPr>
            <a:normAutofit fontScale="90000"/>
          </a:bodyPr>
          <a:lstStyle/>
          <a:p>
            <a:r>
              <a:rPr lang="en-US" b="1" dirty="0">
                <a:latin typeface="Times New Roman" panose="02020603050405020304" pitchFamily="18" charset="0"/>
                <a:cs typeface="Times New Roman" panose="02020603050405020304" pitchFamily="18" charset="0"/>
              </a:rPr>
              <a:t>Differences and Similarities Among Legal Systems Around the World</a:t>
            </a:r>
            <a:endParaRPr lang="en-US" dirty="0"/>
          </a:p>
        </p:txBody>
      </p:sp>
    </p:spTree>
    <p:extLst>
      <p:ext uri="{BB962C8B-B14F-4D97-AF65-F5344CB8AC3E}">
        <p14:creationId xmlns:p14="http://schemas.microsoft.com/office/powerpoint/2010/main" val="9196746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Differences and Similarities Among Legal Systems Around the World</a:t>
            </a:r>
          </a:p>
        </p:txBody>
      </p:sp>
      <p:sp>
        <p:nvSpPr>
          <p:cNvPr id="3" name="Content Placeholder 2"/>
          <p:cNvSpPr>
            <a:spLocks noGrp="1"/>
          </p:cNvSpPr>
          <p:nvPr>
            <p:ph idx="1"/>
          </p:nvPr>
        </p:nvSpPr>
        <p:spPr>
          <a:xfrm>
            <a:off x="838200" y="2333625"/>
            <a:ext cx="10515600" cy="3254375"/>
          </a:xfrm>
        </p:spPr>
        <p:txBody>
          <a:bodyPr>
            <a:normAutofit lnSpcReduction="10000"/>
          </a:bodyPr>
          <a:lstStyle/>
          <a:p>
            <a:pPr algn="just"/>
            <a:r>
              <a:rPr lang="en-US" dirty="0">
                <a:latin typeface="Times New Roman" panose="02020603050405020304" pitchFamily="18" charset="0"/>
                <a:cs typeface="Times New Roman" panose="02020603050405020304" pitchFamily="18" charset="0"/>
              </a:rPr>
              <a:t>Legal systems worldwide vary significantly but can be broadly categorized into several major types, each with distinct origins, structures, and approaches. The most prominent legal systems include civil law, common law, religious law (e.g., Sharia law), customary law, and mixed systems that combine elements of these traditions.</a:t>
            </a:r>
          </a:p>
          <a:p>
            <a:pPr marL="0" indent="0" algn="just">
              <a:buNone/>
            </a:pP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544299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6600" y="131445"/>
            <a:ext cx="10515600" cy="539115"/>
          </a:xfrm>
        </p:spPr>
        <p:txBody>
          <a:bodyPr>
            <a:normAutofit fontScale="90000"/>
          </a:bodyPr>
          <a:lstStyle/>
          <a:p>
            <a:pPr algn="ctr"/>
            <a:r>
              <a:rPr lang="en-US">
                <a:latin typeface="Times New Roman" panose="02020603050405020304" pitchFamily="18" charset="0"/>
                <a:cs typeface="Times New Roman" panose="02020603050405020304" pitchFamily="18" charset="0"/>
              </a:rPr>
              <a:t>Major Legal Systems and Their Characteristics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574852450"/>
              </p:ext>
            </p:extLst>
          </p:nvPr>
        </p:nvGraphicFramePr>
        <p:xfrm>
          <a:off x="304800" y="782320"/>
          <a:ext cx="11379200" cy="5636278"/>
        </p:xfrm>
        <a:graphic>
          <a:graphicData uri="http://schemas.openxmlformats.org/drawingml/2006/table">
            <a:tbl>
              <a:tblPr/>
              <a:tblGrid>
                <a:gridCol w="1463040">
                  <a:extLst>
                    <a:ext uri="{9D8B030D-6E8A-4147-A177-3AD203B41FA5}">
                      <a16:colId xmlns:a16="http://schemas.microsoft.com/office/drawing/2014/main" val="3288620846"/>
                    </a:ext>
                  </a:extLst>
                </a:gridCol>
                <a:gridCol w="1717040">
                  <a:extLst>
                    <a:ext uri="{9D8B030D-6E8A-4147-A177-3AD203B41FA5}">
                      <a16:colId xmlns:a16="http://schemas.microsoft.com/office/drawing/2014/main" val="3778891816"/>
                    </a:ext>
                  </a:extLst>
                </a:gridCol>
                <a:gridCol w="5090160">
                  <a:extLst>
                    <a:ext uri="{9D8B030D-6E8A-4147-A177-3AD203B41FA5}">
                      <a16:colId xmlns:a16="http://schemas.microsoft.com/office/drawing/2014/main" val="1167245635"/>
                    </a:ext>
                  </a:extLst>
                </a:gridCol>
                <a:gridCol w="3108960">
                  <a:extLst>
                    <a:ext uri="{9D8B030D-6E8A-4147-A177-3AD203B41FA5}">
                      <a16:colId xmlns:a16="http://schemas.microsoft.com/office/drawing/2014/main" val="76864133"/>
                    </a:ext>
                  </a:extLst>
                </a:gridCol>
              </a:tblGrid>
              <a:tr h="319181">
                <a:tc>
                  <a:txBody>
                    <a:bodyPr/>
                    <a:lstStyle/>
                    <a:p>
                      <a:pPr fontAlgn="t" latinLnBrk="0"/>
                      <a:r>
                        <a:rPr lang="en-US" sz="1800" b="0">
                          <a:effectLst/>
                          <a:latin typeface="Times New Roman" panose="02020603050405020304" pitchFamily="18" charset="0"/>
                          <a:cs typeface="Times New Roman" panose="02020603050405020304" pitchFamily="18" charset="0"/>
                        </a:rPr>
                        <a:t>Legal System</a:t>
                      </a:r>
                    </a:p>
                  </a:txBody>
                  <a:tcPr marL="40290" marR="40290" marT="20145" marB="20145">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6350" cap="flat" cmpd="sng" algn="ctr">
                      <a:solidFill>
                        <a:srgbClr val="50D35E"/>
                      </a:solidFill>
                      <a:prstDash val="solid"/>
                      <a:round/>
                      <a:headEnd type="none" w="med" len="med"/>
                      <a:tailEnd type="none" w="med" len="med"/>
                    </a:lnB>
                  </a:tcPr>
                </a:tc>
                <a:tc>
                  <a:txBody>
                    <a:bodyPr/>
                    <a:lstStyle/>
                    <a:p>
                      <a:pPr fontAlgn="t" latinLnBrk="0"/>
                      <a:r>
                        <a:rPr lang="en-US" sz="1800" b="0">
                          <a:effectLst/>
                          <a:latin typeface="Times New Roman" panose="02020603050405020304" pitchFamily="18" charset="0"/>
                          <a:cs typeface="Times New Roman" panose="02020603050405020304" pitchFamily="18" charset="0"/>
                        </a:rPr>
                        <a:t>Origin and Basis</a:t>
                      </a:r>
                    </a:p>
                  </a:txBody>
                  <a:tcPr marL="40290" marR="40290" marT="20145" marB="20145">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6350" cap="flat" cmpd="sng" algn="ctr">
                      <a:solidFill>
                        <a:srgbClr val="D0C55E"/>
                      </a:solidFill>
                      <a:prstDash val="solid"/>
                      <a:round/>
                      <a:headEnd type="none" w="med" len="med"/>
                      <a:tailEnd type="none" w="med" len="med"/>
                    </a:lnB>
                  </a:tcPr>
                </a:tc>
                <a:tc>
                  <a:txBody>
                    <a:bodyPr/>
                    <a:lstStyle/>
                    <a:p>
                      <a:pPr fontAlgn="t" latinLnBrk="0"/>
                      <a:r>
                        <a:rPr lang="en-US" sz="1800" b="0">
                          <a:effectLst/>
                          <a:latin typeface="Times New Roman" panose="02020603050405020304" pitchFamily="18" charset="0"/>
                          <a:cs typeface="Times New Roman" panose="02020603050405020304" pitchFamily="18" charset="0"/>
                        </a:rPr>
                        <a:t>Key Features</a:t>
                      </a:r>
                    </a:p>
                  </a:txBody>
                  <a:tcPr marL="40290" marR="40290" marT="20145" marB="20145">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6350" cap="flat" cmpd="sng" algn="ctr">
                      <a:solidFill>
                        <a:srgbClr val="D0C55E"/>
                      </a:solidFill>
                      <a:prstDash val="solid"/>
                      <a:round/>
                      <a:headEnd type="none" w="med" len="med"/>
                      <a:tailEnd type="none" w="med" len="med"/>
                    </a:lnB>
                  </a:tcPr>
                </a:tc>
                <a:tc>
                  <a:txBody>
                    <a:bodyPr/>
                    <a:lstStyle/>
                    <a:p>
                      <a:pPr fontAlgn="t" latinLnBrk="0"/>
                      <a:r>
                        <a:rPr lang="en-US" sz="1800" b="0">
                          <a:effectLst/>
                          <a:latin typeface="Times New Roman" panose="02020603050405020304" pitchFamily="18" charset="0"/>
                          <a:cs typeface="Times New Roman" panose="02020603050405020304" pitchFamily="18" charset="0"/>
                        </a:rPr>
                        <a:t>Examples of Countries</a:t>
                      </a:r>
                    </a:p>
                  </a:txBody>
                  <a:tcPr marL="40290" marR="40290" marT="20145" marB="20145">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6350" cap="flat" cmpd="sng" algn="ctr">
                      <a:solidFill>
                        <a:srgbClr val="50D35E"/>
                      </a:solidFill>
                      <a:prstDash val="solid"/>
                      <a:round/>
                      <a:headEnd type="none" w="med" len="med"/>
                      <a:tailEnd type="none" w="med" len="med"/>
                    </a:lnB>
                  </a:tcPr>
                </a:tc>
                <a:extLst>
                  <a:ext uri="{0D108BD9-81ED-4DB2-BD59-A6C34878D82A}">
                    <a16:rowId xmlns:a16="http://schemas.microsoft.com/office/drawing/2014/main" val="2054461420"/>
                  </a:ext>
                </a:extLst>
              </a:tr>
              <a:tr h="1115385">
                <a:tc>
                  <a:txBody>
                    <a:bodyPr/>
                    <a:lstStyle/>
                    <a:p>
                      <a:pPr fontAlgn="base" latinLnBrk="0"/>
                      <a:r>
                        <a:rPr lang="en-US" sz="1800" b="0">
                          <a:effectLst/>
                          <a:latin typeface="Times New Roman" panose="02020603050405020304" pitchFamily="18" charset="0"/>
                          <a:cs typeface="Times New Roman" panose="02020603050405020304" pitchFamily="18" charset="0"/>
                        </a:rPr>
                        <a:t>Civil Law</a:t>
                      </a:r>
                      <a:endParaRPr lang="en-US" sz="1800">
                        <a:effectLst/>
                        <a:latin typeface="Times New Roman" panose="02020603050405020304" pitchFamily="18" charset="0"/>
                        <a:cs typeface="Times New Roman" panose="02020603050405020304" pitchFamily="18" charset="0"/>
                      </a:endParaRPr>
                    </a:p>
                  </a:txBody>
                  <a:tcPr marL="40290" marR="40290" marT="20145" marB="20145" anchor="ctr">
                    <a:lnL w="6350" cap="flat" cmpd="sng" algn="ctr">
                      <a:solidFill>
                        <a:srgbClr val="50D35E"/>
                      </a:solidFill>
                      <a:prstDash val="solid"/>
                      <a:round/>
                      <a:headEnd type="none" w="med" len="med"/>
                      <a:tailEnd type="none" w="med" len="med"/>
                    </a:lnL>
                    <a:lnR w="6350" cap="flat" cmpd="sng" algn="ctr">
                      <a:solidFill>
                        <a:srgbClr val="D0C55E"/>
                      </a:solidFill>
                      <a:prstDash val="solid"/>
                      <a:round/>
                      <a:headEnd type="none" w="med" len="med"/>
                      <a:tailEnd type="none" w="med" len="med"/>
                    </a:lnR>
                    <a:lnT w="6350" cap="flat" cmpd="sng" algn="ctr">
                      <a:solidFill>
                        <a:srgbClr val="50D35E"/>
                      </a:solidFill>
                      <a:prstDash val="solid"/>
                      <a:round/>
                      <a:headEnd type="none" w="med" len="med"/>
                      <a:tailEnd type="none" w="med" len="med"/>
                    </a:lnT>
                    <a:lnB w="6350" cap="flat" cmpd="sng" algn="ctr">
                      <a:solidFill>
                        <a:srgbClr val="50F05E"/>
                      </a:solidFill>
                      <a:prstDash val="solid"/>
                      <a:round/>
                      <a:headEnd type="none" w="med" len="med"/>
                      <a:tailEnd type="none" w="med" len="med"/>
                    </a:lnB>
                  </a:tcPr>
                </a:tc>
                <a:tc>
                  <a:txBody>
                    <a:bodyPr/>
                    <a:lstStyle/>
                    <a:p>
                      <a:pPr fontAlgn="base" latinLnBrk="0"/>
                      <a:r>
                        <a:rPr lang="en-US" sz="1800">
                          <a:effectLst/>
                          <a:latin typeface="Times New Roman" panose="02020603050405020304" pitchFamily="18" charset="0"/>
                          <a:cs typeface="Times New Roman" panose="02020603050405020304" pitchFamily="18" charset="0"/>
                        </a:rPr>
                        <a:t>Rooted in Roman law and codified systems</a:t>
                      </a:r>
                    </a:p>
                  </a:txBody>
                  <a:tcPr marL="40290" marR="40290" marT="20145" marB="20145" anchor="ctr">
                    <a:lnL w="6350" cap="flat" cmpd="sng" algn="ctr">
                      <a:solidFill>
                        <a:srgbClr val="D0C55E"/>
                      </a:solidFill>
                      <a:prstDash val="solid"/>
                      <a:round/>
                      <a:headEnd type="none" w="med" len="med"/>
                      <a:tailEnd type="none" w="med" len="med"/>
                    </a:lnL>
                    <a:lnR w="6350" cap="flat" cmpd="sng" algn="ctr">
                      <a:solidFill>
                        <a:srgbClr val="D0C55E"/>
                      </a:solidFill>
                      <a:prstDash val="solid"/>
                      <a:round/>
                      <a:headEnd type="none" w="med" len="med"/>
                      <a:tailEnd type="none" w="med" len="med"/>
                    </a:lnR>
                    <a:lnT w="6350" cap="flat" cmpd="sng" algn="ctr">
                      <a:solidFill>
                        <a:srgbClr val="D0C55E"/>
                      </a:solidFill>
                      <a:prstDash val="solid"/>
                      <a:round/>
                      <a:headEnd type="none" w="med" len="med"/>
                      <a:tailEnd type="none" w="med" len="med"/>
                    </a:lnT>
                    <a:lnB w="6350" cap="flat" cmpd="sng" algn="ctr">
                      <a:solidFill>
                        <a:srgbClr val="50E15E"/>
                      </a:solidFill>
                      <a:prstDash val="solid"/>
                      <a:round/>
                      <a:headEnd type="none" w="med" len="med"/>
                      <a:tailEnd type="none" w="med" len="med"/>
                    </a:lnB>
                  </a:tcPr>
                </a:tc>
                <a:tc>
                  <a:txBody>
                    <a:bodyPr/>
                    <a:lstStyle/>
                    <a:p>
                      <a:pPr fontAlgn="base" latinLnBrk="0"/>
                      <a:r>
                        <a:rPr lang="en-US" sz="1800">
                          <a:effectLst/>
                          <a:latin typeface="Times New Roman" panose="02020603050405020304" pitchFamily="18" charset="0"/>
                          <a:cs typeface="Times New Roman" panose="02020603050405020304" pitchFamily="18" charset="0"/>
                        </a:rPr>
                        <a:t>Comprehensive legal codes; laws are systematically written and applied; judges have a more limited role in interpreting law; precedent is less binding.</a:t>
                      </a:r>
                    </a:p>
                  </a:txBody>
                  <a:tcPr marL="40290" marR="40290" marT="20145" marB="20145" anchor="ctr">
                    <a:lnL w="6350" cap="flat" cmpd="sng" algn="ctr">
                      <a:solidFill>
                        <a:srgbClr val="D0C55E"/>
                      </a:solidFill>
                      <a:prstDash val="solid"/>
                      <a:round/>
                      <a:headEnd type="none" w="med" len="med"/>
                      <a:tailEnd type="none" w="med" len="med"/>
                    </a:lnL>
                    <a:lnR w="6350" cap="flat" cmpd="sng" algn="ctr">
                      <a:solidFill>
                        <a:srgbClr val="50D35E"/>
                      </a:solidFill>
                      <a:prstDash val="solid"/>
                      <a:round/>
                      <a:headEnd type="none" w="med" len="med"/>
                      <a:tailEnd type="none" w="med" len="med"/>
                    </a:lnR>
                    <a:lnT w="6350" cap="flat" cmpd="sng" algn="ctr">
                      <a:solidFill>
                        <a:srgbClr val="D0C55E"/>
                      </a:solidFill>
                      <a:prstDash val="solid"/>
                      <a:round/>
                      <a:headEnd type="none" w="med" len="med"/>
                      <a:tailEnd type="none" w="med" len="med"/>
                    </a:lnT>
                    <a:lnB w="6350" cap="flat" cmpd="sng" algn="ctr">
                      <a:solidFill>
                        <a:srgbClr val="D0F65E"/>
                      </a:solidFill>
                      <a:prstDash val="solid"/>
                      <a:round/>
                      <a:headEnd type="none" w="med" len="med"/>
                      <a:tailEnd type="none" w="med" len="med"/>
                    </a:lnB>
                  </a:tcPr>
                </a:tc>
                <a:tc>
                  <a:txBody>
                    <a:bodyPr/>
                    <a:lstStyle/>
                    <a:p>
                      <a:pPr fontAlgn="base" latinLnBrk="0"/>
                      <a:r>
                        <a:rPr lang="en-US" sz="1800" dirty="0">
                          <a:effectLst/>
                          <a:latin typeface="Times New Roman" panose="02020603050405020304" pitchFamily="18" charset="0"/>
                          <a:cs typeface="Times New Roman" panose="02020603050405020304" pitchFamily="18" charset="0"/>
                        </a:rPr>
                        <a:t>France, Germany, Japan, Latin American countries, most of Europe, and many former colonies of these countries</a:t>
                      </a:r>
                    </a:p>
                  </a:txBody>
                  <a:tcPr marL="40290" marR="40290" marT="20145" marB="20145" anchor="ctr">
                    <a:lnL w="6350" cap="flat" cmpd="sng" algn="ctr">
                      <a:solidFill>
                        <a:srgbClr val="50D35E"/>
                      </a:solidFill>
                      <a:prstDash val="solid"/>
                      <a:round/>
                      <a:headEnd type="none" w="med" len="med"/>
                      <a:tailEnd type="none" w="med" len="med"/>
                    </a:lnL>
                    <a:lnR w="6350" cap="flat" cmpd="sng" algn="ctr">
                      <a:solidFill>
                        <a:srgbClr val="50D35E"/>
                      </a:solidFill>
                      <a:prstDash val="solid"/>
                      <a:round/>
                      <a:headEnd type="none" w="med" len="med"/>
                      <a:tailEnd type="none" w="med" len="med"/>
                    </a:lnR>
                    <a:lnT w="6350" cap="flat" cmpd="sng" algn="ctr">
                      <a:solidFill>
                        <a:srgbClr val="50D35E"/>
                      </a:solidFill>
                      <a:prstDash val="solid"/>
                      <a:round/>
                      <a:headEnd type="none" w="med" len="med"/>
                      <a:tailEnd type="none" w="med" len="med"/>
                    </a:lnT>
                    <a:lnB w="6350" cap="flat" cmpd="sng" algn="ctr">
                      <a:solidFill>
                        <a:srgbClr val="50FB5E"/>
                      </a:solidFill>
                      <a:prstDash val="solid"/>
                      <a:round/>
                      <a:headEnd type="none" w="med" len="med"/>
                      <a:tailEnd type="none" w="med" len="med"/>
                    </a:lnB>
                  </a:tcPr>
                </a:tc>
                <a:extLst>
                  <a:ext uri="{0D108BD9-81ED-4DB2-BD59-A6C34878D82A}">
                    <a16:rowId xmlns:a16="http://schemas.microsoft.com/office/drawing/2014/main" val="1001951362"/>
                  </a:ext>
                </a:extLst>
              </a:tr>
              <a:tr h="1115385">
                <a:tc>
                  <a:txBody>
                    <a:bodyPr/>
                    <a:lstStyle/>
                    <a:p>
                      <a:pPr fontAlgn="base" latinLnBrk="0"/>
                      <a:r>
                        <a:rPr lang="en-US" sz="1800" b="0">
                          <a:effectLst/>
                          <a:latin typeface="Times New Roman" panose="02020603050405020304" pitchFamily="18" charset="0"/>
                          <a:cs typeface="Times New Roman" panose="02020603050405020304" pitchFamily="18" charset="0"/>
                        </a:rPr>
                        <a:t>Common Law</a:t>
                      </a:r>
                      <a:endParaRPr lang="en-US" sz="1800">
                        <a:effectLst/>
                        <a:latin typeface="Times New Roman" panose="02020603050405020304" pitchFamily="18" charset="0"/>
                        <a:cs typeface="Times New Roman" panose="02020603050405020304" pitchFamily="18" charset="0"/>
                      </a:endParaRPr>
                    </a:p>
                  </a:txBody>
                  <a:tcPr marL="40290" marR="40290" marT="20145" marB="20145" anchor="ctr">
                    <a:lnL w="6350" cap="flat" cmpd="sng" algn="ctr">
                      <a:solidFill>
                        <a:srgbClr val="50F05E"/>
                      </a:solidFill>
                      <a:prstDash val="solid"/>
                      <a:round/>
                      <a:headEnd type="none" w="med" len="med"/>
                      <a:tailEnd type="none" w="med" len="med"/>
                    </a:lnL>
                    <a:lnR w="6350" cap="flat" cmpd="sng" algn="ctr">
                      <a:solidFill>
                        <a:srgbClr val="50E15E"/>
                      </a:solidFill>
                      <a:prstDash val="solid"/>
                      <a:round/>
                      <a:headEnd type="none" w="med" len="med"/>
                      <a:tailEnd type="none" w="med" len="med"/>
                    </a:lnR>
                    <a:lnT w="6350" cap="flat" cmpd="sng" algn="ctr">
                      <a:solidFill>
                        <a:srgbClr val="50F05E"/>
                      </a:solidFill>
                      <a:prstDash val="solid"/>
                      <a:round/>
                      <a:headEnd type="none" w="med" len="med"/>
                      <a:tailEnd type="none" w="med" len="med"/>
                    </a:lnT>
                    <a:lnB w="6350" cap="flat" cmpd="sng" algn="ctr">
                      <a:solidFill>
                        <a:srgbClr val="D0FD5E"/>
                      </a:solidFill>
                      <a:prstDash val="solid"/>
                      <a:round/>
                      <a:headEnd type="none" w="med" len="med"/>
                      <a:tailEnd type="none" w="med" len="med"/>
                    </a:lnB>
                  </a:tcPr>
                </a:tc>
                <a:tc>
                  <a:txBody>
                    <a:bodyPr/>
                    <a:lstStyle/>
                    <a:p>
                      <a:pPr fontAlgn="base" latinLnBrk="0"/>
                      <a:r>
                        <a:rPr lang="en-US" sz="1800">
                          <a:effectLst/>
                          <a:latin typeface="Times New Roman" panose="02020603050405020304" pitchFamily="18" charset="0"/>
                          <a:cs typeface="Times New Roman" panose="02020603050405020304" pitchFamily="18" charset="0"/>
                        </a:rPr>
                        <a:t>Originates from English law</a:t>
                      </a:r>
                    </a:p>
                  </a:txBody>
                  <a:tcPr marL="40290" marR="40290" marT="20145" marB="20145" anchor="ctr">
                    <a:lnL w="6350" cap="flat" cmpd="sng" algn="ctr">
                      <a:solidFill>
                        <a:srgbClr val="50E15E"/>
                      </a:solidFill>
                      <a:prstDash val="solid"/>
                      <a:round/>
                      <a:headEnd type="none" w="med" len="med"/>
                      <a:tailEnd type="none" w="med" len="med"/>
                    </a:lnL>
                    <a:lnR w="6350" cap="flat" cmpd="sng" algn="ctr">
                      <a:solidFill>
                        <a:srgbClr val="D0F65E"/>
                      </a:solidFill>
                      <a:prstDash val="solid"/>
                      <a:round/>
                      <a:headEnd type="none" w="med" len="med"/>
                      <a:tailEnd type="none" w="med" len="med"/>
                    </a:lnR>
                    <a:lnT w="6350" cap="flat" cmpd="sng" algn="ctr">
                      <a:solidFill>
                        <a:srgbClr val="50E15E"/>
                      </a:solidFill>
                      <a:prstDash val="solid"/>
                      <a:round/>
                      <a:headEnd type="none" w="med" len="med"/>
                      <a:tailEnd type="none" w="med" len="med"/>
                    </a:lnT>
                    <a:lnB w="6350" cap="flat" cmpd="sng" algn="ctr">
                      <a:solidFill>
                        <a:srgbClr val="50F65E"/>
                      </a:solidFill>
                      <a:prstDash val="solid"/>
                      <a:round/>
                      <a:headEnd type="none" w="med" len="med"/>
                      <a:tailEnd type="none" w="med" len="med"/>
                    </a:lnB>
                  </a:tcPr>
                </a:tc>
                <a:tc>
                  <a:txBody>
                    <a:bodyPr/>
                    <a:lstStyle/>
                    <a:p>
                      <a:pPr fontAlgn="base" latinLnBrk="0"/>
                      <a:r>
                        <a:rPr lang="en-US" sz="1800">
                          <a:effectLst/>
                          <a:latin typeface="Times New Roman" panose="02020603050405020304" pitchFamily="18" charset="0"/>
                          <a:cs typeface="Times New Roman" panose="02020603050405020304" pitchFamily="18" charset="0"/>
                        </a:rPr>
                        <a:t>Law developed through judicial decisions (precedents); courts have a strong role in interpreting and shaping law; less reliance on codified statutes.</a:t>
                      </a:r>
                    </a:p>
                  </a:txBody>
                  <a:tcPr marL="40290" marR="40290" marT="20145" marB="20145" anchor="ctr">
                    <a:lnL w="6350" cap="flat" cmpd="sng" algn="ctr">
                      <a:solidFill>
                        <a:srgbClr val="D0F65E"/>
                      </a:solidFill>
                      <a:prstDash val="solid"/>
                      <a:round/>
                      <a:headEnd type="none" w="med" len="med"/>
                      <a:tailEnd type="none" w="med" len="med"/>
                    </a:lnL>
                    <a:lnR w="6350" cap="flat" cmpd="sng" algn="ctr">
                      <a:solidFill>
                        <a:srgbClr val="50FB5E"/>
                      </a:solidFill>
                      <a:prstDash val="solid"/>
                      <a:round/>
                      <a:headEnd type="none" w="med" len="med"/>
                      <a:tailEnd type="none" w="med" len="med"/>
                    </a:lnR>
                    <a:lnT w="6350" cap="flat" cmpd="sng" algn="ctr">
                      <a:solidFill>
                        <a:srgbClr val="D0F65E"/>
                      </a:solidFill>
                      <a:prstDash val="solid"/>
                      <a:round/>
                      <a:headEnd type="none" w="med" len="med"/>
                      <a:tailEnd type="none" w="med" len="med"/>
                    </a:lnT>
                    <a:lnB w="6350" cap="flat" cmpd="sng" algn="ctr">
                      <a:solidFill>
                        <a:srgbClr val="50F95E"/>
                      </a:solidFill>
                      <a:prstDash val="solid"/>
                      <a:round/>
                      <a:headEnd type="none" w="med" len="med"/>
                      <a:tailEnd type="none" w="med" len="med"/>
                    </a:lnB>
                  </a:tcPr>
                </a:tc>
                <a:tc>
                  <a:txBody>
                    <a:bodyPr/>
                    <a:lstStyle/>
                    <a:p>
                      <a:pPr fontAlgn="base" latinLnBrk="0"/>
                      <a:r>
                        <a:rPr lang="en-US" sz="1800" dirty="0">
                          <a:effectLst/>
                          <a:latin typeface="Times New Roman" panose="02020603050405020304" pitchFamily="18" charset="0"/>
                          <a:cs typeface="Times New Roman" panose="02020603050405020304" pitchFamily="18" charset="0"/>
                        </a:rPr>
                        <a:t>United Kingdom, United States (except Louisiana), Canada, Australia, India, and other former British colonies</a:t>
                      </a:r>
                    </a:p>
                  </a:txBody>
                  <a:tcPr marL="40290" marR="40290" marT="20145" marB="20145" anchor="ctr">
                    <a:lnL w="6350" cap="flat" cmpd="sng" algn="ctr">
                      <a:solidFill>
                        <a:srgbClr val="50FB5E"/>
                      </a:solidFill>
                      <a:prstDash val="solid"/>
                      <a:round/>
                      <a:headEnd type="none" w="med" len="med"/>
                      <a:tailEnd type="none" w="med" len="med"/>
                    </a:lnL>
                    <a:lnR w="6350" cap="flat" cmpd="sng" algn="ctr">
                      <a:solidFill>
                        <a:srgbClr val="50FB5E"/>
                      </a:solidFill>
                      <a:prstDash val="solid"/>
                      <a:round/>
                      <a:headEnd type="none" w="med" len="med"/>
                      <a:tailEnd type="none" w="med" len="med"/>
                    </a:lnR>
                    <a:lnT w="6350" cap="flat" cmpd="sng" algn="ctr">
                      <a:solidFill>
                        <a:srgbClr val="50FB5E"/>
                      </a:solidFill>
                      <a:prstDash val="solid"/>
                      <a:round/>
                      <a:headEnd type="none" w="med" len="med"/>
                      <a:tailEnd type="none" w="med" len="med"/>
                    </a:lnT>
                    <a:lnB w="6350" cap="flat" cmpd="sng" algn="ctr">
                      <a:solidFill>
                        <a:srgbClr val="D0F55E"/>
                      </a:solidFill>
                      <a:prstDash val="solid"/>
                      <a:round/>
                      <a:headEnd type="none" w="med" len="med"/>
                      <a:tailEnd type="none" w="med" len="med"/>
                    </a:lnB>
                  </a:tcPr>
                </a:tc>
                <a:extLst>
                  <a:ext uri="{0D108BD9-81ED-4DB2-BD59-A6C34878D82A}">
                    <a16:rowId xmlns:a16="http://schemas.microsoft.com/office/drawing/2014/main" val="1019352691"/>
                  </a:ext>
                </a:extLst>
              </a:tr>
              <a:tr h="963286">
                <a:tc>
                  <a:txBody>
                    <a:bodyPr/>
                    <a:lstStyle/>
                    <a:p>
                      <a:pPr fontAlgn="base" latinLnBrk="0"/>
                      <a:r>
                        <a:rPr lang="en-US" sz="1800" b="0">
                          <a:effectLst/>
                          <a:latin typeface="Times New Roman" panose="02020603050405020304" pitchFamily="18" charset="0"/>
                          <a:cs typeface="Times New Roman" panose="02020603050405020304" pitchFamily="18" charset="0"/>
                        </a:rPr>
                        <a:t>Religious Law</a:t>
                      </a:r>
                      <a:endParaRPr lang="en-US" sz="1800">
                        <a:effectLst/>
                        <a:latin typeface="Times New Roman" panose="02020603050405020304" pitchFamily="18" charset="0"/>
                        <a:cs typeface="Times New Roman" panose="02020603050405020304" pitchFamily="18" charset="0"/>
                      </a:endParaRPr>
                    </a:p>
                  </a:txBody>
                  <a:tcPr marL="40290" marR="40290" marT="20145" marB="20145" anchor="ctr">
                    <a:lnL w="6350" cap="flat" cmpd="sng" algn="ctr">
                      <a:solidFill>
                        <a:srgbClr val="D0FD5E"/>
                      </a:solidFill>
                      <a:prstDash val="solid"/>
                      <a:round/>
                      <a:headEnd type="none" w="med" len="med"/>
                      <a:tailEnd type="none" w="med" len="med"/>
                    </a:lnL>
                    <a:lnR w="6350" cap="flat" cmpd="sng" algn="ctr">
                      <a:solidFill>
                        <a:srgbClr val="50F65E"/>
                      </a:solidFill>
                      <a:prstDash val="solid"/>
                      <a:round/>
                      <a:headEnd type="none" w="med" len="med"/>
                      <a:tailEnd type="none" w="med" len="med"/>
                    </a:lnR>
                    <a:lnT w="6350" cap="flat" cmpd="sng" algn="ctr">
                      <a:solidFill>
                        <a:srgbClr val="D0FD5E"/>
                      </a:solidFill>
                      <a:prstDash val="solid"/>
                      <a:round/>
                      <a:headEnd type="none" w="med" len="med"/>
                      <a:tailEnd type="none" w="med" len="med"/>
                    </a:lnT>
                    <a:lnB w="6350" cap="flat" cmpd="sng" algn="ctr">
                      <a:solidFill>
                        <a:srgbClr val="D0F45E"/>
                      </a:solidFill>
                      <a:prstDash val="solid"/>
                      <a:round/>
                      <a:headEnd type="none" w="med" len="med"/>
                      <a:tailEnd type="none" w="med" len="med"/>
                    </a:lnB>
                  </a:tcPr>
                </a:tc>
                <a:tc>
                  <a:txBody>
                    <a:bodyPr/>
                    <a:lstStyle/>
                    <a:p>
                      <a:pPr fontAlgn="base" latinLnBrk="0"/>
                      <a:r>
                        <a:rPr lang="en-US" sz="1800">
                          <a:effectLst/>
                          <a:latin typeface="Times New Roman" panose="02020603050405020304" pitchFamily="18" charset="0"/>
                          <a:cs typeface="Times New Roman" panose="02020603050405020304" pitchFamily="18" charset="0"/>
                        </a:rPr>
                        <a:t>Based on religious texts and principles</a:t>
                      </a:r>
                    </a:p>
                  </a:txBody>
                  <a:tcPr marL="40290" marR="40290" marT="20145" marB="20145" anchor="ctr">
                    <a:lnL w="6350" cap="flat" cmpd="sng" algn="ctr">
                      <a:solidFill>
                        <a:srgbClr val="50F65E"/>
                      </a:solidFill>
                      <a:prstDash val="solid"/>
                      <a:round/>
                      <a:headEnd type="none" w="med" len="med"/>
                      <a:tailEnd type="none" w="med" len="med"/>
                    </a:lnL>
                    <a:lnR w="6350" cap="flat" cmpd="sng" algn="ctr">
                      <a:solidFill>
                        <a:srgbClr val="50F95E"/>
                      </a:solidFill>
                      <a:prstDash val="solid"/>
                      <a:round/>
                      <a:headEnd type="none" w="med" len="med"/>
                      <a:tailEnd type="none" w="med" len="med"/>
                    </a:lnR>
                    <a:lnT w="6350" cap="flat" cmpd="sng" algn="ctr">
                      <a:solidFill>
                        <a:srgbClr val="50F65E"/>
                      </a:solidFill>
                      <a:prstDash val="solid"/>
                      <a:round/>
                      <a:headEnd type="none" w="med" len="med"/>
                      <a:tailEnd type="none" w="med" len="med"/>
                    </a:lnT>
                    <a:lnB w="6350" cap="flat" cmpd="sng" algn="ctr">
                      <a:solidFill>
                        <a:srgbClr val="50EF5E"/>
                      </a:solidFill>
                      <a:prstDash val="solid"/>
                      <a:round/>
                      <a:headEnd type="none" w="med" len="med"/>
                      <a:tailEnd type="none" w="med" len="med"/>
                    </a:lnB>
                  </a:tcPr>
                </a:tc>
                <a:tc>
                  <a:txBody>
                    <a:bodyPr/>
                    <a:lstStyle/>
                    <a:p>
                      <a:pPr fontAlgn="base" latinLnBrk="0"/>
                      <a:r>
                        <a:rPr lang="en-US" sz="1800" dirty="0">
                          <a:effectLst/>
                          <a:latin typeface="Times New Roman" panose="02020603050405020304" pitchFamily="18" charset="0"/>
                          <a:cs typeface="Times New Roman" panose="02020603050405020304" pitchFamily="18" charset="0"/>
                        </a:rPr>
                        <a:t>Laws derived from religious doctrines; often govern personal status, family, and moral issues; can coexist with civil or common law systems.</a:t>
                      </a:r>
                    </a:p>
                  </a:txBody>
                  <a:tcPr marL="40290" marR="40290" marT="20145" marB="20145" anchor="ctr">
                    <a:lnL w="6350" cap="flat" cmpd="sng" algn="ctr">
                      <a:solidFill>
                        <a:srgbClr val="50F95E"/>
                      </a:solidFill>
                      <a:prstDash val="solid"/>
                      <a:round/>
                      <a:headEnd type="none" w="med" len="med"/>
                      <a:tailEnd type="none" w="med" len="med"/>
                    </a:lnL>
                    <a:lnR w="6350" cap="flat" cmpd="sng" algn="ctr">
                      <a:solidFill>
                        <a:srgbClr val="D0F55E"/>
                      </a:solidFill>
                      <a:prstDash val="solid"/>
                      <a:round/>
                      <a:headEnd type="none" w="med" len="med"/>
                      <a:tailEnd type="none" w="med" len="med"/>
                    </a:lnR>
                    <a:lnT w="6350" cap="flat" cmpd="sng" algn="ctr">
                      <a:solidFill>
                        <a:srgbClr val="50F95E"/>
                      </a:solidFill>
                      <a:prstDash val="solid"/>
                      <a:round/>
                      <a:headEnd type="none" w="med" len="med"/>
                      <a:tailEnd type="none" w="med" len="med"/>
                    </a:lnT>
                    <a:lnB w="6350" cap="flat" cmpd="sng" algn="ctr">
                      <a:solidFill>
                        <a:srgbClr val="D0F55E"/>
                      </a:solidFill>
                      <a:prstDash val="solid"/>
                      <a:round/>
                      <a:headEnd type="none" w="med" len="med"/>
                      <a:tailEnd type="none" w="med" len="med"/>
                    </a:lnB>
                  </a:tcPr>
                </a:tc>
                <a:tc>
                  <a:txBody>
                    <a:bodyPr/>
                    <a:lstStyle/>
                    <a:p>
                      <a:pPr fontAlgn="base" latinLnBrk="0"/>
                      <a:r>
                        <a:rPr lang="en-US" sz="1800" dirty="0">
                          <a:effectLst/>
                          <a:latin typeface="Times New Roman" panose="02020603050405020304" pitchFamily="18" charset="0"/>
                          <a:cs typeface="Times New Roman" panose="02020603050405020304" pitchFamily="18" charset="0"/>
                        </a:rPr>
                        <a:t>Islamic countries (Sharia law), Jewish law, Hindu law in India</a:t>
                      </a:r>
                      <a:r>
                        <a:rPr lang="en-US" sz="1800" b="0" u="none" strike="noStrike" dirty="0">
                          <a:effectLst/>
                          <a:latin typeface="Times New Roman" panose="02020603050405020304" pitchFamily="18" charset="0"/>
                          <a:cs typeface="Times New Roman" panose="02020603050405020304" pitchFamily="18" charset="0"/>
                        </a:rPr>
                        <a:t>.</a:t>
                      </a:r>
                      <a:endParaRPr lang="en-US" sz="1800" dirty="0">
                        <a:effectLst/>
                        <a:latin typeface="Times New Roman" panose="02020603050405020304" pitchFamily="18" charset="0"/>
                        <a:cs typeface="Times New Roman" panose="02020603050405020304" pitchFamily="18" charset="0"/>
                      </a:endParaRPr>
                    </a:p>
                  </a:txBody>
                  <a:tcPr marL="40290" marR="40290" marT="20145" marB="20145" anchor="ctr">
                    <a:lnL w="6350" cap="flat" cmpd="sng" algn="ctr">
                      <a:solidFill>
                        <a:srgbClr val="D0F55E"/>
                      </a:solidFill>
                      <a:prstDash val="solid"/>
                      <a:round/>
                      <a:headEnd type="none" w="med" len="med"/>
                      <a:tailEnd type="none" w="med" len="med"/>
                    </a:lnL>
                    <a:lnR w="6350" cap="flat" cmpd="sng" algn="ctr">
                      <a:solidFill>
                        <a:srgbClr val="D0F55E"/>
                      </a:solidFill>
                      <a:prstDash val="solid"/>
                      <a:round/>
                      <a:headEnd type="none" w="med" len="med"/>
                      <a:tailEnd type="none" w="med" len="med"/>
                    </a:lnR>
                    <a:lnT w="6350" cap="flat" cmpd="sng" algn="ctr">
                      <a:solidFill>
                        <a:srgbClr val="D0F55E"/>
                      </a:solidFill>
                      <a:prstDash val="solid"/>
                      <a:round/>
                      <a:headEnd type="none" w="med" len="med"/>
                      <a:tailEnd type="none" w="med" len="med"/>
                    </a:lnT>
                    <a:lnB w="6350" cap="flat" cmpd="sng" algn="ctr">
                      <a:solidFill>
                        <a:srgbClr val="D0ED5E"/>
                      </a:solidFill>
                      <a:prstDash val="solid"/>
                      <a:round/>
                      <a:headEnd type="none" w="med" len="med"/>
                      <a:tailEnd type="none" w="med" len="med"/>
                    </a:lnB>
                  </a:tcPr>
                </a:tc>
                <a:extLst>
                  <a:ext uri="{0D108BD9-81ED-4DB2-BD59-A6C34878D82A}">
                    <a16:rowId xmlns:a16="http://schemas.microsoft.com/office/drawing/2014/main" val="3080842237"/>
                  </a:ext>
                </a:extLst>
              </a:tr>
              <a:tr h="1115385">
                <a:tc>
                  <a:txBody>
                    <a:bodyPr/>
                    <a:lstStyle/>
                    <a:p>
                      <a:pPr fontAlgn="base" latinLnBrk="0"/>
                      <a:r>
                        <a:rPr lang="en-US" sz="1800" b="0">
                          <a:effectLst/>
                          <a:latin typeface="Times New Roman" panose="02020603050405020304" pitchFamily="18" charset="0"/>
                          <a:cs typeface="Times New Roman" panose="02020603050405020304" pitchFamily="18" charset="0"/>
                        </a:rPr>
                        <a:t>Customary Law</a:t>
                      </a:r>
                      <a:endParaRPr lang="en-US" sz="1800">
                        <a:effectLst/>
                        <a:latin typeface="Times New Roman" panose="02020603050405020304" pitchFamily="18" charset="0"/>
                        <a:cs typeface="Times New Roman" panose="02020603050405020304" pitchFamily="18" charset="0"/>
                      </a:endParaRPr>
                    </a:p>
                  </a:txBody>
                  <a:tcPr marL="40290" marR="40290" marT="20145" marB="20145" anchor="ctr">
                    <a:lnL w="6350" cap="flat" cmpd="sng" algn="ctr">
                      <a:solidFill>
                        <a:srgbClr val="D0F45E"/>
                      </a:solidFill>
                      <a:prstDash val="solid"/>
                      <a:round/>
                      <a:headEnd type="none" w="med" len="med"/>
                      <a:tailEnd type="none" w="med" len="med"/>
                    </a:lnL>
                    <a:lnR w="6350" cap="flat" cmpd="sng" algn="ctr">
                      <a:solidFill>
                        <a:srgbClr val="50EF5E"/>
                      </a:solidFill>
                      <a:prstDash val="solid"/>
                      <a:round/>
                      <a:headEnd type="none" w="med" len="med"/>
                      <a:tailEnd type="none" w="med" len="med"/>
                    </a:lnR>
                    <a:lnT w="6350" cap="flat" cmpd="sng" algn="ctr">
                      <a:solidFill>
                        <a:srgbClr val="D0F45E"/>
                      </a:solidFill>
                      <a:prstDash val="solid"/>
                      <a:round/>
                      <a:headEnd type="none" w="med" len="med"/>
                      <a:tailEnd type="none" w="med" len="med"/>
                    </a:lnT>
                    <a:lnB w="6350" cap="flat" cmpd="sng" algn="ctr">
                      <a:solidFill>
                        <a:srgbClr val="D0E45E"/>
                      </a:solidFill>
                      <a:prstDash val="solid"/>
                      <a:round/>
                      <a:headEnd type="none" w="med" len="med"/>
                      <a:tailEnd type="none" w="med" len="med"/>
                    </a:lnB>
                  </a:tcPr>
                </a:tc>
                <a:tc>
                  <a:txBody>
                    <a:bodyPr/>
                    <a:lstStyle/>
                    <a:p>
                      <a:pPr fontAlgn="base" latinLnBrk="0"/>
                      <a:r>
                        <a:rPr lang="en-US" sz="1800">
                          <a:effectLst/>
                          <a:latin typeface="Times New Roman" panose="02020603050405020304" pitchFamily="18" charset="0"/>
                          <a:cs typeface="Times New Roman" panose="02020603050405020304" pitchFamily="18" charset="0"/>
                        </a:rPr>
                        <a:t>Traditional norms and practices</a:t>
                      </a:r>
                    </a:p>
                  </a:txBody>
                  <a:tcPr marL="40290" marR="40290" marT="20145" marB="20145" anchor="ctr">
                    <a:lnL w="6350" cap="flat" cmpd="sng" algn="ctr">
                      <a:solidFill>
                        <a:srgbClr val="50EF5E"/>
                      </a:solidFill>
                      <a:prstDash val="solid"/>
                      <a:round/>
                      <a:headEnd type="none" w="med" len="med"/>
                      <a:tailEnd type="none" w="med" len="med"/>
                    </a:lnL>
                    <a:lnR w="6350" cap="flat" cmpd="sng" algn="ctr">
                      <a:solidFill>
                        <a:srgbClr val="D0F55E"/>
                      </a:solidFill>
                      <a:prstDash val="solid"/>
                      <a:round/>
                      <a:headEnd type="none" w="med" len="med"/>
                      <a:tailEnd type="none" w="med" len="med"/>
                    </a:lnR>
                    <a:lnT w="6350" cap="flat" cmpd="sng" algn="ctr">
                      <a:solidFill>
                        <a:srgbClr val="50EF5E"/>
                      </a:solidFill>
                      <a:prstDash val="solid"/>
                      <a:round/>
                      <a:headEnd type="none" w="med" len="med"/>
                      <a:tailEnd type="none" w="med" len="med"/>
                    </a:lnT>
                    <a:lnB w="6350" cap="flat" cmpd="sng" algn="ctr">
                      <a:solidFill>
                        <a:srgbClr val="D0F45E"/>
                      </a:solidFill>
                      <a:prstDash val="solid"/>
                      <a:round/>
                      <a:headEnd type="none" w="med" len="med"/>
                      <a:tailEnd type="none" w="med" len="med"/>
                    </a:lnB>
                  </a:tcPr>
                </a:tc>
                <a:tc>
                  <a:txBody>
                    <a:bodyPr/>
                    <a:lstStyle/>
                    <a:p>
                      <a:pPr fontAlgn="base" latinLnBrk="0"/>
                      <a:r>
                        <a:rPr lang="en-US" sz="1800">
                          <a:effectLst/>
                          <a:latin typeface="Times New Roman" panose="02020603050405020304" pitchFamily="18" charset="0"/>
                          <a:cs typeface="Times New Roman" panose="02020603050405020304" pitchFamily="18" charset="0"/>
                        </a:rPr>
                        <a:t>Based on indigenous customs and practices; often unwritten; recognized formally or informally within communities; may coexist with formal legal systems.</a:t>
                      </a:r>
                    </a:p>
                  </a:txBody>
                  <a:tcPr marL="40290" marR="40290" marT="20145" marB="20145" anchor="ctr">
                    <a:lnL w="6350" cap="flat" cmpd="sng" algn="ctr">
                      <a:solidFill>
                        <a:srgbClr val="D0F55E"/>
                      </a:solidFill>
                      <a:prstDash val="solid"/>
                      <a:round/>
                      <a:headEnd type="none" w="med" len="med"/>
                      <a:tailEnd type="none" w="med" len="med"/>
                    </a:lnL>
                    <a:lnR w="6350" cap="flat" cmpd="sng" algn="ctr">
                      <a:solidFill>
                        <a:srgbClr val="D0ED5E"/>
                      </a:solidFill>
                      <a:prstDash val="solid"/>
                      <a:round/>
                      <a:headEnd type="none" w="med" len="med"/>
                      <a:tailEnd type="none" w="med" len="med"/>
                    </a:lnR>
                    <a:lnT w="6350" cap="flat" cmpd="sng" algn="ctr">
                      <a:solidFill>
                        <a:srgbClr val="D0F55E"/>
                      </a:solidFill>
                      <a:prstDash val="solid"/>
                      <a:round/>
                      <a:headEnd type="none" w="med" len="med"/>
                      <a:tailEnd type="none" w="med" len="med"/>
                    </a:lnT>
                    <a:lnB w="6350" cap="flat" cmpd="sng" algn="ctr">
                      <a:solidFill>
                        <a:srgbClr val="D0E75E"/>
                      </a:solidFill>
                      <a:prstDash val="solid"/>
                      <a:round/>
                      <a:headEnd type="none" w="med" len="med"/>
                      <a:tailEnd type="none" w="med" len="med"/>
                    </a:lnB>
                  </a:tcPr>
                </a:tc>
                <a:tc>
                  <a:txBody>
                    <a:bodyPr/>
                    <a:lstStyle/>
                    <a:p>
                      <a:pPr fontAlgn="base" latinLnBrk="0"/>
                      <a:r>
                        <a:rPr lang="en-US" sz="1800" dirty="0">
                          <a:effectLst/>
                          <a:latin typeface="Times New Roman" panose="02020603050405020304" pitchFamily="18" charset="0"/>
                          <a:cs typeface="Times New Roman" panose="02020603050405020304" pitchFamily="18" charset="0"/>
                        </a:rPr>
                        <a:t>Many African, Pacific Island, and indigenous communities worldwide</a:t>
                      </a:r>
                    </a:p>
                  </a:txBody>
                  <a:tcPr marL="40290" marR="40290" marT="20145" marB="20145" anchor="ctr">
                    <a:lnL w="6350" cap="flat" cmpd="sng" algn="ctr">
                      <a:solidFill>
                        <a:srgbClr val="D0ED5E"/>
                      </a:solidFill>
                      <a:prstDash val="solid"/>
                      <a:round/>
                      <a:headEnd type="none" w="med" len="med"/>
                      <a:tailEnd type="none" w="med" len="med"/>
                    </a:lnL>
                    <a:lnR w="6350" cap="flat" cmpd="sng" algn="ctr">
                      <a:solidFill>
                        <a:srgbClr val="D0ED5E"/>
                      </a:solidFill>
                      <a:prstDash val="solid"/>
                      <a:round/>
                      <a:headEnd type="none" w="med" len="med"/>
                      <a:tailEnd type="none" w="med" len="med"/>
                    </a:lnR>
                    <a:lnT w="6350" cap="flat" cmpd="sng" algn="ctr">
                      <a:solidFill>
                        <a:srgbClr val="D0ED5E"/>
                      </a:solidFill>
                      <a:prstDash val="solid"/>
                      <a:round/>
                      <a:headEnd type="none" w="med" len="med"/>
                      <a:tailEnd type="none" w="med" len="med"/>
                    </a:lnT>
                    <a:lnB w="6350" cap="flat" cmpd="sng" algn="ctr">
                      <a:solidFill>
                        <a:srgbClr val="D0FB5E"/>
                      </a:solidFill>
                      <a:prstDash val="solid"/>
                      <a:round/>
                      <a:headEnd type="none" w="med" len="med"/>
                      <a:tailEnd type="none" w="med" len="med"/>
                    </a:lnB>
                  </a:tcPr>
                </a:tc>
                <a:extLst>
                  <a:ext uri="{0D108BD9-81ED-4DB2-BD59-A6C34878D82A}">
                    <a16:rowId xmlns:a16="http://schemas.microsoft.com/office/drawing/2014/main" val="192970792"/>
                  </a:ext>
                </a:extLst>
              </a:tr>
              <a:tr h="963286">
                <a:tc>
                  <a:txBody>
                    <a:bodyPr/>
                    <a:lstStyle/>
                    <a:p>
                      <a:pPr fontAlgn="base" latinLnBrk="0"/>
                      <a:r>
                        <a:rPr lang="en-US" sz="1800" b="0">
                          <a:effectLst/>
                          <a:latin typeface="Times New Roman" panose="02020603050405020304" pitchFamily="18" charset="0"/>
                          <a:cs typeface="Times New Roman" panose="02020603050405020304" pitchFamily="18" charset="0"/>
                        </a:rPr>
                        <a:t>Mixed Systems</a:t>
                      </a:r>
                      <a:endParaRPr lang="en-US" sz="1800">
                        <a:effectLst/>
                        <a:latin typeface="Times New Roman" panose="02020603050405020304" pitchFamily="18" charset="0"/>
                        <a:cs typeface="Times New Roman" panose="02020603050405020304" pitchFamily="18" charset="0"/>
                      </a:endParaRPr>
                    </a:p>
                  </a:txBody>
                  <a:tcPr marL="40290" marR="40290" marT="20145" marB="20145" anchor="ctr">
                    <a:lnL w="6350" cap="flat" cmpd="sng" algn="ctr">
                      <a:solidFill>
                        <a:srgbClr val="D0E45E"/>
                      </a:solidFill>
                      <a:prstDash val="solid"/>
                      <a:round/>
                      <a:headEnd type="none" w="med" len="med"/>
                      <a:tailEnd type="none" w="med" len="med"/>
                    </a:lnL>
                    <a:lnR w="6350" cap="flat" cmpd="sng" algn="ctr">
                      <a:solidFill>
                        <a:srgbClr val="D0F45E"/>
                      </a:solidFill>
                      <a:prstDash val="solid"/>
                      <a:round/>
                      <a:headEnd type="none" w="med" len="med"/>
                      <a:tailEnd type="none" w="med" len="med"/>
                    </a:lnR>
                    <a:lnT w="6350" cap="flat" cmpd="sng" algn="ctr">
                      <a:solidFill>
                        <a:srgbClr val="D0E45E"/>
                      </a:solidFill>
                      <a:prstDash val="solid"/>
                      <a:round/>
                      <a:headEnd type="none" w="med" len="med"/>
                      <a:tailEnd type="none" w="med" len="med"/>
                    </a:lnT>
                    <a:lnB w="6350" cap="flat" cmpd="sng" algn="ctr">
                      <a:solidFill>
                        <a:srgbClr val="D0E45E"/>
                      </a:solidFill>
                      <a:prstDash val="solid"/>
                      <a:round/>
                      <a:headEnd type="none" w="med" len="med"/>
                      <a:tailEnd type="none" w="med" len="med"/>
                    </a:lnB>
                  </a:tcPr>
                </a:tc>
                <a:tc>
                  <a:txBody>
                    <a:bodyPr/>
                    <a:lstStyle/>
                    <a:p>
                      <a:pPr fontAlgn="base" latinLnBrk="0"/>
                      <a:r>
                        <a:rPr lang="en-US" sz="1800">
                          <a:effectLst/>
                          <a:latin typeface="Times New Roman" panose="02020603050405020304" pitchFamily="18" charset="0"/>
                          <a:cs typeface="Times New Roman" panose="02020603050405020304" pitchFamily="18" charset="0"/>
                        </a:rPr>
                        <a:t>Combination of two or more systems</a:t>
                      </a:r>
                    </a:p>
                  </a:txBody>
                  <a:tcPr marL="40290" marR="40290" marT="20145" marB="20145" anchor="ctr">
                    <a:lnL w="6350" cap="flat" cmpd="sng" algn="ctr">
                      <a:solidFill>
                        <a:srgbClr val="D0F45E"/>
                      </a:solidFill>
                      <a:prstDash val="solid"/>
                      <a:round/>
                      <a:headEnd type="none" w="med" len="med"/>
                      <a:tailEnd type="none" w="med" len="med"/>
                    </a:lnL>
                    <a:lnR w="6350" cap="flat" cmpd="sng" algn="ctr">
                      <a:solidFill>
                        <a:srgbClr val="D0E75E"/>
                      </a:solidFill>
                      <a:prstDash val="solid"/>
                      <a:round/>
                      <a:headEnd type="none" w="med" len="med"/>
                      <a:tailEnd type="none" w="med" len="med"/>
                    </a:lnR>
                    <a:lnT w="6350" cap="flat" cmpd="sng" algn="ctr">
                      <a:solidFill>
                        <a:srgbClr val="D0F45E"/>
                      </a:solidFill>
                      <a:prstDash val="solid"/>
                      <a:round/>
                      <a:headEnd type="none" w="med" len="med"/>
                      <a:tailEnd type="none" w="med" len="med"/>
                    </a:lnT>
                    <a:lnB w="6350" cap="flat" cmpd="sng" algn="ctr">
                      <a:solidFill>
                        <a:srgbClr val="D0F45E"/>
                      </a:solidFill>
                      <a:prstDash val="solid"/>
                      <a:round/>
                      <a:headEnd type="none" w="med" len="med"/>
                      <a:tailEnd type="none" w="med" len="med"/>
                    </a:lnB>
                  </a:tcPr>
                </a:tc>
                <a:tc>
                  <a:txBody>
                    <a:bodyPr/>
                    <a:lstStyle/>
                    <a:p>
                      <a:pPr fontAlgn="base" latinLnBrk="0"/>
                      <a:r>
                        <a:rPr lang="en-US" sz="1800" dirty="0">
                          <a:effectLst/>
                          <a:latin typeface="Times New Roman" panose="02020603050405020304" pitchFamily="18" charset="0"/>
                          <a:cs typeface="Times New Roman" panose="02020603050405020304" pitchFamily="18" charset="0"/>
                        </a:rPr>
                        <a:t>Legal systems that blend civil, common, religious, and customary laws, often reflecting colonial histories and local traditions.</a:t>
                      </a:r>
                    </a:p>
                  </a:txBody>
                  <a:tcPr marL="40290" marR="40290" marT="20145" marB="20145" anchor="ctr">
                    <a:lnL w="6350" cap="flat" cmpd="sng" algn="ctr">
                      <a:solidFill>
                        <a:srgbClr val="D0E75E"/>
                      </a:solidFill>
                      <a:prstDash val="solid"/>
                      <a:round/>
                      <a:headEnd type="none" w="med" len="med"/>
                      <a:tailEnd type="none" w="med" len="med"/>
                    </a:lnL>
                    <a:lnR w="6350" cap="flat" cmpd="sng" algn="ctr">
                      <a:solidFill>
                        <a:srgbClr val="D0FB5E"/>
                      </a:solidFill>
                      <a:prstDash val="solid"/>
                      <a:round/>
                      <a:headEnd type="none" w="med" len="med"/>
                      <a:tailEnd type="none" w="med" len="med"/>
                    </a:lnR>
                    <a:lnT w="6350" cap="flat" cmpd="sng" algn="ctr">
                      <a:solidFill>
                        <a:srgbClr val="D0E75E"/>
                      </a:solidFill>
                      <a:prstDash val="solid"/>
                      <a:round/>
                      <a:headEnd type="none" w="med" len="med"/>
                      <a:tailEnd type="none" w="med" len="med"/>
                    </a:lnT>
                    <a:lnB w="6350" cap="flat" cmpd="sng" algn="ctr">
                      <a:solidFill>
                        <a:srgbClr val="D0E75E"/>
                      </a:solidFill>
                      <a:prstDash val="solid"/>
                      <a:round/>
                      <a:headEnd type="none" w="med" len="med"/>
                      <a:tailEnd type="none" w="med" len="med"/>
                    </a:lnB>
                  </a:tcPr>
                </a:tc>
                <a:tc>
                  <a:txBody>
                    <a:bodyPr/>
                    <a:lstStyle/>
                    <a:p>
                      <a:pPr fontAlgn="base" latinLnBrk="0"/>
                      <a:r>
                        <a:rPr lang="en-US" sz="1800" dirty="0">
                          <a:effectLst/>
                          <a:latin typeface="Times New Roman" panose="02020603050405020304" pitchFamily="18" charset="0"/>
                          <a:cs typeface="Times New Roman" panose="02020603050405020304" pitchFamily="18" charset="0"/>
                        </a:rPr>
                        <a:t>South Africa, Scotland, Louisiana (U.S.), Israel, Philippines</a:t>
                      </a:r>
                    </a:p>
                  </a:txBody>
                  <a:tcPr marL="40290" marR="40290" marT="20145" marB="20145" anchor="ctr">
                    <a:lnL w="6350" cap="flat" cmpd="sng" algn="ctr">
                      <a:solidFill>
                        <a:srgbClr val="D0FB5E"/>
                      </a:solidFill>
                      <a:prstDash val="solid"/>
                      <a:round/>
                      <a:headEnd type="none" w="med" len="med"/>
                      <a:tailEnd type="none" w="med" len="med"/>
                    </a:lnL>
                    <a:lnR w="6350" cap="flat" cmpd="sng" algn="ctr">
                      <a:solidFill>
                        <a:srgbClr val="D0FB5E"/>
                      </a:solidFill>
                      <a:prstDash val="solid"/>
                      <a:round/>
                      <a:headEnd type="none" w="med" len="med"/>
                      <a:tailEnd type="none" w="med" len="med"/>
                    </a:lnR>
                    <a:lnT w="6350" cap="flat" cmpd="sng" algn="ctr">
                      <a:solidFill>
                        <a:srgbClr val="D0FB5E"/>
                      </a:solidFill>
                      <a:prstDash val="solid"/>
                      <a:round/>
                      <a:headEnd type="none" w="med" len="med"/>
                      <a:tailEnd type="none" w="med" len="med"/>
                    </a:lnT>
                    <a:lnB w="6350" cap="flat" cmpd="sng" algn="ctr">
                      <a:solidFill>
                        <a:srgbClr val="D0FB5E"/>
                      </a:solidFill>
                      <a:prstDash val="solid"/>
                      <a:round/>
                      <a:headEnd type="none" w="med" len="med"/>
                      <a:tailEnd type="none" w="med" len="med"/>
                    </a:lnB>
                  </a:tcPr>
                </a:tc>
                <a:extLst>
                  <a:ext uri="{0D108BD9-81ED-4DB2-BD59-A6C34878D82A}">
                    <a16:rowId xmlns:a16="http://schemas.microsoft.com/office/drawing/2014/main" val="112825310"/>
                  </a:ext>
                </a:extLst>
              </a:tr>
            </a:tbl>
          </a:graphicData>
        </a:graphic>
      </p:graphicFrame>
    </p:spTree>
    <p:extLst>
      <p:ext uri="{BB962C8B-B14F-4D97-AF65-F5344CB8AC3E}">
        <p14:creationId xmlns:p14="http://schemas.microsoft.com/office/powerpoint/2010/main" val="4017669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7080" y="243205"/>
            <a:ext cx="10515600" cy="630555"/>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Key Differences Among Legal Systems</a:t>
            </a:r>
          </a:p>
        </p:txBody>
      </p:sp>
      <p:sp>
        <p:nvSpPr>
          <p:cNvPr id="3" name="Content Placeholder 2"/>
          <p:cNvSpPr>
            <a:spLocks noGrp="1"/>
          </p:cNvSpPr>
          <p:nvPr>
            <p:ph idx="1"/>
          </p:nvPr>
        </p:nvSpPr>
        <p:spPr>
          <a:xfrm>
            <a:off x="375920" y="1097280"/>
            <a:ext cx="11643360" cy="5079683"/>
          </a:xfrm>
        </p:spPr>
        <p:txBody>
          <a:bodyPr>
            <a:normAutofit fontScale="92500" lnSpcReduction="10000"/>
          </a:bodyPr>
          <a:lstStyle/>
          <a:p>
            <a:pPr algn="just"/>
            <a:r>
              <a:rPr lang="en-US" b="1" dirty="0">
                <a:latin typeface="Times New Roman" panose="02020603050405020304" pitchFamily="18" charset="0"/>
                <a:cs typeface="Times New Roman" panose="02020603050405020304" pitchFamily="18" charset="0"/>
              </a:rPr>
              <a:t>Sources of Law</a:t>
            </a:r>
            <a:r>
              <a:rPr lang="en-US" dirty="0">
                <a:latin typeface="Times New Roman" panose="02020603050405020304" pitchFamily="18" charset="0"/>
                <a:cs typeface="Times New Roman" panose="02020603050405020304" pitchFamily="18" charset="0"/>
              </a:rPr>
              <a:t>: Civil law relies heavily on codified statutes; common law emphasizes judicial precedents; religious law is based on sacred texts; customary law depends on traditional practices.</a:t>
            </a:r>
          </a:p>
          <a:p>
            <a:pPr algn="just"/>
            <a:r>
              <a:rPr lang="en-US" b="1" dirty="0">
                <a:latin typeface="Times New Roman" panose="02020603050405020304" pitchFamily="18" charset="0"/>
                <a:cs typeface="Times New Roman" panose="02020603050405020304" pitchFamily="18" charset="0"/>
              </a:rPr>
              <a:t>Role of Judges</a:t>
            </a:r>
            <a:r>
              <a:rPr lang="en-US" dirty="0">
                <a:latin typeface="Times New Roman" panose="02020603050405020304" pitchFamily="18" charset="0"/>
                <a:cs typeface="Times New Roman" panose="02020603050405020304" pitchFamily="18" charset="0"/>
              </a:rPr>
              <a:t>: Judges in common law systems actively interpret and create law through case decisions; in civil law systems, judges apply codified laws with less discretion.</a:t>
            </a:r>
          </a:p>
          <a:p>
            <a:pPr algn="just"/>
            <a:r>
              <a:rPr lang="en-US" b="1" dirty="0">
                <a:latin typeface="Times New Roman" panose="02020603050405020304" pitchFamily="18" charset="0"/>
                <a:cs typeface="Times New Roman" panose="02020603050405020304" pitchFamily="18" charset="0"/>
              </a:rPr>
              <a:t>Legal Procedures:</a:t>
            </a:r>
            <a:r>
              <a:rPr lang="en-US" dirty="0">
                <a:latin typeface="Times New Roman" panose="02020603050405020304" pitchFamily="18" charset="0"/>
                <a:cs typeface="Times New Roman" panose="02020603050405020304" pitchFamily="18" charset="0"/>
              </a:rPr>
              <a:t> Civil law systems often follow inquisitorial procedures, while common law systems use adversarial procedures.</a:t>
            </a:r>
          </a:p>
          <a:p>
            <a:pPr algn="just"/>
            <a:r>
              <a:rPr lang="en-US" b="1" dirty="0">
                <a:latin typeface="Times New Roman" panose="02020603050405020304" pitchFamily="18" charset="0"/>
                <a:cs typeface="Times New Roman" panose="02020603050405020304" pitchFamily="18" charset="0"/>
              </a:rPr>
              <a:t>Precedent:</a:t>
            </a:r>
            <a:r>
              <a:rPr lang="en-US" dirty="0">
                <a:latin typeface="Times New Roman" panose="02020603050405020304" pitchFamily="18" charset="0"/>
                <a:cs typeface="Times New Roman" panose="02020603050405020304" pitchFamily="18" charset="0"/>
              </a:rPr>
              <a:t> Binding precedent (stare decisis) is fundamental in common law but less so in civil law, where codes prevail.</a:t>
            </a:r>
          </a:p>
          <a:p>
            <a:pPr algn="just"/>
            <a:r>
              <a:rPr lang="en-US" b="1" dirty="0">
                <a:latin typeface="Times New Roman" panose="02020603050405020304" pitchFamily="18" charset="0"/>
                <a:cs typeface="Times New Roman" panose="02020603050405020304" pitchFamily="18" charset="0"/>
              </a:rPr>
              <a:t>Flexibility and Adaptation:</a:t>
            </a:r>
            <a:r>
              <a:rPr lang="en-US" dirty="0">
                <a:latin typeface="Times New Roman" panose="02020603050405020304" pitchFamily="18" charset="0"/>
                <a:cs typeface="Times New Roman" panose="02020603050405020304" pitchFamily="18" charset="0"/>
              </a:rPr>
              <a:t> Common law’s case-based system allows for gradual evolution; civil law’s codified nature provides predictability but can be slower to adapt.</a:t>
            </a:r>
          </a:p>
        </p:txBody>
      </p:sp>
    </p:spTree>
    <p:extLst>
      <p:ext uri="{BB962C8B-B14F-4D97-AF65-F5344CB8AC3E}">
        <p14:creationId xmlns:p14="http://schemas.microsoft.com/office/powerpoint/2010/main" val="9505164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82955"/>
          </a:xfrm>
        </p:spPr>
        <p:txBody>
          <a:bodyPr/>
          <a:lstStyle/>
          <a:p>
            <a:pPr algn="ctr"/>
            <a:r>
              <a:rPr lang="en-US" b="1" dirty="0">
                <a:latin typeface="Times New Roman" panose="02020603050405020304" pitchFamily="18" charset="0"/>
                <a:cs typeface="Times New Roman" panose="02020603050405020304" pitchFamily="18" charset="0"/>
              </a:rPr>
              <a:t>Similarities Across Legal Systems</a:t>
            </a:r>
          </a:p>
        </p:txBody>
      </p:sp>
      <p:sp>
        <p:nvSpPr>
          <p:cNvPr id="3" name="Content Placeholder 2"/>
          <p:cNvSpPr>
            <a:spLocks noGrp="1"/>
          </p:cNvSpPr>
          <p:nvPr>
            <p:ph idx="1"/>
          </p:nvPr>
        </p:nvSpPr>
        <p:spPr>
          <a:xfrm>
            <a:off x="579120" y="1422400"/>
            <a:ext cx="11348720" cy="4754563"/>
          </a:xfrm>
        </p:spPr>
        <p:txBody>
          <a:bodyPr>
            <a:normAutofit/>
          </a:bodyPr>
          <a:lstStyle/>
          <a:p>
            <a:pPr algn="just"/>
            <a:r>
              <a:rPr lang="en-US" b="1" dirty="0">
                <a:latin typeface="Times New Roman" panose="02020603050405020304" pitchFamily="18" charset="0"/>
                <a:cs typeface="Times New Roman" panose="02020603050405020304" pitchFamily="18" charset="0"/>
              </a:rPr>
              <a:t>Fundamental Legal Concepts:</a:t>
            </a:r>
            <a:r>
              <a:rPr lang="en-US" dirty="0">
                <a:latin typeface="Times New Roman" panose="02020603050405020304" pitchFamily="18" charset="0"/>
                <a:cs typeface="Times New Roman" panose="02020603050405020304" pitchFamily="18" charset="0"/>
              </a:rPr>
              <a:t> Despite differences, most systems recognize basic legal principles such as rights, duties, contracts, and property.</a:t>
            </a:r>
          </a:p>
          <a:p>
            <a:pPr algn="just"/>
            <a:r>
              <a:rPr lang="en-US" b="1" dirty="0">
                <a:latin typeface="Times New Roman" panose="02020603050405020304" pitchFamily="18" charset="0"/>
                <a:cs typeface="Times New Roman" panose="02020603050405020304" pitchFamily="18" charset="0"/>
              </a:rPr>
              <a:t>Rule of Law: </a:t>
            </a:r>
            <a:r>
              <a:rPr lang="en-US" dirty="0">
                <a:latin typeface="Times New Roman" panose="02020603050405020304" pitchFamily="18" charset="0"/>
                <a:cs typeface="Times New Roman" panose="02020603050405020304" pitchFamily="18" charset="0"/>
              </a:rPr>
              <a:t>All major legal systems uphold the principle that laws govern society and that no one is above the law.</a:t>
            </a:r>
          </a:p>
          <a:p>
            <a:pPr algn="just"/>
            <a:r>
              <a:rPr lang="en-US" b="1" dirty="0">
                <a:latin typeface="Times New Roman" panose="02020603050405020304" pitchFamily="18" charset="0"/>
                <a:cs typeface="Times New Roman" panose="02020603050405020304" pitchFamily="18" charset="0"/>
              </a:rPr>
              <a:t>Legal Institutions:</a:t>
            </a:r>
            <a:r>
              <a:rPr lang="en-US" dirty="0">
                <a:latin typeface="Times New Roman" panose="02020603050405020304" pitchFamily="18" charset="0"/>
                <a:cs typeface="Times New Roman" panose="02020603050405020304" pitchFamily="18" charset="0"/>
              </a:rPr>
              <a:t> Most systems have courts, legislatures, and enforcement agencies, though their structures and functions may vary.</a:t>
            </a:r>
          </a:p>
          <a:p>
            <a:pPr algn="just"/>
            <a:r>
              <a:rPr lang="en-US" b="1" dirty="0">
                <a:latin typeface="Times New Roman" panose="02020603050405020304" pitchFamily="18" charset="0"/>
                <a:cs typeface="Times New Roman" panose="02020603050405020304" pitchFamily="18" charset="0"/>
              </a:rPr>
              <a:t>Influence and Cross-Pollination:</a:t>
            </a:r>
            <a:r>
              <a:rPr lang="en-US" dirty="0">
                <a:latin typeface="Times New Roman" panose="02020603050405020304" pitchFamily="18" charset="0"/>
                <a:cs typeface="Times New Roman" panose="02020603050405020304" pitchFamily="18" charset="0"/>
              </a:rPr>
              <a:t> Many legal systems have influenced each other historically, leading to borrowing and hybridization (e.g., civil law influences in Japan and Latin America; common law elements in mixed systems).</a:t>
            </a:r>
          </a:p>
        </p:txBody>
      </p:sp>
    </p:spTree>
    <p:extLst>
      <p:ext uri="{BB962C8B-B14F-4D97-AF65-F5344CB8AC3E}">
        <p14:creationId xmlns:p14="http://schemas.microsoft.com/office/powerpoint/2010/main" val="20234129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84555"/>
          </a:xfrm>
        </p:spPr>
        <p:txBody>
          <a:bodyPr/>
          <a:lstStyle/>
          <a:p>
            <a:pPr algn="ctr"/>
            <a:r>
              <a:rPr lang="en-US" b="1" dirty="0">
                <a:latin typeface="Times New Roman" panose="02020603050405020304" pitchFamily="18" charset="0"/>
                <a:cs typeface="Times New Roman" panose="02020603050405020304" pitchFamily="18" charset="0"/>
              </a:rPr>
              <a:t>Conclusion </a:t>
            </a:r>
          </a:p>
        </p:txBody>
      </p:sp>
      <p:sp>
        <p:nvSpPr>
          <p:cNvPr id="3" name="Content Placeholder 2"/>
          <p:cNvSpPr>
            <a:spLocks noGrp="1"/>
          </p:cNvSpPr>
          <p:nvPr>
            <p:ph idx="1"/>
          </p:nvPr>
        </p:nvSpPr>
        <p:spPr>
          <a:xfrm>
            <a:off x="467360" y="1595120"/>
            <a:ext cx="11308080" cy="4581843"/>
          </a:xfrm>
        </p:spPr>
        <p:txBody>
          <a:bodyPr>
            <a:normAutofit/>
          </a:bodyPr>
          <a:lstStyle/>
          <a:p>
            <a:pPr algn="just"/>
            <a:r>
              <a:rPr lang="en-US" dirty="0">
                <a:latin typeface="Times New Roman" panose="02020603050405020304" pitchFamily="18" charset="0"/>
                <a:cs typeface="Times New Roman" panose="02020603050405020304" pitchFamily="18" charset="0"/>
              </a:rPr>
              <a:t>While legal systems differ in their origins, sources, and methods, they share core goals of regulating society, resolving disputes, and maintaining order. </a:t>
            </a:r>
          </a:p>
          <a:p>
            <a:pPr algn="just"/>
            <a:r>
              <a:rPr lang="en-US" dirty="0">
                <a:latin typeface="Times New Roman" panose="02020603050405020304" pitchFamily="18" charset="0"/>
                <a:cs typeface="Times New Roman" panose="02020603050405020304" pitchFamily="18" charset="0"/>
              </a:rPr>
              <a:t>The two dominant families are civil law, characterized by codification and statutory rules, and common law, distinguished by judicial precedent and case law development. </a:t>
            </a:r>
          </a:p>
          <a:p>
            <a:pPr algn="just"/>
            <a:r>
              <a:rPr lang="en-US" dirty="0">
                <a:latin typeface="Times New Roman" panose="02020603050405020304" pitchFamily="18" charset="0"/>
                <a:cs typeface="Times New Roman" panose="02020603050405020304" pitchFamily="18" charset="0"/>
              </a:rPr>
              <a:t>Religious and customary laws continue to play vital roles in many regions, often blending with civil or common law traditions to form mixed legal systems. </a:t>
            </a:r>
          </a:p>
          <a:p>
            <a:pPr algn="just"/>
            <a:r>
              <a:rPr lang="en-US" dirty="0">
                <a:latin typeface="Times New Roman" panose="02020603050405020304" pitchFamily="18" charset="0"/>
                <a:cs typeface="Times New Roman" panose="02020603050405020304" pitchFamily="18" charset="0"/>
              </a:rPr>
              <a:t>Understanding these differences and similarities is essential for comparative law, international legal practice, and global cooperation</a:t>
            </a:r>
          </a:p>
        </p:txBody>
      </p:sp>
    </p:spTree>
    <p:extLst>
      <p:ext uri="{BB962C8B-B14F-4D97-AF65-F5344CB8AC3E}">
        <p14:creationId xmlns:p14="http://schemas.microsoft.com/office/powerpoint/2010/main" val="23322790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687</Words>
  <Application>Microsoft Office PowerPoint</Application>
  <PresentationFormat>Widescreen</PresentationFormat>
  <Paragraphs>45</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Times New Roman</vt:lpstr>
      <vt:lpstr>Office Theme</vt:lpstr>
      <vt:lpstr>Differences and Similarities Among Legal Systems Around the World</vt:lpstr>
      <vt:lpstr>Differences and Similarities Among Legal Systems Around the World</vt:lpstr>
      <vt:lpstr>Major Legal Systems and Their Characteristics</vt:lpstr>
      <vt:lpstr>Key Differences Among Legal Systems</vt:lpstr>
      <vt:lpstr>Similarities Across Legal Systems</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Differences and Similarities Among Legal Systems Around the World</dc:title>
  <dc:creator>USER</dc:creator>
  <cp:lastModifiedBy>Ravi Silwal</cp:lastModifiedBy>
  <cp:revision>1</cp:revision>
  <dcterms:created xsi:type="dcterms:W3CDTF">2025-06-03T17:35:21Z</dcterms:created>
  <dcterms:modified xsi:type="dcterms:W3CDTF">2025-06-04T00:38:56Z</dcterms:modified>
</cp:coreProperties>
</file>