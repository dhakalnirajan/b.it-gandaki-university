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58"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7" d="100"/>
          <a:sy n="77" d="100"/>
        </p:scale>
        <p:origin x="80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BA266E4-8252-4AB9-B0C7-84C44981E68E}" type="datetimeFigureOut">
              <a:rPr lang="en-US" smtClean="0"/>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72CF0E-E958-4227-ADF3-1CA25D1BE2ED}" type="slidenum">
              <a:rPr lang="en-US" smtClean="0"/>
              <a:t>‹#›</a:t>
            </a:fld>
            <a:endParaRPr lang="en-US"/>
          </a:p>
        </p:txBody>
      </p:sp>
    </p:spTree>
    <p:extLst>
      <p:ext uri="{BB962C8B-B14F-4D97-AF65-F5344CB8AC3E}">
        <p14:creationId xmlns:p14="http://schemas.microsoft.com/office/powerpoint/2010/main" val="10257679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A266E4-8252-4AB9-B0C7-84C44981E68E}" type="datetimeFigureOut">
              <a:rPr lang="en-US" smtClean="0"/>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72CF0E-E958-4227-ADF3-1CA25D1BE2ED}" type="slidenum">
              <a:rPr lang="en-US" smtClean="0"/>
              <a:t>‹#›</a:t>
            </a:fld>
            <a:endParaRPr lang="en-US"/>
          </a:p>
        </p:txBody>
      </p:sp>
    </p:spTree>
    <p:extLst>
      <p:ext uri="{BB962C8B-B14F-4D97-AF65-F5344CB8AC3E}">
        <p14:creationId xmlns:p14="http://schemas.microsoft.com/office/powerpoint/2010/main" val="33708473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BA266E4-8252-4AB9-B0C7-84C44981E68E}" type="datetimeFigureOut">
              <a:rPr lang="en-US" smtClean="0"/>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72CF0E-E958-4227-ADF3-1CA25D1BE2ED}" type="slidenum">
              <a:rPr lang="en-US" smtClean="0"/>
              <a:t>‹#›</a:t>
            </a:fld>
            <a:endParaRPr lang="en-US"/>
          </a:p>
        </p:txBody>
      </p:sp>
    </p:spTree>
    <p:extLst>
      <p:ext uri="{BB962C8B-B14F-4D97-AF65-F5344CB8AC3E}">
        <p14:creationId xmlns:p14="http://schemas.microsoft.com/office/powerpoint/2010/main" val="10403401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BA266E4-8252-4AB9-B0C7-84C44981E68E}" type="datetimeFigureOut">
              <a:rPr lang="en-US" smtClean="0"/>
              <a:t>6/9/2025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72CF0E-E958-4227-ADF3-1CA25D1BE2ED}" type="slidenum">
              <a:rPr lang="en-US" smtClean="0"/>
              <a:t>‹#›</a:t>
            </a:fld>
            <a:endParaRPr lang="en-US"/>
          </a:p>
        </p:txBody>
      </p:sp>
    </p:spTree>
    <p:extLst>
      <p:ext uri="{BB962C8B-B14F-4D97-AF65-F5344CB8AC3E}">
        <p14:creationId xmlns:p14="http://schemas.microsoft.com/office/powerpoint/2010/main" val="3112933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BA266E4-8252-4AB9-B0C7-84C44981E68E}" type="datetimeFigureOut">
              <a:rPr lang="en-US" smtClean="0"/>
              <a:t>6/9/2025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F72CF0E-E958-4227-ADF3-1CA25D1BE2ED}" type="slidenum">
              <a:rPr lang="en-US" smtClean="0"/>
              <a:t>‹#›</a:t>
            </a:fld>
            <a:endParaRPr lang="en-US"/>
          </a:p>
        </p:txBody>
      </p:sp>
    </p:spTree>
    <p:extLst>
      <p:ext uri="{BB962C8B-B14F-4D97-AF65-F5344CB8AC3E}">
        <p14:creationId xmlns:p14="http://schemas.microsoft.com/office/powerpoint/2010/main" val="4046063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BA266E4-8252-4AB9-B0C7-84C44981E68E}" type="datetimeFigureOut">
              <a:rPr lang="en-US" smtClean="0"/>
              <a:t>6/9/2025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F72CF0E-E958-4227-ADF3-1CA25D1BE2ED}" type="slidenum">
              <a:rPr lang="en-US" smtClean="0"/>
              <a:t>‹#›</a:t>
            </a:fld>
            <a:endParaRPr lang="en-US"/>
          </a:p>
        </p:txBody>
      </p:sp>
    </p:spTree>
    <p:extLst>
      <p:ext uri="{BB962C8B-B14F-4D97-AF65-F5344CB8AC3E}">
        <p14:creationId xmlns:p14="http://schemas.microsoft.com/office/powerpoint/2010/main" val="14267627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A266E4-8252-4AB9-B0C7-84C44981E68E}" type="datetimeFigureOut">
              <a:rPr lang="en-US" smtClean="0"/>
              <a:t>6/9/2025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F72CF0E-E958-4227-ADF3-1CA25D1BE2ED}" type="slidenum">
              <a:rPr lang="en-US" smtClean="0"/>
              <a:t>‹#›</a:t>
            </a:fld>
            <a:endParaRPr lang="en-US"/>
          </a:p>
        </p:txBody>
      </p:sp>
    </p:spTree>
    <p:extLst>
      <p:ext uri="{BB962C8B-B14F-4D97-AF65-F5344CB8AC3E}">
        <p14:creationId xmlns:p14="http://schemas.microsoft.com/office/powerpoint/2010/main" val="4589494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BA266E4-8252-4AB9-B0C7-84C44981E68E}" type="datetimeFigureOut">
              <a:rPr lang="en-US" smtClean="0"/>
              <a:t>6/9/2025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72CF0E-E958-4227-ADF3-1CA25D1BE2ED}" type="slidenum">
              <a:rPr lang="en-US" smtClean="0"/>
              <a:t>‹#›</a:t>
            </a:fld>
            <a:endParaRPr lang="en-US"/>
          </a:p>
        </p:txBody>
      </p:sp>
    </p:spTree>
    <p:extLst>
      <p:ext uri="{BB962C8B-B14F-4D97-AF65-F5344CB8AC3E}">
        <p14:creationId xmlns:p14="http://schemas.microsoft.com/office/powerpoint/2010/main" val="6690590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BA266E4-8252-4AB9-B0C7-84C44981E68E}" type="datetimeFigureOut">
              <a:rPr lang="en-US" smtClean="0"/>
              <a:t>6/9/2025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F72CF0E-E958-4227-ADF3-1CA25D1BE2ED}" type="slidenum">
              <a:rPr lang="en-US" smtClean="0"/>
              <a:t>‹#›</a:t>
            </a:fld>
            <a:endParaRPr lang="en-US"/>
          </a:p>
        </p:txBody>
      </p:sp>
    </p:spTree>
    <p:extLst>
      <p:ext uri="{BB962C8B-B14F-4D97-AF65-F5344CB8AC3E}">
        <p14:creationId xmlns:p14="http://schemas.microsoft.com/office/powerpoint/2010/main" val="3988450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A266E4-8252-4AB9-B0C7-84C44981E68E}" type="datetimeFigureOut">
              <a:rPr lang="en-US" smtClean="0"/>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72CF0E-E958-4227-ADF3-1CA25D1BE2ED}" type="slidenum">
              <a:rPr lang="en-US" smtClean="0"/>
              <a:t>‹#›</a:t>
            </a:fld>
            <a:endParaRPr lang="en-US"/>
          </a:p>
        </p:txBody>
      </p:sp>
    </p:spTree>
    <p:extLst>
      <p:ext uri="{BB962C8B-B14F-4D97-AF65-F5344CB8AC3E}">
        <p14:creationId xmlns:p14="http://schemas.microsoft.com/office/powerpoint/2010/main" val="2383567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BA266E4-8252-4AB9-B0C7-84C44981E68E}" type="datetimeFigureOut">
              <a:rPr lang="en-US" smtClean="0"/>
              <a:t>6/9/2025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F72CF0E-E958-4227-ADF3-1CA25D1BE2ED}" type="slidenum">
              <a:rPr lang="en-US" smtClean="0"/>
              <a:t>‹#›</a:t>
            </a:fld>
            <a:endParaRPr lang="en-US"/>
          </a:p>
        </p:txBody>
      </p:sp>
    </p:spTree>
    <p:extLst>
      <p:ext uri="{BB962C8B-B14F-4D97-AF65-F5344CB8AC3E}">
        <p14:creationId xmlns:p14="http://schemas.microsoft.com/office/powerpoint/2010/main" val="3473077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A266E4-8252-4AB9-B0C7-84C44981E68E}" type="datetimeFigureOut">
              <a:rPr lang="en-US" smtClean="0"/>
              <a:t>6/9/2025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72CF0E-E958-4227-ADF3-1CA25D1BE2ED}" type="slidenum">
              <a:rPr lang="en-US" smtClean="0"/>
              <a:t>‹#›</a:t>
            </a:fld>
            <a:endParaRPr lang="en-US"/>
          </a:p>
        </p:txBody>
      </p:sp>
    </p:spTree>
    <p:extLst>
      <p:ext uri="{BB962C8B-B14F-4D97-AF65-F5344CB8AC3E}">
        <p14:creationId xmlns:p14="http://schemas.microsoft.com/office/powerpoint/2010/main" val="27999129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21360" y="1752283"/>
            <a:ext cx="10474960" cy="2387600"/>
          </a:xfrm>
        </p:spPr>
        <p:txBody>
          <a:bodyPr>
            <a:normAutofit fontScale="90000"/>
          </a:bodyPr>
          <a:lstStyle/>
          <a:p>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The role of international law in governing IT and society</a:t>
            </a:r>
          </a:p>
        </p:txBody>
      </p:sp>
    </p:spTree>
    <p:extLst>
      <p:ext uri="{BB962C8B-B14F-4D97-AF65-F5344CB8AC3E}">
        <p14:creationId xmlns:p14="http://schemas.microsoft.com/office/powerpoint/2010/main" val="1117706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360" y="233680"/>
            <a:ext cx="10515600" cy="863600"/>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Roles of International Law in IT and Society</a:t>
            </a:r>
          </a:p>
        </p:txBody>
      </p:sp>
      <p:sp>
        <p:nvSpPr>
          <p:cNvPr id="3" name="Content Placeholder 2"/>
          <p:cNvSpPr>
            <a:spLocks noGrp="1"/>
          </p:cNvSpPr>
          <p:nvPr>
            <p:ph idx="1"/>
          </p:nvPr>
        </p:nvSpPr>
        <p:spPr>
          <a:xfrm>
            <a:off x="294640" y="1226184"/>
            <a:ext cx="11490960" cy="5448935"/>
          </a:xfrm>
        </p:spPr>
        <p:txBody>
          <a:bodyPr>
            <a:noAutofit/>
          </a:bodyPr>
          <a:lstStyle/>
          <a:p>
            <a:pPr marL="0" indent="0" algn="just">
              <a:buNone/>
            </a:pPr>
            <a:r>
              <a:rPr lang="en-US" sz="2400" dirty="0">
                <a:latin typeface="Times New Roman" panose="02020603050405020304" pitchFamily="18" charset="0"/>
                <a:cs typeface="Times New Roman" panose="02020603050405020304" pitchFamily="18" charset="0"/>
              </a:rPr>
              <a:t>International law plays a crucial and evolving role in governing information technology (IT) and its impact on society by providing a framework for cooperation, norm-setting, and regulation in the digital domain. As digital technologies such as artificial intelligence, big data, and cyberspace increasingly shape global interactions, international law seeks to address the challenges and opportunities they present.</a:t>
            </a:r>
          </a:p>
          <a:p>
            <a:pPr marL="0" indent="0" algn="just">
              <a:buNone/>
            </a:pPr>
            <a:r>
              <a:rPr lang="en-US" sz="2400" b="1" dirty="0">
                <a:latin typeface="Times New Roman" panose="02020603050405020304" pitchFamily="18" charset="0"/>
                <a:cs typeface="Times New Roman" panose="02020603050405020304" pitchFamily="18" charset="0"/>
              </a:rPr>
              <a:t>Roles of International Law in IT and Society</a:t>
            </a:r>
          </a:p>
          <a:p>
            <a:pPr marL="457200" indent="-457200" algn="just">
              <a:buAutoNum type="arabicPeriod"/>
            </a:pPr>
            <a:r>
              <a:rPr lang="en-US" sz="2400" b="1" dirty="0">
                <a:latin typeface="Times New Roman" panose="02020603050405020304" pitchFamily="18" charset="0"/>
                <a:cs typeface="Times New Roman" panose="02020603050405020304" pitchFamily="18" charset="0"/>
              </a:rPr>
              <a:t>Applying Existing International Law to Digital Domains</a:t>
            </a:r>
            <a:endParaRPr lang="en-US" sz="24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International law principles—such as sovereignty, human rights, international humanitarian law, and trade law—apply to digital data and cyberspace. For example, human rights law protects privacy, freedom of expression, and access to information in the digital environment.</a:t>
            </a:r>
          </a:p>
          <a:p>
            <a:pPr lvl="1"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International humanitarian law governs cyber operations during armed conflict. However, the application of these laws to digital contexts often involves complex interpretation and ongoing debate, especially regarding state responsibility, attribution of cyberattacks, and the use of force in cyberspace.</a:t>
            </a:r>
          </a:p>
        </p:txBody>
      </p:sp>
    </p:spTree>
    <p:extLst>
      <p:ext uri="{BB962C8B-B14F-4D97-AF65-F5344CB8AC3E}">
        <p14:creationId xmlns:p14="http://schemas.microsoft.com/office/powerpoint/2010/main" val="26532519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8360" y="233680"/>
            <a:ext cx="10515600" cy="1036320"/>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Roles of International Law in IT and Society</a:t>
            </a:r>
          </a:p>
        </p:txBody>
      </p:sp>
      <p:sp>
        <p:nvSpPr>
          <p:cNvPr id="3" name="Content Placeholder 2"/>
          <p:cNvSpPr>
            <a:spLocks noGrp="1"/>
          </p:cNvSpPr>
          <p:nvPr>
            <p:ph idx="1"/>
          </p:nvPr>
        </p:nvSpPr>
        <p:spPr>
          <a:xfrm>
            <a:off x="386080" y="1551305"/>
            <a:ext cx="11440160" cy="5306695"/>
          </a:xfrm>
        </p:spPr>
        <p:txBody>
          <a:bodyPr>
            <a:noAutofit/>
          </a:bodyPr>
          <a:lstStyle/>
          <a:p>
            <a:pPr marL="0" indent="0" algn="just">
              <a:buNone/>
            </a:pPr>
            <a:r>
              <a:rPr lang="en-US" sz="2400" b="1" dirty="0">
                <a:latin typeface="Times New Roman" panose="02020603050405020304" pitchFamily="18" charset="0"/>
                <a:cs typeface="Times New Roman" panose="02020603050405020304" pitchFamily="18" charset="0"/>
              </a:rPr>
              <a:t>2. Developing Norms for Responsible State Behavior</a:t>
            </a:r>
            <a:endParaRPr lang="en-US" sz="24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International law facilitates the creation of norms and standards for state conduct in cyberspace, including cyber security and digital governance. </a:t>
            </a:r>
          </a:p>
          <a:p>
            <a:pPr lvl="1"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 Yet, disagreements persist over concepts like sovereignty, due diligence, non-intervention, and the threshold for use of force in cyber activities.</a:t>
            </a:r>
          </a:p>
          <a:p>
            <a:pPr marL="0" indent="0" algn="just">
              <a:buNone/>
            </a:pPr>
            <a:r>
              <a:rPr lang="en-US" sz="2400" b="1" dirty="0">
                <a:latin typeface="Times New Roman" panose="02020603050405020304" pitchFamily="18" charset="0"/>
                <a:cs typeface="Times New Roman" panose="02020603050405020304" pitchFamily="18" charset="0"/>
              </a:rPr>
              <a:t>3. Multistakeholder Governance Models</a:t>
            </a:r>
            <a:endParaRPr lang="en-US" sz="2400"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Governance of digital technologies increasingly involves multistakeholder approaches, where states, private companies, civil society, and international organizations collaborate to develop cyber norms and policies. </a:t>
            </a:r>
          </a:p>
          <a:p>
            <a:pPr lvl="1"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This model recognizes the role of private actors, especially major digital platforms, in regulating online content and data flows, sometimes creating de facto governance frameworks that interact with state laws.</a:t>
            </a:r>
          </a:p>
        </p:txBody>
      </p:sp>
    </p:spTree>
    <p:extLst>
      <p:ext uri="{BB962C8B-B14F-4D97-AF65-F5344CB8AC3E}">
        <p14:creationId xmlns:p14="http://schemas.microsoft.com/office/powerpoint/2010/main" val="215917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2600" y="0"/>
            <a:ext cx="11079480" cy="1325563"/>
          </a:xfrm>
        </p:spPr>
        <p:txBody>
          <a:bodyPr/>
          <a:lstStyle/>
          <a:p>
            <a:pPr algn="ctr"/>
            <a:r>
              <a:rPr lang="en-US" b="1" dirty="0">
                <a:latin typeface="Times New Roman" panose="02020603050405020304" pitchFamily="18" charset="0"/>
                <a:cs typeface="Times New Roman" panose="02020603050405020304" pitchFamily="18" charset="0"/>
              </a:rPr>
              <a:t>Roles of International Law in IT and Society</a:t>
            </a:r>
          </a:p>
        </p:txBody>
      </p:sp>
      <p:sp>
        <p:nvSpPr>
          <p:cNvPr id="3" name="Content Placeholder 2"/>
          <p:cNvSpPr>
            <a:spLocks noGrp="1"/>
          </p:cNvSpPr>
          <p:nvPr>
            <p:ph idx="1"/>
          </p:nvPr>
        </p:nvSpPr>
        <p:spPr>
          <a:xfrm>
            <a:off x="309880" y="1325563"/>
            <a:ext cx="11424920" cy="4917123"/>
          </a:xfrm>
        </p:spPr>
        <p:txBody>
          <a:bodyPr>
            <a:normAutofit fontScale="92500" lnSpcReduction="20000"/>
          </a:bodyPr>
          <a:lstStyle/>
          <a:p>
            <a:pPr marL="0" indent="0" algn="just">
              <a:buNone/>
            </a:pPr>
            <a:br>
              <a:rPr lang="en-US" b="1"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4. Addressing Digital Data Governance and Cross-Border Issues</a:t>
            </a:r>
          </a:p>
          <a:p>
            <a:pPr lvl="1"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International organizations such as the United Nations, African Union, and regional bodies work on rules and agreements related to data protection, cross-border data flows, cybersecurity, and digital trade. </a:t>
            </a:r>
          </a:p>
          <a:p>
            <a:pPr lvl="1"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Instruments like the African Union Convention on Cybersecurity and Personal Data Protection and the EU’s General Data Protection Regulation illustrate legal frameworks addressing digital data governance at international and regional levels.</a:t>
            </a:r>
          </a:p>
          <a:p>
            <a:pPr marL="457200" lvl="1" indent="0" algn="just">
              <a:buNone/>
            </a:pPr>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5.Promoting Global Cooperation and Harmonization</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Given the global nature of digital technologies, international law seeks to harmonize standards and policies to ensure interoperability, security, and fairness. </a:t>
            </a:r>
          </a:p>
          <a:p>
            <a:pPr lvl="1" algn="jus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Proposals for new international institutions or bodies, such as a Digital Standards Body (DSB), aim to coordinate governance across big data, AI, and digital platforms, balancing national sovereignty with global cooperation.</a:t>
            </a:r>
          </a:p>
        </p:txBody>
      </p:sp>
    </p:spTree>
    <p:extLst>
      <p:ext uri="{BB962C8B-B14F-4D97-AF65-F5344CB8AC3E}">
        <p14:creationId xmlns:p14="http://schemas.microsoft.com/office/powerpoint/2010/main" val="2596052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2140" y="141605"/>
            <a:ext cx="10967720" cy="1158875"/>
          </a:xfrm>
        </p:spPr>
        <p:txBody>
          <a:bodyPr>
            <a:normAutofit/>
          </a:bodyPr>
          <a:lstStyle/>
          <a:p>
            <a:pPr algn="ctr"/>
            <a:r>
              <a:rPr lang="en-US" b="1" dirty="0">
                <a:latin typeface="Times New Roman" panose="02020603050405020304" pitchFamily="18" charset="0"/>
                <a:cs typeface="Times New Roman" panose="02020603050405020304" pitchFamily="18" charset="0"/>
              </a:rPr>
              <a:t>Roles of International Law in IT and Society</a:t>
            </a:r>
          </a:p>
        </p:txBody>
      </p:sp>
      <p:sp>
        <p:nvSpPr>
          <p:cNvPr id="3" name="Content Placeholder 2"/>
          <p:cNvSpPr>
            <a:spLocks noGrp="1"/>
          </p:cNvSpPr>
          <p:nvPr>
            <p:ph idx="1"/>
          </p:nvPr>
        </p:nvSpPr>
        <p:spPr>
          <a:xfrm>
            <a:off x="203200" y="1473200"/>
            <a:ext cx="11684000" cy="4713923"/>
          </a:xfrm>
        </p:spPr>
        <p:txBody>
          <a:bodyPr>
            <a:normAutofit/>
          </a:bodyPr>
          <a:lstStyle/>
          <a:p>
            <a:pPr marL="0" indent="0" algn="just">
              <a:buNone/>
            </a:pPr>
            <a:r>
              <a:rPr lang="en-US" b="1" dirty="0">
                <a:latin typeface="Times New Roman" panose="02020603050405020304" pitchFamily="18" charset="0"/>
                <a:cs typeface="Times New Roman" panose="02020603050405020304" pitchFamily="18" charset="0"/>
              </a:rPr>
              <a:t>6. Protecting Democratic Values and Human Rights</a:t>
            </a:r>
            <a:endParaRPr lang="en-US"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International law supports embedding democratic principles, transparency, and human rights protection into digital governance. </a:t>
            </a:r>
          </a:p>
          <a:p>
            <a:pPr lvl="1"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Initiatives like the UN Global Digital Compact and the EU Digital Services Act aim to safeguard information integrity, protect elections, and promote accountability in digital spaces.</a:t>
            </a:r>
          </a:p>
          <a:p>
            <a:pPr marL="0" indent="0">
              <a:buNone/>
            </a:pPr>
            <a:r>
              <a:rPr lang="en-US" b="1" dirty="0">
                <a:latin typeface="Times New Roman" panose="02020603050405020304" pitchFamily="18" charset="0"/>
                <a:cs typeface="Times New Roman" panose="02020603050405020304" pitchFamily="18" charset="0"/>
              </a:rPr>
              <a:t>7. Mitigating Risks and Promoting Development</a:t>
            </a:r>
            <a:endParaRPr lang="en-US" dirty="0">
              <a:latin typeface="Times New Roman" panose="02020603050405020304" pitchFamily="18" charset="0"/>
              <a:cs typeface="Times New Roman" panose="02020603050405020304" pitchFamily="18" charset="0"/>
            </a:endParaRPr>
          </a:p>
          <a:p>
            <a:pPr lvl="1"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International legal frameworks help mitigate risks associated with digital technologies—such as privacy breaches, misinformation, cybercrime, and digital divides—while promoting the benefits of digital innovation for sustainable development and economic growth.</a:t>
            </a:r>
          </a:p>
        </p:txBody>
      </p:sp>
    </p:spTree>
    <p:extLst>
      <p:ext uri="{BB962C8B-B14F-4D97-AF65-F5344CB8AC3E}">
        <p14:creationId xmlns:p14="http://schemas.microsoft.com/office/powerpoint/2010/main" val="2290095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7080" y="212725"/>
            <a:ext cx="10515600" cy="528955"/>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Challenges and Controversies</a:t>
            </a:r>
          </a:p>
        </p:txBody>
      </p:sp>
      <p:sp>
        <p:nvSpPr>
          <p:cNvPr id="3" name="Content Placeholder 2"/>
          <p:cNvSpPr>
            <a:spLocks noGrp="1"/>
          </p:cNvSpPr>
          <p:nvPr>
            <p:ph idx="1"/>
          </p:nvPr>
        </p:nvSpPr>
        <p:spPr>
          <a:xfrm>
            <a:off x="629920" y="1076960"/>
            <a:ext cx="11109960" cy="4571683"/>
          </a:xfrm>
        </p:spPr>
        <p:txBody>
          <a:bodyPr>
            <a:noAutofit/>
          </a:bodyPr>
          <a:lstStyle/>
          <a:p>
            <a:pPr algn="just"/>
            <a:r>
              <a:rPr lang="en-US" b="1" dirty="0">
                <a:latin typeface="Times New Roman" panose="02020603050405020304" pitchFamily="18" charset="0"/>
                <a:cs typeface="Times New Roman" panose="02020603050405020304" pitchFamily="18" charset="0"/>
              </a:rPr>
              <a:t>Enforcement and Attribution: </a:t>
            </a:r>
            <a:r>
              <a:rPr lang="en-US" dirty="0">
                <a:latin typeface="Times New Roman" panose="02020603050405020304" pitchFamily="18" charset="0"/>
                <a:cs typeface="Times New Roman" panose="02020603050405020304" pitchFamily="18" charset="0"/>
              </a:rPr>
              <a:t>Difficulties in attributing cyber activities and enforcing international rules hinder effective regulation and accountability.</a:t>
            </a:r>
          </a:p>
          <a:p>
            <a:pPr algn="just"/>
            <a:r>
              <a:rPr lang="en-US" b="1" dirty="0">
                <a:latin typeface="Times New Roman" panose="02020603050405020304" pitchFamily="18" charset="0"/>
                <a:cs typeface="Times New Roman" panose="02020603050405020304" pitchFamily="18" charset="0"/>
              </a:rPr>
              <a:t>Balancing Regulation and Innovation:</a:t>
            </a:r>
            <a:r>
              <a:rPr lang="en-US" dirty="0">
                <a:latin typeface="Times New Roman" panose="02020603050405020304" pitchFamily="18" charset="0"/>
                <a:cs typeface="Times New Roman" panose="02020603050405020304" pitchFamily="18" charset="0"/>
              </a:rPr>
              <a:t> International law must evolve to regulate digital technologies without stifling innovation or economic development.</a:t>
            </a:r>
          </a:p>
          <a:p>
            <a:pPr marL="0" indent="0" algn="just">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6917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Conclusion </a:t>
            </a:r>
          </a:p>
        </p:txBody>
      </p:sp>
      <p:sp>
        <p:nvSpPr>
          <p:cNvPr id="3" name="Content Placeholder 2"/>
          <p:cNvSpPr>
            <a:spLocks noGrp="1"/>
          </p:cNvSpPr>
          <p:nvPr>
            <p:ph idx="1"/>
          </p:nvPr>
        </p:nvSpPr>
        <p:spPr>
          <a:xfrm>
            <a:off x="838200" y="1876425"/>
            <a:ext cx="10515600" cy="4077335"/>
          </a:xfrm>
        </p:spPr>
        <p:txBody>
          <a:bodyPr>
            <a:normAutofit fontScale="92500" lnSpcReduction="10000"/>
          </a:bodyPr>
          <a:lstStyle/>
          <a:p>
            <a:pPr algn="just"/>
            <a:r>
              <a:rPr lang="en-US" dirty="0">
                <a:latin typeface="Times New Roman" panose="02020603050405020304" pitchFamily="18" charset="0"/>
                <a:cs typeface="Times New Roman" panose="02020603050405020304" pitchFamily="18" charset="0"/>
              </a:rPr>
              <a:t>International law serves as a foundational framework for governing the digital transformation of society by applying existing legal principles to cyberspace, fostering norm development, enabling multistakeholder governance, and promoting international cooperation on data governance, cybersecurity, and digital rights.</a:t>
            </a:r>
          </a:p>
          <a:p>
            <a:pPr algn="just"/>
            <a:r>
              <a:rPr lang="en-US" dirty="0">
                <a:latin typeface="Times New Roman" panose="02020603050405020304" pitchFamily="18" charset="0"/>
                <a:cs typeface="Times New Roman" panose="02020603050405020304" pitchFamily="18" charset="0"/>
              </a:rPr>
              <a:t> Despite challenges such as fragmentation and enforcement difficulties, ongoing efforts aim to harmonize standards, protect human rights, and ensure that digital technologies contribute positively to global development and security.</a:t>
            </a:r>
          </a:p>
          <a:p>
            <a:pPr marL="0" indent="0" algn="just">
              <a:buNone/>
            </a:pP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28302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TotalTime>
  <Words>712</Words>
  <Application>Microsoft Office PowerPoint</Application>
  <PresentationFormat>Widescreen</PresentationFormat>
  <Paragraphs>37</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Calibri Light</vt:lpstr>
      <vt:lpstr>Times New Roman</vt:lpstr>
      <vt:lpstr>Wingdings</vt:lpstr>
      <vt:lpstr>Office Theme</vt:lpstr>
      <vt:lpstr> The role of international law in governing IT and society</vt:lpstr>
      <vt:lpstr>Roles of International Law in IT and Society</vt:lpstr>
      <vt:lpstr>Roles of International Law in IT and Society</vt:lpstr>
      <vt:lpstr>Roles of International Law in IT and Society</vt:lpstr>
      <vt:lpstr>Roles of International Law in IT and Society</vt:lpstr>
      <vt:lpstr>Challenges and Controversies</vt:lpstr>
      <vt:lpstr>Conclusion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role of international law in governing IT and society</dc:title>
  <dc:creator>USER</dc:creator>
  <cp:lastModifiedBy>Ravi Silwal</cp:lastModifiedBy>
  <cp:revision>5</cp:revision>
  <dcterms:created xsi:type="dcterms:W3CDTF">2025-06-03T17:43:56Z</dcterms:created>
  <dcterms:modified xsi:type="dcterms:W3CDTF">2025-06-09T02:07:57Z</dcterms:modified>
</cp:coreProperties>
</file>