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0176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https://image.slidesharecdn.com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https://image.slidesharecdn.com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https://www.researchgate.net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https://images.macrumors.com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https://wiipa.org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https://image.slidesharecdn.com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0"/>
            <a:ext cx="8229600" cy="457200"/>
          </a:xfrm>
          <a:prstGeom prst="rect">
            <a:avLst/>
          </a:prstGeom>
          <a:noFill/>
          <a:ln/>
        </p:spPr>
        <p:txBody>
          <a:bodyPr wrap="square" rtlCol="0" anchor="ctr"/>
          <a:lstStyle/>
          <a:p>
            <a:pPr algn="ctr"/>
            <a:r>
              <a:rPr lang="en-US" sz="3000" b="1" dirty="0">
                <a:solidFill>
                  <a:srgbClr val="000000"/>
                </a:solidFill>
                <a:latin typeface="Times New Roman" panose="02020603050405020304" pitchFamily="18" charset="0"/>
                <a:ea typeface="Optima" pitchFamily="34" charset="-122"/>
                <a:cs typeface="Times New Roman" panose="02020603050405020304" pitchFamily="18" charset="0"/>
              </a:rPr>
              <a:t>Case of Apple Vs. Samsung Patent Dispute.</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US" sz="2800" b="1" dirty="0">
                <a:solidFill>
                  <a:srgbClr val="000000"/>
                </a:solidFill>
                <a:latin typeface="Times New Roman" panose="02020603050405020304" pitchFamily="18" charset="0"/>
                <a:ea typeface="Optima" pitchFamily="34" charset="-122"/>
                <a:cs typeface="Times New Roman" panose="02020603050405020304" pitchFamily="18" charset="0"/>
              </a:rPr>
              <a:t>Introduction to the Dispute</a:t>
            </a:r>
            <a:endParaRPr lang="en-US" sz="2800" dirty="0">
              <a:latin typeface="Times New Roman" panose="02020603050405020304" pitchFamily="18" charset="0"/>
              <a:cs typeface="Times New Roman" panose="02020603050405020304" pitchFamily="18" charset="0"/>
            </a:endParaRPr>
          </a:p>
        </p:txBody>
      </p:sp>
      <p:sp>
        <p:nvSpPr>
          <p:cNvPr id="5" name="Text 1"/>
          <p:cNvSpPr/>
          <p:nvPr/>
        </p:nvSpPr>
        <p:spPr>
          <a:xfrm>
            <a:off x="457200" y="1143000"/>
            <a:ext cx="7723762" cy="3200400"/>
          </a:xfrm>
          <a:prstGeom prst="rect">
            <a:avLst/>
          </a:prstGeom>
          <a:noFill/>
          <a:ln/>
        </p:spPr>
        <p:txBody>
          <a:bodyPr wrap="square" rtlCol="0" anchor="t"/>
          <a:lstStyle/>
          <a:p>
            <a:pPr marL="285750" indent="-285750" algn="just">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Apple vs. Samsung patent dispute is one of the most high-profile legal battles in the tech industry.</a:t>
            </a:r>
          </a:p>
          <a:p>
            <a:pPr marL="285750" indent="-285750" algn="just">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It primarily revolves around allegations of patent infringement related to smartphone and tablet technologies.</a:t>
            </a:r>
          </a:p>
          <a:p>
            <a:pPr marL="285750" indent="-285750" algn="just">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case has had significant implications for both companies and the broader technology landscape.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US" sz="2400" b="1" dirty="0">
                <a:solidFill>
                  <a:srgbClr val="000000"/>
                </a:solidFill>
                <a:latin typeface="Optima" pitchFamily="34" charset="0"/>
                <a:ea typeface="Optima" pitchFamily="34" charset="-122"/>
                <a:cs typeface="Optima" pitchFamily="34" charset="-120"/>
              </a:rPr>
              <a:t>Background Information</a:t>
            </a:r>
            <a:endParaRPr lang="en-US" sz="2400" dirty="0"/>
          </a:p>
        </p:txBody>
      </p:sp>
      <p:sp>
        <p:nvSpPr>
          <p:cNvPr id="5" name="Text 1"/>
          <p:cNvSpPr/>
          <p:nvPr/>
        </p:nvSpPr>
        <p:spPr>
          <a:xfrm>
            <a:off x="457200" y="1143000"/>
            <a:ext cx="7898860" cy="3200400"/>
          </a:xfrm>
          <a:prstGeom prst="rect">
            <a:avLst/>
          </a:prstGeom>
          <a:noFill/>
          <a:ln/>
        </p:spPr>
        <p:txBody>
          <a:bodyPr wrap="square" rtlCol="0" anchor="t"/>
          <a:lstStyle/>
          <a:p>
            <a:pPr marL="342900" indent="-342900" algn="just">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Apple filed its initial lawsuit against Samsung in US Court in April 2011, claiming that Samsung copied the design and functionality of its products. (California District Court)</a:t>
            </a:r>
          </a:p>
          <a:p>
            <a:pPr marL="342900" indent="-342900" algn="just">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Samsung countersued, alleging that Apple infringed on its own patents related to wireless technology.</a:t>
            </a:r>
          </a:p>
          <a:p>
            <a:pPr marL="342900" indent="-342900" algn="just">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dispute spans multiple countries, with various courts involved in the adjudication of the cases.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Key Legal Issues</a:t>
            </a:r>
            <a:endParaRPr lang="en-US" sz="2400" dirty="0">
              <a:latin typeface="Times New Roman" panose="02020603050405020304" pitchFamily="18" charset="0"/>
              <a:cs typeface="Times New Roman" panose="02020603050405020304" pitchFamily="18" charset="0"/>
            </a:endParaRPr>
          </a:p>
        </p:txBody>
      </p:sp>
      <p:sp>
        <p:nvSpPr>
          <p:cNvPr id="5" name="Text 1"/>
          <p:cNvSpPr/>
          <p:nvPr/>
        </p:nvSpPr>
        <p:spPr>
          <a:xfrm>
            <a:off x="457199" y="1143000"/>
            <a:ext cx="8142051" cy="3200400"/>
          </a:xfrm>
          <a:prstGeom prst="rect">
            <a:avLst/>
          </a:prstGeom>
          <a:noFill/>
          <a:ln/>
        </p:spPr>
        <p:txBody>
          <a:bodyPr wrap="square" rtlCol="0" anchor="t"/>
          <a:lstStyle/>
          <a:p>
            <a:pPr marL="342900" indent="-342900">
              <a:buFont typeface="Wingdings" panose="05000000000000000000" pitchFamily="2" charset="2"/>
              <a:buChar char="q"/>
            </a:pPr>
            <a:r>
              <a:rPr lang="en-US" sz="2800" dirty="0">
                <a:solidFill>
                  <a:srgbClr val="000000"/>
                </a:solidFill>
                <a:latin typeface="Times New Roman" panose="02020603050405020304" pitchFamily="18" charset="0"/>
                <a:ea typeface="Optima" pitchFamily="34" charset="-122"/>
                <a:cs typeface="Times New Roman" panose="02020603050405020304" pitchFamily="18" charset="0"/>
              </a:rPr>
              <a:t>The case primarily focuses on design patents, utility patents, and trade dress issues.</a:t>
            </a:r>
          </a:p>
          <a:p>
            <a:pPr marL="342900" indent="-342900">
              <a:buFont typeface="Wingdings" panose="05000000000000000000" pitchFamily="2" charset="2"/>
              <a:buChar char="q"/>
            </a:pPr>
            <a:r>
              <a:rPr lang="en-US" sz="2800" dirty="0">
                <a:solidFill>
                  <a:srgbClr val="000000"/>
                </a:solidFill>
                <a:latin typeface="Times New Roman" panose="02020603050405020304" pitchFamily="18" charset="0"/>
                <a:ea typeface="Optima" pitchFamily="34" charset="-122"/>
                <a:cs typeface="Times New Roman" panose="02020603050405020304" pitchFamily="18" charset="0"/>
              </a:rPr>
              <a:t>Key arguments include the originality of Apple's design and whether Samsung's products dilute Apple's brand.</a:t>
            </a:r>
          </a:p>
          <a:p>
            <a:pPr marL="342900" indent="-342900">
              <a:buFont typeface="Wingdings" panose="05000000000000000000" pitchFamily="2" charset="2"/>
              <a:buChar char="q"/>
            </a:pPr>
            <a:r>
              <a:rPr lang="en-US" sz="2800" dirty="0">
                <a:solidFill>
                  <a:srgbClr val="000000"/>
                </a:solidFill>
                <a:latin typeface="Times New Roman" panose="02020603050405020304" pitchFamily="18" charset="0"/>
                <a:ea typeface="Optima" pitchFamily="34" charset="-122"/>
                <a:cs typeface="Times New Roman" panose="02020603050405020304" pitchFamily="18" charset="0"/>
              </a:rPr>
              <a:t>The outcome of the case could set precedents for how design and technology patents are interpreted in the future.</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Major Court Decisions</a:t>
            </a:r>
            <a:endParaRPr lang="en-US" sz="2400" dirty="0">
              <a:latin typeface="Times New Roman" panose="02020603050405020304" pitchFamily="18" charset="0"/>
              <a:cs typeface="Times New Roman" panose="02020603050405020304" pitchFamily="18" charset="0"/>
            </a:endParaRPr>
          </a:p>
        </p:txBody>
      </p:sp>
      <p:sp>
        <p:nvSpPr>
          <p:cNvPr id="5" name="Text 1"/>
          <p:cNvSpPr/>
          <p:nvPr/>
        </p:nvSpPr>
        <p:spPr>
          <a:xfrm>
            <a:off x="457199" y="1149577"/>
            <a:ext cx="7928043" cy="3692137"/>
          </a:xfrm>
          <a:prstGeom prst="rect">
            <a:avLst/>
          </a:prstGeom>
          <a:noFill/>
          <a:ln/>
        </p:spPr>
        <p:txBody>
          <a:bodyPr wrap="square" rtlCol="0" anchor="t"/>
          <a:lstStyle/>
          <a:p>
            <a:pPr marL="285750" indent="-285750">
              <a:buFont typeface="Wingdings" panose="05000000000000000000" pitchFamily="2" charset="2"/>
              <a:buChar char="q"/>
            </a:pPr>
            <a:r>
              <a:rPr lang="en-US" sz="1600" dirty="0">
                <a:solidFill>
                  <a:srgbClr val="000000"/>
                </a:solidFill>
                <a:latin typeface="Times New Roman" panose="02020603050405020304" pitchFamily="18" charset="0"/>
                <a:ea typeface="Optima" pitchFamily="34" charset="-122"/>
                <a:cs typeface="Times New Roman" panose="02020603050405020304" pitchFamily="18" charset="0"/>
              </a:rPr>
              <a:t>In 2012, a jury awarded Apple over $1 billion in damages, finding that Samsung had infringed on several of Apple's patents.</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solidFill>
                  <a:srgbClr val="000000"/>
                </a:solidFill>
                <a:latin typeface="Times New Roman" panose="02020603050405020304" pitchFamily="18" charset="0"/>
                <a:ea typeface="Optima" pitchFamily="34" charset="-122"/>
                <a:cs typeface="Times New Roman" panose="02020603050405020304" pitchFamily="18" charset="0"/>
              </a:rPr>
              <a:t>Subsequent appeals and retrials led to reduced damages and legal back-and-forths over the validity of certain patents.</a:t>
            </a:r>
          </a:p>
          <a:p>
            <a:endParaRPr lang="en-US" sz="1600" dirty="0">
              <a:solidFill>
                <a:srgbClr val="000000"/>
              </a:solidFill>
              <a:latin typeface="Times New Roman" panose="02020603050405020304" pitchFamily="18" charset="0"/>
              <a:ea typeface="Optima" pitchFamily="34" charset="-122"/>
              <a:cs typeface="Times New Roman" panose="02020603050405020304" pitchFamily="18" charset="0"/>
            </a:endParaRPr>
          </a:p>
          <a:p>
            <a:pPr marL="285750" indent="-28575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In 2016, the U.S. Supreme Court ruled in favor of Samsung, stating that the damages should not be based on the total profits from the entire smartphone but rather on the specific components that infringed Apple's design patents. This decision significantly reduced the amount Samsung had to pay. Following this ruling, the case was sent back to a lower court to recalculate the damages. In 2018, Apple was awarded $539 million in damages, which Samsung subsequently paid . </a:t>
            </a:r>
          </a:p>
          <a:p>
            <a:pPr marL="285750" indent="-285750" algn="just">
              <a:buFont typeface="Wingdings" panose="05000000000000000000" pitchFamily="2" charset="2"/>
              <a:buChar char="q"/>
            </a:pPr>
            <a:r>
              <a:rPr lang="en-US" sz="1600" dirty="0">
                <a:solidFill>
                  <a:srgbClr val="000000"/>
                </a:solidFill>
                <a:latin typeface="Times New Roman" panose="02020603050405020304" pitchFamily="18" charset="0"/>
                <a:ea typeface="Optima" pitchFamily="34" charset="-122"/>
                <a:cs typeface="Times New Roman" panose="02020603050405020304" pitchFamily="18" charset="0"/>
              </a:rPr>
              <a:t>By 2021, both companies had reached a settlement, though the legal battles continued in different forms.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Impact on the Industry</a:t>
            </a:r>
            <a:endParaRPr lang="en-US" sz="2400" dirty="0">
              <a:latin typeface="Times New Roman" panose="02020603050405020304" pitchFamily="18" charset="0"/>
              <a:cs typeface="Times New Roman" panose="02020603050405020304" pitchFamily="18" charset="0"/>
            </a:endParaRPr>
          </a:p>
        </p:txBody>
      </p:sp>
      <p:sp>
        <p:nvSpPr>
          <p:cNvPr id="5" name="Text 1"/>
          <p:cNvSpPr/>
          <p:nvPr/>
        </p:nvSpPr>
        <p:spPr>
          <a:xfrm>
            <a:off x="457199" y="1143000"/>
            <a:ext cx="7616757" cy="3200400"/>
          </a:xfrm>
          <a:prstGeom prst="rect">
            <a:avLst/>
          </a:prstGeom>
          <a:noFill/>
          <a:ln/>
        </p:spPr>
        <p:txBody>
          <a:bodyPr wrap="square" rtlCol="0" anchor="t"/>
          <a:lstStyle/>
          <a:p>
            <a:pPr marL="285750" indent="-285750">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case has influenced how tech companies approach design and innovation in their products.</a:t>
            </a:r>
          </a:p>
          <a:p>
            <a:pPr marL="285750" indent="-285750">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It has prompted greater scrutiny of patent laws and the balance between protecting intellectual property and fostering competition.</a:t>
            </a:r>
          </a:p>
          <a:p>
            <a:pPr marL="285750" indent="-285750">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dispute also highlighted the importance of design in consumer electronics and the potential legal ramifications of imitation.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Conclusion and Future Implications</a:t>
            </a:r>
            <a:endParaRPr lang="en-US" sz="2400" dirty="0">
              <a:latin typeface="Times New Roman" panose="02020603050405020304" pitchFamily="18" charset="0"/>
              <a:cs typeface="Times New Roman" panose="02020603050405020304" pitchFamily="18" charset="0"/>
            </a:endParaRPr>
          </a:p>
        </p:txBody>
      </p:sp>
      <p:sp>
        <p:nvSpPr>
          <p:cNvPr id="5" name="Text 1"/>
          <p:cNvSpPr/>
          <p:nvPr/>
        </p:nvSpPr>
        <p:spPr>
          <a:xfrm>
            <a:off x="457199" y="1143000"/>
            <a:ext cx="8083685" cy="3200400"/>
          </a:xfrm>
          <a:prstGeom prst="rect">
            <a:avLst/>
          </a:prstGeom>
          <a:noFill/>
          <a:ln/>
        </p:spPr>
        <p:txBody>
          <a:bodyPr wrap="square" rtlCol="0" anchor="t"/>
          <a:lstStyle/>
          <a:p>
            <a:pPr marL="342900" indent="-342900">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Apple vs. Samsung case serves as a critical example of the complexities of patent law in the technology sector.</a:t>
            </a:r>
          </a:p>
          <a:p>
            <a:pPr marL="342900" indent="-342900">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As technology continues to evolve, similar disputes are likely to arise, underscoring the need for clear legal frameworks.</a:t>
            </a:r>
          </a:p>
          <a:p>
            <a:pPr marL="342900" indent="-342900">
              <a:buFont typeface="Wingdings" panose="05000000000000000000" pitchFamily="2" charset="2"/>
              <a:buChar char="q"/>
            </a:pPr>
            <a:r>
              <a:rPr lang="en-US" sz="2400" dirty="0">
                <a:solidFill>
                  <a:srgbClr val="000000"/>
                </a:solidFill>
                <a:latin typeface="Times New Roman" panose="02020603050405020304" pitchFamily="18" charset="0"/>
                <a:ea typeface="Optima" pitchFamily="34" charset="-122"/>
                <a:cs typeface="Times New Roman" panose="02020603050405020304" pitchFamily="18" charset="0"/>
              </a:rPr>
              <a:t>The resolution of this case may shape how future technology disputes are handled, affecting innovation and competition.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663</TotalTime>
  <Words>527</Words>
  <Application>Microsoft Office PowerPoint</Application>
  <PresentationFormat>On-screen Show (16:9)</PresentationFormat>
  <Paragraphs>40</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Optima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SlideMake.com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Brief Of Case Of Apple Vs. Samsung Patent Dispute.</dc:title>
  <dc:subject>Major Brief Of Case Of Apple Vs. Samsung Patent Dispute.</dc:subject>
  <dc:creator>SlideMake.com</dc:creator>
  <cp:lastModifiedBy>Ravi Silwal</cp:lastModifiedBy>
  <cp:revision>8</cp:revision>
  <dcterms:created xsi:type="dcterms:W3CDTF">2025-05-22T14:48:40Z</dcterms:created>
  <dcterms:modified xsi:type="dcterms:W3CDTF">2025-06-25T13:36:40Z</dcterms:modified>
</cp:coreProperties>
</file>