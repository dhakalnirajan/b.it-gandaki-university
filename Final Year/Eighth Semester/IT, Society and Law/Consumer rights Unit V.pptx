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2" r:id="rId6"/>
    <p:sldId id="261" r:id="rId7"/>
    <p:sldId id="26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7" d="100"/>
          <a:sy n="77" d="100"/>
        </p:scale>
        <p:origin x="835"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A2F28-463C-A58C-2D2A-1BA49376868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C8E937B-2904-EE04-D563-C1F94CD58F8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2BFC7A6-4867-373D-15B7-2775FD8C79C5}"/>
              </a:ext>
            </a:extLst>
          </p:cNvPr>
          <p:cNvSpPr>
            <a:spLocks noGrp="1"/>
          </p:cNvSpPr>
          <p:nvPr>
            <p:ph type="dt" sz="half" idx="10"/>
          </p:nvPr>
        </p:nvSpPr>
        <p:spPr/>
        <p:txBody>
          <a:bodyPr/>
          <a:lstStyle/>
          <a:p>
            <a:fld id="{60D57393-E858-42A8-B15D-001C98ED276E}" type="datetimeFigureOut">
              <a:rPr lang="en-US" smtClean="0"/>
              <a:t>6/25/2025</a:t>
            </a:fld>
            <a:endParaRPr lang="en-US"/>
          </a:p>
        </p:txBody>
      </p:sp>
      <p:sp>
        <p:nvSpPr>
          <p:cNvPr id="5" name="Footer Placeholder 4">
            <a:extLst>
              <a:ext uri="{FF2B5EF4-FFF2-40B4-BE49-F238E27FC236}">
                <a16:creationId xmlns:a16="http://schemas.microsoft.com/office/drawing/2014/main" id="{3E0908EA-732D-AD21-B718-93BE8A8B71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22F755-1207-5DF1-47BC-1582C5364F2D}"/>
              </a:ext>
            </a:extLst>
          </p:cNvPr>
          <p:cNvSpPr>
            <a:spLocks noGrp="1"/>
          </p:cNvSpPr>
          <p:nvPr>
            <p:ph type="sldNum" sz="quarter" idx="12"/>
          </p:nvPr>
        </p:nvSpPr>
        <p:spPr/>
        <p:txBody>
          <a:bodyPr/>
          <a:lstStyle/>
          <a:p>
            <a:fld id="{1718914F-382C-41D7-B0DB-B0BD98588DE2}" type="slidenum">
              <a:rPr lang="en-US" smtClean="0"/>
              <a:t>‹#›</a:t>
            </a:fld>
            <a:endParaRPr lang="en-US"/>
          </a:p>
        </p:txBody>
      </p:sp>
    </p:spTree>
    <p:extLst>
      <p:ext uri="{BB962C8B-B14F-4D97-AF65-F5344CB8AC3E}">
        <p14:creationId xmlns:p14="http://schemas.microsoft.com/office/powerpoint/2010/main" val="3541075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E921C-3937-EC88-574A-35FD8F43C66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C178A12-371F-BB83-D776-DE8F94E8C9D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B37C6F-9302-2D13-543B-A9DC67060C40}"/>
              </a:ext>
            </a:extLst>
          </p:cNvPr>
          <p:cNvSpPr>
            <a:spLocks noGrp="1"/>
          </p:cNvSpPr>
          <p:nvPr>
            <p:ph type="dt" sz="half" idx="10"/>
          </p:nvPr>
        </p:nvSpPr>
        <p:spPr/>
        <p:txBody>
          <a:bodyPr/>
          <a:lstStyle/>
          <a:p>
            <a:fld id="{60D57393-E858-42A8-B15D-001C98ED276E}" type="datetimeFigureOut">
              <a:rPr lang="en-US" smtClean="0"/>
              <a:t>6/25/2025</a:t>
            </a:fld>
            <a:endParaRPr lang="en-US"/>
          </a:p>
        </p:txBody>
      </p:sp>
      <p:sp>
        <p:nvSpPr>
          <p:cNvPr id="5" name="Footer Placeholder 4">
            <a:extLst>
              <a:ext uri="{FF2B5EF4-FFF2-40B4-BE49-F238E27FC236}">
                <a16:creationId xmlns:a16="http://schemas.microsoft.com/office/drawing/2014/main" id="{9C933EE3-A23A-63BE-6AAA-EF89A89868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7AB2BF-95D1-8829-ACD6-D2536BB24CBB}"/>
              </a:ext>
            </a:extLst>
          </p:cNvPr>
          <p:cNvSpPr>
            <a:spLocks noGrp="1"/>
          </p:cNvSpPr>
          <p:nvPr>
            <p:ph type="sldNum" sz="quarter" idx="12"/>
          </p:nvPr>
        </p:nvSpPr>
        <p:spPr/>
        <p:txBody>
          <a:bodyPr/>
          <a:lstStyle/>
          <a:p>
            <a:fld id="{1718914F-382C-41D7-B0DB-B0BD98588DE2}" type="slidenum">
              <a:rPr lang="en-US" smtClean="0"/>
              <a:t>‹#›</a:t>
            </a:fld>
            <a:endParaRPr lang="en-US"/>
          </a:p>
        </p:txBody>
      </p:sp>
    </p:spTree>
    <p:extLst>
      <p:ext uri="{BB962C8B-B14F-4D97-AF65-F5344CB8AC3E}">
        <p14:creationId xmlns:p14="http://schemas.microsoft.com/office/powerpoint/2010/main" val="3062149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B58DC1-BD7C-20B9-3BD2-D338189FD11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FA49D63-B914-823E-765D-140F052A208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8A2008C-47C0-03B8-92BA-7C941E394BE7}"/>
              </a:ext>
            </a:extLst>
          </p:cNvPr>
          <p:cNvSpPr>
            <a:spLocks noGrp="1"/>
          </p:cNvSpPr>
          <p:nvPr>
            <p:ph type="dt" sz="half" idx="10"/>
          </p:nvPr>
        </p:nvSpPr>
        <p:spPr/>
        <p:txBody>
          <a:bodyPr/>
          <a:lstStyle/>
          <a:p>
            <a:fld id="{60D57393-E858-42A8-B15D-001C98ED276E}" type="datetimeFigureOut">
              <a:rPr lang="en-US" smtClean="0"/>
              <a:t>6/25/2025</a:t>
            </a:fld>
            <a:endParaRPr lang="en-US"/>
          </a:p>
        </p:txBody>
      </p:sp>
      <p:sp>
        <p:nvSpPr>
          <p:cNvPr id="5" name="Footer Placeholder 4">
            <a:extLst>
              <a:ext uri="{FF2B5EF4-FFF2-40B4-BE49-F238E27FC236}">
                <a16:creationId xmlns:a16="http://schemas.microsoft.com/office/drawing/2014/main" id="{55E5617E-C628-EFEA-AB80-E8A409EA6C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4DB445-C345-A1FA-3A37-97C146574499}"/>
              </a:ext>
            </a:extLst>
          </p:cNvPr>
          <p:cNvSpPr>
            <a:spLocks noGrp="1"/>
          </p:cNvSpPr>
          <p:nvPr>
            <p:ph type="sldNum" sz="quarter" idx="12"/>
          </p:nvPr>
        </p:nvSpPr>
        <p:spPr/>
        <p:txBody>
          <a:bodyPr/>
          <a:lstStyle/>
          <a:p>
            <a:fld id="{1718914F-382C-41D7-B0DB-B0BD98588DE2}" type="slidenum">
              <a:rPr lang="en-US" smtClean="0"/>
              <a:t>‹#›</a:t>
            </a:fld>
            <a:endParaRPr lang="en-US"/>
          </a:p>
        </p:txBody>
      </p:sp>
    </p:spTree>
    <p:extLst>
      <p:ext uri="{BB962C8B-B14F-4D97-AF65-F5344CB8AC3E}">
        <p14:creationId xmlns:p14="http://schemas.microsoft.com/office/powerpoint/2010/main" val="34647056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00D7D-BA1E-1115-ACE4-0781D0974BA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A37143-BD7D-0AD5-EF38-922B1919595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B30DDFA-B7F5-5561-CB70-28235E42A7C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390AEDE-DD98-69BD-3D6F-7C45B182356B}"/>
              </a:ext>
            </a:extLst>
          </p:cNvPr>
          <p:cNvSpPr>
            <a:spLocks noGrp="1"/>
          </p:cNvSpPr>
          <p:nvPr>
            <p:ph type="dt" sz="half" idx="10"/>
          </p:nvPr>
        </p:nvSpPr>
        <p:spPr/>
        <p:txBody>
          <a:bodyPr/>
          <a:lstStyle/>
          <a:p>
            <a:fld id="{60D57393-E858-42A8-B15D-001C98ED276E}" type="datetimeFigureOut">
              <a:rPr lang="en-US" smtClean="0"/>
              <a:t>6/25/2025</a:t>
            </a:fld>
            <a:endParaRPr lang="en-US"/>
          </a:p>
        </p:txBody>
      </p:sp>
      <p:sp>
        <p:nvSpPr>
          <p:cNvPr id="6" name="Footer Placeholder 5">
            <a:extLst>
              <a:ext uri="{FF2B5EF4-FFF2-40B4-BE49-F238E27FC236}">
                <a16:creationId xmlns:a16="http://schemas.microsoft.com/office/drawing/2014/main" id="{2925B80F-C9F8-1EB9-E27E-EB5A2D5BC2F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B27089-2B67-9808-649D-60C8D1844E2C}"/>
              </a:ext>
            </a:extLst>
          </p:cNvPr>
          <p:cNvSpPr>
            <a:spLocks noGrp="1"/>
          </p:cNvSpPr>
          <p:nvPr>
            <p:ph type="sldNum" sz="quarter" idx="12"/>
          </p:nvPr>
        </p:nvSpPr>
        <p:spPr/>
        <p:txBody>
          <a:bodyPr/>
          <a:lstStyle/>
          <a:p>
            <a:fld id="{1718914F-382C-41D7-B0DB-B0BD98588DE2}" type="slidenum">
              <a:rPr lang="en-US" smtClean="0"/>
              <a:t>‹#›</a:t>
            </a:fld>
            <a:endParaRPr lang="en-US"/>
          </a:p>
        </p:txBody>
      </p:sp>
    </p:spTree>
    <p:extLst>
      <p:ext uri="{BB962C8B-B14F-4D97-AF65-F5344CB8AC3E}">
        <p14:creationId xmlns:p14="http://schemas.microsoft.com/office/powerpoint/2010/main" val="118917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50EC6-6A22-EDBF-83CE-00ED8059B99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2EE0586-2203-5E39-2089-F0D4788E6B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40AC192-E1F4-9627-5532-7D6A7509C30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0F5DCDA-74E2-229D-3185-8EAAB81D541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926BE0A-C2D3-4512-A9CF-29EBC1008ED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0907D4B-F6F9-1AD6-A800-81F4B8C3C28B}"/>
              </a:ext>
            </a:extLst>
          </p:cNvPr>
          <p:cNvSpPr>
            <a:spLocks noGrp="1"/>
          </p:cNvSpPr>
          <p:nvPr>
            <p:ph type="dt" sz="half" idx="10"/>
          </p:nvPr>
        </p:nvSpPr>
        <p:spPr/>
        <p:txBody>
          <a:bodyPr/>
          <a:lstStyle/>
          <a:p>
            <a:fld id="{60D57393-E858-42A8-B15D-001C98ED276E}" type="datetimeFigureOut">
              <a:rPr lang="en-US" smtClean="0"/>
              <a:t>6/25/2025</a:t>
            </a:fld>
            <a:endParaRPr lang="en-US"/>
          </a:p>
        </p:txBody>
      </p:sp>
      <p:sp>
        <p:nvSpPr>
          <p:cNvPr id="8" name="Footer Placeholder 7">
            <a:extLst>
              <a:ext uri="{FF2B5EF4-FFF2-40B4-BE49-F238E27FC236}">
                <a16:creationId xmlns:a16="http://schemas.microsoft.com/office/drawing/2014/main" id="{92338AA9-D991-595F-13A5-0CB6CB26143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45B67D9-C5E9-D5CC-237D-275CD5AC4F93}"/>
              </a:ext>
            </a:extLst>
          </p:cNvPr>
          <p:cNvSpPr>
            <a:spLocks noGrp="1"/>
          </p:cNvSpPr>
          <p:nvPr>
            <p:ph type="sldNum" sz="quarter" idx="12"/>
          </p:nvPr>
        </p:nvSpPr>
        <p:spPr/>
        <p:txBody>
          <a:bodyPr/>
          <a:lstStyle/>
          <a:p>
            <a:fld id="{1718914F-382C-41D7-B0DB-B0BD98588DE2}" type="slidenum">
              <a:rPr lang="en-US" smtClean="0"/>
              <a:t>‹#›</a:t>
            </a:fld>
            <a:endParaRPr lang="en-US"/>
          </a:p>
        </p:txBody>
      </p:sp>
    </p:spTree>
    <p:extLst>
      <p:ext uri="{BB962C8B-B14F-4D97-AF65-F5344CB8AC3E}">
        <p14:creationId xmlns:p14="http://schemas.microsoft.com/office/powerpoint/2010/main" val="7038999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A0693-6ABB-8943-7D26-EAB31DACA6E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F0D3C11-4CBE-B78D-1883-11E05D88A17C}"/>
              </a:ext>
            </a:extLst>
          </p:cNvPr>
          <p:cNvSpPr>
            <a:spLocks noGrp="1"/>
          </p:cNvSpPr>
          <p:nvPr>
            <p:ph type="dt" sz="half" idx="10"/>
          </p:nvPr>
        </p:nvSpPr>
        <p:spPr/>
        <p:txBody>
          <a:bodyPr/>
          <a:lstStyle/>
          <a:p>
            <a:fld id="{60D57393-E858-42A8-B15D-001C98ED276E}" type="datetimeFigureOut">
              <a:rPr lang="en-US" smtClean="0"/>
              <a:t>6/25/2025</a:t>
            </a:fld>
            <a:endParaRPr lang="en-US"/>
          </a:p>
        </p:txBody>
      </p:sp>
      <p:sp>
        <p:nvSpPr>
          <p:cNvPr id="4" name="Footer Placeholder 3">
            <a:extLst>
              <a:ext uri="{FF2B5EF4-FFF2-40B4-BE49-F238E27FC236}">
                <a16:creationId xmlns:a16="http://schemas.microsoft.com/office/drawing/2014/main" id="{2767F22E-74D4-68C6-B48E-5EED79A7141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5938122-F290-A55E-D8B8-D2465886AECE}"/>
              </a:ext>
            </a:extLst>
          </p:cNvPr>
          <p:cNvSpPr>
            <a:spLocks noGrp="1"/>
          </p:cNvSpPr>
          <p:nvPr>
            <p:ph type="sldNum" sz="quarter" idx="12"/>
          </p:nvPr>
        </p:nvSpPr>
        <p:spPr/>
        <p:txBody>
          <a:bodyPr/>
          <a:lstStyle/>
          <a:p>
            <a:fld id="{1718914F-382C-41D7-B0DB-B0BD98588DE2}" type="slidenum">
              <a:rPr lang="en-US" smtClean="0"/>
              <a:t>‹#›</a:t>
            </a:fld>
            <a:endParaRPr lang="en-US"/>
          </a:p>
        </p:txBody>
      </p:sp>
    </p:spTree>
    <p:extLst>
      <p:ext uri="{BB962C8B-B14F-4D97-AF65-F5344CB8AC3E}">
        <p14:creationId xmlns:p14="http://schemas.microsoft.com/office/powerpoint/2010/main" val="37544559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C74898F-0553-A3AE-A7BA-DAA36C45688D}"/>
              </a:ext>
            </a:extLst>
          </p:cNvPr>
          <p:cNvSpPr>
            <a:spLocks noGrp="1"/>
          </p:cNvSpPr>
          <p:nvPr>
            <p:ph type="dt" sz="half" idx="10"/>
          </p:nvPr>
        </p:nvSpPr>
        <p:spPr/>
        <p:txBody>
          <a:bodyPr/>
          <a:lstStyle/>
          <a:p>
            <a:fld id="{60D57393-E858-42A8-B15D-001C98ED276E}" type="datetimeFigureOut">
              <a:rPr lang="en-US" smtClean="0"/>
              <a:t>6/25/2025</a:t>
            </a:fld>
            <a:endParaRPr lang="en-US"/>
          </a:p>
        </p:txBody>
      </p:sp>
      <p:sp>
        <p:nvSpPr>
          <p:cNvPr id="3" name="Footer Placeholder 2">
            <a:extLst>
              <a:ext uri="{FF2B5EF4-FFF2-40B4-BE49-F238E27FC236}">
                <a16:creationId xmlns:a16="http://schemas.microsoft.com/office/drawing/2014/main" id="{D39EEBC6-3A2C-D11D-DFA8-6B11A8EE50D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E2E52D4-11B8-DE5A-F658-5A88143011A3}"/>
              </a:ext>
            </a:extLst>
          </p:cNvPr>
          <p:cNvSpPr>
            <a:spLocks noGrp="1"/>
          </p:cNvSpPr>
          <p:nvPr>
            <p:ph type="sldNum" sz="quarter" idx="12"/>
          </p:nvPr>
        </p:nvSpPr>
        <p:spPr/>
        <p:txBody>
          <a:bodyPr/>
          <a:lstStyle/>
          <a:p>
            <a:fld id="{1718914F-382C-41D7-B0DB-B0BD98588DE2}" type="slidenum">
              <a:rPr lang="en-US" smtClean="0"/>
              <a:t>‹#›</a:t>
            </a:fld>
            <a:endParaRPr lang="en-US"/>
          </a:p>
        </p:txBody>
      </p:sp>
    </p:spTree>
    <p:extLst>
      <p:ext uri="{BB962C8B-B14F-4D97-AF65-F5344CB8AC3E}">
        <p14:creationId xmlns:p14="http://schemas.microsoft.com/office/powerpoint/2010/main" val="12089085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67763-7485-5EC3-8EEA-D748F67CC3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F36C37D-F1A9-C76C-FFC6-24BCF85BC46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69DD603-3893-982E-94F6-A941F17461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3165388-D3FA-83E1-255A-C4F369FB22BB}"/>
              </a:ext>
            </a:extLst>
          </p:cNvPr>
          <p:cNvSpPr>
            <a:spLocks noGrp="1"/>
          </p:cNvSpPr>
          <p:nvPr>
            <p:ph type="dt" sz="half" idx="10"/>
          </p:nvPr>
        </p:nvSpPr>
        <p:spPr/>
        <p:txBody>
          <a:bodyPr/>
          <a:lstStyle/>
          <a:p>
            <a:fld id="{60D57393-E858-42A8-B15D-001C98ED276E}" type="datetimeFigureOut">
              <a:rPr lang="en-US" smtClean="0"/>
              <a:t>6/25/2025</a:t>
            </a:fld>
            <a:endParaRPr lang="en-US"/>
          </a:p>
        </p:txBody>
      </p:sp>
      <p:sp>
        <p:nvSpPr>
          <p:cNvPr id="6" name="Footer Placeholder 5">
            <a:extLst>
              <a:ext uri="{FF2B5EF4-FFF2-40B4-BE49-F238E27FC236}">
                <a16:creationId xmlns:a16="http://schemas.microsoft.com/office/drawing/2014/main" id="{60BFA03E-4442-7C9E-E81E-C25B97A64F2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AEE84C-81AE-D3FB-74D9-D84CD1B3582C}"/>
              </a:ext>
            </a:extLst>
          </p:cNvPr>
          <p:cNvSpPr>
            <a:spLocks noGrp="1"/>
          </p:cNvSpPr>
          <p:nvPr>
            <p:ph type="sldNum" sz="quarter" idx="12"/>
          </p:nvPr>
        </p:nvSpPr>
        <p:spPr/>
        <p:txBody>
          <a:bodyPr/>
          <a:lstStyle/>
          <a:p>
            <a:fld id="{1718914F-382C-41D7-B0DB-B0BD98588DE2}" type="slidenum">
              <a:rPr lang="en-US" smtClean="0"/>
              <a:t>‹#›</a:t>
            </a:fld>
            <a:endParaRPr lang="en-US"/>
          </a:p>
        </p:txBody>
      </p:sp>
    </p:spTree>
    <p:extLst>
      <p:ext uri="{BB962C8B-B14F-4D97-AF65-F5344CB8AC3E}">
        <p14:creationId xmlns:p14="http://schemas.microsoft.com/office/powerpoint/2010/main" val="41321433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FE212-101B-1EC9-3CC7-07B7A15F02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7C8C61B-E489-A36E-E66E-E359D75635F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1AACD56-15B4-49C8-F5FC-1E08C2488B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281F37-CFD5-30BC-79EA-2611FAB792ED}"/>
              </a:ext>
            </a:extLst>
          </p:cNvPr>
          <p:cNvSpPr>
            <a:spLocks noGrp="1"/>
          </p:cNvSpPr>
          <p:nvPr>
            <p:ph type="dt" sz="half" idx="10"/>
          </p:nvPr>
        </p:nvSpPr>
        <p:spPr/>
        <p:txBody>
          <a:bodyPr/>
          <a:lstStyle/>
          <a:p>
            <a:fld id="{60D57393-E858-42A8-B15D-001C98ED276E}" type="datetimeFigureOut">
              <a:rPr lang="en-US" smtClean="0"/>
              <a:t>6/25/2025</a:t>
            </a:fld>
            <a:endParaRPr lang="en-US"/>
          </a:p>
        </p:txBody>
      </p:sp>
      <p:sp>
        <p:nvSpPr>
          <p:cNvPr id="6" name="Footer Placeholder 5">
            <a:extLst>
              <a:ext uri="{FF2B5EF4-FFF2-40B4-BE49-F238E27FC236}">
                <a16:creationId xmlns:a16="http://schemas.microsoft.com/office/drawing/2014/main" id="{FA45D472-AF1D-5DCF-1840-060DAC7032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3D5BABA-6DEB-0D77-AED2-B52AD3108578}"/>
              </a:ext>
            </a:extLst>
          </p:cNvPr>
          <p:cNvSpPr>
            <a:spLocks noGrp="1"/>
          </p:cNvSpPr>
          <p:nvPr>
            <p:ph type="sldNum" sz="quarter" idx="12"/>
          </p:nvPr>
        </p:nvSpPr>
        <p:spPr/>
        <p:txBody>
          <a:bodyPr/>
          <a:lstStyle/>
          <a:p>
            <a:fld id="{1718914F-382C-41D7-B0DB-B0BD98588DE2}" type="slidenum">
              <a:rPr lang="en-US" smtClean="0"/>
              <a:t>‹#›</a:t>
            </a:fld>
            <a:endParaRPr lang="en-US"/>
          </a:p>
        </p:txBody>
      </p:sp>
    </p:spTree>
    <p:extLst>
      <p:ext uri="{BB962C8B-B14F-4D97-AF65-F5344CB8AC3E}">
        <p14:creationId xmlns:p14="http://schemas.microsoft.com/office/powerpoint/2010/main" val="4470719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51C04-38C0-C1F2-0DCC-2ED694E8668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C52AE2D-2953-E2D9-3F84-BAE5AAEE32E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ADC99F-9D46-E2D4-3651-F65CF6625CDC}"/>
              </a:ext>
            </a:extLst>
          </p:cNvPr>
          <p:cNvSpPr>
            <a:spLocks noGrp="1"/>
          </p:cNvSpPr>
          <p:nvPr>
            <p:ph type="dt" sz="half" idx="10"/>
          </p:nvPr>
        </p:nvSpPr>
        <p:spPr/>
        <p:txBody>
          <a:bodyPr/>
          <a:lstStyle/>
          <a:p>
            <a:fld id="{60D57393-E858-42A8-B15D-001C98ED276E}" type="datetimeFigureOut">
              <a:rPr lang="en-US" smtClean="0"/>
              <a:t>6/25/2025</a:t>
            </a:fld>
            <a:endParaRPr lang="en-US"/>
          </a:p>
        </p:txBody>
      </p:sp>
      <p:sp>
        <p:nvSpPr>
          <p:cNvPr id="5" name="Footer Placeholder 4">
            <a:extLst>
              <a:ext uri="{FF2B5EF4-FFF2-40B4-BE49-F238E27FC236}">
                <a16:creationId xmlns:a16="http://schemas.microsoft.com/office/drawing/2014/main" id="{47A558C7-F845-57F9-1056-E6614E76DD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A3E440-A4BC-B547-5C18-2EEF6AD57F1A}"/>
              </a:ext>
            </a:extLst>
          </p:cNvPr>
          <p:cNvSpPr>
            <a:spLocks noGrp="1"/>
          </p:cNvSpPr>
          <p:nvPr>
            <p:ph type="sldNum" sz="quarter" idx="12"/>
          </p:nvPr>
        </p:nvSpPr>
        <p:spPr/>
        <p:txBody>
          <a:bodyPr/>
          <a:lstStyle/>
          <a:p>
            <a:fld id="{1718914F-382C-41D7-B0DB-B0BD98588DE2}" type="slidenum">
              <a:rPr lang="en-US" smtClean="0"/>
              <a:t>‹#›</a:t>
            </a:fld>
            <a:endParaRPr lang="en-US"/>
          </a:p>
        </p:txBody>
      </p:sp>
    </p:spTree>
    <p:extLst>
      <p:ext uri="{BB962C8B-B14F-4D97-AF65-F5344CB8AC3E}">
        <p14:creationId xmlns:p14="http://schemas.microsoft.com/office/powerpoint/2010/main" val="10863924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99DCF28-4BD4-2FCB-7A33-7094C2F6015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26B1E13-104B-46FE-12F0-55A6AD6C510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31DDD1-4483-99B7-E547-6DE883F21F86}"/>
              </a:ext>
            </a:extLst>
          </p:cNvPr>
          <p:cNvSpPr>
            <a:spLocks noGrp="1"/>
          </p:cNvSpPr>
          <p:nvPr>
            <p:ph type="dt" sz="half" idx="10"/>
          </p:nvPr>
        </p:nvSpPr>
        <p:spPr/>
        <p:txBody>
          <a:bodyPr/>
          <a:lstStyle/>
          <a:p>
            <a:fld id="{60D57393-E858-42A8-B15D-001C98ED276E}" type="datetimeFigureOut">
              <a:rPr lang="en-US" smtClean="0"/>
              <a:t>6/25/2025</a:t>
            </a:fld>
            <a:endParaRPr lang="en-US"/>
          </a:p>
        </p:txBody>
      </p:sp>
      <p:sp>
        <p:nvSpPr>
          <p:cNvPr id="5" name="Footer Placeholder 4">
            <a:extLst>
              <a:ext uri="{FF2B5EF4-FFF2-40B4-BE49-F238E27FC236}">
                <a16:creationId xmlns:a16="http://schemas.microsoft.com/office/drawing/2014/main" id="{2FE09BD2-4AC0-8449-6B1B-23DCF3EAFE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27AF3D-4086-3BA3-EBFA-16BFD40082EA}"/>
              </a:ext>
            </a:extLst>
          </p:cNvPr>
          <p:cNvSpPr>
            <a:spLocks noGrp="1"/>
          </p:cNvSpPr>
          <p:nvPr>
            <p:ph type="sldNum" sz="quarter" idx="12"/>
          </p:nvPr>
        </p:nvSpPr>
        <p:spPr/>
        <p:txBody>
          <a:bodyPr/>
          <a:lstStyle/>
          <a:p>
            <a:fld id="{1718914F-382C-41D7-B0DB-B0BD98588DE2}" type="slidenum">
              <a:rPr lang="en-US" smtClean="0"/>
              <a:t>‹#›</a:t>
            </a:fld>
            <a:endParaRPr lang="en-US"/>
          </a:p>
        </p:txBody>
      </p:sp>
    </p:spTree>
    <p:extLst>
      <p:ext uri="{BB962C8B-B14F-4D97-AF65-F5344CB8AC3E}">
        <p14:creationId xmlns:p14="http://schemas.microsoft.com/office/powerpoint/2010/main" val="31424054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A010322-67CC-8C76-46F2-E5E2555F104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4918A5C-9FE7-9A6F-C10C-E69E68ABD62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A51829-35CF-B683-08A7-96C2C4D8B17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0D57393-E858-42A8-B15D-001C98ED276E}" type="datetimeFigureOut">
              <a:rPr lang="en-US" smtClean="0"/>
              <a:t>6/25/2025</a:t>
            </a:fld>
            <a:endParaRPr lang="en-US"/>
          </a:p>
        </p:txBody>
      </p:sp>
      <p:sp>
        <p:nvSpPr>
          <p:cNvPr id="5" name="Footer Placeholder 4">
            <a:extLst>
              <a:ext uri="{FF2B5EF4-FFF2-40B4-BE49-F238E27FC236}">
                <a16:creationId xmlns:a16="http://schemas.microsoft.com/office/drawing/2014/main" id="{58C0CDDB-9E03-EC14-DD9A-30CF25BED13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50CCBD6-244E-8ABF-6E5A-87F7DB46FF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718914F-382C-41D7-B0DB-B0BD98588DE2}" type="slidenum">
              <a:rPr lang="en-US" smtClean="0"/>
              <a:t>‹#›</a:t>
            </a:fld>
            <a:endParaRPr lang="en-US"/>
          </a:p>
        </p:txBody>
      </p:sp>
    </p:spTree>
    <p:extLst>
      <p:ext uri="{BB962C8B-B14F-4D97-AF65-F5344CB8AC3E}">
        <p14:creationId xmlns:p14="http://schemas.microsoft.com/office/powerpoint/2010/main" val="27845907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C3510-A0A6-92F9-D4BA-0F701DA610C4}"/>
              </a:ext>
            </a:extLst>
          </p:cNvPr>
          <p:cNvSpPr>
            <a:spLocks noGrp="1"/>
          </p:cNvSpPr>
          <p:nvPr>
            <p:ph type="title"/>
          </p:nvPr>
        </p:nvSpPr>
        <p:spPr/>
        <p:txBody>
          <a:bodyPr/>
          <a:lstStyle/>
          <a:p>
            <a:r>
              <a:rPr lang="en-US" dirty="0"/>
              <a:t>Consumer </a:t>
            </a:r>
          </a:p>
        </p:txBody>
      </p:sp>
      <p:sp>
        <p:nvSpPr>
          <p:cNvPr id="3" name="Content Placeholder 2">
            <a:extLst>
              <a:ext uri="{FF2B5EF4-FFF2-40B4-BE49-F238E27FC236}">
                <a16:creationId xmlns:a16="http://schemas.microsoft.com/office/drawing/2014/main" id="{31D24654-FC08-50F1-F6B0-BA60F5A39905}"/>
              </a:ext>
            </a:extLst>
          </p:cNvPr>
          <p:cNvSpPr>
            <a:spLocks noGrp="1"/>
          </p:cNvSpPr>
          <p:nvPr>
            <p:ph idx="1"/>
          </p:nvPr>
        </p:nvSpPr>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The Consumer Protection Act, 2075 in Nepal gives the legal definition of consumer in section 2(a) which means an individual or institution consuming or using any consumer good or service.</a:t>
            </a:r>
          </a:p>
          <a:p>
            <a:pPr algn="just"/>
            <a:r>
              <a:rPr lang="en-US" dirty="0">
                <a:latin typeface="Times New Roman" panose="02020603050405020304" pitchFamily="18" charset="0"/>
                <a:cs typeface="Times New Roman" panose="02020603050405020304" pitchFamily="18" charset="0"/>
              </a:rPr>
              <a:t>In Oxford Dictionary, a consumer is defined as “a purchaser of goods or services.”</a:t>
            </a:r>
          </a:p>
          <a:p>
            <a:pPr algn="just"/>
            <a:r>
              <a:rPr lang="en-US" dirty="0">
                <a:latin typeface="Times New Roman" panose="02020603050405020304" pitchFamily="18" charset="0"/>
                <a:cs typeface="Times New Roman" panose="02020603050405020304" pitchFamily="18" charset="0"/>
              </a:rPr>
              <a:t>In Black’s Law Dictionary, it is explained to mean “one who consumes Individuals who purchase, use, maintain, and dispose of products and services. A member of that broad class of people who are affected by pricing policies, financing practices, quality of goods and services, credit reporting, debt collection and other trade practices for which state and federal consumer protection law are enacted.”</a:t>
            </a:r>
          </a:p>
        </p:txBody>
      </p:sp>
    </p:spTree>
    <p:extLst>
      <p:ext uri="{BB962C8B-B14F-4D97-AF65-F5344CB8AC3E}">
        <p14:creationId xmlns:p14="http://schemas.microsoft.com/office/powerpoint/2010/main" val="29703826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D89E1-124C-548F-C34D-1372EA0BF84F}"/>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C3FA7D17-32D7-CE6B-28E4-61DF64481C1A}"/>
              </a:ext>
            </a:extLst>
          </p:cNvPr>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Principles of Consumer Rights </a:t>
            </a:r>
          </a:p>
          <a:p>
            <a:pPr marL="0" indent="0">
              <a:buNone/>
            </a:pPr>
            <a:r>
              <a:rPr lang="en-US" dirty="0">
                <a:latin typeface="Times New Roman" panose="02020603050405020304" pitchFamily="18" charset="0"/>
                <a:cs typeface="Times New Roman" panose="02020603050405020304" pitchFamily="18" charset="0"/>
              </a:rPr>
              <a:t>• Protects the consumer</a:t>
            </a:r>
          </a:p>
          <a:p>
            <a:pPr marL="0" indent="0">
              <a:buNone/>
            </a:pPr>
            <a:r>
              <a:rPr lang="en-US" dirty="0">
                <a:latin typeface="Times New Roman" panose="02020603050405020304" pitchFamily="18" charset="0"/>
                <a:cs typeface="Times New Roman" panose="02020603050405020304" pitchFamily="18" charset="0"/>
              </a:rPr>
              <a:t>• Service ethics</a:t>
            </a:r>
          </a:p>
          <a:p>
            <a:pPr marL="0" indent="0">
              <a:buNone/>
            </a:pPr>
            <a:r>
              <a:rPr lang="en-US" dirty="0">
                <a:latin typeface="Times New Roman" panose="02020603050405020304" pitchFamily="18" charset="0"/>
                <a:cs typeface="Times New Roman" panose="02020603050405020304" pitchFamily="18" charset="0"/>
              </a:rPr>
              <a:t>• Products / services are fit for use</a:t>
            </a:r>
          </a:p>
          <a:p>
            <a:pPr marL="0" indent="0">
              <a:buNone/>
            </a:pPr>
            <a:r>
              <a:rPr lang="en-US" dirty="0">
                <a:latin typeface="Times New Roman" panose="02020603050405020304" pitchFamily="18" charset="0"/>
                <a:cs typeface="Times New Roman" panose="02020603050405020304" pitchFamily="18" charset="0"/>
              </a:rPr>
              <a:t>• Rights violations</a:t>
            </a:r>
          </a:p>
        </p:txBody>
      </p:sp>
    </p:spTree>
    <p:extLst>
      <p:ext uri="{BB962C8B-B14F-4D97-AF65-F5344CB8AC3E}">
        <p14:creationId xmlns:p14="http://schemas.microsoft.com/office/powerpoint/2010/main" val="1606026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82114-5520-9B40-38E0-27245193A2EA}"/>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79471B7A-D55B-CCC3-CCAF-11BC19828D94}"/>
              </a:ext>
            </a:extLst>
          </p:cNvPr>
          <p:cNvSpPr>
            <a:spLocks noGrp="1"/>
          </p:cNvSpPr>
          <p:nvPr>
            <p:ph idx="1"/>
          </p:nvPr>
        </p:nvSpPr>
        <p:spPr>
          <a:xfrm>
            <a:off x="838200" y="550606"/>
            <a:ext cx="10515600" cy="5626357"/>
          </a:xfrm>
        </p:spPr>
        <p:txBody>
          <a:bodyPr>
            <a:normAutofit fontScale="70000" lnSpcReduction="20000"/>
          </a:bodyPr>
          <a:lstStyle/>
          <a:p>
            <a:pPr marL="0" indent="0">
              <a:buNone/>
            </a:pPr>
            <a:r>
              <a:rPr lang="en-US" dirty="0">
                <a:latin typeface="Times New Roman" panose="02020603050405020304" pitchFamily="18" charset="0"/>
                <a:cs typeface="Times New Roman" panose="02020603050405020304" pitchFamily="18" charset="0"/>
              </a:rPr>
              <a:t>1. Protects the consumer</a:t>
            </a:r>
          </a:p>
          <a:p>
            <a:pPr marL="0" indent="0">
              <a:buNone/>
            </a:pPr>
            <a:r>
              <a:rPr lang="en-US" dirty="0">
                <a:latin typeface="Times New Roman" panose="02020603050405020304" pitchFamily="18" charset="0"/>
                <a:cs typeface="Times New Roman" panose="02020603050405020304" pitchFamily="18" charset="0"/>
              </a:rPr>
              <a:t>The rights developed and implemented to ensure that consumers around the world are treated fairly when dealing with a provider of a product or service.</a:t>
            </a:r>
          </a:p>
          <a:p>
            <a:pPr marL="0" indent="0">
              <a:buNone/>
            </a:pPr>
            <a:r>
              <a:rPr lang="en-US" dirty="0">
                <a:latin typeface="Times New Roman" panose="02020603050405020304" pitchFamily="18" charset="0"/>
                <a:cs typeface="Times New Roman" panose="02020603050405020304" pitchFamily="18" charset="0"/>
              </a:rPr>
              <a:t>2. Service ethics</a:t>
            </a:r>
          </a:p>
          <a:p>
            <a:pPr marL="0" indent="0" algn="just">
              <a:buNone/>
            </a:pPr>
            <a:r>
              <a:rPr lang="en-US" dirty="0">
                <a:latin typeface="Times New Roman" panose="02020603050405020304" pitchFamily="18" charset="0"/>
                <a:cs typeface="Times New Roman" panose="02020603050405020304" pitchFamily="18" charset="0"/>
              </a:rPr>
              <a:t>Most companies around the world today have based their current customer care practices around consumer rights. For example, establishing customer satisfaction surveys and customer relationship managers to deal with failures in service, ensuring that them products or services are quality assured, ensuring that customer can shop within a safe environment and educating their customers about the products or services that they purchase. These are just a few of the key services that companies have developed in order to make the experience of the customer with the company, an enjoyable one. If there is a failure in anyone of the abovementioned services, then there is a failure in service ethics.</a:t>
            </a:r>
          </a:p>
          <a:p>
            <a:pPr marL="0" indent="0" algn="just">
              <a:buNone/>
            </a:pPr>
            <a:r>
              <a:rPr lang="en-US" dirty="0">
                <a:latin typeface="Times New Roman" panose="02020603050405020304" pitchFamily="18" charset="0"/>
                <a:cs typeface="Times New Roman" panose="02020603050405020304" pitchFamily="18" charset="0"/>
              </a:rPr>
              <a:t>3. Products/Services are fit for use</a:t>
            </a:r>
          </a:p>
          <a:p>
            <a:pPr marL="0" indent="0" algn="just">
              <a:buNone/>
            </a:pPr>
            <a:r>
              <a:rPr lang="en-US" dirty="0">
                <a:latin typeface="Times New Roman" panose="02020603050405020304" pitchFamily="18" charset="0"/>
                <a:cs typeface="Times New Roman" panose="02020603050405020304" pitchFamily="18" charset="0"/>
              </a:rPr>
              <a:t>The consumer has the right to purchase a product that is fit for use and if there are any defects, they can return it to the supplier. All products that are manufactured should have a quality assurance sign off on every product to ensure that it is in working order prior to leaving the manufacturing facility. Service on offer should be quality checked by a quality management function by means of conducting satisfaction surveys, auditing data captured by employees, conducting call assessments, etc.</a:t>
            </a:r>
          </a:p>
          <a:p>
            <a:pPr marL="0" indent="0" algn="just">
              <a:buNone/>
            </a:pPr>
            <a:r>
              <a:rPr lang="en-US" dirty="0">
                <a:latin typeface="Times New Roman" panose="02020603050405020304" pitchFamily="18" charset="0"/>
                <a:cs typeface="Times New Roman" panose="02020603050405020304" pitchFamily="18" charset="0"/>
              </a:rPr>
              <a:t>4. Rights violations</a:t>
            </a:r>
          </a:p>
          <a:p>
            <a:pPr marL="0" indent="0">
              <a:buNone/>
            </a:pPr>
            <a:r>
              <a:rPr lang="en-US" dirty="0">
                <a:latin typeface="Times New Roman" panose="02020603050405020304" pitchFamily="18" charset="0"/>
                <a:cs typeface="Times New Roman" panose="02020603050405020304" pitchFamily="18" charset="0"/>
              </a:rPr>
              <a:t>Any consumer rights that have been violated by a provider of a product or service should be brought to the attention of the relevant authority that governs that type of supplier.</a:t>
            </a:r>
          </a:p>
        </p:txBody>
      </p:sp>
    </p:spTree>
    <p:extLst>
      <p:ext uri="{BB962C8B-B14F-4D97-AF65-F5344CB8AC3E}">
        <p14:creationId xmlns:p14="http://schemas.microsoft.com/office/powerpoint/2010/main" val="24951599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3C19E-F887-8244-8EB2-601C9A7BCD01}"/>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5B1BF337-C9F0-A8FF-930D-1ADD3234A577}"/>
              </a:ext>
            </a:extLst>
          </p:cNvPr>
          <p:cNvSpPr>
            <a:spLocks noGrp="1"/>
          </p:cNvSpPr>
          <p:nvPr>
            <p:ph idx="1"/>
          </p:nvPr>
        </p:nvSpPr>
        <p:spPr>
          <a:xfrm>
            <a:off x="838200" y="540774"/>
            <a:ext cx="10515600" cy="5636189"/>
          </a:xfrm>
        </p:spPr>
        <p:txBody>
          <a:bodyPr>
            <a:normAutofit fontScale="92500"/>
          </a:bodyPr>
          <a:lstStyle/>
          <a:p>
            <a:pPr marL="0" indent="0">
              <a:buNone/>
            </a:pPr>
            <a:r>
              <a:rPr lang="en-US" dirty="0">
                <a:latin typeface="Times New Roman" panose="02020603050405020304" pitchFamily="18" charset="0"/>
                <a:cs typeface="Times New Roman" panose="02020603050405020304" pitchFamily="18" charset="0"/>
              </a:rPr>
              <a:t>United Nations General Assembly has accepted a set of general guidelines for consumer protection on April 9, 1985, which has become landmark guidance for formulating the laws relating to consumer rights in each individual state.</a:t>
            </a:r>
          </a:p>
          <a:p>
            <a:r>
              <a:rPr lang="en-US" dirty="0">
                <a:latin typeface="Times New Roman" panose="02020603050405020304" pitchFamily="18" charset="0"/>
                <a:cs typeface="Times New Roman" panose="02020603050405020304" pitchFamily="18" charset="0"/>
              </a:rPr>
              <a:t>These rights are enlisted as follows: </a:t>
            </a:r>
          </a:p>
          <a:p>
            <a:r>
              <a:rPr lang="en-US" dirty="0">
                <a:latin typeface="Times New Roman" panose="02020603050405020304" pitchFamily="18" charset="0"/>
                <a:cs typeface="Times New Roman" panose="02020603050405020304" pitchFamily="18" charset="0"/>
              </a:rPr>
              <a:t>The right to basic needs,</a:t>
            </a:r>
          </a:p>
          <a:p>
            <a:r>
              <a:rPr lang="en-US" dirty="0">
                <a:latin typeface="Times New Roman" panose="02020603050405020304" pitchFamily="18" charset="0"/>
                <a:cs typeface="Times New Roman" panose="02020603050405020304" pitchFamily="18" charset="0"/>
              </a:rPr>
              <a:t>The right to safety,</a:t>
            </a:r>
          </a:p>
          <a:p>
            <a:r>
              <a:rPr lang="en-US" dirty="0">
                <a:latin typeface="Times New Roman" panose="02020603050405020304" pitchFamily="18" charset="0"/>
                <a:cs typeface="Times New Roman" panose="02020603050405020304" pitchFamily="18" charset="0"/>
              </a:rPr>
              <a:t>The right to be informed,</a:t>
            </a:r>
          </a:p>
          <a:p>
            <a:r>
              <a:rPr lang="en-US" dirty="0">
                <a:latin typeface="Times New Roman" panose="02020603050405020304" pitchFamily="18" charset="0"/>
                <a:cs typeface="Times New Roman" panose="02020603050405020304" pitchFamily="18" charset="0"/>
              </a:rPr>
              <a:t>The right to choose,</a:t>
            </a:r>
          </a:p>
          <a:p>
            <a:r>
              <a:rPr lang="en-US" dirty="0">
                <a:latin typeface="Times New Roman" panose="02020603050405020304" pitchFamily="18" charset="0"/>
                <a:cs typeface="Times New Roman" panose="02020603050405020304" pitchFamily="18" charset="0"/>
              </a:rPr>
              <a:t>The right to be heard,</a:t>
            </a:r>
          </a:p>
          <a:p>
            <a:r>
              <a:rPr lang="en-US" dirty="0">
                <a:latin typeface="Times New Roman" panose="02020603050405020304" pitchFamily="18" charset="0"/>
                <a:cs typeface="Times New Roman" panose="02020603050405020304" pitchFamily="18" charset="0"/>
              </a:rPr>
              <a:t>The right to redress,</a:t>
            </a:r>
          </a:p>
          <a:p>
            <a:r>
              <a:rPr lang="en-US" dirty="0">
                <a:latin typeface="Times New Roman" panose="02020603050405020304" pitchFamily="18" charset="0"/>
                <a:cs typeface="Times New Roman" panose="02020603050405020304" pitchFamily="18" charset="0"/>
              </a:rPr>
              <a:t>The right to consumer education and</a:t>
            </a:r>
          </a:p>
          <a:p>
            <a:r>
              <a:rPr lang="en-US" dirty="0">
                <a:latin typeface="Times New Roman" panose="02020603050405020304" pitchFamily="18" charset="0"/>
                <a:cs typeface="Times New Roman" panose="02020603050405020304" pitchFamily="18" charset="0"/>
              </a:rPr>
              <a:t>The right to a healthy environment</a:t>
            </a:r>
          </a:p>
          <a:p>
            <a:endParaRPr lang="en-US" dirty="0"/>
          </a:p>
        </p:txBody>
      </p:sp>
    </p:spTree>
    <p:extLst>
      <p:ext uri="{BB962C8B-B14F-4D97-AF65-F5344CB8AC3E}">
        <p14:creationId xmlns:p14="http://schemas.microsoft.com/office/powerpoint/2010/main" val="9980966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7E817-C7CB-2C0C-847E-A0926B9F39BE}"/>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0481C553-D120-DC97-D4AF-168841928FA6}"/>
              </a:ext>
            </a:extLst>
          </p:cNvPr>
          <p:cNvSpPr>
            <a:spLocks noGrp="1"/>
          </p:cNvSpPr>
          <p:nvPr>
            <p:ph idx="1"/>
          </p:nvPr>
        </p:nvSpPr>
        <p:spPr>
          <a:xfrm>
            <a:off x="245806" y="294968"/>
            <a:ext cx="11107994" cy="5881995"/>
          </a:xfrm>
        </p:spPr>
        <p:txBody>
          <a:bodyPr>
            <a:normAutofit fontScale="85000" lnSpcReduction="20000"/>
          </a:bodyPr>
          <a:lstStyle/>
          <a:p>
            <a:pPr marL="0" indent="0">
              <a:buNone/>
            </a:pPr>
            <a:r>
              <a:rPr lang="en-US" dirty="0">
                <a:latin typeface="Times New Roman" panose="02020603050405020304" pitchFamily="18" charset="0"/>
                <a:cs typeface="Times New Roman" panose="02020603050405020304" pitchFamily="18" charset="0"/>
              </a:rPr>
              <a:t>Section 3 of Consumer Protection Act,2074</a:t>
            </a:r>
          </a:p>
          <a:p>
            <a:r>
              <a:rPr lang="en-US" dirty="0">
                <a:latin typeface="Times New Roman" panose="02020603050405020304" pitchFamily="18" charset="0"/>
                <a:cs typeface="Times New Roman" panose="02020603050405020304" pitchFamily="18" charset="0"/>
              </a:rPr>
              <a:t>Right to Easy Access: Every consumer has the right to easily get goods or services.</a:t>
            </a:r>
          </a:p>
          <a:p>
            <a:r>
              <a:rPr lang="en-US" dirty="0">
                <a:latin typeface="Times New Roman" panose="02020603050405020304" pitchFamily="18" charset="0"/>
                <a:cs typeface="Times New Roman" panose="02020603050405020304" pitchFamily="18" charset="0"/>
              </a:rPr>
              <a:t>Right to Choose Fairly: Choose good-quality products or services at a fair and competitive price.</a:t>
            </a:r>
          </a:p>
          <a:p>
            <a:r>
              <a:rPr lang="en-US" dirty="0">
                <a:latin typeface="Times New Roman" panose="02020603050405020304" pitchFamily="18" charset="0"/>
                <a:cs typeface="Times New Roman" panose="02020603050405020304" pitchFamily="18" charset="0"/>
              </a:rPr>
              <a:t>Right to Know: Must be informed about the price, quantity, quality, and purity of what you’re buying.</a:t>
            </a:r>
          </a:p>
          <a:p>
            <a:r>
              <a:rPr lang="en-US" dirty="0">
                <a:latin typeface="Times New Roman" panose="02020603050405020304" pitchFamily="18" charset="0"/>
                <a:cs typeface="Times New Roman" panose="02020603050405020304" pitchFamily="18" charset="0"/>
              </a:rPr>
              <a:t>Right to Ingredient Information: If a product is made by mixing different substances, you have the right to know the amount and type of ingredients used.</a:t>
            </a:r>
          </a:p>
          <a:p>
            <a:r>
              <a:rPr lang="en-US" dirty="0">
                <a:latin typeface="Times New Roman" panose="02020603050405020304" pitchFamily="18" charset="0"/>
                <a:cs typeface="Times New Roman" panose="02020603050405020304" pitchFamily="18" charset="0"/>
              </a:rPr>
              <a:t>Right to Safety: should be protected from products or services that could harm your body, health, life, or property.</a:t>
            </a:r>
          </a:p>
          <a:p>
            <a:r>
              <a:rPr lang="en-US" dirty="0">
                <a:latin typeface="Times New Roman" panose="02020603050405020304" pitchFamily="18" charset="0"/>
                <a:cs typeface="Times New Roman" panose="02020603050405020304" pitchFamily="18" charset="0"/>
              </a:rPr>
              <a:t>Right to Legal Protection: Have the right to take legal action against unfair or illegal business practices.</a:t>
            </a:r>
          </a:p>
          <a:p>
            <a:r>
              <a:rPr lang="en-US" dirty="0">
                <a:latin typeface="Times New Roman" panose="02020603050405020304" pitchFamily="18" charset="0"/>
                <a:cs typeface="Times New Roman" panose="02020603050405020304" pitchFamily="18" charset="0"/>
              </a:rPr>
              <a:t>Right to Compensation: If a product or service causes harm or loss, you can claim compensation.</a:t>
            </a:r>
          </a:p>
          <a:p>
            <a:r>
              <a:rPr lang="en-US" dirty="0">
                <a:latin typeface="Times New Roman" panose="02020603050405020304" pitchFamily="18" charset="0"/>
                <a:cs typeface="Times New Roman" panose="02020603050405020304" pitchFamily="18" charset="0"/>
              </a:rPr>
              <a:t>Right to Complain and Be Heard: Have the right to complain and get a response or solution from the responsible authority if your consumer rights are violated. ( Consumer court Section 41)</a:t>
            </a:r>
          </a:p>
        </p:txBody>
      </p:sp>
    </p:spTree>
    <p:extLst>
      <p:ext uri="{BB962C8B-B14F-4D97-AF65-F5344CB8AC3E}">
        <p14:creationId xmlns:p14="http://schemas.microsoft.com/office/powerpoint/2010/main" val="12863100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26086-5128-073A-2E0B-5443E3B9E2D1}"/>
              </a:ext>
            </a:extLst>
          </p:cNvPr>
          <p:cNvSpPr>
            <a:spLocks noGrp="1"/>
          </p:cNvSpPr>
          <p:nvPr>
            <p:ph type="title"/>
          </p:nvPr>
        </p:nvSpPr>
        <p:spPr/>
        <p:txBody>
          <a:bodyPr/>
          <a:lstStyle/>
          <a:p>
            <a:r>
              <a:rPr lang="en-US" dirty="0"/>
              <a:t>Section 14</a:t>
            </a:r>
          </a:p>
        </p:txBody>
      </p:sp>
      <p:sp>
        <p:nvSpPr>
          <p:cNvPr id="3" name="Content Placeholder 2">
            <a:extLst>
              <a:ext uri="{FF2B5EF4-FFF2-40B4-BE49-F238E27FC236}">
                <a16:creationId xmlns:a16="http://schemas.microsoft.com/office/drawing/2014/main" id="{2721D879-ADF7-C6A5-99AF-3AC19904A320}"/>
              </a:ext>
            </a:extLst>
          </p:cNvPr>
          <p:cNvSpPr>
            <a:spLocks noGrp="1"/>
          </p:cNvSpPr>
          <p:nvPr>
            <p:ph idx="1"/>
          </p:nvPr>
        </p:nvSpPr>
        <p:spPr>
          <a:xfrm>
            <a:off x="838200" y="1415845"/>
            <a:ext cx="10515600" cy="5171768"/>
          </a:xfrm>
        </p:spPr>
        <p:txBody>
          <a:bodyPr>
            <a:normAutofit fontScale="85000" lnSpcReduction="20000"/>
          </a:bodyPr>
          <a:lstStyle/>
          <a:p>
            <a:r>
              <a:rPr lang="en-US" dirty="0">
                <a:latin typeface="Times New Roman" panose="02020603050405020304" pitchFamily="18" charset="0"/>
                <a:cs typeface="Times New Roman" panose="02020603050405020304" pitchFamily="18" charset="0"/>
              </a:rPr>
              <a:t>Right to Return within 7 </a:t>
            </a:r>
            <a:r>
              <a:rPr lang="en-US" dirty="0" err="1">
                <a:latin typeface="Times New Roman" panose="02020603050405020304" pitchFamily="18" charset="0"/>
                <a:cs typeface="Times New Roman" panose="02020603050405020304" pitchFamily="18" charset="0"/>
              </a:rPr>
              <a:t>Days:If</a:t>
            </a:r>
            <a:r>
              <a:rPr lang="en-US" dirty="0">
                <a:latin typeface="Times New Roman" panose="02020603050405020304" pitchFamily="18" charset="0"/>
                <a:cs typeface="Times New Roman" panose="02020603050405020304" pitchFamily="18" charset="0"/>
              </a:rPr>
              <a:t> a buyer is dissatisfied, they can:</a:t>
            </a:r>
          </a:p>
          <a:p>
            <a:pPr marL="0" indent="0">
              <a:buNone/>
            </a:pPr>
            <a:r>
              <a:rPr lang="en-US" dirty="0">
                <a:latin typeface="Times New Roman" panose="02020603050405020304" pitchFamily="18" charset="0"/>
                <a:cs typeface="Times New Roman" panose="02020603050405020304" pitchFamily="18" charset="0"/>
              </a:rPr>
              <a:t>(1)Return the goods within 7 days, </a:t>
            </a:r>
          </a:p>
          <a:p>
            <a:r>
              <a:rPr lang="en-US" dirty="0">
                <a:latin typeface="Times New Roman" panose="02020603050405020304" pitchFamily="18" charset="0"/>
                <a:cs typeface="Times New Roman" panose="02020603050405020304" pitchFamily="18" charset="0"/>
              </a:rPr>
              <a:t>Exchange for similar goods of the same price, </a:t>
            </a:r>
          </a:p>
          <a:p>
            <a:r>
              <a:rPr lang="en-US" dirty="0">
                <a:latin typeface="Times New Roman" panose="02020603050405020304" pitchFamily="18" charset="0"/>
                <a:cs typeface="Times New Roman" panose="02020603050405020304" pitchFamily="18" charset="0"/>
              </a:rPr>
              <a:t>Get a full refund of the amount paid.</a:t>
            </a:r>
          </a:p>
          <a:p>
            <a:pPr marL="0" indent="0">
              <a:buNone/>
            </a:pPr>
            <a:r>
              <a:rPr lang="en-US" dirty="0">
                <a:latin typeface="Times New Roman" panose="02020603050405020304" pitchFamily="18" charset="0"/>
                <a:cs typeface="Times New Roman" panose="02020603050405020304" pitchFamily="18" charset="0"/>
              </a:rPr>
              <a:t>(2) No Deductions or Extra Charges: The seller cannot deduct any amount or charge extra when goods are returned</a:t>
            </a:r>
          </a:p>
          <a:p>
            <a:pPr marL="0" indent="0">
              <a:buNone/>
            </a:pPr>
            <a:r>
              <a:rPr lang="en-US" dirty="0">
                <a:latin typeface="Times New Roman" panose="02020603050405020304" pitchFamily="18" charset="0"/>
                <a:cs typeface="Times New Roman" panose="02020603050405020304" pitchFamily="18" charset="0"/>
              </a:rPr>
              <a:t> (3) Bill is Mandatory: The buyer must show the original receipt or bill to return the goods.</a:t>
            </a:r>
          </a:p>
          <a:p>
            <a:pPr marL="0" indent="0">
              <a:buNone/>
            </a:pPr>
            <a:r>
              <a:rPr lang="en-US" dirty="0">
                <a:latin typeface="Times New Roman" panose="02020603050405020304" pitchFamily="18" charset="0"/>
                <a:cs typeface="Times New Roman" panose="02020603050405020304" pitchFamily="18" charset="0"/>
              </a:rPr>
              <a:t>(4) Goods Cannot Be Returned If:(a) Buyer alters the quality or quantity after purchase.(b) Product has expired, if it has a specific use-by date.(c) Goods are perishable, like milk, fruits, meat, fish, and not consumed immediately.(d) Goods are already used.(e) Seal is broken on sealed products.</a:t>
            </a:r>
          </a:p>
          <a:p>
            <a:pPr marL="0" indent="0">
              <a:buNone/>
            </a:pPr>
            <a:r>
              <a:rPr lang="en-US" dirty="0">
                <a:latin typeface="Times New Roman" panose="02020603050405020304" pitchFamily="18" charset="0"/>
                <a:cs typeface="Times New Roman" panose="02020603050405020304" pitchFamily="18" charset="0"/>
              </a:rPr>
              <a:t> (5) Special Rule for Sealed Goods: Sealed goods can be returned within 15 days, only if the seal is unbroken. Buyer can also exchange for other goods of the same price.</a:t>
            </a:r>
          </a:p>
        </p:txBody>
      </p:sp>
    </p:spTree>
    <p:extLst>
      <p:ext uri="{BB962C8B-B14F-4D97-AF65-F5344CB8AC3E}">
        <p14:creationId xmlns:p14="http://schemas.microsoft.com/office/powerpoint/2010/main" val="38883661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3CB58-2046-B476-1F70-3E4A67D10B6D}"/>
              </a:ext>
            </a:extLst>
          </p:cNvPr>
          <p:cNvSpPr>
            <a:spLocks noGrp="1"/>
          </p:cNvSpPr>
          <p:nvPr>
            <p:ph type="title"/>
          </p:nvPr>
        </p:nvSpPr>
        <p:spPr/>
        <p:txBody>
          <a:bodyPr/>
          <a:lstStyle/>
          <a:p>
            <a:r>
              <a:rPr lang="en-US" dirty="0"/>
              <a:t> Punishment mechanism </a:t>
            </a:r>
          </a:p>
        </p:txBody>
      </p:sp>
      <p:sp>
        <p:nvSpPr>
          <p:cNvPr id="3" name="Content Placeholder 2">
            <a:extLst>
              <a:ext uri="{FF2B5EF4-FFF2-40B4-BE49-F238E27FC236}">
                <a16:creationId xmlns:a16="http://schemas.microsoft.com/office/drawing/2014/main" id="{AC627CA7-33F6-43EB-A33B-3B446769BB17}"/>
              </a:ext>
            </a:extLst>
          </p:cNvPr>
          <p:cNvSpPr>
            <a:spLocks noGrp="1"/>
          </p:cNvSpPr>
          <p:nvPr>
            <p:ph idx="1"/>
          </p:nvPr>
        </p:nvSpPr>
        <p:spPr>
          <a:xfrm>
            <a:off x="838200" y="1280160"/>
            <a:ext cx="10515600" cy="4896803"/>
          </a:xfrm>
        </p:spPr>
        <p:txBody>
          <a:bodyPr>
            <a:normAutofit fontScale="70000" lnSpcReduction="20000"/>
          </a:bodyPr>
          <a:lstStyle/>
          <a:p>
            <a:pPr algn="just"/>
            <a:r>
              <a:rPr lang="en-US" dirty="0">
                <a:latin typeface="Times New Roman" panose="02020603050405020304" pitchFamily="18" charset="0"/>
                <a:cs typeface="Times New Roman" panose="02020603050405020304" pitchFamily="18" charset="0"/>
              </a:rPr>
              <a:t>The Act imposes severe punishments to any wrongdoer violating Consumer Protection Act. Section 18 of the Act deals with the punishment as follows:</a:t>
            </a:r>
          </a:p>
          <a:p>
            <a:pPr algn="just"/>
            <a:r>
              <a:rPr lang="en-US" dirty="0">
                <a:latin typeface="Times New Roman" panose="02020603050405020304" pitchFamily="18" charset="0"/>
                <a:cs typeface="Times New Roman" panose="02020603050405020304" pitchFamily="18" charset="0"/>
              </a:rPr>
              <a:t>Maximum of 3 years imprisonment or Rupees 50,000 fine or both in case of creating circumstances that leads to any adverse impact in the market or in demand, supply or price of goods or services, through collusion, by fixing quotas, hoarding and by creating an artificial scarcity of goods and services.</a:t>
            </a:r>
          </a:p>
          <a:p>
            <a:pPr algn="just"/>
            <a:r>
              <a:rPr lang="en-US" dirty="0">
                <a:latin typeface="Times New Roman" panose="02020603050405020304" pitchFamily="18" charset="0"/>
                <a:cs typeface="Times New Roman" panose="02020603050405020304" pitchFamily="18" charset="0"/>
              </a:rPr>
              <a:t>Maximum of 2 years imprisonment or Rupees 30, 000 fine or both in case of violating obligation to mention name, address and registration number of manufacture company in the label of products.</a:t>
            </a:r>
          </a:p>
          <a:p>
            <a:pPr algn="just"/>
            <a:r>
              <a:rPr lang="en-US" dirty="0">
                <a:latin typeface="Times New Roman" panose="02020603050405020304" pitchFamily="18" charset="0"/>
                <a:cs typeface="Times New Roman" panose="02020603050405020304" pitchFamily="18" charset="0"/>
              </a:rPr>
              <a:t>Maximum of 3 years imprisonment or Rupees 50,000 fine or both in case of manufacturing, selling, exports and import of lower quality goods.</a:t>
            </a:r>
          </a:p>
          <a:p>
            <a:pPr algn="just"/>
            <a:r>
              <a:rPr lang="en-US" dirty="0">
                <a:latin typeface="Times New Roman" panose="02020603050405020304" pitchFamily="18" charset="0"/>
                <a:cs typeface="Times New Roman" panose="02020603050405020304" pitchFamily="18" charset="0"/>
              </a:rPr>
              <a:t>Maximum of 5 years imprisonment or Rupees 100000 fine or both in case of duplicating any product, selling of goods in guise of standard goods and unfair commercial transactions like false or misleading advertisement of the use, utility or effectiveness of any goods or services.</a:t>
            </a:r>
          </a:p>
          <a:p>
            <a:pPr algn="just"/>
            <a:r>
              <a:rPr lang="en-US" dirty="0">
                <a:latin typeface="Times New Roman" panose="02020603050405020304" pitchFamily="18" charset="0"/>
                <a:cs typeface="Times New Roman" panose="02020603050405020304" pitchFamily="18" charset="0"/>
              </a:rPr>
              <a:t>Maximum of 14 years imprisonment or Rupees 500000 fine or both in case of consuming any goods or services that may cause serious hazard to life.</a:t>
            </a:r>
          </a:p>
          <a:p>
            <a:pPr algn="just"/>
            <a:r>
              <a:rPr lang="en-US" dirty="0">
                <a:latin typeface="Times New Roman" panose="02020603050405020304" pitchFamily="18" charset="0"/>
                <a:cs typeface="Times New Roman" panose="02020603050405020304" pitchFamily="18" charset="0"/>
              </a:rPr>
              <a:t>\Maximum of 10 years imprisonment or Rupees 500000 fine or both in case of serious injury to any parts of the body that may cause permanent damage.</a:t>
            </a:r>
          </a:p>
          <a:p>
            <a:pPr algn="just"/>
            <a:r>
              <a:rPr lang="en-US" dirty="0">
                <a:latin typeface="Times New Roman" panose="02020603050405020304" pitchFamily="18" charset="0"/>
                <a:cs typeface="Times New Roman" panose="02020603050405020304" pitchFamily="18" charset="0"/>
              </a:rPr>
              <a:t>Maximum of 5 years imprisonment or Rupees 300000 fine or both in case of other injury to health.</a:t>
            </a:r>
          </a:p>
        </p:txBody>
      </p:sp>
    </p:spTree>
    <p:extLst>
      <p:ext uri="{BB962C8B-B14F-4D97-AF65-F5344CB8AC3E}">
        <p14:creationId xmlns:p14="http://schemas.microsoft.com/office/powerpoint/2010/main" val="21741823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104</TotalTime>
  <Words>1186</Words>
  <Application>Microsoft Office PowerPoint</Application>
  <PresentationFormat>Widescreen</PresentationFormat>
  <Paragraphs>58</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Aptos Display</vt:lpstr>
      <vt:lpstr>Arial</vt:lpstr>
      <vt:lpstr>Times New Roman</vt:lpstr>
      <vt:lpstr>Office Theme</vt:lpstr>
      <vt:lpstr>Consumer </vt:lpstr>
      <vt:lpstr> </vt:lpstr>
      <vt:lpstr> </vt:lpstr>
      <vt:lpstr> </vt:lpstr>
      <vt:lpstr> </vt:lpstr>
      <vt:lpstr>Section 14</vt:lpstr>
      <vt:lpstr> Punishment mechanism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shristi baral</dc:creator>
  <cp:lastModifiedBy>Ravi Silwal</cp:lastModifiedBy>
  <cp:revision>6</cp:revision>
  <dcterms:created xsi:type="dcterms:W3CDTF">2025-06-02T00:58:07Z</dcterms:created>
  <dcterms:modified xsi:type="dcterms:W3CDTF">2025-06-25T13:39:23Z</dcterms:modified>
</cp:coreProperties>
</file>