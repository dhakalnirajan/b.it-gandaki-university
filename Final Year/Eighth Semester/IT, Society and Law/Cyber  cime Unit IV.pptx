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1" r:id="rId6"/>
    <p:sldId id="262" r:id="rId7"/>
    <p:sldId id="260"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6/25/2025</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033244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0547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23684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19048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71464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3245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4715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1548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279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330105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6/25/2025</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597486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6/25/2025</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97002534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AB9A045-0936-3C2B-82DB-DF3D5F2AE099}"/>
              </a:ext>
            </a:extLst>
          </p:cNvPr>
          <p:cNvPicPr>
            <a:picLocks noChangeAspect="1"/>
          </p:cNvPicPr>
          <p:nvPr/>
        </p:nvPicPr>
        <p:blipFill>
          <a:blip r:embed="rId2">
            <a:alphaModFix amt="50000"/>
          </a:blip>
          <a:srcRect r="-1" b="22125"/>
          <a:stretch>
            <a:fillRect/>
          </a:stretch>
        </p:blipFill>
        <p:spPr>
          <a:xfrm>
            <a:off x="20" y="10"/>
            <a:ext cx="12188931" cy="6857990"/>
          </a:xfrm>
          <a:prstGeom prst="rect">
            <a:avLst/>
          </a:prstGeom>
        </p:spPr>
      </p:pic>
      <p:sp>
        <p:nvSpPr>
          <p:cNvPr id="2" name="Title 1">
            <a:extLst>
              <a:ext uri="{FF2B5EF4-FFF2-40B4-BE49-F238E27FC236}">
                <a16:creationId xmlns:a16="http://schemas.microsoft.com/office/drawing/2014/main" id="{0A167053-ABB5-686A-2A68-DBACC68CEFD2}"/>
              </a:ext>
            </a:extLst>
          </p:cNvPr>
          <p:cNvSpPr>
            <a:spLocks noGrp="1"/>
          </p:cNvSpPr>
          <p:nvPr>
            <p:ph type="ctrTitle"/>
          </p:nvPr>
        </p:nvSpPr>
        <p:spPr>
          <a:xfrm>
            <a:off x="1527048" y="1124712"/>
            <a:ext cx="9144000" cy="3063240"/>
          </a:xfrm>
        </p:spPr>
        <p:txBody>
          <a:bodyPr>
            <a:normAutofit/>
          </a:bodyPr>
          <a:lstStyle/>
          <a:p>
            <a:pPr algn="ctr"/>
            <a:r>
              <a:rPr lang="en-US"/>
              <a:t>Cyber crime </a:t>
            </a:r>
          </a:p>
        </p:txBody>
      </p:sp>
      <p:sp>
        <p:nvSpPr>
          <p:cNvPr id="3" name="Subtitle 2">
            <a:extLst>
              <a:ext uri="{FF2B5EF4-FFF2-40B4-BE49-F238E27FC236}">
                <a16:creationId xmlns:a16="http://schemas.microsoft.com/office/drawing/2014/main" id="{682E4135-EFEF-8E6C-58B9-9410AE4222A0}"/>
              </a:ext>
            </a:extLst>
          </p:cNvPr>
          <p:cNvSpPr>
            <a:spLocks noGrp="1"/>
          </p:cNvSpPr>
          <p:nvPr>
            <p:ph type="subTitle" idx="1"/>
          </p:nvPr>
        </p:nvSpPr>
        <p:spPr>
          <a:xfrm>
            <a:off x="1527048" y="4599432"/>
            <a:ext cx="9144000" cy="1227520"/>
          </a:xfrm>
        </p:spPr>
        <p:txBody>
          <a:bodyPr>
            <a:normAutofit/>
          </a:bodyPr>
          <a:lstStyle/>
          <a:p>
            <a:pPr algn="ctr"/>
            <a:endParaRPr lang="en-US" sz="3200" dirty="0"/>
          </a:p>
        </p:txBody>
      </p:sp>
      <p:sp>
        <p:nvSpPr>
          <p:cNvPr id="22" name="Rectangle 6">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571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212089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159A-02D2-769A-8F02-88C349725CB8}"/>
              </a:ext>
            </a:extLst>
          </p:cNvPr>
          <p:cNvSpPr>
            <a:spLocks noGrp="1"/>
          </p:cNvSpPr>
          <p:nvPr>
            <p:ph type="title"/>
          </p:nvPr>
        </p:nvSpPr>
        <p:spPr/>
        <p:txBody>
          <a:bodyPr/>
          <a:lstStyle/>
          <a:p>
            <a:r>
              <a:rPr lang="en-US" dirty="0"/>
              <a:t>Concept </a:t>
            </a:r>
          </a:p>
        </p:txBody>
      </p:sp>
      <p:sp>
        <p:nvSpPr>
          <p:cNvPr id="3" name="Content Placeholder 2">
            <a:extLst>
              <a:ext uri="{FF2B5EF4-FFF2-40B4-BE49-F238E27FC236}">
                <a16:creationId xmlns:a16="http://schemas.microsoft.com/office/drawing/2014/main" id="{F6696A72-C163-77A8-53E8-1714FAC3DD77}"/>
              </a:ext>
            </a:extLst>
          </p:cNvPr>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The term cyber crime is in variably used with “computer crime”, “computer misuse” or “information technology crime”.</a:t>
            </a:r>
          </a:p>
          <a:p>
            <a:pPr algn="just"/>
            <a:r>
              <a:rPr lang="en-US" dirty="0">
                <a:latin typeface="Times New Roman" panose="02020603050405020304" pitchFamily="18" charset="0"/>
                <a:cs typeface="Times New Roman" panose="02020603050405020304" pitchFamily="18" charset="0"/>
              </a:rPr>
              <a:t>Early description included “computer crime”, “computer related crime” or “crime by computer”.</a:t>
            </a:r>
          </a:p>
          <a:p>
            <a:pPr algn="just"/>
            <a:r>
              <a:rPr lang="en-US" dirty="0">
                <a:latin typeface="Times New Roman" panose="02020603050405020304" pitchFamily="18" charset="0"/>
                <a:cs typeface="Times New Roman" panose="02020603050405020304" pitchFamily="18" charset="0"/>
              </a:rPr>
              <a:t>Cybercrime is also defined as unlawful acts where a computer is used as a tool, a target, or both.</a:t>
            </a:r>
          </a:p>
          <a:p>
            <a:pPr algn="just"/>
            <a:r>
              <a:rPr lang="en-US" dirty="0">
                <a:latin typeface="Times New Roman" panose="02020603050405020304" pitchFamily="18" charset="0"/>
                <a:cs typeface="Times New Roman" panose="02020603050405020304" pitchFamily="18" charset="0"/>
              </a:rPr>
              <a:t>Thus, cybercrime is a criminal activity that uses a computer as an instrument or means to perpetuate further crimes.</a:t>
            </a:r>
          </a:p>
          <a:p>
            <a:pPr algn="just"/>
            <a:r>
              <a:rPr lang="en-US" dirty="0">
                <a:latin typeface="Times New Roman" panose="02020603050405020304" pitchFamily="18" charset="0"/>
                <a:cs typeface="Times New Roman" panose="02020603050405020304" pitchFamily="18" charset="0"/>
              </a:rPr>
              <a:t>Cybercrime involves creating, distributing, altering, stealing, misusing, and destroying information through computer manipulation in cyberspace, without the use of physical force and against the will or interest of the victim.</a:t>
            </a:r>
          </a:p>
        </p:txBody>
      </p:sp>
    </p:spTree>
    <p:extLst>
      <p:ext uri="{BB962C8B-B14F-4D97-AF65-F5344CB8AC3E}">
        <p14:creationId xmlns:p14="http://schemas.microsoft.com/office/powerpoint/2010/main" val="1607344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74473-9BBF-4951-08F3-E73F24F8A3D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D0213FB-B23D-317B-0B9B-EF6DB86C39B6}"/>
              </a:ext>
            </a:extLst>
          </p:cNvPr>
          <p:cNvSpPr>
            <a:spLocks noGrp="1"/>
          </p:cNvSpPr>
          <p:nvPr>
            <p:ph idx="1"/>
          </p:nvPr>
        </p:nvSpPr>
        <p:spPr>
          <a:xfrm>
            <a:off x="838200" y="825910"/>
            <a:ext cx="10515600" cy="5355434"/>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The Council of Europe Convention on cybercrime suggest that a definition of cybercrime includes: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Offense against the confidentiality, integrity and availability of computer data and systems.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computer- related offences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Content related offenses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Copyright infringement and offences to related rights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Offences involving infringement of privacy. </a:t>
            </a:r>
          </a:p>
          <a:p>
            <a:pPr marL="0" indent="0">
              <a:buNone/>
            </a:pPr>
            <a:r>
              <a:rPr lang="en-US" dirty="0">
                <a:latin typeface="Times New Roman" panose="02020603050405020304" pitchFamily="18" charset="0"/>
                <a:cs typeface="Times New Roman" panose="02020603050405020304" pitchFamily="18" charset="0"/>
              </a:rPr>
              <a:t>Thus, </a:t>
            </a:r>
          </a:p>
          <a:p>
            <a:pPr marL="0" indent="0">
              <a:buNone/>
            </a:pPr>
            <a:r>
              <a:rPr lang="en-US" dirty="0">
                <a:latin typeface="Times New Roman" panose="02020603050405020304" pitchFamily="18" charset="0"/>
                <a:cs typeface="Times New Roman" panose="02020603050405020304" pitchFamily="18" charset="0"/>
              </a:rPr>
              <a:t>Computer as target: attacking the computer of others (spreading virus)</a:t>
            </a:r>
          </a:p>
          <a:p>
            <a:pPr marL="0" indent="0">
              <a:buNone/>
            </a:pPr>
            <a:r>
              <a:rPr lang="en-US" dirty="0">
                <a:latin typeface="Times New Roman" panose="02020603050405020304" pitchFamily="18" charset="0"/>
                <a:cs typeface="Times New Roman" panose="02020603050405020304" pitchFamily="18" charset="0"/>
              </a:rPr>
              <a:t>Computer as weapon: using a computer to commit crime like illegal gambling or fraud</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371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09C7-83C2-559E-6D60-3908884DBE0D}"/>
              </a:ext>
            </a:extLst>
          </p:cNvPr>
          <p:cNvSpPr>
            <a:spLocks noGrp="1"/>
          </p:cNvSpPr>
          <p:nvPr>
            <p:ph type="title"/>
          </p:nvPr>
        </p:nvSpPr>
        <p:spPr/>
        <p:txBody>
          <a:bodyPr/>
          <a:lstStyle/>
          <a:p>
            <a:r>
              <a:rPr lang="en-US" dirty="0"/>
              <a:t>Nature of cyber crime </a:t>
            </a:r>
          </a:p>
        </p:txBody>
      </p:sp>
      <p:sp>
        <p:nvSpPr>
          <p:cNvPr id="3" name="Content Placeholder 2">
            <a:extLst>
              <a:ext uri="{FF2B5EF4-FFF2-40B4-BE49-F238E27FC236}">
                <a16:creationId xmlns:a16="http://schemas.microsoft.com/office/drawing/2014/main" id="{830E9EE0-5A73-3CB6-6222-596045C11953}"/>
              </a:ext>
            </a:extLst>
          </p:cNvPr>
          <p:cNvSpPr>
            <a:spLocks noGrp="1"/>
          </p:cNvSpPr>
          <p:nvPr>
            <p:ph idx="1"/>
          </p:nvPr>
        </p:nvSpPr>
        <p:spPr/>
        <p:txBody>
          <a:bodyPr>
            <a:normAutofit fontScale="55000" lnSpcReduction="20000"/>
          </a:bodyPr>
          <a:lstStyle/>
          <a:p>
            <a:pPr>
              <a:buNone/>
            </a:pPr>
            <a:r>
              <a:rPr lang="en-US" b="1" dirty="0">
                <a:latin typeface="Times New Roman" panose="02020603050405020304" pitchFamily="18" charset="0"/>
                <a:cs typeface="Times New Roman" panose="02020603050405020304" pitchFamily="18" charset="0"/>
              </a:rPr>
              <a:t>Nature of Cybercrime</a:t>
            </a:r>
          </a:p>
          <a:p>
            <a:pPr>
              <a:buFont typeface="+mj-lt"/>
              <a:buAutoNum type="arabicPeriod"/>
            </a:pPr>
            <a:r>
              <a:rPr lang="en-US" b="1" dirty="0">
                <a:latin typeface="Times New Roman" panose="02020603050405020304" pitchFamily="18" charset="0"/>
                <a:cs typeface="Times New Roman" panose="02020603050405020304" pitchFamily="18" charset="0"/>
              </a:rPr>
              <a:t>Technology-Driven</a:t>
            </a:r>
          </a:p>
          <a:p>
            <a:pPr marL="0" indent="0">
              <a:buNone/>
            </a:pPr>
            <a:r>
              <a:rPr lang="en-US" dirty="0">
                <a:latin typeface="Times New Roman" panose="02020603050405020304" pitchFamily="18" charset="0"/>
                <a:cs typeface="Times New Roman" panose="02020603050405020304" pitchFamily="18" charset="0"/>
              </a:rPr>
              <a:t>Cybercrime leverages digital platforms, including the internet and computer systems, to commit illegal activities such as hacking, identity theft, and fraud. </a:t>
            </a:r>
          </a:p>
          <a:p>
            <a:pPr marL="0" indent="0">
              <a:buNone/>
            </a:pPr>
            <a:r>
              <a:rPr lang="en-US" b="1" dirty="0">
                <a:latin typeface="Times New Roman" panose="02020603050405020304" pitchFamily="18" charset="0"/>
                <a:cs typeface="Times New Roman" panose="02020603050405020304" pitchFamily="18" charset="0"/>
              </a:rPr>
              <a:t>2. Global and Transnational</a:t>
            </a:r>
          </a:p>
          <a:p>
            <a:pPr marL="0" indent="0">
              <a:buNone/>
            </a:pPr>
            <a:r>
              <a:rPr lang="en-US" dirty="0">
                <a:latin typeface="Times New Roman" panose="02020603050405020304" pitchFamily="18" charset="0"/>
                <a:cs typeface="Times New Roman" panose="02020603050405020304" pitchFamily="18" charset="0"/>
              </a:rPr>
              <a:t>Cybercriminals can operate from anywhere, targeting victims across borders, making jurisdiction and enforcement challenging. </a:t>
            </a:r>
          </a:p>
          <a:p>
            <a:pPr marL="0" indent="0">
              <a:buNone/>
            </a:pPr>
            <a:r>
              <a:rPr lang="en-US" b="1" dirty="0">
                <a:latin typeface="Times New Roman" panose="02020603050405020304" pitchFamily="18" charset="0"/>
                <a:cs typeface="Times New Roman" panose="02020603050405020304" pitchFamily="18" charset="0"/>
              </a:rPr>
              <a:t>3. Anonymity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internet provides a level of anonymity, allowing cybercriminals to hide their identities and locations, complicating detection and prosecution. </a:t>
            </a:r>
          </a:p>
          <a:p>
            <a:pPr marL="0" indent="0">
              <a:buNone/>
            </a:pPr>
            <a:r>
              <a:rPr lang="en-US" b="1" dirty="0">
                <a:latin typeface="Times New Roman" panose="02020603050405020304" pitchFamily="18" charset="0"/>
                <a:cs typeface="Times New Roman" panose="02020603050405020304" pitchFamily="18" charset="0"/>
              </a:rPr>
              <a:t>4. Evolving Techniques</a:t>
            </a:r>
          </a:p>
          <a:p>
            <a:pPr marL="0" indent="0">
              <a:buNone/>
            </a:pPr>
            <a:r>
              <a:rPr lang="en-US" dirty="0">
                <a:latin typeface="Times New Roman" panose="02020603050405020304" pitchFamily="18" charset="0"/>
                <a:cs typeface="Times New Roman" panose="02020603050405020304" pitchFamily="18" charset="0"/>
              </a:rPr>
              <a:t>Cybercriminals continuously adapt their methods, utilizing advanced tools and exploiting new vulnerabilities to bypass security measures. </a:t>
            </a:r>
          </a:p>
          <a:p>
            <a:pPr marL="0" indent="0">
              <a:buNone/>
            </a:pPr>
            <a:r>
              <a:rPr lang="en-US" b="1" dirty="0">
                <a:latin typeface="Times New Roman" panose="02020603050405020304" pitchFamily="18" charset="0"/>
                <a:cs typeface="Times New Roman" panose="02020603050405020304" pitchFamily="18" charset="0"/>
              </a:rPr>
              <a:t>5. Wide-Ranging Impact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Victims include individuals, businesses, and governments, with consequences ranging from financial loss to reputational damage.</a:t>
            </a:r>
          </a:p>
          <a:p>
            <a:endParaRPr lang="en-US" dirty="0"/>
          </a:p>
        </p:txBody>
      </p:sp>
    </p:spTree>
    <p:extLst>
      <p:ext uri="{BB962C8B-B14F-4D97-AF65-F5344CB8AC3E}">
        <p14:creationId xmlns:p14="http://schemas.microsoft.com/office/powerpoint/2010/main" val="3072009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0B96-78F7-1862-9292-E5A190F12F7C}"/>
              </a:ext>
            </a:extLst>
          </p:cNvPr>
          <p:cNvSpPr>
            <a:spLocks noGrp="1"/>
          </p:cNvSpPr>
          <p:nvPr>
            <p:ph type="title"/>
          </p:nvPr>
        </p:nvSpPr>
        <p:spPr/>
        <p:txBody>
          <a:bodyPr/>
          <a:lstStyle/>
          <a:p>
            <a:r>
              <a:rPr lang="en-US" dirty="0"/>
              <a:t>Type of cybercrime</a:t>
            </a:r>
          </a:p>
        </p:txBody>
      </p:sp>
      <p:sp>
        <p:nvSpPr>
          <p:cNvPr id="3" name="Content Placeholder 2">
            <a:extLst>
              <a:ext uri="{FF2B5EF4-FFF2-40B4-BE49-F238E27FC236}">
                <a16:creationId xmlns:a16="http://schemas.microsoft.com/office/drawing/2014/main" id="{D9A687FA-125B-89BF-1DDF-B9D75A54A9E8}"/>
              </a:ext>
            </a:extLst>
          </p:cNvPr>
          <p:cNvSpPr>
            <a:spLocks noGrp="1"/>
          </p:cNvSpPr>
          <p:nvPr>
            <p:ph idx="1"/>
          </p:nvPr>
        </p:nvSpPr>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Robert Taylor classified cybercrime into four types as:</a:t>
            </a:r>
          </a:p>
          <a:p>
            <a:pPr marL="514350" indent="-514350" algn="just">
              <a:buAutoNum type="alphaLcParenR"/>
            </a:pPr>
            <a:r>
              <a:rPr lang="en-US" dirty="0">
                <a:latin typeface="Times New Roman" panose="02020603050405020304" pitchFamily="18" charset="0"/>
                <a:cs typeface="Times New Roman" panose="02020603050405020304" pitchFamily="18" charset="0"/>
              </a:rPr>
              <a:t>The computer as a target: unauthorized access to computer software, hardware, DOS (denial-of-service attacks))</a:t>
            </a:r>
          </a:p>
          <a:p>
            <a:pPr marL="514350" indent="-514350" algn="just">
              <a:buAutoNum type="alphaLcParenR"/>
            </a:pPr>
            <a:r>
              <a:rPr lang="en-US" dirty="0">
                <a:latin typeface="Times New Roman" panose="02020603050405020304" pitchFamily="18" charset="0"/>
                <a:cs typeface="Times New Roman" panose="02020603050405020304" pitchFamily="18" charset="0"/>
              </a:rPr>
              <a:t>The computer as an instrument o the crime; to steal personal information, telecom fraud, credit card fraud etc.</a:t>
            </a:r>
          </a:p>
          <a:p>
            <a:pPr marL="514350" indent="-514350" algn="just">
              <a:buAutoNum type="alphaLcParenR"/>
            </a:pPr>
            <a:r>
              <a:rPr lang="en-US" dirty="0">
                <a:latin typeface="Times New Roman" panose="02020603050405020304" pitchFamily="18" charset="0"/>
                <a:cs typeface="Times New Roman" panose="02020603050405020304" pitchFamily="18" charset="0"/>
              </a:rPr>
              <a:t>The computer as incidental to a crime: child pornography, money laundering, fraud etc.</a:t>
            </a:r>
          </a:p>
          <a:p>
            <a:pPr marL="514350" indent="-514350" algn="just">
              <a:buAutoNum type="alphaLcParenR"/>
            </a:pPr>
            <a:r>
              <a:rPr lang="en-US" dirty="0">
                <a:latin typeface="Times New Roman" panose="02020603050405020304" pitchFamily="18" charset="0"/>
                <a:cs typeface="Times New Roman" panose="02020603050405020304" pitchFamily="18" charset="0"/>
              </a:rPr>
              <a:t>Crimes associated with the prevalence of computers: Software privacy, intellectual property theft like copyright infringement. </a:t>
            </a:r>
          </a:p>
          <a:p>
            <a:pPr marL="0" indent="0">
              <a:buNone/>
            </a:pPr>
            <a:endParaRPr lang="en-US" dirty="0"/>
          </a:p>
        </p:txBody>
      </p:sp>
    </p:spTree>
    <p:extLst>
      <p:ext uri="{BB962C8B-B14F-4D97-AF65-F5344CB8AC3E}">
        <p14:creationId xmlns:p14="http://schemas.microsoft.com/office/powerpoint/2010/main" val="368336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B58C5-C918-6EF6-D21C-AF3DA7D3EB36}"/>
              </a:ext>
            </a:extLst>
          </p:cNvPr>
          <p:cNvSpPr>
            <a:spLocks noGrp="1"/>
          </p:cNvSpPr>
          <p:nvPr>
            <p:ph type="title"/>
          </p:nvPr>
        </p:nvSpPr>
        <p:spPr/>
        <p:txBody>
          <a:bodyPr/>
          <a:lstStyle/>
          <a:p>
            <a:r>
              <a:rPr lang="en-US" dirty="0"/>
              <a:t>Different type of cybercrime</a:t>
            </a:r>
          </a:p>
        </p:txBody>
      </p:sp>
      <p:sp>
        <p:nvSpPr>
          <p:cNvPr id="3" name="Content Placeholder 2">
            <a:extLst>
              <a:ext uri="{FF2B5EF4-FFF2-40B4-BE49-F238E27FC236}">
                <a16:creationId xmlns:a16="http://schemas.microsoft.com/office/drawing/2014/main" id="{699BE4E8-D581-8BF4-82DD-B76B88EF77CF}"/>
              </a:ext>
            </a:extLst>
          </p:cNvPr>
          <p:cNvSpPr>
            <a:spLocks noGrp="1"/>
          </p:cNvSpPr>
          <p:nvPr>
            <p:ph idx="1"/>
          </p:nvPr>
        </p:nvSpPr>
        <p:spPr>
          <a:xfrm>
            <a:off x="838200" y="1929383"/>
            <a:ext cx="10515600" cy="4563491"/>
          </a:xfrm>
        </p:spPr>
        <p:txBody>
          <a:bodyPr>
            <a:normAutofit fontScale="70000" lnSpcReduction="20000"/>
          </a:bodyPr>
          <a:lstStyle/>
          <a:p>
            <a:pPr marL="514350" indent="-514350" algn="just">
              <a:buAutoNum type="arabicParenR"/>
            </a:pPr>
            <a:r>
              <a:rPr lang="en-US" dirty="0">
                <a:latin typeface="Times New Roman" panose="02020603050405020304" pitchFamily="18" charset="0"/>
                <a:cs typeface="Times New Roman" panose="02020603050405020304" pitchFamily="18" charset="0"/>
              </a:rPr>
              <a:t>Hacking: Hacking is developed by a highly skills programmer (hacker) that enters a computer system and network in an illegal way. Hacking refers to the act of gaining unauthorized access to computer systems, networks, or devices to exploit vulnerabilities. Hacking is an act committed by intruder by accessing computer system without permission. It aims to access to important data and information, breaching privacy.</a:t>
            </a:r>
          </a:p>
          <a:p>
            <a:pPr marL="514350" indent="-514350" algn="just">
              <a:buAutoNum type="arabicParenR"/>
            </a:pPr>
            <a:r>
              <a:rPr lang="en-US" dirty="0">
                <a:latin typeface="Times New Roman" panose="02020603050405020304" pitchFamily="18" charset="0"/>
                <a:cs typeface="Times New Roman" panose="02020603050405020304" pitchFamily="18" charset="0"/>
              </a:rPr>
              <a:t>Phishing:</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Phishing is defined as the illegal act of obtaining sensitive information—such as passwords, usernames, credit card details, and electronic signatures—through online networks, websites, and online payment systems. Attackers employ deceptive tactics to trick individuals into revealing this information. These attacks often occur through emails, text messages, or phone calls that appear to be from trusted sources. Phishing is a method of stealing personal data whereby an authentic-looking email is made to appear as if it is coming from a legitimate company or institution. The goal is to deceive the recipient into sending secret information, such as account credentials or login data, to the scammer.</a:t>
            </a:r>
          </a:p>
        </p:txBody>
      </p:sp>
    </p:spTree>
    <p:extLst>
      <p:ext uri="{BB962C8B-B14F-4D97-AF65-F5344CB8AC3E}">
        <p14:creationId xmlns:p14="http://schemas.microsoft.com/office/powerpoint/2010/main" val="3615639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9E9EF-3A2D-392E-C497-70E5C9AE5D0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771855E-D0FE-532D-12B9-31A105037D49}"/>
              </a:ext>
            </a:extLst>
          </p:cNvPr>
          <p:cNvSpPr>
            <a:spLocks noGrp="1"/>
          </p:cNvSpPr>
          <p:nvPr>
            <p:ph idx="1"/>
          </p:nvPr>
        </p:nvSpPr>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3) Spam: Spam refers to irrelevant or unwanted emails and messages sent over the Internet, typically to many users, for purposes such as advertising, phishing, spreading malware, and more. A spam message often contains malicious links. Spammers can send bulk unwanted messages, excessively posting different links in the form of advertisements or private messages using fake identities.</a:t>
            </a:r>
          </a:p>
          <a:p>
            <a:pPr marL="0" indent="0" algn="just">
              <a:buNone/>
            </a:pPr>
            <a:r>
              <a:rPr lang="en-US" dirty="0">
                <a:latin typeface="Times New Roman" panose="02020603050405020304" pitchFamily="18" charset="0"/>
                <a:cs typeface="Times New Roman" panose="02020603050405020304" pitchFamily="18" charset="0"/>
              </a:rPr>
              <a:t>4) Cyber Stalking:</a:t>
            </a:r>
            <a:r>
              <a:rPr lang="en-US" b="1" dirty="0"/>
              <a:t> </a:t>
            </a:r>
            <a:r>
              <a:rPr lang="en-US" dirty="0">
                <a:latin typeface="Times New Roman" panose="02020603050405020304" pitchFamily="18" charset="0"/>
                <a:cs typeface="Times New Roman" panose="02020603050405020304" pitchFamily="18" charset="0"/>
              </a:rPr>
              <a:t>Cyberstalking is defined as using the internet or other electronic means to threaten any organization, individual, or group of individuals. It constitutes an invasion of one's online privacy and involves tracking another person with malicious intent.</a:t>
            </a:r>
          </a:p>
          <a:p>
            <a:pPr marL="0" indent="0">
              <a:buNone/>
            </a:pPr>
            <a:endParaRPr lang="en-US" dirty="0"/>
          </a:p>
        </p:txBody>
      </p:sp>
    </p:spTree>
    <p:extLst>
      <p:ext uri="{BB962C8B-B14F-4D97-AF65-F5344CB8AC3E}">
        <p14:creationId xmlns:p14="http://schemas.microsoft.com/office/powerpoint/2010/main" val="2154741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05E6A-7471-CE49-6C72-E9E04AFEF18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E33FBD1-74F3-17AB-E6B0-F0CACBE13B01}"/>
              </a:ext>
            </a:extLst>
          </p:cNvPr>
          <p:cNvSpPr>
            <a:spLocks noGrp="1"/>
          </p:cNvSpPr>
          <p:nvPr>
            <p:ph idx="1"/>
          </p:nvPr>
        </p:nvSpPr>
        <p:spPr>
          <a:xfrm>
            <a:off x="137651" y="1779639"/>
            <a:ext cx="11798709" cy="4798142"/>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5) Cyber terrorism:</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Cyber terrorism is the deliberate use or threat of digital attacks—such as hacking, malware, or system disruption—to cause fear, harm, or significant disruption. These actions are typically motivated by political, religious, or ideological objectives and aim to intimidate governments, organizations, or the public.</a:t>
            </a:r>
            <a:r>
              <a:rPr lang="en-US" dirty="0"/>
              <a:t> </a:t>
            </a:r>
            <a:r>
              <a:rPr lang="en-US" dirty="0">
                <a:latin typeface="Times New Roman" panose="02020603050405020304" pitchFamily="18" charset="0"/>
                <a:cs typeface="Times New Roman" panose="02020603050405020304" pitchFamily="18" charset="0"/>
              </a:rPr>
              <a:t>For instance, cyber terrorists might target critical infrastructure like power grids or financial systems to create widespread panic or to coerce governments into policy changes.</a:t>
            </a:r>
          </a:p>
          <a:p>
            <a:pPr marL="0" indent="0" algn="just">
              <a:buNone/>
            </a:pPr>
            <a:r>
              <a:rPr lang="en-US" dirty="0">
                <a:latin typeface="Times New Roman" panose="02020603050405020304" pitchFamily="18" charset="0"/>
                <a:cs typeface="Times New Roman" panose="02020603050405020304" pitchFamily="18" charset="0"/>
              </a:rPr>
              <a:t>6) Cyber pornography: Cyber pornography, also known as cyberporn, refers to the creation, distribution, or viewing of sexually explicit material through digital platforms. This includes: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Pornographic websites</a:t>
            </a:r>
            <a:r>
              <a:rPr lang="en-US" dirty="0">
                <a:latin typeface="Times New Roman" panose="02020603050405020304" pitchFamily="18" charset="0"/>
                <a:cs typeface="Times New Roman" panose="02020603050405020304" pitchFamily="18" charset="0"/>
              </a:rPr>
              <a:t>: Online platforms hosting explicit content.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Digitally produced magazines</a:t>
            </a:r>
            <a:r>
              <a:rPr lang="en-US" dirty="0">
                <a:latin typeface="Times New Roman" panose="02020603050405020304" pitchFamily="18" charset="0"/>
                <a:cs typeface="Times New Roman" panose="02020603050405020304" pitchFamily="18" charset="0"/>
              </a:rPr>
              <a:t>: Magazines created and distributed using computer technology.</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Internet-based distribution</a:t>
            </a:r>
            <a:r>
              <a:rPr lang="en-US" dirty="0">
                <a:latin typeface="Times New Roman" panose="02020603050405020304" pitchFamily="18" charset="0"/>
                <a:cs typeface="Times New Roman" panose="02020603050405020304" pitchFamily="18" charset="0"/>
              </a:rPr>
              <a:t>: Downloading and transmitting explicit images, videos, and writings via the internet.</a:t>
            </a:r>
          </a:p>
          <a:p>
            <a:pPr marL="0" indent="0">
              <a:buNone/>
            </a:pPr>
            <a:r>
              <a:rPr lang="en-US" dirty="0">
                <a:latin typeface="Times New Roman" panose="02020603050405020304" pitchFamily="18" charset="0"/>
                <a:cs typeface="Times New Roman" panose="02020603050405020304" pitchFamily="18" charset="0"/>
              </a:rPr>
              <a:t>While the internet serves as a valuable tool for information and communication, it can also pose risks to children's well-being due to various online hazards.</a:t>
            </a:r>
          </a:p>
          <a:p>
            <a:pPr algn="just"/>
            <a:endParaRPr lang="en-US" dirty="0"/>
          </a:p>
        </p:txBody>
      </p:sp>
    </p:spTree>
    <p:extLst>
      <p:ext uri="{BB962C8B-B14F-4D97-AF65-F5344CB8AC3E}">
        <p14:creationId xmlns:p14="http://schemas.microsoft.com/office/powerpoint/2010/main" val="2272782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009C-AAEA-42AC-0D6C-20A1786D30C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6EA40FC-FB75-BF3D-6884-62C3071ACD1C}"/>
              </a:ext>
            </a:extLst>
          </p:cNvPr>
          <p:cNvSpPr>
            <a:spLocks noGrp="1"/>
          </p:cNvSpPr>
          <p:nvPr>
            <p:ph idx="1"/>
          </p:nvPr>
        </p:nvSpPr>
        <p:spPr>
          <a:xfrm>
            <a:off x="285135" y="1929383"/>
            <a:ext cx="11415252" cy="4563491"/>
          </a:xfrm>
        </p:spPr>
        <p:txBody>
          <a:bodyPr>
            <a:normAutofit fontScale="70000" lnSpcReduction="20000"/>
          </a:bodyPr>
          <a:lstStyle/>
          <a:p>
            <a:pPr marL="0" indent="0" algn="just">
              <a:buNone/>
            </a:pPr>
            <a:r>
              <a:rPr lang="en-US" dirty="0">
                <a:latin typeface="Times New Roman" panose="02020603050405020304" pitchFamily="18" charset="0"/>
                <a:cs typeface="Times New Roman" panose="02020603050405020304" pitchFamily="18" charset="0"/>
              </a:rPr>
              <a:t>7) Trojan: A </a:t>
            </a:r>
            <a:r>
              <a:rPr lang="en-US" b="1" dirty="0">
                <a:latin typeface="Times New Roman" panose="02020603050405020304" pitchFamily="18" charset="0"/>
                <a:cs typeface="Times New Roman" panose="02020603050405020304" pitchFamily="18" charset="0"/>
              </a:rPr>
              <a:t>Trojan horse</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Trojan</a:t>
            </a:r>
            <a:r>
              <a:rPr lang="en-US" dirty="0">
                <a:latin typeface="Times New Roman" panose="02020603050405020304" pitchFamily="18" charset="0"/>
                <a:cs typeface="Times New Roman" panose="02020603050405020304" pitchFamily="18" charset="0"/>
              </a:rPr>
              <a:t>, is a type of malicious software (malware) that disguises itself as a legitimate program or file to deceive users into installing it. Once activated, Trojans can perform a variety of harmful actions without the user's knowledge. Once activated, Trojans can perform harmful actions such as stealing sensitive information, granting unauthorized access, or installing additional malware. Similarly, in the digital realm, a </a:t>
            </a:r>
            <a:r>
              <a:rPr lang="en-US" b="1" dirty="0">
                <a:latin typeface="Times New Roman" panose="02020603050405020304" pitchFamily="18" charset="0"/>
                <a:cs typeface="Times New Roman" panose="02020603050405020304" pitchFamily="18" charset="0"/>
              </a:rPr>
              <a:t>Trojan Horse</a:t>
            </a:r>
            <a:r>
              <a:rPr lang="en-US" dirty="0">
                <a:latin typeface="Times New Roman" panose="02020603050405020304" pitchFamily="18" charset="0"/>
                <a:cs typeface="Times New Roman" panose="02020603050405020304" pitchFamily="18" charset="0"/>
              </a:rPr>
              <a:t> is a type of </a:t>
            </a:r>
            <a:r>
              <a:rPr lang="en-US" b="1" dirty="0">
                <a:latin typeface="Times New Roman" panose="02020603050405020304" pitchFamily="18" charset="0"/>
                <a:cs typeface="Times New Roman" panose="02020603050405020304" pitchFamily="18" charset="0"/>
              </a:rPr>
              <a:t>malware</a:t>
            </a:r>
            <a:r>
              <a:rPr lang="en-US" dirty="0">
                <a:latin typeface="Times New Roman" panose="02020603050405020304" pitchFamily="18" charset="0"/>
                <a:cs typeface="Times New Roman" panose="02020603050405020304" pitchFamily="18" charset="0"/>
              </a:rPr>
              <a:t> that disguises itself as legitimate software to trick users into installing it, thereby granting unauthorized access to their systems.</a:t>
            </a:r>
          </a:p>
          <a:p>
            <a:pPr marL="0" indent="0" algn="just">
              <a:buNone/>
            </a:pPr>
            <a:r>
              <a:rPr lang="en-US" dirty="0">
                <a:latin typeface="Times New Roman" panose="02020603050405020304" pitchFamily="18" charset="0"/>
                <a:cs typeface="Times New Roman" panose="02020603050405020304" pitchFamily="18" charset="0"/>
              </a:rPr>
              <a:t>8) Fraud: fraud is a general term used to describe a cybercrime that intends to deceive a person to gain important data or information. It can be done by stealing, destroying, altering or suppressing any information to secure unlawful or unfair gain. It also known as Data Diddling. </a:t>
            </a:r>
          </a:p>
          <a:p>
            <a:pPr marL="0" indent="0" algn="just">
              <a:buNone/>
            </a:pPr>
            <a:r>
              <a:rPr lang="en-US" dirty="0">
                <a:latin typeface="Times New Roman" panose="02020603050405020304" pitchFamily="18" charset="0"/>
                <a:cs typeface="Times New Roman" panose="02020603050405020304" pitchFamily="18" charset="0"/>
              </a:rPr>
              <a:t>For example: Academic Record Alteration: A student changes their grades in the university's database to improve their academic standing.</a:t>
            </a:r>
          </a:p>
          <a:p>
            <a:pPr marL="0" indent="0" algn="just">
              <a:buNone/>
            </a:pPr>
            <a:r>
              <a:rPr lang="en-US" dirty="0">
                <a:latin typeface="Times New Roman" panose="02020603050405020304" pitchFamily="18" charset="0"/>
                <a:cs typeface="Times New Roman" panose="02020603050405020304" pitchFamily="18" charset="0"/>
              </a:rPr>
              <a:t>Bank Transaction Modification: A bank employee alters account balances or transaction records to divert funds</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504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34CAB-17E0-B683-F8A3-15ADD9E4937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34CAD13-1721-66E0-0293-202AA35174FA}"/>
              </a:ext>
            </a:extLst>
          </p:cNvPr>
          <p:cNvSpPr>
            <a:spLocks noGrp="1"/>
          </p:cNvSpPr>
          <p:nvPr>
            <p:ph idx="1"/>
          </p:nvPr>
        </p:nvSpPr>
        <p:spPr>
          <a:xfrm>
            <a:off x="838200" y="1929383"/>
            <a:ext cx="10515600" cy="4441919"/>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9) Identity theft: Identity theft is a cybercrime where an individual unlawfully obtains and uses someone else's personal information—such as Social Security numbers, bank account details, to commit fraud or other crimes. This misuse can lead to unauthorized financial transactions, opening of fraudulent accounts, or even committing crimes under the victim's name. Identity theft is illegal use of another’s personal identification numbers. Examples include a person using a stolen credit card, or social security number to purchase goods, withdraw money, apply for loans.</a:t>
            </a:r>
          </a:p>
          <a:p>
            <a:pPr marL="0" indent="0" algn="just">
              <a:buNone/>
            </a:pPr>
            <a:r>
              <a:rPr lang="en-US" dirty="0">
                <a:latin typeface="Times New Roman" panose="02020603050405020304" pitchFamily="18" charset="0"/>
                <a:cs typeface="Times New Roman" panose="02020603050405020304" pitchFamily="18" charset="0"/>
              </a:rPr>
              <a:t>10) Computer Virus: A computer virus is a malicious software program designed to infect and disrupt computer systems. When intentionally created and deployed to cause harm, steal information, or disrupt services, it constitutes a form of cybercrime. Criminals take advantage of viruses to gain unauthorized access to system. </a:t>
            </a:r>
          </a:p>
        </p:txBody>
      </p:sp>
    </p:spTree>
    <p:extLst>
      <p:ext uri="{BB962C8B-B14F-4D97-AF65-F5344CB8AC3E}">
        <p14:creationId xmlns:p14="http://schemas.microsoft.com/office/powerpoint/2010/main" val="3170563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C527-DFF5-14FD-F9D0-9DC46FB3EFC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18609EC-0105-3493-5826-97838D2B63A9}"/>
              </a:ext>
            </a:extLst>
          </p:cNvPr>
          <p:cNvSpPr>
            <a:spLocks noGrp="1"/>
          </p:cNvSpPr>
          <p:nvPr>
            <p:ph idx="1"/>
          </p:nvPr>
        </p:nvSpPr>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11) Botnets :A botnet is a network of internet-connected devices—such as computers, smartphones, or Internet of Things (IoT) devices—that have been compromised by malware and are controlled remotely by cybercriminals. These infected devices, often referred to as "bots" or "zombies," can be used to conduct various forms of cybercrime without the knowledge of their owners. Botnet are controlled by remote attackers called “bot herders” on order to attack computers.</a:t>
            </a:r>
          </a:p>
          <a:p>
            <a:pPr marL="0" indent="0" algn="just">
              <a:buNone/>
            </a:pPr>
            <a:r>
              <a:rPr lang="en-US" dirty="0">
                <a:latin typeface="Times New Roman" panose="02020603050405020304" pitchFamily="18" charset="0"/>
                <a:cs typeface="Times New Roman" panose="02020603050405020304" pitchFamily="18" charset="0"/>
              </a:rPr>
              <a:t>12) Ransomware: Ransomware is a type of malicious software (malware) that encrypts a victim's files or locks them out of their system, rendering data and devices inaccessible. The attacker then demands a ransom, typically in cryptocurrency, in exchange for restoring access or decrypting the files.</a:t>
            </a:r>
          </a:p>
        </p:txBody>
      </p:sp>
    </p:spTree>
    <p:extLst>
      <p:ext uri="{BB962C8B-B14F-4D97-AF65-F5344CB8AC3E}">
        <p14:creationId xmlns:p14="http://schemas.microsoft.com/office/powerpoint/2010/main" val="4190860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5057-6970-EF9B-B66B-9E0F6113586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37F0FBA-C63B-BC97-8389-77169064CF3B}"/>
              </a:ext>
            </a:extLst>
          </p:cNvPr>
          <p:cNvSpPr>
            <a:spLocks noGrp="1"/>
          </p:cNvSpPr>
          <p:nvPr>
            <p:ph idx="1"/>
          </p:nvPr>
        </p:nvSpPr>
        <p:spPr>
          <a:xfrm>
            <a:off x="442452" y="1929383"/>
            <a:ext cx="11533238" cy="4795881"/>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13) Cyber Defamation: Cyber defamation refers to the act of damaging an individual's or organization's reputation through false and harmful statements made online. This can occur on various digital platforms, including social media, blogs, forums, and other internet-based communication channels. Defamation can be classified as :</a:t>
            </a:r>
          </a:p>
          <a:p>
            <a:pPr algn="just"/>
            <a:r>
              <a:rPr lang="en-US" dirty="0">
                <a:latin typeface="Times New Roman" panose="02020603050405020304" pitchFamily="18" charset="0"/>
                <a:cs typeface="Times New Roman" panose="02020603050405020304" pitchFamily="18" charset="0"/>
              </a:rPr>
              <a:t>Slander- spoken words or sounds. Sign language, and gesticulation.</a:t>
            </a:r>
          </a:p>
          <a:p>
            <a:pPr algn="just"/>
            <a:r>
              <a:rPr lang="en-US" dirty="0">
                <a:latin typeface="Times New Roman" panose="02020603050405020304" pitchFamily="18" charset="0"/>
                <a:cs typeface="Times New Roman" panose="02020603050405020304" pitchFamily="18" charset="0"/>
              </a:rPr>
              <a:t>Libel- words or pictures that are written, printed, and copied in internet. </a:t>
            </a:r>
          </a:p>
          <a:p>
            <a:pPr marL="0" indent="0" algn="just">
              <a:buNone/>
            </a:pPr>
            <a:r>
              <a:rPr lang="en-US" dirty="0">
                <a:latin typeface="Times New Roman" panose="02020603050405020304" pitchFamily="18" charset="0"/>
                <a:cs typeface="Times New Roman" panose="02020603050405020304" pitchFamily="18" charset="0"/>
              </a:rPr>
              <a:t>14) Man in the middle attack: A Man-in-the-Middle (MITM) attack is a type of cyberattack where an attacker secretly intercepts and possibly alters the communication between two parties who believe they are directly communicating with each other. For example : IP spoofing, HTTPs spoofing, Wi-Fi eavesdropping etc. </a:t>
            </a:r>
          </a:p>
          <a:p>
            <a:endParaRPr lang="en-US" dirty="0"/>
          </a:p>
        </p:txBody>
      </p:sp>
    </p:spTree>
    <p:extLst>
      <p:ext uri="{BB962C8B-B14F-4D97-AF65-F5344CB8AC3E}">
        <p14:creationId xmlns:p14="http://schemas.microsoft.com/office/powerpoint/2010/main" val="453736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71D9-4A96-9BCD-E3F7-A652195663F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42D2F42-C91C-7B0C-A85A-9D0ACC4CA199}"/>
              </a:ext>
            </a:extLst>
          </p:cNvPr>
          <p:cNvSpPr>
            <a:spLocks noGrp="1"/>
          </p:cNvSpPr>
          <p:nvPr>
            <p:ph idx="1"/>
          </p:nvPr>
        </p:nvSpPr>
        <p:spPr>
          <a:xfrm>
            <a:off x="838200" y="1929384"/>
            <a:ext cx="10990006" cy="4687726"/>
          </a:xfrm>
        </p:spPr>
        <p:txBody>
          <a:bodyPr>
            <a:normAutofit fontScale="70000" lnSpcReduction="20000"/>
          </a:bodyPr>
          <a:lstStyle/>
          <a:p>
            <a:pPr marL="0" indent="0" algn="just">
              <a:buNone/>
            </a:pPr>
            <a:r>
              <a:rPr lang="en-US" dirty="0">
                <a:latin typeface="Times New Roman" panose="02020603050405020304" pitchFamily="18" charset="0"/>
                <a:cs typeface="Times New Roman" panose="02020603050405020304" pitchFamily="18" charset="0"/>
              </a:rPr>
              <a:t>15) Denial of Services Attack: In a DoS attack, the attacker floods the target system with more requests or data than it can handle. This saturation consumes the system's resources, such as bandwidth, memory, or processing power, leading to a slowdown or complete shutdown of the service. A Denial-of-Service (DoS) attack is a cyberattack where an attacker overloads a computer or network with excessive requests, causing it to become slow, unresponsive, or completely unavailable to legitimate users. The primary objective is to exhaust the target's resources, such as bandwidth, memory, or processing power, leading to service disruption.</a:t>
            </a:r>
          </a:p>
          <a:p>
            <a:pPr marL="0" indent="0" algn="just">
              <a:buNone/>
            </a:pPr>
            <a:r>
              <a:rPr lang="en-US" dirty="0">
                <a:latin typeface="Times New Roman" panose="02020603050405020304" pitchFamily="18" charset="0"/>
                <a:cs typeface="Times New Roman" panose="02020603050405020304" pitchFamily="18" charset="0"/>
              </a:rPr>
              <a:t>16)Screen Logger:  A screen logger is a type of surveillance software used to monitor and record a user's screen activity on a computer or mobile device. Unlike keyloggers, which capture keystrokes, screen loggers take periodic screenshots or record video of the screen to track user actions.</a:t>
            </a:r>
          </a:p>
          <a:p>
            <a:pPr marL="0" indent="0" algn="just">
              <a:buNone/>
            </a:pPr>
            <a:r>
              <a:rPr lang="en-US" dirty="0">
                <a:latin typeface="Times New Roman" panose="02020603050405020304" pitchFamily="18" charset="0"/>
                <a:cs typeface="Times New Roman" panose="02020603050405020304" pitchFamily="18" charset="0"/>
              </a:rPr>
              <a:t>17) Key Logger: A keylogger is a type of software or hardware designed to secretly record every keystroke made on a computer or mobile device.</a:t>
            </a:r>
          </a:p>
          <a:p>
            <a:pPr marL="0" indent="0" algn="just">
              <a:buNone/>
            </a:pPr>
            <a:r>
              <a:rPr lang="en-US" dirty="0">
                <a:latin typeface="Times New Roman" panose="02020603050405020304" pitchFamily="18" charset="0"/>
                <a:cs typeface="Times New Roman" panose="02020603050405020304" pitchFamily="18" charset="0"/>
              </a:rPr>
              <a:t>18) Intellectual property crimes: It includes copyright infringement, software piracy, theft of computer source code, trademark violation. </a:t>
            </a:r>
          </a:p>
        </p:txBody>
      </p:sp>
    </p:spTree>
    <p:extLst>
      <p:ext uri="{BB962C8B-B14F-4D97-AF65-F5344CB8AC3E}">
        <p14:creationId xmlns:p14="http://schemas.microsoft.com/office/powerpoint/2010/main" val="3898156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36C62-837F-A5DF-5A84-9A9C7FD6612E}"/>
              </a:ext>
            </a:extLst>
          </p:cNvPr>
          <p:cNvSpPr>
            <a:spLocks noGrp="1"/>
          </p:cNvSpPr>
          <p:nvPr>
            <p:ph type="title"/>
          </p:nvPr>
        </p:nvSpPr>
        <p:spPr/>
        <p:txBody>
          <a:bodyPr>
            <a:normAutofit fontScale="90000"/>
          </a:bodyPr>
          <a:lstStyle/>
          <a:p>
            <a:r>
              <a:rPr lang="en-US" dirty="0"/>
              <a:t>Common type of cyber crime in Nepal </a:t>
            </a:r>
          </a:p>
        </p:txBody>
      </p:sp>
      <p:sp>
        <p:nvSpPr>
          <p:cNvPr id="3" name="Content Placeholder 2">
            <a:extLst>
              <a:ext uri="{FF2B5EF4-FFF2-40B4-BE49-F238E27FC236}">
                <a16:creationId xmlns:a16="http://schemas.microsoft.com/office/drawing/2014/main" id="{45A06BB8-BB89-7FC8-7CCC-70872B8D164D}"/>
              </a:ext>
            </a:extLst>
          </p:cNvPr>
          <p:cNvSpPr>
            <a:spLocks noGrp="1"/>
          </p:cNvSpPr>
          <p:nvPr>
            <p:ph idx="1"/>
          </p:nvPr>
        </p:nvSpPr>
        <p:spPr/>
        <p:txBody>
          <a:bodyPr>
            <a:normAutofit fontScale="92500" lnSpcReduction="10000"/>
          </a:bodyPr>
          <a:lstStyle/>
          <a:p>
            <a:r>
              <a:rPr lang="en-US" dirty="0"/>
              <a:t>Social media related cyber crimes</a:t>
            </a:r>
          </a:p>
          <a:p>
            <a:r>
              <a:rPr lang="en-US" dirty="0"/>
              <a:t>Fake profit marketing</a:t>
            </a:r>
          </a:p>
          <a:p>
            <a:r>
              <a:rPr lang="en-US" dirty="0"/>
              <a:t>Privacy related crimes</a:t>
            </a:r>
          </a:p>
          <a:p>
            <a:r>
              <a:rPr lang="en-US" dirty="0"/>
              <a:t>Phishing scams</a:t>
            </a:r>
          </a:p>
          <a:p>
            <a:r>
              <a:rPr lang="en-US" dirty="0"/>
              <a:t>Identity theft</a:t>
            </a:r>
          </a:p>
          <a:p>
            <a:r>
              <a:rPr lang="en-US" dirty="0"/>
              <a:t>Email or SMS Lottery fraud </a:t>
            </a:r>
          </a:p>
          <a:p>
            <a:r>
              <a:rPr lang="en-US" dirty="0"/>
              <a:t>Website hacker </a:t>
            </a:r>
          </a:p>
          <a:p>
            <a:r>
              <a:rPr lang="en-US" dirty="0"/>
              <a:t>Online business of restricted materials</a:t>
            </a:r>
          </a:p>
          <a:p>
            <a:endParaRPr lang="en-US" dirty="0"/>
          </a:p>
        </p:txBody>
      </p:sp>
    </p:spTree>
    <p:extLst>
      <p:ext uri="{BB962C8B-B14F-4D97-AF65-F5344CB8AC3E}">
        <p14:creationId xmlns:p14="http://schemas.microsoft.com/office/powerpoint/2010/main" val="2821420226"/>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1008</TotalTime>
  <Words>1820</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Modern Love</vt:lpstr>
      <vt:lpstr>The Hand</vt:lpstr>
      <vt:lpstr>Times New Roman</vt:lpstr>
      <vt:lpstr>Wingdings</vt:lpstr>
      <vt:lpstr>SketchyVTI</vt:lpstr>
      <vt:lpstr>Cyber crime </vt:lpstr>
      <vt:lpstr>Concept </vt:lpstr>
      <vt:lpstr> </vt:lpstr>
      <vt:lpstr>Nature of cyber crime </vt:lpstr>
      <vt:lpstr>Type of cybercrime</vt:lpstr>
      <vt:lpstr>Different type of cybercrime</vt:lpstr>
      <vt:lpstr> </vt:lpstr>
      <vt:lpstr> </vt:lpstr>
      <vt:lpstr> </vt:lpstr>
      <vt:lpstr> </vt:lpstr>
      <vt:lpstr> </vt:lpstr>
      <vt:lpstr> </vt:lpstr>
      <vt:lpstr> </vt:lpstr>
      <vt:lpstr>Common type of cyber crime in Nepal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crime</dc:title>
  <dc:creator>shristi baral</dc:creator>
  <cp:lastModifiedBy>Ravi Silwal</cp:lastModifiedBy>
  <cp:revision>3</cp:revision>
  <dcterms:created xsi:type="dcterms:W3CDTF">2025-05-21T10:56:46Z</dcterms:created>
  <dcterms:modified xsi:type="dcterms:W3CDTF">2025-06-25T13:40:16Z</dcterms:modified>
</cp:coreProperties>
</file>