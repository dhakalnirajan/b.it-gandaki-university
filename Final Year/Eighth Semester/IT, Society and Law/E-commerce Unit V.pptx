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59"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A694-CBCC-E93E-AA6F-2B742D9ABC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35366D-1DA8-D784-B9F1-A383437D4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F08C27-8029-CAC4-8DA8-5EE8C311AFED}"/>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03B933E1-C46F-DA3D-EE3E-5E0A60B62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2546E-4587-70C3-71CE-3E23EB51400F}"/>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53033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034B-D821-D820-B555-ECDDFEDA88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0EF285-69D0-EBF6-973D-1E467EFC5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A8127E-FFA2-20FC-6D7B-3DA8852639DB}"/>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661E18DF-7106-B6C3-84CD-240AE6C0F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9D7C80-6ADB-76C8-7788-A46A63C43664}"/>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487017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3537B-AD48-F3FC-890C-F6777B774D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F855D9-9888-4F54-9B04-AA170B7EE6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B788C-4DC7-430E-A5E1-46C7FD991828}"/>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6D79A8D9-6D57-4588-F66D-EE448C054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F69CE-DA26-AA7E-5CB3-9E63D04665E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13353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6CD82-4AFC-5FDB-379D-EEF06D358C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74A6FA-3720-9B69-5FCE-B7A76E292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0E8EBA-5DD7-606B-EE03-42811144E7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3552E4-6213-FA21-D2F6-CEA4E364029F}"/>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6" name="Footer Placeholder 5">
            <a:extLst>
              <a:ext uri="{FF2B5EF4-FFF2-40B4-BE49-F238E27FC236}">
                <a16:creationId xmlns:a16="http://schemas.microsoft.com/office/drawing/2014/main" id="{3B8B658E-3861-5F1E-35FC-325C2BD863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4F260-1CAC-A666-9936-7516E25128F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883531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251E1-7226-D787-470C-CDA3D46052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8A0575-6DE5-0B8C-E3FF-5C12F28D0D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383CED-2638-4501-2407-03FAA71445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708BE-EED7-69C5-5CA9-5B31EEEAE4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B6F9E6-1333-3212-D24A-09451DEDBB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525DB9-051B-36C3-16DD-977FC7B65A42}"/>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8" name="Footer Placeholder 7">
            <a:extLst>
              <a:ext uri="{FF2B5EF4-FFF2-40B4-BE49-F238E27FC236}">
                <a16:creationId xmlns:a16="http://schemas.microsoft.com/office/drawing/2014/main" id="{7A795BDD-56B3-76AF-28CF-0207B9CCB1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BB8DD9-379F-37E4-C947-6A408780FFAB}"/>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521561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D8E62-D596-7817-EB48-D13788CAB2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BE394B-5AD5-1BED-A46F-C0F12056B036}"/>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4" name="Footer Placeholder 3">
            <a:extLst>
              <a:ext uri="{FF2B5EF4-FFF2-40B4-BE49-F238E27FC236}">
                <a16:creationId xmlns:a16="http://schemas.microsoft.com/office/drawing/2014/main" id="{1FC2AE58-430D-49F8-B331-FF5F36C074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1F673E-0DE1-6051-6C89-207D944513F9}"/>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17184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A6B0EA-A396-0F88-4DC1-7B85D8346AB8}"/>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3" name="Footer Placeholder 2">
            <a:extLst>
              <a:ext uri="{FF2B5EF4-FFF2-40B4-BE49-F238E27FC236}">
                <a16:creationId xmlns:a16="http://schemas.microsoft.com/office/drawing/2014/main" id="{4626EFBE-A1C8-49CE-5D34-3AB7628406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797D08-BE31-0683-5E1C-609AAF150B15}"/>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04202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FAB5C-41E9-C4A8-F3BF-6F4E8F832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103592-ABB4-6CD8-D71D-DB5221C5A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00511D-79AB-18E8-E682-6D39BEF946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6BEA4F-8583-9AF4-4D86-8DBD89E0C2D5}"/>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6" name="Footer Placeholder 5">
            <a:extLst>
              <a:ext uri="{FF2B5EF4-FFF2-40B4-BE49-F238E27FC236}">
                <a16:creationId xmlns:a16="http://schemas.microsoft.com/office/drawing/2014/main" id="{A55301CE-EA89-EBFF-CCBF-07898DD715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EB5410-6DB8-CAD5-053B-A89641BF3629}"/>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336144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F184-E006-A102-5503-69C5B3074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82DB0-563C-FB72-5660-C10721DFDE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001152-C3C5-D8FD-51FA-45193A85A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CF87A-26C8-4326-778A-BBAD624C8BDD}"/>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6" name="Footer Placeholder 5">
            <a:extLst>
              <a:ext uri="{FF2B5EF4-FFF2-40B4-BE49-F238E27FC236}">
                <a16:creationId xmlns:a16="http://schemas.microsoft.com/office/drawing/2014/main" id="{BD774543-6C7B-0C7E-5137-860D06E482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8A314A-4211-AECD-DB85-AC6D3E002A23}"/>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496450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FE46-6CE4-DE2C-8019-85D9B3E721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274ED5-F38E-2A67-CFA4-51BF7BA01F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C3124-89CA-7177-EDF8-734E68AF419A}"/>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AB66D87C-5426-214E-C33E-DED8DD85A5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4D0FE6-E9CE-8463-161A-7290BEFDC92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605322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ADE2DD-0114-2E83-F10C-15170F4F4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C8639B-C465-805B-F7AF-0135B97353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542B28-F5C1-F54C-DA08-E20BD94793F9}"/>
              </a:ext>
            </a:extLst>
          </p:cNvPr>
          <p:cNvSpPr>
            <a:spLocks noGrp="1"/>
          </p:cNvSpPr>
          <p:nvPr>
            <p:ph type="dt" sz="half" idx="10"/>
          </p:nvPr>
        </p:nvSpPr>
        <p:spPr/>
        <p:txBody>
          <a:body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43234371-A20D-083A-2EC6-15B80CE6F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D12BF-A149-C8E1-2972-9FCA51D04AA7}"/>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599238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C27F8-6C48-495A-F157-1427F1A1B6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544C0E-5E71-A58B-B809-89A8BFC1F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2BB1C-6DD4-8189-9619-DB05F9E82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CE27C3-650E-4C73-8960-536354433F2F}" type="datetimeFigureOut">
              <a:rPr lang="en-US" smtClean="0"/>
              <a:t>6/25/2025</a:t>
            </a:fld>
            <a:endParaRPr lang="en-US"/>
          </a:p>
        </p:txBody>
      </p:sp>
      <p:sp>
        <p:nvSpPr>
          <p:cNvPr id="5" name="Footer Placeholder 4">
            <a:extLst>
              <a:ext uri="{FF2B5EF4-FFF2-40B4-BE49-F238E27FC236}">
                <a16:creationId xmlns:a16="http://schemas.microsoft.com/office/drawing/2014/main" id="{845D7F29-B403-7AAB-6B31-5AED3232B0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1DACB5-D3AD-C367-F216-D7800E7FF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CCB4E5-D72D-4437-A62B-50830B261476}" type="slidenum">
              <a:rPr lang="en-US" smtClean="0"/>
              <a:t>‹#›</a:t>
            </a:fld>
            <a:endParaRPr lang="en-US"/>
          </a:p>
        </p:txBody>
      </p:sp>
    </p:spTree>
    <p:extLst>
      <p:ext uri="{BB962C8B-B14F-4D97-AF65-F5344CB8AC3E}">
        <p14:creationId xmlns:p14="http://schemas.microsoft.com/office/powerpoint/2010/main" val="569043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Shopping cart with boxes">
            <a:extLst>
              <a:ext uri="{FF2B5EF4-FFF2-40B4-BE49-F238E27FC236}">
                <a16:creationId xmlns:a16="http://schemas.microsoft.com/office/drawing/2014/main" id="{979D8031-10D7-9C08-5D7E-8598AA5741E8}"/>
              </a:ext>
            </a:extLst>
          </p:cNvPr>
          <p:cNvPicPr>
            <a:picLocks noChangeAspect="1"/>
          </p:cNvPicPr>
          <p:nvPr/>
        </p:nvPicPr>
        <p:blipFill>
          <a:blip r:embed="rId2">
            <a:alphaModFix amt="40000"/>
          </a:blip>
          <a:srcRect t="9393" b="6338"/>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0FECBEC-7115-E50E-2AE8-3E467CB677ED}"/>
              </a:ext>
            </a:extLst>
          </p:cNvPr>
          <p:cNvSpPr>
            <a:spLocks noGrp="1"/>
          </p:cNvSpPr>
          <p:nvPr>
            <p:ph type="ctrTitle"/>
          </p:nvPr>
        </p:nvSpPr>
        <p:spPr>
          <a:xfrm>
            <a:off x="965200" y="965200"/>
            <a:ext cx="10261600" cy="3564869"/>
          </a:xfrm>
        </p:spPr>
        <p:txBody>
          <a:bodyPr>
            <a:normAutofit/>
          </a:bodyPr>
          <a:lstStyle/>
          <a:p>
            <a:pPr algn="l"/>
            <a:r>
              <a:rPr lang="en-US" sz="11500">
                <a:ln w="22225">
                  <a:solidFill>
                    <a:schemeClr val="tx1"/>
                  </a:solidFill>
                  <a:miter lim="800000"/>
                </a:ln>
                <a:noFill/>
              </a:rPr>
              <a:t>E-commerce</a:t>
            </a:r>
          </a:p>
        </p:txBody>
      </p:sp>
      <p:sp>
        <p:nvSpPr>
          <p:cNvPr id="3" name="Subtitle 2">
            <a:extLst>
              <a:ext uri="{FF2B5EF4-FFF2-40B4-BE49-F238E27FC236}">
                <a16:creationId xmlns:a16="http://schemas.microsoft.com/office/drawing/2014/main" id="{49F2B03B-D1CE-6DD1-F1C4-BC0FC6DBF106}"/>
              </a:ext>
            </a:extLst>
          </p:cNvPr>
          <p:cNvSpPr>
            <a:spLocks noGrp="1"/>
          </p:cNvSpPr>
          <p:nvPr>
            <p:ph type="subTitle" idx="1"/>
          </p:nvPr>
        </p:nvSpPr>
        <p:spPr>
          <a:xfrm>
            <a:off x="965200" y="4572002"/>
            <a:ext cx="10261600" cy="1202995"/>
          </a:xfrm>
        </p:spPr>
        <p:txBody>
          <a:bodyPr>
            <a:normAutofit/>
          </a:bodyPr>
          <a:lstStyle/>
          <a:p>
            <a:pPr algn="l"/>
            <a:r>
              <a:rPr lang="en-US" sz="3200"/>
              <a:t> </a:t>
            </a:r>
          </a:p>
        </p:txBody>
      </p:sp>
    </p:spTree>
    <p:extLst>
      <p:ext uri="{BB962C8B-B14F-4D97-AF65-F5344CB8AC3E}">
        <p14:creationId xmlns:p14="http://schemas.microsoft.com/office/powerpoint/2010/main" val="21856837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D071-F1F8-5B43-766D-CA1F5BBC0E8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D57047F-CD16-0559-033E-CC697C69CD31}"/>
              </a:ext>
            </a:extLst>
          </p:cNvPr>
          <p:cNvSpPr>
            <a:spLocks noGrp="1"/>
          </p:cNvSpPr>
          <p:nvPr>
            <p:ph idx="1"/>
          </p:nvPr>
        </p:nvSpPr>
        <p:spPr/>
        <p:txBody>
          <a:bodyPr>
            <a:normAutofit fontScale="92500" lnSpcReduction="10000"/>
          </a:bodyPr>
          <a:lstStyle/>
          <a:p>
            <a:pPr algn="just"/>
            <a:r>
              <a:rPr lang="en-US" dirty="0"/>
              <a:t>E- commerce ( Electronic commerce) is process of buying and selling or exchanging, product, services and information using electronic media. </a:t>
            </a:r>
          </a:p>
          <a:p>
            <a:pPr algn="just"/>
            <a:r>
              <a:rPr lang="en-US" dirty="0"/>
              <a:t>Information technology has brought revolution in the business sector. It enabled complex  business operations to be performed effectively by using the Internet and communication technology. </a:t>
            </a:r>
          </a:p>
          <a:p>
            <a:pPr algn="just"/>
            <a:r>
              <a:rPr lang="en-US" dirty="0"/>
              <a:t>Simply, E-commerce refers to the communication transaction of services in an electronic format. </a:t>
            </a:r>
          </a:p>
          <a:p>
            <a:pPr algn="just"/>
            <a:r>
              <a:rPr lang="en-US" dirty="0"/>
              <a:t>This is modern business  methodology that address the need of organizations, merchants, and consumers to cut costs while improving the quality of goods and services and increasing the speed of service delivery.</a:t>
            </a:r>
          </a:p>
        </p:txBody>
      </p:sp>
    </p:spTree>
    <p:extLst>
      <p:ext uri="{BB962C8B-B14F-4D97-AF65-F5344CB8AC3E}">
        <p14:creationId xmlns:p14="http://schemas.microsoft.com/office/powerpoint/2010/main" val="180590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0ABE-4F50-97F7-A1AB-3C29BBCD5086}"/>
              </a:ext>
            </a:extLst>
          </p:cNvPr>
          <p:cNvSpPr>
            <a:spLocks noGrp="1"/>
          </p:cNvSpPr>
          <p:nvPr>
            <p:ph type="title"/>
          </p:nvPr>
        </p:nvSpPr>
        <p:spPr/>
        <p:txBody>
          <a:bodyPr/>
          <a:lstStyle/>
          <a:p>
            <a:r>
              <a:rPr lang="en-US" dirty="0"/>
              <a:t>Type of E-commerce </a:t>
            </a:r>
          </a:p>
        </p:txBody>
      </p:sp>
      <p:sp>
        <p:nvSpPr>
          <p:cNvPr id="3" name="Content Placeholder 2">
            <a:extLst>
              <a:ext uri="{FF2B5EF4-FFF2-40B4-BE49-F238E27FC236}">
                <a16:creationId xmlns:a16="http://schemas.microsoft.com/office/drawing/2014/main" id="{98F557B5-E3E4-2E08-D474-3D2BFF2AE9C1}"/>
              </a:ext>
            </a:extLst>
          </p:cNvPr>
          <p:cNvSpPr>
            <a:spLocks noGrp="1"/>
          </p:cNvSpPr>
          <p:nvPr>
            <p:ph idx="1"/>
          </p:nvPr>
        </p:nvSpPr>
        <p:spPr>
          <a:xfrm>
            <a:off x="511277" y="1229032"/>
            <a:ext cx="11238271" cy="5388078"/>
          </a:xfrm>
        </p:spPr>
        <p:txBody>
          <a:bodyPr>
            <a:normAutofit/>
          </a:bodyPr>
          <a:lstStyle/>
          <a:p>
            <a:pPr marL="571500" indent="-571500" algn="just">
              <a:buAutoNum type="romanUcParenR"/>
            </a:pPr>
            <a:r>
              <a:rPr lang="en-US" dirty="0">
                <a:latin typeface="Times New Roman" panose="02020603050405020304" pitchFamily="18" charset="0"/>
                <a:cs typeface="Times New Roman" panose="02020603050405020304" pitchFamily="18" charset="0"/>
              </a:rPr>
              <a:t>Business to business (B2B): when two business entitles do business through use of IT then this kind of business is considered as B2B ecommerce . Business sells services, goods or product to the business such as through an online directory or product website. For example : Intel selling Microprocessors to dell. </a:t>
            </a:r>
          </a:p>
          <a:p>
            <a:pPr marL="571500" indent="-571500" algn="just">
              <a:buAutoNum type="romanUcParenR"/>
            </a:pPr>
            <a:r>
              <a:rPr lang="en-US" dirty="0">
                <a:latin typeface="Times New Roman" panose="02020603050405020304" pitchFamily="18" charset="0"/>
                <a:cs typeface="Times New Roman" panose="02020603050405020304" pitchFamily="18" charset="0"/>
              </a:rPr>
              <a:t>Business to consumer :When a business sells directly to the public, typically through catalogs and shopping cart software, it is considered B2C (Business-to-Consumer) e-commerce. In this type, the company can provide information about products and services, allow consumers to place orders through the website, and offer customer support services. Today, there are innumerable virtual stores and malls on the internet selling all types of consumer goods. For example, the most recognized B2C marketplace is Amazon."</a:t>
            </a:r>
          </a:p>
        </p:txBody>
      </p:sp>
    </p:spTree>
    <p:extLst>
      <p:ext uri="{BB962C8B-B14F-4D97-AF65-F5344CB8AC3E}">
        <p14:creationId xmlns:p14="http://schemas.microsoft.com/office/powerpoint/2010/main" val="321281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B1CA-82F5-ABFE-4C13-513F12211D5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BC602FA-E7FB-30E9-0BFD-945D6EF668EA}"/>
              </a:ext>
            </a:extLst>
          </p:cNvPr>
          <p:cNvSpPr>
            <a:spLocks noGrp="1"/>
          </p:cNvSpPr>
          <p:nvPr>
            <p:ph idx="1"/>
          </p:nvPr>
        </p:nvSpPr>
        <p:spPr>
          <a:xfrm>
            <a:off x="838200" y="511277"/>
            <a:ext cx="10515600" cy="5665686"/>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III) Consumer to Consumer (C2C): There are many sites offering free classifieds, auctions, and forums where individuals can buy and sell, thanks to online payment systems like PayPal, which allow people to send and receive money online with ease.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HamroBazar.com</a:t>
            </a:r>
            <a:r>
              <a:rPr lang="en-US" dirty="0">
                <a:latin typeface="Times New Roman" panose="02020603050405020304" pitchFamily="18" charset="0"/>
                <a:cs typeface="Times New Roman" panose="02020603050405020304" pitchFamily="18" charset="0"/>
              </a:rPr>
              <a:t> of Nepal allows individuals to list items such as electronics, vehicles, real estate, and secondhand goods for sale.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IV) Consumer to Business (C2B): Consumer sells product to business. In C2B E-commerce, a consumer posts him/her project a set budget online and companies review this consumer’s requirements and bid on the projects. The consumer reviews the bids and select the company that will complete the projects. </a:t>
            </a:r>
          </a:p>
        </p:txBody>
      </p:sp>
    </p:spTree>
    <p:extLst>
      <p:ext uri="{BB962C8B-B14F-4D97-AF65-F5344CB8AC3E}">
        <p14:creationId xmlns:p14="http://schemas.microsoft.com/office/powerpoint/2010/main" val="173187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3A76-86C8-D3FD-C81E-1D8278C5E08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8BB2DC2-803F-A7D2-C519-D062FA25E406}"/>
              </a:ext>
            </a:extLst>
          </p:cNvPr>
          <p:cNvSpPr>
            <a:spLocks noGrp="1"/>
          </p:cNvSpPr>
          <p:nvPr>
            <p:ph idx="1"/>
          </p:nvPr>
        </p:nvSpPr>
        <p:spPr>
          <a:xfrm>
            <a:off x="838200" y="580103"/>
            <a:ext cx="10515600" cy="5596860"/>
          </a:xfrm>
        </p:spPr>
        <p:txBody>
          <a:bodyPr/>
          <a:lstStyle/>
          <a:p>
            <a:pPr marL="0" indent="0" algn="just">
              <a:buNone/>
            </a:pPr>
            <a:r>
              <a:rPr lang="en-US" dirty="0">
                <a:latin typeface="Times New Roman" panose="02020603050405020304" pitchFamily="18" charset="0"/>
                <a:cs typeface="Times New Roman" panose="02020603050405020304" pitchFamily="18" charset="0"/>
              </a:rPr>
              <a:t>v) Business to administration ( B2A): it encompasses all transaction conducted between business and public administration. For example : Payment of taxes, registration of companies.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VII) Consumer to administration(C2A) : The Consumer to Administration (C2A) model encompasses all electronic transactions conducted between individuals and public administration.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applying for a passport or obtaining citizenship.</a:t>
            </a:r>
          </a:p>
        </p:txBody>
      </p:sp>
    </p:spTree>
    <p:extLst>
      <p:ext uri="{BB962C8B-B14F-4D97-AF65-F5344CB8AC3E}">
        <p14:creationId xmlns:p14="http://schemas.microsoft.com/office/powerpoint/2010/main" val="2537887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3D6D-331C-106F-E137-251FB44B0F84}"/>
              </a:ext>
            </a:extLst>
          </p:cNvPr>
          <p:cNvSpPr>
            <a:spLocks noGrp="1"/>
          </p:cNvSpPr>
          <p:nvPr>
            <p:ph type="title"/>
          </p:nvPr>
        </p:nvSpPr>
        <p:spPr>
          <a:xfrm>
            <a:off x="838200" y="365125"/>
            <a:ext cx="10515600" cy="706591"/>
          </a:xfrm>
        </p:spPr>
        <p:txBody>
          <a:bodyPr/>
          <a:lstStyle/>
          <a:p>
            <a:r>
              <a:rPr lang="en-US" dirty="0"/>
              <a:t>Scope of E- Commerce </a:t>
            </a:r>
          </a:p>
        </p:txBody>
      </p:sp>
      <p:sp>
        <p:nvSpPr>
          <p:cNvPr id="3" name="Content Placeholder 2">
            <a:extLst>
              <a:ext uri="{FF2B5EF4-FFF2-40B4-BE49-F238E27FC236}">
                <a16:creationId xmlns:a16="http://schemas.microsoft.com/office/drawing/2014/main" id="{E44ACECA-6E4D-56C4-6F73-4C56A34BD058}"/>
              </a:ext>
            </a:extLst>
          </p:cNvPr>
          <p:cNvSpPr>
            <a:spLocks noGrp="1"/>
          </p:cNvSpPr>
          <p:nvPr>
            <p:ph idx="1"/>
          </p:nvPr>
        </p:nvSpPr>
        <p:spPr>
          <a:xfrm>
            <a:off x="285135" y="1170039"/>
            <a:ext cx="11602065" cy="5447071"/>
          </a:xfrm>
        </p:spPr>
        <p:txBody>
          <a:bodyPr>
            <a:normAutofit fontScale="62500" lnSpcReduction="20000"/>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Online marketing and sales : Selling products and promoting services through websites, apps, and social media platforms.</a:t>
            </a:r>
          </a:p>
          <a:p>
            <a:pPr marL="514350" indent="-514350" algn="just">
              <a:buAutoNum type="arabicPeriod"/>
            </a:pPr>
            <a:r>
              <a:rPr lang="en-US" dirty="0">
                <a:latin typeface="Times New Roman" panose="02020603050405020304" pitchFamily="18" charset="0"/>
                <a:cs typeface="Times New Roman" panose="02020603050405020304" pitchFamily="18" charset="0"/>
              </a:rPr>
              <a:t>Internal and external business coordination: Managing communication and collaboration within a company and with other business online.</a:t>
            </a:r>
          </a:p>
          <a:p>
            <a:pPr marL="514350" indent="-514350" algn="just">
              <a:buAutoNum type="arabicPeriod"/>
            </a:pPr>
            <a:r>
              <a:rPr lang="en-US" dirty="0">
                <a:latin typeface="Times New Roman" panose="02020603050405020304" pitchFamily="18" charset="0"/>
                <a:cs typeface="Times New Roman" panose="02020603050405020304" pitchFamily="18" charset="0"/>
              </a:rPr>
              <a:t>Digital and tech-based transactions: Conducting business activities using digital tools and technologies like e wallets or cloud platforms. </a:t>
            </a:r>
          </a:p>
          <a:p>
            <a:pPr marL="514350" indent="-514350" algn="just">
              <a:buAutoNum type="arabicPeriod"/>
            </a:pPr>
            <a:r>
              <a:rPr lang="en-US" dirty="0">
                <a:latin typeface="Times New Roman" panose="02020603050405020304" pitchFamily="18" charset="0"/>
                <a:cs typeface="Times New Roman" panose="02020603050405020304" pitchFamily="18" charset="0"/>
              </a:rPr>
              <a:t>Information exchange over the internet : Sharing business data, documents, and updates instantly via the web.</a:t>
            </a:r>
          </a:p>
          <a:p>
            <a:pPr marL="514350" indent="-514350" algn="just">
              <a:buAutoNum type="arabicPeriod"/>
            </a:pPr>
            <a:r>
              <a:rPr lang="en-US" dirty="0">
                <a:latin typeface="Times New Roman" panose="02020603050405020304" pitchFamily="18" charset="0"/>
                <a:cs typeface="Times New Roman" panose="02020603050405020304" pitchFamily="18" charset="0"/>
              </a:rPr>
              <a:t>Online banking and payments: Handling financial transactions, such as money transfers and billing, through digital banking services.</a:t>
            </a:r>
          </a:p>
          <a:p>
            <a:pPr marL="514350" indent="-514350" algn="just">
              <a:buAutoNum type="arabicPeriod"/>
            </a:pPr>
            <a:r>
              <a:rPr lang="en-US" dirty="0">
                <a:latin typeface="Times New Roman" panose="02020603050405020304" pitchFamily="18" charset="0"/>
                <a:cs typeface="Times New Roman" panose="02020603050405020304" pitchFamily="18" charset="0"/>
              </a:rPr>
              <a:t>Managing supply chains digitally : Using e- platforms to track, manage, and optimize product flow from suppliers to customers.</a:t>
            </a:r>
          </a:p>
          <a:p>
            <a:pPr marL="514350" indent="-514350" algn="just">
              <a:buAutoNum type="arabicPeriod"/>
            </a:pPr>
            <a:r>
              <a:rPr lang="en-US" dirty="0">
                <a:latin typeface="Times New Roman" panose="02020603050405020304" pitchFamily="18" charset="0"/>
                <a:cs typeface="Times New Roman" panose="02020603050405020304" pitchFamily="18" charset="0"/>
              </a:rPr>
              <a:t>Electronic payments and promotions: Enabling fast payments and offering discounts, coupons, or deals online.</a:t>
            </a:r>
          </a:p>
          <a:p>
            <a:pPr marL="514350" indent="-514350" algn="just">
              <a:buAutoNum type="arabicPeriod"/>
            </a:pPr>
            <a:r>
              <a:rPr lang="en-US" dirty="0">
                <a:latin typeface="Times New Roman" panose="02020603050405020304" pitchFamily="18" charset="0"/>
                <a:cs typeface="Times New Roman" panose="02020603050405020304" pitchFamily="18" charset="0"/>
              </a:rPr>
              <a:t>Reaching global customers: Expanding business access to customers worldwide through e-commerce platforms.</a:t>
            </a:r>
          </a:p>
          <a:p>
            <a:pPr marL="514350" indent="-514350" algn="just">
              <a:buAutoNum type="arabicPeriod"/>
            </a:pPr>
            <a:r>
              <a:rPr lang="en-US" dirty="0">
                <a:latin typeface="Times New Roman" panose="02020603050405020304" pitchFamily="18" charset="0"/>
                <a:cs typeface="Times New Roman" panose="02020603050405020304" pitchFamily="18" charset="0"/>
              </a:rPr>
              <a:t>Outsourced customer and employee support: Providing support services via chatbots, call center, and online HR tools.</a:t>
            </a:r>
          </a:p>
          <a:p>
            <a:pPr marL="514350" indent="-514350" algn="just">
              <a:buAutoNum type="arabicPeriod"/>
            </a:pPr>
            <a:r>
              <a:rPr lang="en-US" dirty="0">
                <a:latin typeface="Times New Roman" panose="02020603050405020304" pitchFamily="18" charset="0"/>
                <a:cs typeface="Times New Roman" panose="02020603050405020304" pitchFamily="18" charset="0"/>
              </a:rPr>
              <a:t>Digital adverting and branding: Promoting a brand through online ads, influencer marketing, and content campaigns.</a:t>
            </a:r>
          </a:p>
          <a:p>
            <a:pPr marL="0" indent="0">
              <a:buNone/>
            </a:pPr>
            <a:endParaRPr lang="en-US" dirty="0"/>
          </a:p>
        </p:txBody>
      </p:sp>
    </p:spTree>
    <p:extLst>
      <p:ext uri="{BB962C8B-B14F-4D97-AF65-F5344CB8AC3E}">
        <p14:creationId xmlns:p14="http://schemas.microsoft.com/office/powerpoint/2010/main" val="4072793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50EB-77D2-936E-98C9-BFB100FAE9C3}"/>
              </a:ext>
            </a:extLst>
          </p:cNvPr>
          <p:cNvSpPr>
            <a:spLocks noGrp="1"/>
          </p:cNvSpPr>
          <p:nvPr>
            <p:ph type="title"/>
          </p:nvPr>
        </p:nvSpPr>
        <p:spPr/>
        <p:txBody>
          <a:bodyPr/>
          <a:lstStyle/>
          <a:p>
            <a:r>
              <a:rPr lang="en-US" dirty="0"/>
              <a:t>Disadvantage of E- commerce </a:t>
            </a:r>
          </a:p>
        </p:txBody>
      </p:sp>
      <p:sp>
        <p:nvSpPr>
          <p:cNvPr id="3" name="Content Placeholder 2">
            <a:extLst>
              <a:ext uri="{FF2B5EF4-FFF2-40B4-BE49-F238E27FC236}">
                <a16:creationId xmlns:a16="http://schemas.microsoft.com/office/drawing/2014/main" id="{C2B7F81F-752F-BE74-35AC-7B0DAF5874B1}"/>
              </a:ext>
            </a:extLst>
          </p:cNvPr>
          <p:cNvSpPr>
            <a:spLocks noGrp="1"/>
          </p:cNvSpPr>
          <p:nvPr>
            <p:ph idx="1"/>
          </p:nvPr>
        </p:nvSpPr>
        <p:spPr/>
        <p:txBody>
          <a:bodyPr>
            <a:normAutofit/>
          </a:bodyPr>
          <a:lstStyle/>
          <a:p>
            <a:r>
              <a:rPr lang="en-US" dirty="0"/>
              <a:t>Cybersecurity Threats – E-commerce platforms are frequent targets of hacking, phishing, and data breaches.</a:t>
            </a:r>
          </a:p>
          <a:p>
            <a:r>
              <a:rPr lang="en-US" dirty="0"/>
              <a:t>System Downtime – Server failures or bugs can cause loss of sales and customer trust.</a:t>
            </a:r>
          </a:p>
          <a:p>
            <a:r>
              <a:rPr lang="en-US" dirty="0"/>
              <a:t>High Maintenance Costs – Regular updates, security patches, and server management need skilled IT professionals.</a:t>
            </a:r>
          </a:p>
          <a:p>
            <a:r>
              <a:rPr lang="en-US" dirty="0"/>
              <a:t>Data Privacy Issues – Managing and protecting customer data is legally and ethically demanding.</a:t>
            </a:r>
          </a:p>
          <a:p>
            <a:pPr marL="0" indent="0">
              <a:buNone/>
            </a:pPr>
            <a:endParaRPr lang="en-US" dirty="0"/>
          </a:p>
        </p:txBody>
      </p:sp>
    </p:spTree>
    <p:extLst>
      <p:ext uri="{BB962C8B-B14F-4D97-AF65-F5344CB8AC3E}">
        <p14:creationId xmlns:p14="http://schemas.microsoft.com/office/powerpoint/2010/main" val="457112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21DD-97CC-9026-91BC-5A3122A5C91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52F310A-2FC4-1728-233B-52B93EE40914}"/>
              </a:ext>
            </a:extLst>
          </p:cNvPr>
          <p:cNvSpPr>
            <a:spLocks noGrp="1"/>
          </p:cNvSpPr>
          <p:nvPr>
            <p:ph idx="1"/>
          </p:nvPr>
        </p:nvSpPr>
        <p:spPr>
          <a:xfrm>
            <a:off x="226142" y="365125"/>
            <a:ext cx="11798710" cy="5811838"/>
          </a:xfrm>
        </p:spPr>
        <p:txBody>
          <a:bodyPr>
            <a:normAutofit fontScale="70000" lnSpcReduction="20000"/>
          </a:bodyPr>
          <a:lstStyle/>
          <a:p>
            <a:r>
              <a:rPr lang="en-US" dirty="0"/>
              <a:t>Security and Privacy Risks: Despite encryption and cybersecurity measures, e-commerce platforms remain vulnerable to data breaches and cyberattacks.</a:t>
            </a:r>
          </a:p>
          <a:p>
            <a:r>
              <a:rPr lang="en-US" dirty="0"/>
              <a:t>Lack of Personal Interaction: The absence of face-to-face engagement may reduce customer trust, especially in high-involvement purchases.</a:t>
            </a:r>
          </a:p>
          <a:p>
            <a:r>
              <a:rPr lang="en-US" dirty="0"/>
              <a:t>Logistical Complexities: Managing global supply chains, warehousing, and last-mile delivery adds operational and cost-related challenges.</a:t>
            </a:r>
          </a:p>
          <a:p>
            <a:r>
              <a:rPr lang="en-US" dirty="0"/>
              <a:t>Product Quality Uncertainty: Consumers often rely solely on product images and reviews, increasing the risk of dissatisfaction.</a:t>
            </a:r>
          </a:p>
          <a:p>
            <a:r>
              <a:rPr lang="en-US" dirty="0"/>
              <a:t>Dependence on Technology: System outages, software bugs, or slow loading times can directly affect sales and reputation.</a:t>
            </a:r>
          </a:p>
          <a:p>
            <a:r>
              <a:rPr lang="en-US" dirty="0"/>
              <a:t>Limited Customer Experience : Automated support systems (e.g., chatbots) may fail to address complex consumer issues effectively.</a:t>
            </a:r>
          </a:p>
          <a:p>
            <a:r>
              <a:rPr lang="en-US" dirty="0"/>
              <a:t>Intense Market Competition: Low entry barriers increase competition, driving down prices and compressing profit margins.</a:t>
            </a:r>
          </a:p>
          <a:p>
            <a:r>
              <a:rPr lang="en-US" dirty="0"/>
              <a:t>High Initial Setup and Maintenance Costs: Custom platform development, cybersecurity infrastructure, and compliance with global regulations are resource-intensive.</a:t>
            </a:r>
          </a:p>
          <a:p>
            <a:r>
              <a:rPr lang="en-US" dirty="0"/>
              <a:t>Regulatory and Taxation Challenges: Cross-border transactions often involve complex legal, tax, and compliance issues.</a:t>
            </a:r>
          </a:p>
          <a:p>
            <a:r>
              <a:rPr lang="en-US" dirty="0"/>
              <a:t>Return and Refund Complexities: Managing returns, exchanges, and refunds can lead to revenue loss and logistic inefficiencies.</a:t>
            </a:r>
          </a:p>
        </p:txBody>
      </p:sp>
    </p:spTree>
    <p:extLst>
      <p:ext uri="{BB962C8B-B14F-4D97-AF65-F5344CB8AC3E}">
        <p14:creationId xmlns:p14="http://schemas.microsoft.com/office/powerpoint/2010/main" val="2747707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1355</TotalTime>
  <Words>926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E-commerce</vt:lpstr>
      <vt:lpstr> </vt:lpstr>
      <vt:lpstr>Type of E-commerce </vt:lpstr>
      <vt:lpstr> </vt:lpstr>
      <vt:lpstr> </vt:lpstr>
      <vt:lpstr>Scope of E- Commerce </vt:lpstr>
      <vt:lpstr>Disadvantage of E- commerce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shristi baral</dc:creator>
  <cp:lastModifiedBy>Ravi Silwal</cp:lastModifiedBy>
  <cp:revision>5</cp:revision>
  <dcterms:created xsi:type="dcterms:W3CDTF">2025-05-26T09:02:04Z</dcterms:created>
  <dcterms:modified xsi:type="dcterms:W3CDTF">2025-06-25T13:40:49Z</dcterms:modified>
</cp:coreProperties>
</file>