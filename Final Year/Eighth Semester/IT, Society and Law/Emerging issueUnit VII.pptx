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0" r:id="rId14"/>
    <p:sldId id="269" r:id="rId15"/>
    <p:sldId id="267"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72C95-5656-C5E4-22FB-DA33A8E8B9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777CF9-9BAF-82F6-C0E9-4B43324656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BD887E-FF9F-8166-76A5-0B5756EB3EBC}"/>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5" name="Footer Placeholder 4">
            <a:extLst>
              <a:ext uri="{FF2B5EF4-FFF2-40B4-BE49-F238E27FC236}">
                <a16:creationId xmlns:a16="http://schemas.microsoft.com/office/drawing/2014/main" id="{08D78FEF-39E5-566E-3787-3CB99C37F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1F2328-F6C1-A3AB-4FA5-AE5A27043F75}"/>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56489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B088A-E7E8-8425-CD86-4E34121A24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7B9F4E-AF40-3906-5AFB-15D261F7FC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9CCDB0-2F5C-83B0-D71C-57F30D7892C1}"/>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5" name="Footer Placeholder 4">
            <a:extLst>
              <a:ext uri="{FF2B5EF4-FFF2-40B4-BE49-F238E27FC236}">
                <a16:creationId xmlns:a16="http://schemas.microsoft.com/office/drawing/2014/main" id="{B974C827-0B98-7681-B3BC-7D192A0CBE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F4C52-5D89-C918-F3B2-41ECEC42A0CD}"/>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225993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DD8F-D0E8-A70E-74C3-4F82E0F330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728D92-BD02-D176-377D-9D45847BAE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2577A-A386-DA05-271B-A6CD5900E707}"/>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5" name="Footer Placeholder 4">
            <a:extLst>
              <a:ext uri="{FF2B5EF4-FFF2-40B4-BE49-F238E27FC236}">
                <a16:creationId xmlns:a16="http://schemas.microsoft.com/office/drawing/2014/main" id="{65FDADAD-3670-CD97-B8DF-A589AAEE1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9DB93-2CBD-28E5-90BF-17206A906A59}"/>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903207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73B15-B5DB-415F-B87D-122300045A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B57211-10D7-C0BA-B8DE-70E3725396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559263-60E0-9226-5F1F-23468C7343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D3215A-4204-A2EB-079D-20526F514DB4}"/>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6" name="Footer Placeholder 5">
            <a:extLst>
              <a:ext uri="{FF2B5EF4-FFF2-40B4-BE49-F238E27FC236}">
                <a16:creationId xmlns:a16="http://schemas.microsoft.com/office/drawing/2014/main" id="{F404B962-7671-78A4-7447-BC14504ABA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BB52E7-2D39-5DC8-217E-9411CC0BCE4D}"/>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1050611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8507B-0522-092C-BF05-14329CAF71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466E24-6830-B9FC-4AF5-89A2482C3E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F7B786-1EB9-FB81-5288-5CEB5BE43E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7EC5F0-4B51-5618-904B-F64EA9487E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038A66-F092-E5B0-432B-4E626BBB79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733CC8-3C95-69F8-B7B0-83D3C9319E95}"/>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8" name="Footer Placeholder 7">
            <a:extLst>
              <a:ext uri="{FF2B5EF4-FFF2-40B4-BE49-F238E27FC236}">
                <a16:creationId xmlns:a16="http://schemas.microsoft.com/office/drawing/2014/main" id="{2FD310B3-80BD-0DAE-00D6-4E498F5A81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F7C045-A4B3-50F2-59B8-6FAF51CAB565}"/>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3707220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155F8-4181-B4DF-0E45-E246572E0F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FBAC24-D39C-6DE1-5442-A679126F52F9}"/>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4" name="Footer Placeholder 3">
            <a:extLst>
              <a:ext uri="{FF2B5EF4-FFF2-40B4-BE49-F238E27FC236}">
                <a16:creationId xmlns:a16="http://schemas.microsoft.com/office/drawing/2014/main" id="{603A12EA-87B3-D298-326B-4C8FAEE356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C26610-E3A2-8AB1-057F-31211D7B8051}"/>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3151575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3647C5-1B38-8366-5DF7-9AAAF1A50521}"/>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3" name="Footer Placeholder 2">
            <a:extLst>
              <a:ext uri="{FF2B5EF4-FFF2-40B4-BE49-F238E27FC236}">
                <a16:creationId xmlns:a16="http://schemas.microsoft.com/office/drawing/2014/main" id="{811FAD92-A47A-66C3-1556-5021575ECC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3A8141-04A6-D890-79CF-F5EF5DE02384}"/>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307788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3E70-E222-B5AB-9256-02C797B4C7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B3521B-1F34-A556-CD29-48F8C3C8EB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87F13E-AD00-61E9-403A-6EDF37E13B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38A5DA-5F7D-DAC4-E6C8-1A5C89F571B8}"/>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6" name="Footer Placeholder 5">
            <a:extLst>
              <a:ext uri="{FF2B5EF4-FFF2-40B4-BE49-F238E27FC236}">
                <a16:creationId xmlns:a16="http://schemas.microsoft.com/office/drawing/2014/main" id="{FEFAA2FF-7337-57B7-FFC7-BDC0B01EE6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C8585-BEFF-A752-CBAA-2C41FC47288A}"/>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51164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4A1B6-AABA-BF3E-7E48-9C47BCD63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FF3A2D-F28D-9BB8-CF62-677BD8397D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5DC5E6-CA77-8698-CE24-C750AA13B6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0780B4-43ED-E682-17CE-CF8547CB4878}"/>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6" name="Footer Placeholder 5">
            <a:extLst>
              <a:ext uri="{FF2B5EF4-FFF2-40B4-BE49-F238E27FC236}">
                <a16:creationId xmlns:a16="http://schemas.microsoft.com/office/drawing/2014/main" id="{CFD06494-DA35-AD02-53DD-2076F836D9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D7EABA-A87A-7E76-2FB7-8BAF2A10D8CC}"/>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2498646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319B9-599E-1A76-D3AD-BF784EAE7D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342083-391B-48B7-C214-042CEF24C7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502C69-3D96-5CD6-698E-813BF263F07C}"/>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5" name="Footer Placeholder 4">
            <a:extLst>
              <a:ext uri="{FF2B5EF4-FFF2-40B4-BE49-F238E27FC236}">
                <a16:creationId xmlns:a16="http://schemas.microsoft.com/office/drawing/2014/main" id="{3B5F4222-EC93-D025-A37B-162B20C88E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DB19A-32F9-7905-DC59-A1330961EBCA}"/>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1616646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9A1166-F14E-5BAB-4969-89C39B9224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618405-264A-E275-D57B-7A619A92C7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28F14D-5CDB-ADD0-B6E5-6408BCA6B413}"/>
              </a:ext>
            </a:extLst>
          </p:cNvPr>
          <p:cNvSpPr>
            <a:spLocks noGrp="1"/>
          </p:cNvSpPr>
          <p:nvPr>
            <p:ph type="dt" sz="half" idx="10"/>
          </p:nvPr>
        </p:nvSpPr>
        <p:spPr/>
        <p:txBody>
          <a:bodyPr/>
          <a:lstStyle/>
          <a:p>
            <a:fld id="{1B929633-B053-47FE-8905-94C81DFBFAB8}" type="datetimeFigureOut">
              <a:rPr lang="en-US" smtClean="0"/>
              <a:t>6/25/2025</a:t>
            </a:fld>
            <a:endParaRPr lang="en-US"/>
          </a:p>
        </p:txBody>
      </p:sp>
      <p:sp>
        <p:nvSpPr>
          <p:cNvPr id="5" name="Footer Placeholder 4">
            <a:extLst>
              <a:ext uri="{FF2B5EF4-FFF2-40B4-BE49-F238E27FC236}">
                <a16:creationId xmlns:a16="http://schemas.microsoft.com/office/drawing/2014/main" id="{9470D9ED-AECC-0836-9464-C4A8E97E7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8769E2-0B44-B5BA-0A8B-E075FA130306}"/>
              </a:ext>
            </a:extLst>
          </p:cNvPr>
          <p:cNvSpPr>
            <a:spLocks noGrp="1"/>
          </p:cNvSpPr>
          <p:nvPr>
            <p:ph type="sldNum" sz="quarter" idx="12"/>
          </p:nvPr>
        </p:nvSpPr>
        <p:spPr/>
        <p:txBody>
          <a:bodyPr/>
          <a:lstStyle/>
          <a:p>
            <a:fld id="{1BE09F1C-D56A-4592-A295-1B28D471D7E6}" type="slidenum">
              <a:rPr lang="en-US" smtClean="0"/>
              <a:t>‹#›</a:t>
            </a:fld>
            <a:endParaRPr lang="en-US"/>
          </a:p>
        </p:txBody>
      </p:sp>
    </p:spTree>
    <p:extLst>
      <p:ext uri="{BB962C8B-B14F-4D97-AF65-F5344CB8AC3E}">
        <p14:creationId xmlns:p14="http://schemas.microsoft.com/office/powerpoint/2010/main" val="2339691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C3CC9F-1BC7-CA80-346A-26DD537C8E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4201A-89FF-0ADC-B2F7-19F96F2466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38C764-1724-5484-8845-5227F1D0C0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929633-B053-47FE-8905-94C81DFBFAB8}" type="datetimeFigureOut">
              <a:rPr lang="en-US" smtClean="0"/>
              <a:t>6/25/2025</a:t>
            </a:fld>
            <a:endParaRPr lang="en-US"/>
          </a:p>
        </p:txBody>
      </p:sp>
      <p:sp>
        <p:nvSpPr>
          <p:cNvPr id="5" name="Footer Placeholder 4">
            <a:extLst>
              <a:ext uri="{FF2B5EF4-FFF2-40B4-BE49-F238E27FC236}">
                <a16:creationId xmlns:a16="http://schemas.microsoft.com/office/drawing/2014/main" id="{A91B37D8-D518-76D4-E34F-C96EEBC66B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231A015-7271-1EAF-6A07-51BB27613A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E09F1C-D56A-4592-A295-1B28D471D7E6}" type="slidenum">
              <a:rPr lang="en-US" smtClean="0"/>
              <a:t>‹#›</a:t>
            </a:fld>
            <a:endParaRPr lang="en-US"/>
          </a:p>
        </p:txBody>
      </p:sp>
    </p:spTree>
    <p:extLst>
      <p:ext uri="{BB962C8B-B14F-4D97-AF65-F5344CB8AC3E}">
        <p14:creationId xmlns:p14="http://schemas.microsoft.com/office/powerpoint/2010/main" val="1240708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atareportal.com/reports/digital-2024-global-overview-repor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D23EB-3670-8C66-D632-A7D0735C9488}"/>
              </a:ext>
            </a:extLst>
          </p:cNvPr>
          <p:cNvSpPr>
            <a:spLocks noGrp="1"/>
          </p:cNvSpPr>
          <p:nvPr>
            <p:ph type="ctrTitle"/>
          </p:nvPr>
        </p:nvSpPr>
        <p:spPr/>
        <p:txBody>
          <a:bodyPr/>
          <a:lstStyle/>
          <a:p>
            <a:r>
              <a:rPr lang="en-US" dirty="0"/>
              <a:t>Emerging Issues in the Field</a:t>
            </a:r>
          </a:p>
        </p:txBody>
      </p:sp>
      <p:sp>
        <p:nvSpPr>
          <p:cNvPr id="3" name="Subtitle 2">
            <a:extLst>
              <a:ext uri="{FF2B5EF4-FFF2-40B4-BE49-F238E27FC236}">
                <a16:creationId xmlns:a16="http://schemas.microsoft.com/office/drawing/2014/main" id="{20408443-5C94-F270-0CBA-10C38DA497CE}"/>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708058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F8C8-DA35-6579-C406-C00A10C8097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B01D17C-6B0D-3194-5CB3-EC1FA3271D49}"/>
              </a:ext>
            </a:extLst>
          </p:cNvPr>
          <p:cNvSpPr>
            <a:spLocks noGrp="1"/>
          </p:cNvSpPr>
          <p:nvPr>
            <p:ph idx="1"/>
          </p:nvPr>
        </p:nvSpPr>
        <p:spPr>
          <a:xfrm>
            <a:off x="838200" y="678426"/>
            <a:ext cx="10515600" cy="5498537"/>
          </a:xfrm>
        </p:spPr>
        <p:txBody>
          <a:bodyPr>
            <a:normAutofit fontScale="77500" lnSpcReduction="20000"/>
          </a:bodyPr>
          <a:lstStyle/>
          <a:p>
            <a:pPr marL="514350" indent="-514350">
              <a:buAutoNum type="alphaUcParenR"/>
            </a:pPr>
            <a:r>
              <a:rPr lang="en-US" dirty="0"/>
              <a:t>Artificial intelligent </a:t>
            </a:r>
          </a:p>
          <a:p>
            <a:pPr marL="0" indent="0" algn="just">
              <a:buNone/>
            </a:pPr>
            <a:r>
              <a:rPr lang="en-US" dirty="0"/>
              <a:t>Artificial Intelligence (AI) has been studied for over 50 years, but interest in it has grown rapidly in recent years. AI started as part of computer science and is now seen as a powerful tool that can perform tasks normally needing human intelligence, like learning, reasoning, and decision-making. </a:t>
            </a:r>
          </a:p>
          <a:p>
            <a:pPr marL="0" indent="0" algn="just">
              <a:buNone/>
            </a:pPr>
            <a:r>
              <a:rPr lang="en-US" dirty="0"/>
              <a:t>Definition of artificial intelligence from the OECD:</a:t>
            </a:r>
          </a:p>
          <a:p>
            <a:pPr marL="0" indent="0" algn="just">
              <a:buNone/>
            </a:pPr>
            <a:endParaRPr lang="en-US" dirty="0"/>
          </a:p>
          <a:p>
            <a:pPr marL="0" indent="0" algn="just">
              <a:buNone/>
            </a:pPr>
            <a:r>
              <a:rPr lang="en-US" dirty="0"/>
              <a:t>An AI system is a machine-based system that, for explicit or implicit objectives, infers, from the input it receives, how to generate outputs such as predictions, content, recommendations, or decisions that can influence physical or virtual environments.</a:t>
            </a:r>
          </a:p>
          <a:p>
            <a:pPr marL="0" indent="0" algn="just">
              <a:buNone/>
            </a:pPr>
            <a:r>
              <a:rPr lang="en-US" dirty="0"/>
              <a:t>As AI becomes more advanced, it could bring major benefits in areas like healthcare, education, transportation, and science. However, there are also serious risks. These include cybersecurity threats, biased algorithms, lack of transparency in AI decisions, and possible job loss due to automation. AI also raises concerns about privacy, fairness, and accountability, especially as it depends on large amounts of personal data. Some world leaders now see AI as key to national power, which may lead to global competition and even military use. While AI could deeply change our world and might even pose serious dangers, we still have the chance to guide its development in a safe and ethical way.</a:t>
            </a:r>
          </a:p>
          <a:p>
            <a:pPr marL="0" indent="0">
              <a:buNone/>
            </a:pPr>
            <a:endParaRPr lang="en-US" dirty="0"/>
          </a:p>
        </p:txBody>
      </p:sp>
    </p:spTree>
    <p:extLst>
      <p:ext uri="{BB962C8B-B14F-4D97-AF65-F5344CB8AC3E}">
        <p14:creationId xmlns:p14="http://schemas.microsoft.com/office/powerpoint/2010/main" val="3779349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0398A-9557-B62E-6874-AC24CD91DF14}"/>
              </a:ext>
            </a:extLst>
          </p:cNvPr>
          <p:cNvSpPr>
            <a:spLocks noGrp="1"/>
          </p:cNvSpPr>
          <p:nvPr>
            <p:ph type="title"/>
          </p:nvPr>
        </p:nvSpPr>
        <p:spPr/>
        <p:txBody>
          <a:bodyPr/>
          <a:lstStyle/>
          <a:p>
            <a:r>
              <a:rPr lang="en-US" dirty="0"/>
              <a:t>EU, AI Act 2024 </a:t>
            </a:r>
          </a:p>
        </p:txBody>
      </p:sp>
      <p:sp>
        <p:nvSpPr>
          <p:cNvPr id="3" name="Content Placeholder 2">
            <a:extLst>
              <a:ext uri="{FF2B5EF4-FFF2-40B4-BE49-F238E27FC236}">
                <a16:creationId xmlns:a16="http://schemas.microsoft.com/office/drawing/2014/main" id="{FCB7907C-AFD0-1AA2-6ED7-5C2856C97E39}"/>
              </a:ext>
            </a:extLst>
          </p:cNvPr>
          <p:cNvSpPr>
            <a:spLocks noGrp="1"/>
          </p:cNvSpPr>
          <p:nvPr>
            <p:ph idx="1"/>
          </p:nvPr>
        </p:nvSpPr>
        <p:spPr/>
        <p:txBody>
          <a:bodyPr>
            <a:normAutofit fontScale="92500"/>
          </a:bodyPr>
          <a:lstStyle/>
          <a:p>
            <a:pPr algn="just">
              <a:buNone/>
            </a:pPr>
            <a:r>
              <a:rPr lang="en-US" dirty="0"/>
              <a:t>Banned AI applications in the EU include:</a:t>
            </a:r>
          </a:p>
          <a:p>
            <a:pPr algn="just">
              <a:buFont typeface="Arial" panose="020B0604020202020204" pitchFamily="34" charset="0"/>
              <a:buChar char="•"/>
            </a:pPr>
            <a:r>
              <a:rPr lang="en-US" b="1" dirty="0"/>
              <a:t>Cognitive </a:t>
            </a:r>
            <a:r>
              <a:rPr lang="en-US" b="1" dirty="0" err="1"/>
              <a:t>behavioural</a:t>
            </a:r>
            <a:r>
              <a:rPr lang="en-US" b="1" dirty="0"/>
              <a:t> manipulation of individuals or specific vulnerable groups</a:t>
            </a:r>
            <a:r>
              <a:rPr lang="en-US" dirty="0"/>
              <a:t>, such as voice-activated toys that encourage dangerous behavior in children.</a:t>
            </a:r>
          </a:p>
          <a:p>
            <a:pPr algn="just">
              <a:buFont typeface="Arial" panose="020B0604020202020204" pitchFamily="34" charset="0"/>
              <a:buChar char="•"/>
            </a:pPr>
            <a:r>
              <a:rPr lang="en-US" b="1" dirty="0"/>
              <a:t>Social scoring systems</a:t>
            </a:r>
            <a:r>
              <a:rPr lang="en-US" dirty="0"/>
              <a:t>, which classify people based on their behavior, socio-economic status, or personal characteristics.</a:t>
            </a:r>
          </a:p>
          <a:p>
            <a:pPr algn="just">
              <a:buFont typeface="Arial" panose="020B0604020202020204" pitchFamily="34" charset="0"/>
              <a:buChar char="•"/>
            </a:pPr>
            <a:r>
              <a:rPr lang="en-US" b="1" dirty="0"/>
              <a:t>Biometric identification and </a:t>
            </a:r>
            <a:r>
              <a:rPr lang="en-US" b="1" dirty="0" err="1"/>
              <a:t>categorisation</a:t>
            </a:r>
            <a:r>
              <a:rPr lang="en-US" b="1" dirty="0"/>
              <a:t> of individuals</a:t>
            </a:r>
            <a:r>
              <a:rPr lang="en-US" dirty="0"/>
              <a:t>, especially when used to infer sensitive attributes like race or political beliefs.</a:t>
            </a:r>
          </a:p>
          <a:p>
            <a:pPr algn="just">
              <a:buFont typeface="Arial" panose="020B0604020202020204" pitchFamily="34" charset="0"/>
              <a:buChar char="•"/>
            </a:pPr>
            <a:r>
              <a:rPr lang="en-US" b="1" dirty="0"/>
              <a:t>Real-time and remote biometric identification systems in public spaces</a:t>
            </a:r>
            <a:r>
              <a:rPr lang="en-US" dirty="0"/>
              <a:t>, such as facial recognition used for surveillance purposes.</a:t>
            </a:r>
          </a:p>
          <a:p>
            <a:endParaRPr lang="en-US" dirty="0"/>
          </a:p>
        </p:txBody>
      </p:sp>
    </p:spTree>
    <p:extLst>
      <p:ext uri="{BB962C8B-B14F-4D97-AF65-F5344CB8AC3E}">
        <p14:creationId xmlns:p14="http://schemas.microsoft.com/office/powerpoint/2010/main" val="237246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C9D7B-DD01-DD0F-E294-6788FF77770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5F36FE05-12AD-B945-2FFB-0E14F5989366}"/>
              </a:ext>
            </a:extLst>
          </p:cNvPr>
          <p:cNvSpPr>
            <a:spLocks noGrp="1"/>
          </p:cNvSpPr>
          <p:nvPr>
            <p:ph idx="1"/>
          </p:nvPr>
        </p:nvSpPr>
        <p:spPr/>
        <p:txBody>
          <a:bodyPr/>
          <a:lstStyle/>
          <a:p>
            <a:r>
              <a:rPr lang="en-US" dirty="0"/>
              <a:t>Article 12 of United Nation Convention on the Use of Electronic  Communications in International Contracts which states that: </a:t>
            </a:r>
          </a:p>
          <a:p>
            <a:pPr marL="0" indent="0" algn="just">
              <a:buNone/>
            </a:pPr>
            <a:r>
              <a:rPr lang="en-US" dirty="0"/>
              <a:t>“A person be it legal entity or natural person on behalf of whom, a computer was programmed should ultimately be responsible for message generated by machine. This interpretation is in consonance with the general rule that the principal is responsible for the act of its agent the computer is acting as an agent since the tool ha no independent volition of its own.”</a:t>
            </a:r>
          </a:p>
          <a:p>
            <a:pPr marL="0" indent="0" algn="just">
              <a:buNone/>
            </a:pPr>
            <a:r>
              <a:rPr lang="en-US" dirty="0"/>
              <a:t>AI platforms, including ChatGPT and Google's Gemini AI, raising concerns about data integrity and trust in AI-generated content. </a:t>
            </a:r>
          </a:p>
        </p:txBody>
      </p:sp>
    </p:spTree>
    <p:extLst>
      <p:ext uri="{BB962C8B-B14F-4D97-AF65-F5344CB8AC3E}">
        <p14:creationId xmlns:p14="http://schemas.microsoft.com/office/powerpoint/2010/main" val="2874135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B1E2-38F7-E7F9-AB26-08F4AC5F22C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3643DB7-167F-EDC1-8BCD-1905AE486FF2}"/>
              </a:ext>
            </a:extLst>
          </p:cNvPr>
          <p:cNvSpPr>
            <a:spLocks noGrp="1"/>
          </p:cNvSpPr>
          <p:nvPr>
            <p:ph idx="1"/>
          </p:nvPr>
        </p:nvSpPr>
        <p:spPr>
          <a:xfrm>
            <a:off x="838200" y="717755"/>
            <a:ext cx="10515600" cy="5459208"/>
          </a:xfrm>
        </p:spPr>
        <p:txBody>
          <a:bodyPr>
            <a:normAutofit fontScale="77500" lnSpcReduction="20000"/>
          </a:bodyPr>
          <a:lstStyle/>
          <a:p>
            <a:pPr marL="0" indent="0" algn="l">
              <a:buNone/>
            </a:pPr>
            <a:r>
              <a:rPr lang="en-US" dirty="0">
                <a:solidFill>
                  <a:srgbClr val="111111"/>
                </a:solidFill>
                <a:latin typeface="SourceSansPro"/>
              </a:rPr>
              <a:t>B</a:t>
            </a:r>
            <a:r>
              <a:rPr lang="en-US" b="0" i="0" dirty="0">
                <a:solidFill>
                  <a:srgbClr val="111111"/>
                </a:solidFill>
                <a:effectLst/>
                <a:latin typeface="SourceSansPro"/>
              </a:rPr>
              <a:t>) Social Media </a:t>
            </a:r>
          </a:p>
          <a:p>
            <a:pPr algn="l">
              <a:buFont typeface="Arial" panose="020B0604020202020204" pitchFamily="34" charset="0"/>
              <a:buChar char="•"/>
            </a:pPr>
            <a:r>
              <a:rPr lang="en-US" b="0" i="0" dirty="0">
                <a:solidFill>
                  <a:srgbClr val="111111"/>
                </a:solidFill>
                <a:effectLst/>
                <a:latin typeface="SourceSansPro"/>
              </a:rPr>
              <a:t>Social media is made up of websites, apps, and other platforms that allow users to share information and ideas with virtual communities through text, photos, videos, and more.</a:t>
            </a:r>
          </a:p>
          <a:p>
            <a:pPr algn="l">
              <a:buFont typeface="Arial" panose="020B0604020202020204" pitchFamily="34" charset="0"/>
              <a:buChar char="•"/>
            </a:pPr>
            <a:r>
              <a:rPr lang="en-US" b="0" i="0" dirty="0">
                <a:solidFill>
                  <a:srgbClr val="111111"/>
                </a:solidFill>
                <a:effectLst/>
                <a:latin typeface="SourceSansPro"/>
              </a:rPr>
              <a:t>Social media has been credited with connecting users, allowing for community building and sharing important information.</a:t>
            </a:r>
          </a:p>
          <a:p>
            <a:pPr algn="l">
              <a:buFont typeface="Arial" panose="020B0604020202020204" pitchFamily="34" charset="0"/>
              <a:buChar char="•"/>
            </a:pPr>
            <a:r>
              <a:rPr lang="en-US" b="0" i="0" dirty="0">
                <a:solidFill>
                  <a:srgbClr val="111111"/>
                </a:solidFill>
                <a:effectLst/>
                <a:latin typeface="SourceSansPro"/>
              </a:rPr>
              <a:t>The largest social media platforms are Facebook, YouTube, WhatsApp, Instagram, and TikTok.</a:t>
            </a:r>
          </a:p>
          <a:p>
            <a:pPr algn="l">
              <a:buNone/>
            </a:pPr>
            <a:r>
              <a:rPr lang="en-US" b="0" i="1" dirty="0">
                <a:effectLst/>
                <a:latin typeface="Noto Sans" panose="020B0502040204020203" pitchFamily="34" charset="0"/>
              </a:rPr>
              <a:t>Social media has become fundamental to the way that billions of people get information about the world and connect with each other, which raises the stake enormously.”-</a:t>
            </a:r>
            <a:r>
              <a:rPr lang="en-US" b="1" i="1" dirty="0">
                <a:effectLst/>
                <a:latin typeface="Noto Sans" panose="020B0502040204020203" pitchFamily="34" charset="0"/>
              </a:rPr>
              <a:t> Kevin Werbach</a:t>
            </a:r>
            <a:endParaRPr lang="en-US" b="0" i="0" dirty="0">
              <a:effectLst/>
              <a:latin typeface="Noto Sans" panose="020B0502040204020203" pitchFamily="34" charset="0"/>
            </a:endParaRPr>
          </a:p>
          <a:p>
            <a:pPr algn="l">
              <a:buFont typeface="Arial" panose="020B0604020202020204" pitchFamily="34" charset="0"/>
              <a:buChar char="•"/>
            </a:pPr>
            <a:endParaRPr lang="en-US" dirty="0">
              <a:solidFill>
                <a:srgbClr val="001D35"/>
              </a:solidFill>
              <a:latin typeface="Google Sans"/>
            </a:endParaRPr>
          </a:p>
          <a:p>
            <a:r>
              <a:rPr lang="en-US" dirty="0">
                <a:solidFill>
                  <a:srgbClr val="001D35"/>
                </a:solidFill>
                <a:latin typeface="Google Sans"/>
              </a:rPr>
              <a:t>S</a:t>
            </a:r>
            <a:r>
              <a:rPr lang="en-US" b="0" i="0" dirty="0">
                <a:solidFill>
                  <a:srgbClr val="001D35"/>
                </a:solidFill>
                <a:effectLst/>
                <a:latin typeface="Google Sans"/>
              </a:rPr>
              <a:t>ocial media platforms need regulation </a:t>
            </a:r>
            <a:r>
              <a:rPr lang="en-US" dirty="0"/>
              <a:t>due to the potential for harm and misuse, including the spread of misinformation, hate speech, and harmful content.</a:t>
            </a:r>
          </a:p>
          <a:p>
            <a:r>
              <a:rPr lang="en-US" b="0" i="0" dirty="0">
                <a:solidFill>
                  <a:srgbClr val="001D35"/>
                </a:solidFill>
                <a:effectLst/>
                <a:latin typeface="Google Sans"/>
              </a:rPr>
              <a:t>Social media poses several problems for the IT sector, including </a:t>
            </a:r>
            <a:r>
              <a:rPr lang="en-US" dirty="0"/>
              <a:t>data privacy breaches, security risks, compliance violations, intellectual property issues, and reputational damage</a:t>
            </a:r>
          </a:p>
        </p:txBody>
      </p:sp>
    </p:spTree>
    <p:extLst>
      <p:ext uri="{BB962C8B-B14F-4D97-AF65-F5344CB8AC3E}">
        <p14:creationId xmlns:p14="http://schemas.microsoft.com/office/powerpoint/2010/main" val="3760377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D7311-D7EC-D7C4-8D70-98C0A0ED915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ABC6AEB-8936-EE04-7F1D-F91CD6BAF797}"/>
              </a:ext>
            </a:extLst>
          </p:cNvPr>
          <p:cNvSpPr>
            <a:spLocks noGrp="1"/>
          </p:cNvSpPr>
          <p:nvPr>
            <p:ph idx="1"/>
          </p:nvPr>
        </p:nvSpPr>
        <p:spPr/>
        <p:txBody>
          <a:bodyPr/>
          <a:lstStyle/>
          <a:p>
            <a:r>
              <a:rPr lang="en-US" b="0" i="0" dirty="0">
                <a:solidFill>
                  <a:srgbClr val="333333"/>
                </a:solidFill>
                <a:effectLst/>
                <a:latin typeface="Noto Serif" panose="020F0502020204030204" pitchFamily="18" charset="0"/>
              </a:rPr>
              <a:t>Nepal has one of the highest rates of social media users per capita in South Asia, with 43.5 percent of its population actively using social media platforms. In South Asia, Nepal is second only to the Maldives, according to </a:t>
            </a:r>
            <a:r>
              <a:rPr lang="en-US" b="0" i="0" u="sng" dirty="0" err="1">
                <a:solidFill>
                  <a:srgbClr val="CC0000"/>
                </a:solidFill>
                <a:effectLst/>
                <a:latin typeface="Noto Serif" panose="020F0502020204030204" pitchFamily="18" charset="0"/>
                <a:hlinkClick r:id="rId2"/>
              </a:rPr>
              <a:t>DataReportal’s</a:t>
            </a:r>
            <a:r>
              <a:rPr lang="en-US" b="0" i="0" u="sng" dirty="0">
                <a:solidFill>
                  <a:srgbClr val="CC0000"/>
                </a:solidFill>
                <a:effectLst/>
                <a:latin typeface="Noto Serif" panose="020F0502020204030204" pitchFamily="18" charset="0"/>
                <a:hlinkClick r:id="rId2"/>
              </a:rPr>
              <a:t> 2024 report</a:t>
            </a:r>
            <a:r>
              <a:rPr lang="en-US" b="0" i="0" dirty="0">
                <a:solidFill>
                  <a:srgbClr val="333333"/>
                </a:solidFill>
                <a:effectLst/>
                <a:latin typeface="Noto Serif" panose="020F0502020204030204" pitchFamily="18" charset="0"/>
              </a:rPr>
              <a:t>.</a:t>
            </a:r>
          </a:p>
          <a:p>
            <a:r>
              <a:rPr lang="en-US" dirty="0"/>
              <a:t>n 2023, Nepal temporarily banned TikTok, claiming the platform was spreading “social disharmony” by promoting hate speech and inappropriate content.</a:t>
            </a:r>
          </a:p>
        </p:txBody>
      </p:sp>
    </p:spTree>
    <p:extLst>
      <p:ext uri="{BB962C8B-B14F-4D97-AF65-F5344CB8AC3E}">
        <p14:creationId xmlns:p14="http://schemas.microsoft.com/office/powerpoint/2010/main" val="534580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6A6DD-1F4C-4935-D74D-170A0DE6992B}"/>
              </a:ext>
            </a:extLst>
          </p:cNvPr>
          <p:cNvSpPr>
            <a:spLocks noGrp="1"/>
          </p:cNvSpPr>
          <p:nvPr>
            <p:ph type="title"/>
          </p:nvPr>
        </p:nvSpPr>
        <p:spPr>
          <a:xfrm>
            <a:off x="838200" y="365125"/>
            <a:ext cx="10515600" cy="480449"/>
          </a:xfrm>
        </p:spPr>
        <p:txBody>
          <a:bodyPr/>
          <a:lstStyle/>
          <a:p>
            <a:pPr marL="0" marR="0" lvl="0" indent="0" defTabSz="914400" rtl="0" eaLnBrk="1" fontAlgn="auto" latinLnBrk="0" hangingPunct="1">
              <a:lnSpc>
                <a:spcPct val="90000"/>
              </a:lnSpc>
              <a:spcBef>
                <a:spcPts val="1000"/>
              </a:spcBef>
              <a:spcAft>
                <a:spcPts val="0"/>
              </a:spcAft>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Social Media Crime Law in Nepal, Highlighting the main points:</a:t>
            </a:r>
            <a:endParaRPr lang="en-US" dirty="0"/>
          </a:p>
        </p:txBody>
      </p:sp>
      <p:sp>
        <p:nvSpPr>
          <p:cNvPr id="3" name="Content Placeholder 2">
            <a:extLst>
              <a:ext uri="{FF2B5EF4-FFF2-40B4-BE49-F238E27FC236}">
                <a16:creationId xmlns:a16="http://schemas.microsoft.com/office/drawing/2014/main" id="{28883ECC-C830-BF6E-82F4-E990A04F6D4D}"/>
              </a:ext>
            </a:extLst>
          </p:cNvPr>
          <p:cNvSpPr>
            <a:spLocks noGrp="1"/>
          </p:cNvSpPr>
          <p:nvPr>
            <p:ph idx="1"/>
          </p:nvPr>
        </p:nvSpPr>
        <p:spPr>
          <a:xfrm>
            <a:off x="324465" y="845574"/>
            <a:ext cx="11562735" cy="5810865"/>
          </a:xfrm>
        </p:spPr>
        <p:txBody>
          <a:bodyPr>
            <a:normAutofit lnSpcReduction="10000"/>
          </a:bodyPr>
          <a:lstStyle/>
          <a:p>
            <a:pPr marL="0" indent="0">
              <a:buNone/>
            </a:pPr>
            <a:r>
              <a:rPr lang="en-US" dirty="0"/>
              <a:t>Social Media Crime Law in Nepal, Highlighting the main points:</a:t>
            </a:r>
          </a:p>
          <a:p>
            <a:pPr marL="0" indent="0">
              <a:buNone/>
            </a:pPr>
            <a:r>
              <a:rPr lang="en-US" dirty="0"/>
              <a:t>1. Electronic Transaction Act (ETA) 2063 – Section 47</a:t>
            </a:r>
          </a:p>
          <a:p>
            <a:pPr marL="0" indent="0">
              <a:buNone/>
            </a:pPr>
            <a:r>
              <a:rPr lang="en-US" dirty="0"/>
              <a:t>This section controls online behavior and prohibits publishing or sharing the following on social media or electronic platforms:</a:t>
            </a:r>
          </a:p>
          <a:p>
            <a:r>
              <a:rPr lang="en-US" dirty="0"/>
              <a:t>Content banned by existing laws</a:t>
            </a:r>
          </a:p>
          <a:p>
            <a:r>
              <a:rPr lang="en-US" dirty="0"/>
              <a:t>Content against public morality or decent behavior</a:t>
            </a:r>
          </a:p>
          <a:p>
            <a:r>
              <a:rPr lang="en-US" dirty="0"/>
              <a:t>Messages that spread hate or jealousy</a:t>
            </a:r>
          </a:p>
          <a:p>
            <a:r>
              <a:rPr lang="en-US" dirty="0"/>
              <a:t>Content that harms unity among different castes, tribes, or communities</a:t>
            </a:r>
          </a:p>
          <a:p>
            <a:r>
              <a:rPr lang="en-US" dirty="0"/>
              <a:t>Harassment, disrespect, or abuse of women</a:t>
            </a:r>
          </a:p>
          <a:p>
            <a:pPr marL="0" indent="0">
              <a:buNone/>
            </a:pPr>
            <a:r>
              <a:rPr lang="en-US" dirty="0"/>
              <a:t>Punishment: Fine up to NPR 100,000Imprisonment up to 5 </a:t>
            </a:r>
            <a:r>
              <a:rPr lang="en-US" dirty="0" err="1"/>
              <a:t>yearsOr</a:t>
            </a:r>
            <a:r>
              <a:rPr lang="en-US" dirty="0"/>
              <a:t> both</a:t>
            </a:r>
          </a:p>
          <a:p>
            <a:pPr marL="0" indent="0">
              <a:buNone/>
            </a:pPr>
            <a:r>
              <a:rPr lang="en-US" dirty="0"/>
              <a:t>Repeat offenses: Punishment increases by 1.5 times for each repeated crime</a:t>
            </a:r>
          </a:p>
        </p:txBody>
      </p:sp>
    </p:spTree>
    <p:extLst>
      <p:ext uri="{BB962C8B-B14F-4D97-AF65-F5344CB8AC3E}">
        <p14:creationId xmlns:p14="http://schemas.microsoft.com/office/powerpoint/2010/main" val="2555969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87AF5-8F3D-6689-C2F6-926FD9FC09B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71C4888-4B16-C11D-0E13-B93B3072CF31}"/>
              </a:ext>
            </a:extLst>
          </p:cNvPr>
          <p:cNvSpPr>
            <a:spLocks noGrp="1"/>
          </p:cNvSpPr>
          <p:nvPr>
            <p:ph idx="1"/>
          </p:nvPr>
        </p:nvSpPr>
        <p:spPr>
          <a:xfrm>
            <a:off x="314631" y="157316"/>
            <a:ext cx="11543071" cy="6548284"/>
          </a:xfrm>
        </p:spPr>
        <p:txBody>
          <a:bodyPr>
            <a:normAutofit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National Penal Code 2074 – Part 3 (Privacy and Reputation Offenses)</a:t>
            </a:r>
          </a:p>
          <a:p>
            <a:pPr marR="0" lvl="0" algn="l" defTabSz="914400" rtl="0" eaLnBrk="1" fontAlgn="auto" latinLnBrk="0" hangingPunct="1">
              <a:lnSpc>
                <a:spcPct val="90000"/>
              </a:lnSpc>
              <a:spcBef>
                <a:spcPts val="1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Section 293 – Listening or recording others without consent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Punishment: Up to 2 years in jail or NPR 20,000 fine or both</a:t>
            </a:r>
          </a:p>
          <a:p>
            <a:pPr marR="0" lvl="0" algn="l" defTabSz="914400" rtl="0" eaLnBrk="1" fontAlgn="auto" latinLnBrk="0" hangingPunct="1">
              <a:lnSpc>
                <a:spcPct val="90000"/>
              </a:lnSpc>
              <a:spcBef>
                <a:spcPts val="1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Section 294 – Sharing confidential information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Punishment: Up to 1 year in jail or NPR 10,000 fine or both</a:t>
            </a:r>
          </a:p>
          <a:p>
            <a:pPr marR="0" lvl="0" algn="l" defTabSz="914400" rtl="0" eaLnBrk="1" fontAlgn="auto" latinLnBrk="0" hangingPunct="1">
              <a:lnSpc>
                <a:spcPct val="90000"/>
              </a:lnSpc>
              <a:spcBef>
                <a:spcPts val="1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Section 295 – Taking or editing someone's photo without permission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Punishment: For taking photo: Up to 1 year jail or NPR 10,000 fine or both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For editing or misusing photo: Up to 2 years jail or NPR 20,000 fine or both</a:t>
            </a:r>
          </a:p>
          <a:p>
            <a:pPr marR="0" lvl="0" algn="l" defTabSz="914400" rtl="0" eaLnBrk="1" fontAlgn="auto" latinLnBrk="0" hangingPunct="1">
              <a:lnSpc>
                <a:spcPct val="90000"/>
              </a:lnSpc>
              <a:spcBef>
                <a:spcPts val="1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Section 296 – Selling or misusing someone’s photo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Punishment: Up to 3 years in jail or NPR 30,000 fine or both</a:t>
            </a:r>
          </a:p>
          <a:p>
            <a:pPr marR="0" lvl="0" algn="l" defTabSz="914400" rtl="0" eaLnBrk="1" fontAlgn="auto" latinLnBrk="0" hangingPunct="1">
              <a:lnSpc>
                <a:spcPct val="90000"/>
              </a:lnSpc>
              <a:spcBef>
                <a:spcPts val="1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Section 298 – Breaching privacy electronically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Punishment: Up to 2 years in jail or NPR 20,000 fine or both</a:t>
            </a:r>
          </a:p>
          <a:p>
            <a:pPr marR="0" lvl="0" algn="l" defTabSz="914400" rtl="0" eaLnBrk="1" fontAlgn="auto" latinLnBrk="0" hangingPunct="1">
              <a:lnSpc>
                <a:spcPct val="90000"/>
              </a:lnSpc>
              <a:spcBef>
                <a:spcPts val="1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Section 305 – Slander (insulting someone’s reputation)</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Punishment: Up to 1 year in jail or NPR 10,000 fine or both</a:t>
            </a:r>
          </a:p>
          <a:p>
            <a:pPr marR="0" lvl="0" algn="l" defTabSz="914400" rtl="0" eaLnBrk="1" fontAlgn="auto" latinLnBrk="0" hangingPunct="1">
              <a:lnSpc>
                <a:spcPct val="90000"/>
              </a:lnSpc>
              <a:spcBef>
                <a:spcPts val="1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Section 307 – Libel (false accusation or defamation)</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Punishment: Up to 2 years in jail or NPR 20,000 fine or both</a:t>
            </a:r>
          </a:p>
          <a:p>
            <a:pPr marR="0" lvl="0" algn="l" defTabSz="914400" rtl="0" eaLnBrk="1" fontAlgn="auto" latinLnBrk="0" hangingPunct="1">
              <a:lnSpc>
                <a:spcPct val="90000"/>
              </a:lnSpc>
              <a:spcBef>
                <a:spcPts val="1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Limitation Period - Complaints must be filed within 3 months of knowing about the offense</a:t>
            </a:r>
          </a:p>
          <a:p>
            <a:endParaRPr lang="en-US" dirty="0"/>
          </a:p>
        </p:txBody>
      </p:sp>
    </p:spTree>
    <p:extLst>
      <p:ext uri="{BB962C8B-B14F-4D97-AF65-F5344CB8AC3E}">
        <p14:creationId xmlns:p14="http://schemas.microsoft.com/office/powerpoint/2010/main" val="3756392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2C25F-A643-EF4F-EB2F-F37ACBC77D69}"/>
              </a:ext>
            </a:extLst>
          </p:cNvPr>
          <p:cNvSpPr>
            <a:spLocks noGrp="1"/>
          </p:cNvSpPr>
          <p:nvPr>
            <p:ph type="title"/>
          </p:nvPr>
        </p:nvSpPr>
        <p:spPr/>
        <p:txBody>
          <a:bodyPr/>
          <a:lstStyle/>
          <a:p>
            <a:r>
              <a:rPr lang="en-US" dirty="0"/>
              <a:t>E-Governance </a:t>
            </a:r>
          </a:p>
        </p:txBody>
      </p:sp>
      <p:sp>
        <p:nvSpPr>
          <p:cNvPr id="3" name="Content Placeholder 2">
            <a:extLst>
              <a:ext uri="{FF2B5EF4-FFF2-40B4-BE49-F238E27FC236}">
                <a16:creationId xmlns:a16="http://schemas.microsoft.com/office/drawing/2014/main" id="{D98F6075-48C9-5A9C-D7B8-E3ECA45906BA}"/>
              </a:ext>
            </a:extLst>
          </p:cNvPr>
          <p:cNvSpPr>
            <a:spLocks noGrp="1"/>
          </p:cNvSpPr>
          <p:nvPr>
            <p:ph idx="1"/>
          </p:nvPr>
        </p:nvSpPr>
        <p:spPr>
          <a:xfrm>
            <a:off x="838200" y="1347019"/>
            <a:ext cx="10515600" cy="4829944"/>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In today's rapidly advancing digital era, technology is transforming almost all areas of governance, from public administration and business processes to how citizens interact with the government. The old-fashioned model of governance—marked by heavy paperwork, bureaucratic delays, and inefficiency—is steadily giving way to digital systems that improve transparency, effectiveness, and enhance the quality of services provided.</a:t>
            </a:r>
          </a:p>
          <a:p>
            <a:pPr algn="just"/>
            <a:r>
              <a:rPr lang="en-US" dirty="0">
                <a:latin typeface="Times New Roman" panose="02020603050405020304" pitchFamily="18" charset="0"/>
                <a:cs typeface="Times New Roman" panose="02020603050405020304" pitchFamily="18" charset="0"/>
              </a:rPr>
              <a:t>Nepal is working to digitalize public services, but major challenges remain. A key issue is the lack of strong data privacy and security laws. Without a Personal Data Protection Act, personal data is at risk of misuse. A Data Protection Authority is urgently needed to fix this.</a:t>
            </a:r>
          </a:p>
          <a:p>
            <a:pPr algn="just"/>
            <a:r>
              <a:rPr lang="en-US" dirty="0"/>
              <a:t>Various Government to consumer services delivery ideas have been successfully implemented such as National ID (NID), MRP/e-Passport, Voter ID, Driving License, Immigration, and the Nagarik app.</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0885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5115-EB83-9306-D7EE-4A9CF675D6C0}"/>
              </a:ext>
            </a:extLst>
          </p:cNvPr>
          <p:cNvSpPr>
            <a:spLocks noGrp="1"/>
          </p:cNvSpPr>
          <p:nvPr>
            <p:ph type="title"/>
          </p:nvPr>
        </p:nvSpPr>
        <p:spPr/>
        <p:txBody>
          <a:bodyPr/>
          <a:lstStyle/>
          <a:p>
            <a:r>
              <a:rPr lang="en-US" dirty="0"/>
              <a:t>Nepal Rastra Bank Data breach</a:t>
            </a:r>
          </a:p>
        </p:txBody>
      </p:sp>
      <p:sp>
        <p:nvSpPr>
          <p:cNvPr id="3" name="Content Placeholder 2">
            <a:extLst>
              <a:ext uri="{FF2B5EF4-FFF2-40B4-BE49-F238E27FC236}">
                <a16:creationId xmlns:a16="http://schemas.microsoft.com/office/drawing/2014/main" id="{5F88AC8B-8D31-7A34-7C85-0DFFDB5775F1}"/>
              </a:ext>
            </a:extLst>
          </p:cNvPr>
          <p:cNvSpPr>
            <a:spLocks noGrp="1"/>
          </p:cNvSpPr>
          <p:nvPr>
            <p:ph idx="1"/>
          </p:nvPr>
        </p:nvSpPr>
        <p:spPr/>
        <p:txBody>
          <a:bodyPr/>
          <a:lstStyle/>
          <a:p>
            <a:pPr algn="just"/>
            <a:r>
              <a:rPr lang="en-US" dirty="0"/>
              <a:t>In December 2023, a hacker named Navraj Lamichhane claimed to have stolen sensitive data and source code from Nepal Rastra Bank and tried to sell it on the dark web for $10,000. Navraj said he had reported many security bugs to the bank but felt ignored, so he decided to take and sell the data. Using hacking tools and techniques like SQL injection and scanning for vulnerabilities without permission, he accessed the bank’s systems illegally. The Cyber Bureau traced his IP addresses, leading to his arrest in March 2024. The main issue is that although Navraj initially wanted to help by reporting bugs, hacking without authorization and selling sensitive data is illegal and a serious cybercrime.</a:t>
            </a:r>
          </a:p>
        </p:txBody>
      </p:sp>
    </p:spTree>
    <p:extLst>
      <p:ext uri="{BB962C8B-B14F-4D97-AF65-F5344CB8AC3E}">
        <p14:creationId xmlns:p14="http://schemas.microsoft.com/office/powerpoint/2010/main" val="2370758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A3ABA-1B1F-BB1C-14E7-855174AD41B5}"/>
              </a:ext>
            </a:extLst>
          </p:cNvPr>
          <p:cNvSpPr>
            <a:spLocks noGrp="1"/>
          </p:cNvSpPr>
          <p:nvPr>
            <p:ph type="title"/>
          </p:nvPr>
        </p:nvSpPr>
        <p:spPr/>
        <p:txBody>
          <a:bodyPr/>
          <a:lstStyle/>
          <a:p>
            <a:r>
              <a:rPr lang="en-US" dirty="0"/>
              <a:t>Cross boarder Cyber crime </a:t>
            </a:r>
          </a:p>
        </p:txBody>
      </p:sp>
      <p:sp>
        <p:nvSpPr>
          <p:cNvPr id="3" name="Content Placeholder 2">
            <a:extLst>
              <a:ext uri="{FF2B5EF4-FFF2-40B4-BE49-F238E27FC236}">
                <a16:creationId xmlns:a16="http://schemas.microsoft.com/office/drawing/2014/main" id="{202F7146-8EC0-A1EF-764F-5974ADE432C2}"/>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Nepal remains vulnerable to cross-border cyber threats that can have severe economic and social impacts.</a:t>
            </a:r>
          </a:p>
          <a:p>
            <a:pPr algn="just"/>
            <a:r>
              <a:rPr lang="en-US" dirty="0">
                <a:latin typeface="Times New Roman" panose="02020603050405020304" pitchFamily="18" charset="0"/>
                <a:cs typeface="Times New Roman" panose="02020603050405020304" pitchFamily="18" charset="0"/>
              </a:rPr>
              <a:t>Cross-border cybercrime is a serious and growing challenge in Nepal, as criminals from other countries can target Nepali systems without being physically present. </a:t>
            </a:r>
          </a:p>
          <a:p>
            <a:pPr algn="just"/>
            <a:r>
              <a:rPr lang="en-US" dirty="0">
                <a:latin typeface="Times New Roman" panose="02020603050405020304" pitchFamily="18" charset="0"/>
                <a:cs typeface="Times New Roman" panose="02020603050405020304" pitchFamily="18" charset="0"/>
              </a:rPr>
              <a:t>The main challenge in tackling cross-border cybercrime in Nepal is the difficulty of tracking and prosecuting criminals located in other countries. Differences in legal systems, lack of international cooperation, and limited technical expertise make it hard for Nepali authorities to respond effectively. </a:t>
            </a:r>
          </a:p>
        </p:txBody>
      </p:sp>
    </p:spTree>
    <p:extLst>
      <p:ext uri="{BB962C8B-B14F-4D97-AF65-F5344CB8AC3E}">
        <p14:creationId xmlns:p14="http://schemas.microsoft.com/office/powerpoint/2010/main" val="843085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B16E-2268-94F3-C433-93BA0B4E646E}"/>
              </a:ext>
            </a:extLst>
          </p:cNvPr>
          <p:cNvSpPr>
            <a:spLocks noGrp="1"/>
          </p:cNvSpPr>
          <p:nvPr>
            <p:ph type="title"/>
          </p:nvPr>
        </p:nvSpPr>
        <p:spPr/>
        <p:txBody>
          <a:bodyPr/>
          <a:lstStyle/>
          <a:p>
            <a:r>
              <a:rPr lang="en-US" dirty="0"/>
              <a:t>Digital payment </a:t>
            </a:r>
          </a:p>
        </p:txBody>
      </p:sp>
      <p:sp>
        <p:nvSpPr>
          <p:cNvPr id="3" name="Content Placeholder 2">
            <a:extLst>
              <a:ext uri="{FF2B5EF4-FFF2-40B4-BE49-F238E27FC236}">
                <a16:creationId xmlns:a16="http://schemas.microsoft.com/office/drawing/2014/main" id="{2357A6BD-284D-527F-39C6-352805DD9291}"/>
              </a:ext>
            </a:extLst>
          </p:cNvPr>
          <p:cNvSpPr>
            <a:spLocks noGrp="1"/>
          </p:cNvSpPr>
          <p:nvPr>
            <p:ph idx="1"/>
          </p:nvPr>
        </p:nvSpPr>
        <p:spPr/>
        <p:txBody>
          <a:bodyPr/>
          <a:lstStyle/>
          <a:p>
            <a:pPr algn="just"/>
            <a:r>
              <a:rPr lang="en-US" b="0" i="0" dirty="0">
                <a:solidFill>
                  <a:srgbClr val="001D35"/>
                </a:solidFill>
                <a:effectLst/>
                <a:latin typeface="Google Sans"/>
              </a:rPr>
              <a:t>Digital payment, also known as an electronic payment, is a financial transaction where money is transferred from one account to another electronically, without using physical cash. This includes various methods like bank transfers, mobile payments, QR codes, and using credit, debit, or prepaid cards.</a:t>
            </a:r>
          </a:p>
          <a:p>
            <a:pPr algn="just"/>
            <a:r>
              <a:rPr lang="en-US" dirty="0"/>
              <a:t>Nepal Rastra Bank Act, 2002 </a:t>
            </a:r>
          </a:p>
          <a:p>
            <a:pPr marL="0" indent="0" algn="just">
              <a:buNone/>
            </a:pPr>
            <a:r>
              <a:rPr lang="en-US" dirty="0"/>
              <a:t>As per Nepal Rastra Bank Act, 2002, one of the objectives of Nepal Rastra Bank is to develop a secure, healthy and efficient system of payment. This act also gives powers to regulate, inspect, and supervise payment, clearing, and settlement arrangements. </a:t>
            </a:r>
          </a:p>
        </p:txBody>
      </p:sp>
    </p:spTree>
    <p:extLst>
      <p:ext uri="{BB962C8B-B14F-4D97-AF65-F5344CB8AC3E}">
        <p14:creationId xmlns:p14="http://schemas.microsoft.com/office/powerpoint/2010/main" val="3263620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D8553-4137-D2F4-934F-034AAC7408F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A3308A7-5123-4DF8-F720-DB0EF7DC3CC2}"/>
              </a:ext>
            </a:extLst>
          </p:cNvPr>
          <p:cNvSpPr>
            <a:spLocks noGrp="1"/>
          </p:cNvSpPr>
          <p:nvPr>
            <p:ph idx="1"/>
          </p:nvPr>
        </p:nvSpPr>
        <p:spPr/>
        <p:txBody>
          <a:bodyPr/>
          <a:lstStyle/>
          <a:p>
            <a:pPr algn="just"/>
            <a:r>
              <a:rPr lang="en-US" dirty="0"/>
              <a:t>Payment Service Provider (PSP): PSP is the institution which provides payment related service to beneficiaries. It also refers to the institution which makes payment for goods, services, assets or other liability between the institution and beneficiaries, transfers money within country and abroad or conducts payment transaction electronically. </a:t>
            </a:r>
          </a:p>
          <a:p>
            <a:pPr algn="just"/>
            <a:r>
              <a:rPr lang="en-US" dirty="0"/>
              <a:t>Payment System Operator (PSO): PSO is the institution which perform payment related operation, management and clearing. It also refers to the institution which conducts clearing house, electronic card and other electronic (online) payment network.</a:t>
            </a:r>
          </a:p>
        </p:txBody>
      </p:sp>
    </p:spTree>
    <p:extLst>
      <p:ext uri="{BB962C8B-B14F-4D97-AF65-F5344CB8AC3E}">
        <p14:creationId xmlns:p14="http://schemas.microsoft.com/office/powerpoint/2010/main" val="3176587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EFCD9-2292-E821-3DCA-D832424B1C0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678635B-A5F1-5237-40C9-4EB2D6B8A857}"/>
              </a:ext>
            </a:extLst>
          </p:cNvPr>
          <p:cNvSpPr>
            <a:spLocks noGrp="1"/>
          </p:cNvSpPr>
          <p:nvPr>
            <p:ph idx="1"/>
          </p:nvPr>
        </p:nvSpPr>
        <p:spPr/>
        <p:txBody>
          <a:bodyPr/>
          <a:lstStyle/>
          <a:p>
            <a:r>
              <a:rPr lang="en-US" dirty="0"/>
              <a:t>The </a:t>
            </a:r>
            <a:r>
              <a:rPr lang="en-US" b="1" dirty="0"/>
              <a:t>Payment and Settlement Act, 2019</a:t>
            </a:r>
            <a:r>
              <a:rPr lang="en-US" dirty="0"/>
              <a:t> </a:t>
            </a:r>
          </a:p>
          <a:p>
            <a:pPr marL="0" indent="0" algn="just">
              <a:buNone/>
            </a:pPr>
            <a:r>
              <a:rPr lang="en-US" dirty="0"/>
              <a:t>legal framework for regulating Nepal’s digital payment system. It establishes the </a:t>
            </a:r>
            <a:r>
              <a:rPr lang="en-US" b="1" dirty="0"/>
              <a:t>National Payment Board</a:t>
            </a:r>
            <a:r>
              <a:rPr lang="en-US" dirty="0"/>
              <a:t>, which is responsible for ensuring a secure, efficient, and trustworthy payment system while promoting its modernization. The Act gives </a:t>
            </a:r>
            <a:r>
              <a:rPr lang="en-US" b="1" dirty="0"/>
              <a:t>Nepal Rastra Bank (NRB)</a:t>
            </a:r>
            <a:r>
              <a:rPr lang="en-US" dirty="0"/>
              <a:t> the authority to </a:t>
            </a:r>
            <a:r>
              <a:rPr lang="en-US" b="1" dirty="0"/>
              <a:t>issue, revoke, or refuse licenses</a:t>
            </a:r>
            <a:r>
              <a:rPr lang="en-US" dirty="0"/>
              <a:t> to entities wishing to operate as payment service providers or system operators. Additionally, the NRB is empowered to </a:t>
            </a:r>
            <a:r>
              <a:rPr lang="en-US" b="1" dirty="0"/>
              <a:t>regularly supervise and inspect</a:t>
            </a:r>
            <a:r>
              <a:rPr lang="en-US" dirty="0"/>
              <a:t> these institutions to reduce risks and maintain financial stability in the payment sector.</a:t>
            </a:r>
          </a:p>
        </p:txBody>
      </p:sp>
    </p:spTree>
    <p:extLst>
      <p:ext uri="{BB962C8B-B14F-4D97-AF65-F5344CB8AC3E}">
        <p14:creationId xmlns:p14="http://schemas.microsoft.com/office/powerpoint/2010/main" val="3365072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FF82-1AC9-5CD7-606F-AF1B978C42D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17487C4-1356-EC51-E9EE-67649521B778}"/>
              </a:ext>
            </a:extLst>
          </p:cNvPr>
          <p:cNvSpPr>
            <a:spLocks noGrp="1"/>
          </p:cNvSpPr>
          <p:nvPr>
            <p:ph idx="1"/>
          </p:nvPr>
        </p:nvSpPr>
        <p:spPr/>
        <p:txBody>
          <a:bodyPr/>
          <a:lstStyle/>
          <a:p>
            <a:pPr algn="just">
              <a:buNone/>
            </a:pPr>
            <a:r>
              <a:rPr lang="en-US" b="1" dirty="0">
                <a:latin typeface="Times New Roman" panose="02020603050405020304" pitchFamily="18" charset="0"/>
                <a:cs typeface="Times New Roman" panose="02020603050405020304" pitchFamily="18" charset="0"/>
              </a:rPr>
              <a:t>Electronic Transactions Act, 2063 (2006)</a:t>
            </a:r>
          </a:p>
          <a:p>
            <a:pPr algn="just">
              <a:buNone/>
            </a:pPr>
            <a:r>
              <a:rPr lang="en-US" dirty="0">
                <a:latin typeface="Times New Roman" panose="02020603050405020304" pitchFamily="18" charset="0"/>
                <a:cs typeface="Times New Roman" panose="02020603050405020304" pitchFamily="18" charset="0"/>
              </a:rPr>
              <a:t>This foundational law provides the legal basis for electronic transactions in Nepal. It covers: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Legal Validity</a:t>
            </a:r>
            <a:r>
              <a:rPr lang="en-US" dirty="0">
                <a:latin typeface="Times New Roman" panose="02020603050405020304" pitchFamily="18" charset="0"/>
                <a:cs typeface="Times New Roman" panose="02020603050405020304" pitchFamily="18" charset="0"/>
              </a:rPr>
              <a:t>: Ensures that electronic records and digital signatures are legally recognized.</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Digital Signature</a:t>
            </a:r>
            <a:r>
              <a:rPr lang="en-US" dirty="0">
                <a:latin typeface="Times New Roman" panose="02020603050405020304" pitchFamily="18" charset="0"/>
                <a:cs typeface="Times New Roman" panose="02020603050405020304" pitchFamily="18" charset="0"/>
              </a:rPr>
              <a:t>: Grants individuals the right to authenticate electronic records using personal digital signatures.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Certifying Authorities</a:t>
            </a:r>
            <a:r>
              <a:rPr lang="en-US" dirty="0">
                <a:latin typeface="Times New Roman" panose="02020603050405020304" pitchFamily="18" charset="0"/>
                <a:cs typeface="Times New Roman" panose="02020603050405020304" pitchFamily="18" charset="0"/>
              </a:rPr>
              <a:t>: Establishes a framework for licensing entities that certify digital signatures</a:t>
            </a:r>
            <a:r>
              <a:rPr lang="en-US" dirty="0"/>
              <a:t>.</a:t>
            </a:r>
          </a:p>
          <a:p>
            <a:endParaRPr lang="en-US" dirty="0"/>
          </a:p>
        </p:txBody>
      </p:sp>
    </p:spTree>
    <p:extLst>
      <p:ext uri="{BB962C8B-B14F-4D97-AF65-F5344CB8AC3E}">
        <p14:creationId xmlns:p14="http://schemas.microsoft.com/office/powerpoint/2010/main" val="4273347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416C8-4E59-EC54-7251-F51B256B3EE1}"/>
              </a:ext>
            </a:extLst>
          </p:cNvPr>
          <p:cNvSpPr>
            <a:spLocks noGrp="1"/>
          </p:cNvSpPr>
          <p:nvPr>
            <p:ph type="title"/>
          </p:nvPr>
        </p:nvSpPr>
        <p:spPr/>
        <p:txBody>
          <a:bodyPr/>
          <a:lstStyle/>
          <a:p>
            <a:r>
              <a:rPr lang="en-US" dirty="0"/>
              <a:t>Solution </a:t>
            </a:r>
            <a:br>
              <a:rPr lang="en-US" dirty="0"/>
            </a:br>
            <a:endParaRPr lang="en-US" dirty="0"/>
          </a:p>
        </p:txBody>
      </p:sp>
      <p:sp>
        <p:nvSpPr>
          <p:cNvPr id="3" name="Content Placeholder 2">
            <a:extLst>
              <a:ext uri="{FF2B5EF4-FFF2-40B4-BE49-F238E27FC236}">
                <a16:creationId xmlns:a16="http://schemas.microsoft.com/office/drawing/2014/main" id="{CAE2373E-55DE-87AE-26FD-DAADB109AA6B}"/>
              </a:ext>
            </a:extLst>
          </p:cNvPr>
          <p:cNvSpPr>
            <a:spLocks noGrp="1"/>
          </p:cNvSpPr>
          <p:nvPr>
            <p:ph idx="1"/>
          </p:nvPr>
        </p:nvSpPr>
        <p:spPr>
          <a:xfrm>
            <a:off x="452284" y="1032386"/>
            <a:ext cx="11110452" cy="5604387"/>
          </a:xfrm>
        </p:spPr>
        <p:txBody>
          <a:bodyPr>
            <a:normAutofit fontScale="70000" lnSpcReduction="20000"/>
          </a:bodyPr>
          <a:lstStyle/>
          <a:p>
            <a:pPr>
              <a:buNone/>
            </a:pPr>
            <a:r>
              <a:rPr lang="en-US" sz="4500" b="1" dirty="0">
                <a:latin typeface="Times New Roman" panose="02020603050405020304" pitchFamily="18" charset="0"/>
                <a:cs typeface="Times New Roman" panose="02020603050405020304" pitchFamily="18" charset="0"/>
              </a:rPr>
              <a:t>Update and Strengthen Laws:</a:t>
            </a:r>
            <a:br>
              <a:rPr lang="en-US" sz="4500" dirty="0">
                <a:latin typeface="Times New Roman" panose="02020603050405020304" pitchFamily="18" charset="0"/>
                <a:cs typeface="Times New Roman" panose="02020603050405020304" pitchFamily="18" charset="0"/>
              </a:rPr>
            </a:br>
            <a:r>
              <a:rPr lang="en-US" sz="4500" dirty="0">
                <a:latin typeface="Times New Roman" panose="02020603050405020304" pitchFamily="18" charset="0"/>
                <a:cs typeface="Times New Roman" panose="02020603050405020304" pitchFamily="18" charset="0"/>
              </a:rPr>
              <a:t>IT laws should be regularly reviewed and updated to keep up with fast-changing technologies like artificial intelligence, blockchain, and digital payments.</a:t>
            </a:r>
          </a:p>
          <a:p>
            <a:pPr>
              <a:buNone/>
            </a:pPr>
            <a:r>
              <a:rPr lang="en-US" sz="4500" b="1" dirty="0">
                <a:latin typeface="Times New Roman" panose="02020603050405020304" pitchFamily="18" charset="0"/>
                <a:cs typeface="Times New Roman" panose="02020603050405020304" pitchFamily="18" charset="0"/>
              </a:rPr>
              <a:t>Create Clear Data Protection Rules:</a:t>
            </a:r>
            <a:br>
              <a:rPr lang="en-US" sz="4500" dirty="0">
                <a:latin typeface="Times New Roman" panose="02020603050405020304" pitchFamily="18" charset="0"/>
                <a:cs typeface="Times New Roman" panose="02020603050405020304" pitchFamily="18" charset="0"/>
              </a:rPr>
            </a:br>
            <a:r>
              <a:rPr lang="en-US" sz="4500" dirty="0">
                <a:latin typeface="Times New Roman" panose="02020603050405020304" pitchFamily="18" charset="0"/>
                <a:cs typeface="Times New Roman" panose="02020603050405020304" pitchFamily="18" charset="0"/>
              </a:rPr>
              <a:t>Comprehensive laws should be made to protect people’s personal information and ensure companies handle data responsibly.</a:t>
            </a:r>
          </a:p>
          <a:p>
            <a:pPr>
              <a:buNone/>
            </a:pPr>
            <a:r>
              <a:rPr lang="en-US" sz="4500" b="1" dirty="0">
                <a:latin typeface="Times New Roman" panose="02020603050405020304" pitchFamily="18" charset="0"/>
                <a:cs typeface="Times New Roman" panose="02020603050405020304" pitchFamily="18" charset="0"/>
              </a:rPr>
              <a:t>Improve Cybersecurity Measures:</a:t>
            </a:r>
            <a:br>
              <a:rPr lang="en-US" sz="4500" dirty="0">
                <a:latin typeface="Times New Roman" panose="02020603050405020304" pitchFamily="18" charset="0"/>
                <a:cs typeface="Times New Roman" panose="02020603050405020304" pitchFamily="18" charset="0"/>
              </a:rPr>
            </a:br>
            <a:r>
              <a:rPr lang="en-US" sz="4500" dirty="0">
                <a:latin typeface="Times New Roman" panose="02020603050405020304" pitchFamily="18" charset="0"/>
                <a:cs typeface="Times New Roman" panose="02020603050405020304" pitchFamily="18" charset="0"/>
              </a:rPr>
              <a:t>Strong cybersecurity rules and systems need to be established and enforced for both government and private organizations to stop cyberattacks and data leaks.</a:t>
            </a:r>
          </a:p>
          <a:p>
            <a:pPr>
              <a:buNone/>
            </a:pPr>
            <a:r>
              <a:rPr lang="en-US" sz="4500" b="1" dirty="0">
                <a:latin typeface="Times New Roman" panose="02020603050405020304" pitchFamily="18" charset="0"/>
                <a:cs typeface="Times New Roman" panose="02020603050405020304" pitchFamily="18" charset="0"/>
              </a:rPr>
              <a:t>Build Regulatory Skills:</a:t>
            </a:r>
            <a:br>
              <a:rPr lang="en-US" sz="4500" dirty="0">
                <a:latin typeface="Times New Roman" panose="02020603050405020304" pitchFamily="18" charset="0"/>
                <a:cs typeface="Times New Roman" panose="02020603050405020304" pitchFamily="18" charset="0"/>
              </a:rPr>
            </a:br>
            <a:r>
              <a:rPr lang="en-US" sz="4500" dirty="0">
                <a:latin typeface="Times New Roman" panose="02020603050405020304" pitchFamily="18" charset="0"/>
                <a:cs typeface="Times New Roman" panose="02020603050405020304" pitchFamily="18" charset="0"/>
              </a:rPr>
              <a:t>Regulatory bodies should receive proper training and resources to effectively supervise and enforce IT laws.</a:t>
            </a:r>
          </a:p>
          <a:p>
            <a:endParaRPr lang="en-US" dirty="0"/>
          </a:p>
        </p:txBody>
      </p:sp>
    </p:spTree>
    <p:extLst>
      <p:ext uri="{BB962C8B-B14F-4D97-AF65-F5344CB8AC3E}">
        <p14:creationId xmlns:p14="http://schemas.microsoft.com/office/powerpoint/2010/main" val="4141371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785FC-891C-B723-EE8D-884B72F83CD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90438B37-0805-0DA1-5653-DFD223E4EBD8}"/>
              </a:ext>
            </a:extLst>
          </p:cNvPr>
          <p:cNvSpPr>
            <a:spLocks noGrp="1"/>
          </p:cNvSpPr>
          <p:nvPr>
            <p:ph idx="1"/>
          </p:nvPr>
        </p:nvSpPr>
        <p:spPr>
          <a:xfrm>
            <a:off x="838200" y="521110"/>
            <a:ext cx="10515600" cy="5655853"/>
          </a:xfrm>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Encourage Government and Private Sector Cooperation:</a:t>
            </a:r>
            <a:b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government, private companies, and civil groups should work together to create fair policies that support innovation and protect users.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Increase Digital Awareness:</a:t>
            </a:r>
            <a:b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Programs should be run to teach people and businesses about safe internet use and their digital rights.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Promote International Collaboration:</a:t>
            </a:r>
            <a:b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Countries should cooperate to align IT laws and work together on issues like cybercrime and cross-border data flow.</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Develop Better Digital Infrastructure:</a:t>
            </a:r>
            <a:b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Investment is needed to improve internet access, data centers, and other infrastructure to support reliable and secure IT services.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Simplify Rules for Businesses:</a:t>
            </a:r>
            <a:b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Make it easier and clearer for startups and small businesses to follow IT regulations, encouraging their growth.</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Promote Ethical Technology Use:</a:t>
            </a:r>
            <a:b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Guidelines should be created to ensure new technologies like AI are used in a fair, responsible, and transparent way.</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Encouragement of cyber crime victims to lodge comp</a:t>
            </a:r>
            <a:r>
              <a:rPr lang="en-US" sz="1800" b="1" dirty="0" err="1">
                <a:solidFill>
                  <a:prstClr val="black"/>
                </a:solidFill>
                <a:latin typeface="Times New Roman" panose="02020603050405020304" pitchFamily="18" charset="0"/>
                <a:cs typeface="Times New Roman" panose="02020603050405020304" pitchFamily="18" charset="0"/>
              </a:rPr>
              <a:t>laints</a:t>
            </a:r>
            <a:r>
              <a:rPr lang="en-US" sz="1800" b="1" dirty="0">
                <a:solidFill>
                  <a:prstClr val="black"/>
                </a:solidFill>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90000"/>
              </a:lnSpc>
              <a:spcBef>
                <a:spcPts val="1000"/>
              </a:spcBef>
              <a:spcAft>
                <a:spcPts val="0"/>
              </a:spcAft>
              <a:buClrTx/>
              <a:buSzTx/>
              <a:buNone/>
              <a:tabLst/>
              <a:defRPr/>
            </a:pPr>
            <a:r>
              <a:rPr lang="en-US" sz="1800" b="1" dirty="0">
                <a:solidFill>
                  <a:prstClr val="black"/>
                </a:solidFill>
                <a:latin typeface="Times New Roman" panose="02020603050405020304" pitchFamily="18" charset="0"/>
                <a:cs typeface="Times New Roman" panose="02020603050405020304" pitchFamily="18" charset="0"/>
              </a:rPr>
              <a:t>Establishment of special cyber courts:</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2016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3376</TotalTime>
  <Words>2044</Words>
  <Application>Microsoft Office PowerPoint</Application>
  <PresentationFormat>Widescreen</PresentationFormat>
  <Paragraphs>100</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Aptos Display</vt:lpstr>
      <vt:lpstr>Arial</vt:lpstr>
      <vt:lpstr>Google Sans</vt:lpstr>
      <vt:lpstr>Noto Sans</vt:lpstr>
      <vt:lpstr>Noto Serif</vt:lpstr>
      <vt:lpstr>SourceSansPro</vt:lpstr>
      <vt:lpstr>Times New Roman</vt:lpstr>
      <vt:lpstr>Office Theme</vt:lpstr>
      <vt:lpstr>Emerging Issues in the Field</vt:lpstr>
      <vt:lpstr> </vt:lpstr>
      <vt:lpstr>EU, AI Act 2024 </vt:lpstr>
      <vt:lpstr> </vt:lpstr>
      <vt:lpstr> </vt:lpstr>
      <vt:lpstr> </vt:lpstr>
      <vt:lpstr>Social Media Crime Law in Nepal, Highlighting the main points:</vt:lpstr>
      <vt:lpstr> </vt:lpstr>
      <vt:lpstr>E-Governance </vt:lpstr>
      <vt:lpstr>Nepal Rastra Bank Data breach</vt:lpstr>
      <vt:lpstr>Cross boarder Cyber crime </vt:lpstr>
      <vt:lpstr>Digital payment </vt:lpstr>
      <vt:lpstr>  </vt:lpstr>
      <vt:lpstr> </vt:lpstr>
      <vt:lpstr> </vt:lpstr>
      <vt:lpstr>Solution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Issues in the Field</dc:title>
  <dc:creator>shristi baral</dc:creator>
  <cp:lastModifiedBy>Ravi Silwal</cp:lastModifiedBy>
  <cp:revision>3</cp:revision>
  <dcterms:created xsi:type="dcterms:W3CDTF">2025-06-06T16:25:08Z</dcterms:created>
  <dcterms:modified xsi:type="dcterms:W3CDTF">2025-06-25T13:41:43Z</dcterms:modified>
</cp:coreProperties>
</file>