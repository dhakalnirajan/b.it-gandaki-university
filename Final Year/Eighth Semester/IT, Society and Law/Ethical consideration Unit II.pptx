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2" r:id="rId4"/>
    <p:sldId id="260" r:id="rId5"/>
    <p:sldId id="259" r:id="rId6"/>
    <p:sldId id="263" r:id="rId7"/>
    <p:sldId id="264" r:id="rId8"/>
    <p:sldId id="265" r:id="rId9"/>
    <p:sldId id="266" r:id="rId10"/>
    <p:sldId id="267" r:id="rId11"/>
    <p:sldId id="268" r:id="rId12"/>
    <p:sldId id="269" r:id="rId13"/>
    <p:sldId id="270"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93F6C-CF6D-D961-0E79-1B7EC275ED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EAD69B-F4FB-FA30-7747-66562D2357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ABDCAC-8C5B-6EC2-EA51-7E627572ABF2}"/>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7BCA4250-C637-65A5-A262-69F88FCA9A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E1DEA5-1B7D-D03F-9D89-4B413CD49A72}"/>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271218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4DF93-7EF1-8DD0-6C59-E80D7C010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A797BB-1CFA-0BF2-7BF9-A8793FF5A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50C32-8D44-08B7-C2C6-51129D80C6EA}"/>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6F8501D7-FF61-4D48-58AF-A2D26122B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B155C-4433-3FD7-83EC-32714D2F980A}"/>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3480313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93537-3B88-A27B-1D84-C50DFCB65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B8A171-84EB-4058-8C48-9D86E4859B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A751E6-6FDF-DE6C-D22B-41F54992D879}"/>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0AC06EAE-AC7C-1161-F118-EE5362EE1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F981A1-ADD5-6D46-C65E-A5AF1FFCE9DA}"/>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1388143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E36E6-84B9-E086-37A5-74E5FB373E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FD6035-AD0D-2C2D-8E57-3A6EAF0D85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057D48-164F-7CF8-9B9C-901C59E0CB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50FBCB-E9CB-C9A4-0E96-8EBBA9C62724}"/>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6" name="Footer Placeholder 5">
            <a:extLst>
              <a:ext uri="{FF2B5EF4-FFF2-40B4-BE49-F238E27FC236}">
                <a16:creationId xmlns:a16="http://schemas.microsoft.com/office/drawing/2014/main" id="{BACC63AF-2359-D2C7-D5EA-63C2738DE6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4B8B34-2C26-09E4-9EAA-CC0D4ED92507}"/>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2542293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D3650-C9CA-49CA-8143-040219CF07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BEACEA-154E-FC09-7145-AE6DD78E3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CFF7BB-0417-208F-833C-5B8EC0CE44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C2940E-8A09-5AEA-ACA4-B443815F28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B1419D-5EE9-E46C-CBE7-B9D5938485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BBBF10-6C6E-AD06-0F06-5AB988C1F24F}"/>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8" name="Footer Placeholder 7">
            <a:extLst>
              <a:ext uri="{FF2B5EF4-FFF2-40B4-BE49-F238E27FC236}">
                <a16:creationId xmlns:a16="http://schemas.microsoft.com/office/drawing/2014/main" id="{4F341A5A-4B34-DD9C-2B63-396588C1BA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068635-FB37-6CB3-603C-BF7ED7E47163}"/>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1180977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46E79-51EA-DF0D-56A8-42428CF025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073C1A-C868-292A-7D40-1EEFD9F974DB}"/>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4" name="Footer Placeholder 3">
            <a:extLst>
              <a:ext uri="{FF2B5EF4-FFF2-40B4-BE49-F238E27FC236}">
                <a16:creationId xmlns:a16="http://schemas.microsoft.com/office/drawing/2014/main" id="{39778696-2918-FC5B-DCF3-4CC8F0300C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60F3A1-3252-A1DD-AE56-94FF53EBB03A}"/>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2993695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79BBE7-564D-99FB-3DC1-2A708A8C40C6}"/>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3" name="Footer Placeholder 2">
            <a:extLst>
              <a:ext uri="{FF2B5EF4-FFF2-40B4-BE49-F238E27FC236}">
                <a16:creationId xmlns:a16="http://schemas.microsoft.com/office/drawing/2014/main" id="{BBC8E086-82BC-D95C-6F3C-4A9CA0CD8E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CB374A-F341-A2A8-2C72-730863C80061}"/>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667421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DD33-6046-1B9B-26E8-B7D695FBB9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74E108-C060-F3B2-472F-2519BE6A39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13DC2B-FD29-E625-A49E-20A3173AE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FB055-457E-C92E-6757-D9B03014A1B9}"/>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6" name="Footer Placeholder 5">
            <a:extLst>
              <a:ext uri="{FF2B5EF4-FFF2-40B4-BE49-F238E27FC236}">
                <a16:creationId xmlns:a16="http://schemas.microsoft.com/office/drawing/2014/main" id="{312F8FBD-A5A6-61FD-8523-ECFA528635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CEBE81-EA37-00D1-BE04-A044BE198783}"/>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26964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0FE9-4F21-6974-EF91-1530111266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B46078-B798-E2CF-80C5-F8F58B3566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6D4206-12E8-63A5-3E38-988BD77113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51C53-201C-B936-32D1-5C7CDAAD184B}"/>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6" name="Footer Placeholder 5">
            <a:extLst>
              <a:ext uri="{FF2B5EF4-FFF2-40B4-BE49-F238E27FC236}">
                <a16:creationId xmlns:a16="http://schemas.microsoft.com/office/drawing/2014/main" id="{C907C62D-0DDF-C38D-5E9F-DDE6FB714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4A4A37-EC83-A822-17C6-3CD9FAC62079}"/>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1542407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654A-E290-ACDD-9A57-4EA3874B00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1ADD2E-677E-247E-53DC-CDF6533934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FFC2E-FD3E-35D7-5A1E-B1DCF1A59E70}"/>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E7123970-E54D-1D8F-A2F3-4239B076D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F9516-43FE-DE2E-AD5D-2482E4029364}"/>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2754583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1F45E8-3A35-FEEB-F55C-AD4A8010B8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6C0963-6AA5-1A57-7C43-555031831B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AF444-5C84-A7B2-5367-6FD746B223E2}"/>
              </a:ext>
            </a:extLst>
          </p:cNvPr>
          <p:cNvSpPr>
            <a:spLocks noGrp="1"/>
          </p:cNvSpPr>
          <p:nvPr>
            <p:ph type="dt" sz="half" idx="10"/>
          </p:nvPr>
        </p:nvSpPr>
        <p:spPr/>
        <p:txBody>
          <a:body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6483C302-6EBE-0383-E379-41FE13AB2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76F53-9222-3183-67DD-797C97390130}"/>
              </a:ext>
            </a:extLst>
          </p:cNvPr>
          <p:cNvSpPr>
            <a:spLocks noGrp="1"/>
          </p:cNvSpPr>
          <p:nvPr>
            <p:ph type="sldNum" sz="quarter" idx="12"/>
          </p:nvPr>
        </p:nvSpPr>
        <p:spPr/>
        <p:txBody>
          <a:bodyPr/>
          <a:lstStyle/>
          <a:p>
            <a:fld id="{1ADBA437-6650-4BEE-947C-EC42626621AB}" type="slidenum">
              <a:rPr lang="en-US" smtClean="0"/>
              <a:t>‹#›</a:t>
            </a:fld>
            <a:endParaRPr lang="en-US"/>
          </a:p>
        </p:txBody>
      </p:sp>
    </p:spTree>
    <p:extLst>
      <p:ext uri="{BB962C8B-B14F-4D97-AF65-F5344CB8AC3E}">
        <p14:creationId xmlns:p14="http://schemas.microsoft.com/office/powerpoint/2010/main" val="602013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544EF4-6B75-C618-B4DF-23A9FE7C36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E37F0B-F2DE-0398-B675-3330CD065C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B5D55-3952-20AC-F031-805958F300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765BC8-88AA-430A-870D-D282C1C1F6FE}" type="datetimeFigureOut">
              <a:rPr lang="en-US" smtClean="0"/>
              <a:t>6/25/2025</a:t>
            </a:fld>
            <a:endParaRPr lang="en-US"/>
          </a:p>
        </p:txBody>
      </p:sp>
      <p:sp>
        <p:nvSpPr>
          <p:cNvPr id="5" name="Footer Placeholder 4">
            <a:extLst>
              <a:ext uri="{FF2B5EF4-FFF2-40B4-BE49-F238E27FC236}">
                <a16:creationId xmlns:a16="http://schemas.microsoft.com/office/drawing/2014/main" id="{6AAE3E1C-9E54-370D-3E9A-D2C06CB89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31D62C-4B13-F44F-0C3E-C4DEF10659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DBA437-6650-4BEE-947C-EC42626621AB}" type="slidenum">
              <a:rPr lang="en-US" smtClean="0"/>
              <a:t>‹#›</a:t>
            </a:fld>
            <a:endParaRPr lang="en-US"/>
          </a:p>
        </p:txBody>
      </p:sp>
    </p:spTree>
    <p:extLst>
      <p:ext uri="{BB962C8B-B14F-4D97-AF65-F5344CB8AC3E}">
        <p14:creationId xmlns:p14="http://schemas.microsoft.com/office/powerpoint/2010/main" val="1952823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8F1521E-D5DC-32D3-19C1-A0FC8A8350A1}"/>
              </a:ext>
            </a:extLst>
          </p:cNvPr>
          <p:cNvSpPr>
            <a:spLocks noGrp="1"/>
          </p:cNvSpPr>
          <p:nvPr>
            <p:ph type="ctrTitle"/>
          </p:nvPr>
        </p:nvSpPr>
        <p:spPr>
          <a:xfrm>
            <a:off x="3880430" y="583345"/>
            <a:ext cx="7160357" cy="4164820"/>
          </a:xfrm>
        </p:spPr>
        <p:txBody>
          <a:bodyPr anchor="t">
            <a:normAutofit fontScale="90000"/>
          </a:bodyPr>
          <a:lstStyle/>
          <a:p>
            <a:pPr algn="r"/>
            <a:r>
              <a:rPr lang="en-US" sz="7400" dirty="0">
                <a:solidFill>
                  <a:srgbClr val="FFFFFF"/>
                </a:solidFill>
              </a:rPr>
              <a:t>Ethical consideration in Information Technology</a:t>
            </a:r>
          </a:p>
        </p:txBody>
      </p:sp>
      <p:sp>
        <p:nvSpPr>
          <p:cNvPr id="3" name="Subtitle 2">
            <a:extLst>
              <a:ext uri="{FF2B5EF4-FFF2-40B4-BE49-F238E27FC236}">
                <a16:creationId xmlns:a16="http://schemas.microsoft.com/office/drawing/2014/main" id="{FAF96029-1551-F0D4-9F2E-E0745C88BAE3}"/>
              </a:ext>
            </a:extLst>
          </p:cNvPr>
          <p:cNvSpPr>
            <a:spLocks noGrp="1"/>
          </p:cNvSpPr>
          <p:nvPr>
            <p:ph type="subTitle" idx="1"/>
          </p:nvPr>
        </p:nvSpPr>
        <p:spPr>
          <a:xfrm>
            <a:off x="1208228" y="5972174"/>
            <a:ext cx="8578699" cy="504825"/>
          </a:xfrm>
        </p:spPr>
        <p:txBody>
          <a:bodyPr>
            <a:normAutofit/>
          </a:bodyPr>
          <a:lstStyle/>
          <a:p>
            <a:pPr algn="l"/>
            <a:r>
              <a:rPr lang="en-US" sz="2000" dirty="0">
                <a:solidFill>
                  <a:srgbClr val="FFFFFF"/>
                </a:solidFill>
              </a:rPr>
              <a:t> </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355164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95C2F-103D-EFAF-8A55-E7E88BE29BA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9F7DC30-417D-A752-CAE7-D329A5E5BE8B}"/>
              </a:ext>
            </a:extLst>
          </p:cNvPr>
          <p:cNvSpPr>
            <a:spLocks noGrp="1"/>
          </p:cNvSpPr>
          <p:nvPr>
            <p:ph idx="1"/>
          </p:nvPr>
        </p:nvSpPr>
        <p:spPr>
          <a:xfrm>
            <a:off x="838200" y="108155"/>
            <a:ext cx="10515600" cy="6068808"/>
          </a:xfrm>
        </p:spPr>
        <p:txBody>
          <a:bodyPr>
            <a:normAutofit lnSpcReduction="10000"/>
          </a:bodyPr>
          <a:lstStyle/>
          <a:p>
            <a:pPr algn="just">
              <a:buNone/>
            </a:pPr>
            <a:endParaRPr lang="en-US" b="1" dirty="0"/>
          </a:p>
          <a:p>
            <a:pPr algn="just">
              <a:buNone/>
            </a:pPr>
            <a:r>
              <a:rPr lang="en-US" b="1" dirty="0">
                <a:latin typeface="Times New Roman" panose="02020603050405020304" pitchFamily="18" charset="0"/>
                <a:cs typeface="Times New Roman" panose="02020603050405020304" pitchFamily="18" charset="0"/>
              </a:rPr>
              <a:t>Ethics</a:t>
            </a:r>
            <a:r>
              <a:rPr lang="en-US" dirty="0">
                <a:latin typeface="Times New Roman" panose="02020603050405020304" pitchFamily="18" charset="0"/>
                <a:cs typeface="Times New Roman" panose="02020603050405020304" pitchFamily="18" charset="0"/>
              </a:rPr>
              <a:t> is a branch of moral philosophy that deals with norms of conduct—a rationally derived set of principles that helps us distinguish between good and bad behavior. It is closely connected to the ethical principle of social responsibility.</a:t>
            </a:r>
          </a:p>
          <a:p>
            <a:pPr algn="just">
              <a:buNone/>
            </a:pPr>
            <a:r>
              <a:rPr lang="en-US" b="1" dirty="0">
                <a:latin typeface="Times New Roman" panose="02020603050405020304" pitchFamily="18" charset="0"/>
                <a:cs typeface="Times New Roman" panose="02020603050405020304" pitchFamily="18" charset="0"/>
              </a:rPr>
              <a:t>Ethical considerations</a:t>
            </a:r>
            <a:r>
              <a:rPr lang="en-US" dirty="0">
                <a:latin typeface="Times New Roman" panose="02020603050405020304" pitchFamily="18" charset="0"/>
                <a:cs typeface="Times New Roman" panose="02020603050405020304" pitchFamily="18" charset="0"/>
              </a:rPr>
              <a:t> refer to the principles or values that ensure actions and decisions are made in a responsible, fair, and accountable manner.</a:t>
            </a:r>
          </a:p>
          <a:p>
            <a:pPr algn="just">
              <a:buNone/>
            </a:pPr>
            <a:r>
              <a:rPr lang="en-US" dirty="0">
                <a:latin typeface="Times New Roman" panose="02020603050405020304" pitchFamily="18" charset="0"/>
                <a:cs typeface="Times New Roman" panose="02020603050405020304" pitchFamily="18" charset="0"/>
              </a:rPr>
              <a:t>In the field of </a:t>
            </a:r>
            <a:r>
              <a:rPr lang="en-US" b="1" dirty="0">
                <a:latin typeface="Times New Roman" panose="02020603050405020304" pitchFamily="18" charset="0"/>
                <a:cs typeface="Times New Roman" panose="02020603050405020304" pitchFamily="18" charset="0"/>
              </a:rPr>
              <a:t>Information Technology (IT)</a:t>
            </a:r>
            <a:r>
              <a:rPr lang="en-US" dirty="0">
                <a:latin typeface="Times New Roman" panose="02020603050405020304" pitchFamily="18" charset="0"/>
                <a:cs typeface="Times New Roman" panose="02020603050405020304" pitchFamily="18" charset="0"/>
              </a:rPr>
              <a:t>, ethical considerations involve applying principles such as honesty, transparency, and fairness when developing or using technology. These considerations are crucial to ensuring the responsible development and use of technology, ultimately protecting users and benefiting society. The rules have been established because of consensus in society.it is set of moral rules that regulate the use of technology. It guide s the IT professional in their conduct.</a:t>
            </a:r>
          </a:p>
          <a:p>
            <a:pPr algn="just"/>
            <a:endParaRPr lang="en-US" dirty="0"/>
          </a:p>
        </p:txBody>
      </p:sp>
    </p:spTree>
    <p:extLst>
      <p:ext uri="{BB962C8B-B14F-4D97-AF65-F5344CB8AC3E}">
        <p14:creationId xmlns:p14="http://schemas.microsoft.com/office/powerpoint/2010/main" val="1580484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D23B2-1C15-94A9-501A-2AD0C4BC05D1}"/>
              </a:ext>
            </a:extLst>
          </p:cNvPr>
          <p:cNvSpPr>
            <a:spLocks noGrp="1"/>
          </p:cNvSpPr>
          <p:nvPr>
            <p:ph type="title"/>
          </p:nvPr>
        </p:nvSpPr>
        <p:spPr/>
        <p:txBody>
          <a:bodyPr>
            <a:normAutofit/>
          </a:bodyPr>
          <a:lstStyle/>
          <a:p>
            <a:r>
              <a:rPr kumimoji="0" lang="en-US" sz="4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Individual ethical consideration while using IT</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2E5814-89C7-AE94-7DD3-DCA380ECB129}"/>
              </a:ext>
            </a:extLst>
          </p:cNvPr>
          <p:cNvSpPr>
            <a:spLocks noGrp="1"/>
          </p:cNvSpPr>
          <p:nvPr>
            <p:ph idx="1"/>
          </p:nvPr>
        </p:nvSpPr>
        <p:spPr/>
        <p:txBody>
          <a:bodyPr/>
          <a:lstStyle/>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Respect privacy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Do not access or share someone’s personal data without permission.</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Be honest</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Use technology truthfully; avoid lying or manipulating information.</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Avoid plagiarism</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Give credit when using someone else’s work, ideas, or content.</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Follow laws and rules</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Respect copyright, licensing, and digital use policies.</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Protect your data</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Keep your information secure with good passwords and safe practices.</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Report unethical behavior</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Speak up about hacking, bullying, or misuse of systems.</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Be respectful online</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Communicate kindly; don’t engage in harassment or cyberbullying.</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Use resources fairly</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Don’t misuse shared tech systems or overload networks.</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Think before you post</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Avoid sharing false, harmful, or offensive content.</a:t>
            </a:r>
          </a:p>
          <a:p>
            <a:pPr marL="0" marR="0" lvl="0" indent="0" algn="just" defTabSz="914400" rtl="0" eaLnBrk="0" fontAlgn="base" latinLnBrk="0" hangingPunct="0">
              <a:lnSpc>
                <a:spcPct val="100000"/>
              </a:lnSpc>
              <a:spcBef>
                <a:spcPct val="0"/>
              </a:spcBef>
              <a:spcAft>
                <a:spcPct val="0"/>
              </a:spcAft>
              <a:buClrTx/>
              <a:buSzTx/>
              <a:buFontTx/>
              <a:buChar char="•"/>
              <a:tabLs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Keep learning</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Stay informed about digital ethics and improve your tech habits.</a:t>
            </a:r>
          </a:p>
          <a:p>
            <a:endParaRPr lang="en-US" dirty="0"/>
          </a:p>
        </p:txBody>
      </p:sp>
    </p:spTree>
    <p:extLst>
      <p:ext uri="{BB962C8B-B14F-4D97-AF65-F5344CB8AC3E}">
        <p14:creationId xmlns:p14="http://schemas.microsoft.com/office/powerpoint/2010/main" val="338846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0642-B72F-738E-62CF-0BC9DCA2417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0FA212D-CC22-D27D-08A8-FE8983C8AC17}"/>
              </a:ext>
            </a:extLst>
          </p:cNvPr>
          <p:cNvSpPr>
            <a:spLocks noGrp="1"/>
          </p:cNvSpPr>
          <p:nvPr>
            <p:ph idx="1"/>
          </p:nvPr>
        </p:nvSpPr>
        <p:spPr>
          <a:xfrm>
            <a:off x="838200" y="452284"/>
            <a:ext cx="10515600" cy="5724679"/>
          </a:xfrm>
        </p:spPr>
        <p:txBody>
          <a:bodyPr>
            <a:normAutofit fontScale="62500" lnSpcReduction="20000"/>
          </a:bodyPr>
          <a:lstStyle/>
          <a:p>
            <a:pPr algn="just"/>
            <a:r>
              <a:rPr lang="en-US" dirty="0">
                <a:latin typeface="Times New Roman" panose="02020603050405020304" pitchFamily="18" charset="0"/>
                <a:cs typeface="Times New Roman" panose="02020603050405020304" pitchFamily="18" charset="0"/>
              </a:rPr>
              <a:t>Ethical considerations in IT are not just theoretical—they are practical guidelines that influence decision-making, policy development, and professional conduct. Upholding these values helps ensure that technology is used to empower people, not exploit them.</a:t>
            </a:r>
          </a:p>
          <a:p>
            <a:pPr marL="0" indent="0" algn="just">
              <a:buNone/>
            </a:pPr>
            <a:r>
              <a:rPr lang="en-US" dirty="0">
                <a:latin typeface="Times New Roman" panose="02020603050405020304" pitchFamily="18" charset="0"/>
                <a:cs typeface="Times New Roman" panose="02020603050405020304" pitchFamily="18" charset="0"/>
              </a:rPr>
              <a:t> IT Ethics Matters</a:t>
            </a:r>
          </a:p>
          <a:p>
            <a:pPr marL="0" indent="0" algn="just">
              <a:buNone/>
            </a:pPr>
            <a:r>
              <a:rPr lang="en-US" dirty="0">
                <a:latin typeface="Times New Roman" panose="02020603050405020304" pitchFamily="18" charset="0"/>
                <a:cs typeface="Times New Roman" panose="02020603050405020304" pitchFamily="18" charset="0"/>
              </a:rPr>
              <a:t>In today’s digital world, ethics in information technology isn't just a nice idea—it’s essential. From protecting personal data to guiding how we build and use technology, IT ethics shapes how we interact in a connected society.</a:t>
            </a:r>
          </a:p>
          <a:p>
            <a:pPr marL="514350" indent="-514350" algn="just">
              <a:buAutoNum type="arabicPeriod"/>
            </a:pPr>
            <a:r>
              <a:rPr lang="en-US" dirty="0">
                <a:latin typeface="Times New Roman" panose="02020603050405020304" pitchFamily="18" charset="0"/>
                <a:cs typeface="Times New Roman" panose="02020603050405020304" pitchFamily="18" charset="0"/>
              </a:rPr>
              <a:t>Building Trust and Credibility: When people know that a company or professional is handling their information responsibly, they feel safe. Ethical behavior builds trust—not just with customers, but with coworkers, partners, and the public. This trust strengthens reputations and creates long-term relationships.</a:t>
            </a:r>
          </a:p>
          <a:p>
            <a:pPr marL="514350" indent="-514350" algn="just">
              <a:buAutoNum type="arabicPeriod"/>
            </a:pPr>
            <a:r>
              <a:rPr lang="en-US" dirty="0">
                <a:latin typeface="Times New Roman" panose="02020603050405020304" pitchFamily="18" charset="0"/>
                <a:cs typeface="Times New Roman" panose="02020603050405020304" pitchFamily="18" charset="0"/>
              </a:rPr>
              <a:t>Staying on the Right Side of the Law: Ethical practices often align with laws and regulations around data privacy, cybersecurity, and software use. By making ethical choices, organizations can avoid legal trouble, fines, and the damage that comes with scandals or breaches.</a:t>
            </a:r>
          </a:p>
          <a:p>
            <a:pPr marL="514350" indent="-514350" algn="just">
              <a:buAutoNum type="arabicPeriod"/>
            </a:pPr>
            <a:r>
              <a:rPr lang="en-US" dirty="0">
                <a:latin typeface="Times New Roman" panose="02020603050405020304" pitchFamily="18" charset="0"/>
                <a:cs typeface="Times New Roman" panose="02020603050405020304" pitchFamily="18" charset="0"/>
              </a:rPr>
              <a:t>Acting with Social Responsibility: Technology affects everyone, so we have a duty to use it in ways that help, not harm. Ethical IT use means thinking beyond profits—considering how systems impact communities, jobs, mental health, and even democracy.</a:t>
            </a:r>
          </a:p>
          <a:p>
            <a:pPr marL="514350" indent="-514350" algn="just">
              <a:buAutoNum type="arabicPeriod"/>
            </a:pPr>
            <a:r>
              <a:rPr lang="en-US" dirty="0">
                <a:latin typeface="Times New Roman" panose="02020603050405020304" pitchFamily="18" charset="0"/>
                <a:cs typeface="Times New Roman" panose="02020603050405020304" pitchFamily="18" charset="0"/>
              </a:rPr>
              <a:t>Guiding Innovation the Right Way: Ethics doesn’t stop progress—it makes it better. When developers think about fairness, privacy, and long-term effects, they create smarter, safer, and more inclusive technologies. Ethical thinking helps avoid unintended harm and builds solutions that truly benefit society.</a:t>
            </a:r>
          </a:p>
          <a:p>
            <a:pPr marL="514350" indent="-514350" algn="just">
              <a:buAutoNum type="arabicPeriod"/>
            </a:pPr>
            <a:r>
              <a:rPr lang="en-US" dirty="0">
                <a:latin typeface="Times New Roman" panose="02020603050405020304" pitchFamily="18" charset="0"/>
                <a:cs typeface="Times New Roman" panose="02020603050405020304" pitchFamily="18" charset="0"/>
              </a:rPr>
              <a:t>Growing as a Professional: Engaging with ethical challenges sharpens your ability to think critically and make thoughtful decisions. For IT professionals, understanding the ethical side of tech isn’t just about doing what’s right—it’s part of becoming a well-rounded and responsible expert in your field</a:t>
            </a:r>
          </a:p>
        </p:txBody>
      </p:sp>
    </p:spTree>
    <p:extLst>
      <p:ext uri="{BB962C8B-B14F-4D97-AF65-F5344CB8AC3E}">
        <p14:creationId xmlns:p14="http://schemas.microsoft.com/office/powerpoint/2010/main" val="72477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E0E1F-4B2C-D2E1-88EA-392DF0CB6CA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73E7055-D45E-26B2-065A-52E709491576}"/>
              </a:ext>
            </a:extLst>
          </p:cNvPr>
          <p:cNvSpPr>
            <a:spLocks noGrp="1"/>
          </p:cNvSpPr>
          <p:nvPr>
            <p:ph idx="1"/>
          </p:nvPr>
        </p:nvSpPr>
        <p:spPr>
          <a:xfrm>
            <a:off x="127819" y="365125"/>
            <a:ext cx="11225981" cy="5811838"/>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Ethical considerations in IT refer to the moral principles that guide how technology is developed, used, and managed. These principles help ensure that IT professionals and users act responsibly, fairly, and with respect for others. </a:t>
            </a:r>
          </a:p>
          <a:p>
            <a:pPr algn="just"/>
            <a:r>
              <a:rPr lang="en-US" dirty="0">
                <a:latin typeface="Times New Roman" panose="02020603050405020304" pitchFamily="18" charset="0"/>
                <a:cs typeface="Times New Roman" panose="02020603050405020304" pitchFamily="18" charset="0"/>
              </a:rPr>
              <a:t>ACM ( Association for computer Machinery) was founded on September 15, 1947, at Columbia University in New York. It is world largest scientific and educational computing society. </a:t>
            </a:r>
          </a:p>
          <a:p>
            <a:pPr marL="0" indent="0" algn="just">
              <a:buNone/>
            </a:pPr>
            <a:r>
              <a:rPr lang="en-US" dirty="0">
                <a:latin typeface="Times New Roman" panose="02020603050405020304" pitchFamily="18" charset="0"/>
                <a:cs typeface="Times New Roman" panose="02020603050405020304" pitchFamily="18" charset="0"/>
              </a:rPr>
              <a:t>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key general  ethical principles in the IT field, based on the guidelines from the Association for Computing Machinery:</a:t>
            </a:r>
          </a:p>
          <a:p>
            <a:pPr marL="228600" marR="0" lvl="0" indent="-228600" algn="just" defTabSz="914400" rtl="0" eaLnBrk="1" fontAlgn="auto" latinLnBrk="0" hangingPunct="1">
              <a:lnSpc>
                <a:spcPct val="90000"/>
              </a:lnSpc>
              <a:spcBef>
                <a:spcPts val="1000"/>
              </a:spcBef>
              <a:spcAft>
                <a:spcPts val="0"/>
              </a:spcAft>
              <a:buClrTx/>
              <a:buSzTx/>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Honesty</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IT professionals should always be truthful and clear about what a technology does and how it might affect people or society.</a:t>
            </a:r>
          </a:p>
          <a:p>
            <a:pPr marL="228600" marR="0" lvl="0" indent="-228600" algn="just" defTabSz="914400" rtl="0" eaLnBrk="1" fontAlgn="auto" latinLnBrk="0" hangingPunct="1">
              <a:lnSpc>
                <a:spcPct val="90000"/>
              </a:lnSpc>
              <a:spcBef>
                <a:spcPts val="1000"/>
              </a:spcBef>
              <a:spcAft>
                <a:spcPts val="0"/>
              </a:spcAft>
              <a:buClrTx/>
              <a:buSzTx/>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Integrity</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They should make responsible and fair decisions throughout the process of creating or using technology, even when it’s difficult.</a:t>
            </a:r>
          </a:p>
          <a:p>
            <a:pPr marL="228600" marR="0" lvl="0" indent="-228600" algn="just" defTabSz="914400" rtl="0" eaLnBrk="1" fontAlgn="auto" latinLnBrk="0" hangingPunct="1">
              <a:lnSpc>
                <a:spcPct val="90000"/>
              </a:lnSpc>
              <a:spcBef>
                <a:spcPts val="1000"/>
              </a:spcBef>
              <a:spcAft>
                <a:spcPts val="0"/>
              </a:spcAft>
              <a:buClrTx/>
              <a:buSzTx/>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Confidentiality</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Sometimes, sensitive information must be kept private, and IT professionals need to protect that information and not share it without permission.</a:t>
            </a:r>
          </a:p>
          <a:p>
            <a:pPr marL="228600" marR="0" lvl="0" indent="-228600" algn="just" defTabSz="914400" rtl="0" eaLnBrk="1" fontAlgn="auto" latinLnBrk="0" hangingPunct="1">
              <a:lnSpc>
                <a:spcPct val="90000"/>
              </a:lnSpc>
              <a:spcBef>
                <a:spcPts val="1000"/>
              </a:spcBef>
              <a:spcAft>
                <a:spcPts val="0"/>
              </a:spcAft>
              <a:buClrTx/>
              <a:buSzTx/>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Accountability</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They should take responsibility for their actions, especially when the technology they create has ethical or social effects.</a:t>
            </a:r>
          </a:p>
          <a:p>
            <a:pPr marL="228600" marR="0" lvl="0" indent="-228600" algn="just" defTabSz="914400" rtl="0" eaLnBrk="1" fontAlgn="auto" latinLnBrk="0" hangingPunct="1">
              <a:lnSpc>
                <a:spcPct val="90000"/>
              </a:lnSpc>
              <a:spcBef>
                <a:spcPts val="1000"/>
              </a:spcBef>
              <a:spcAft>
                <a:spcPts val="0"/>
              </a:spcAft>
              <a:buClrTx/>
              <a:buSzTx/>
              <a:buFont typeface="+mj-lt"/>
              <a:buAutoNum type="arabicPeriod"/>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Respect for Intellectual Property</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 IT professionals must respect others’ ideas, inventions, or work, and not copy or misuse them without proper permission.</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02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1D01-2C85-BD1E-05BE-1B1841AF7C1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Ethical Consideration </a:t>
            </a:r>
          </a:p>
        </p:txBody>
      </p:sp>
      <p:sp>
        <p:nvSpPr>
          <p:cNvPr id="3" name="Content Placeholder 2">
            <a:extLst>
              <a:ext uri="{FF2B5EF4-FFF2-40B4-BE49-F238E27FC236}">
                <a16:creationId xmlns:a16="http://schemas.microsoft.com/office/drawing/2014/main" id="{9766333B-A180-94D4-13B2-BBC141E2A730}"/>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Privacy and Data Protection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Privacy concerns arise when organizations collect, store, and use personal data.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 protection regulations, such as GDPR, aim to safeguard individual privacy rights.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professionals must ensure compliance with these regulations to maintain trust</a:t>
            </a:r>
            <a:r>
              <a:rPr kumimoji="0" lang="en-US" sz="7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Tree>
    <p:extLst>
      <p:ext uri="{BB962C8B-B14F-4D97-AF65-F5344CB8AC3E}">
        <p14:creationId xmlns:p14="http://schemas.microsoft.com/office/powerpoint/2010/main" val="3209427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3261E-5C05-872F-0E24-8325034B3D1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3A76178-6785-6A28-C77D-C141DD8E81E2}"/>
              </a:ext>
            </a:extLst>
          </p:cNvPr>
          <p:cNvSpPr>
            <a:spLocks noGrp="1"/>
          </p:cNvSpPr>
          <p:nvPr>
            <p:ph idx="1"/>
          </p:nvPr>
        </p:nvSpPr>
        <p:spPr/>
        <p: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Cybersecurity Ethics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Cybersecurity involves protecting information systems from cyber threats and breaches. </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Ethical dilemmas can arise when deciding how to balance security measures with user privacy. </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professionals have a duty to protect users while transparently communicating risks.</a:t>
            </a:r>
          </a:p>
          <a:p>
            <a:pPr marL="0" indent="0">
              <a:buNone/>
            </a:pPr>
            <a:endParaRPr lang="en-US" dirty="0"/>
          </a:p>
        </p:txBody>
      </p:sp>
    </p:spTree>
    <p:extLst>
      <p:ext uri="{BB962C8B-B14F-4D97-AF65-F5344CB8AC3E}">
        <p14:creationId xmlns:p14="http://schemas.microsoft.com/office/powerpoint/2010/main" val="3312505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DC325-C066-8D4E-6F48-B5B8CD9AD81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717DBD8-3E80-2384-C1BC-3E855BDE8FFC}"/>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Intellectual Property Rights</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Intellectual property rights protect creators' innovations and creative works in IT. </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Ethical issues can emerge when software, content, or ideas are used without proper attribution. Respecting intellectual property fosters creativity and innovation within the industry.</a:t>
            </a:r>
          </a:p>
          <a:p>
            <a:pPr marL="0" indent="0">
              <a:buNone/>
            </a:pPr>
            <a:endParaRPr lang="en-US" dirty="0"/>
          </a:p>
        </p:txBody>
      </p:sp>
    </p:spTree>
    <p:extLst>
      <p:ext uri="{BB962C8B-B14F-4D97-AF65-F5344CB8AC3E}">
        <p14:creationId xmlns:p14="http://schemas.microsoft.com/office/powerpoint/2010/main" val="79010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61D59-58D8-5EF2-BD39-FA6146419A3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E04BAF8-98B2-875E-C29A-4EE70677F99A}"/>
              </a:ext>
            </a:extLst>
          </p:cNvPr>
          <p:cNvSpPr>
            <a:spLocks noGrp="1"/>
          </p:cNvSpPr>
          <p:nvPr>
            <p:ph idx="1"/>
          </p:nvPr>
        </p:nvSpPr>
        <p:spPr/>
        <p:txBody>
          <a:bodyPr/>
          <a:lstStyle/>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Digital Divide and Accessibility</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digital divide refers to the gap between those with and without access to technology.</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Ethical considerations involve ensuring equitable access to technology for all individuals.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IT professionals should advocate for inclusive design to bridge the accessibility gap.</a:t>
            </a:r>
          </a:p>
          <a:p>
            <a:pPr marL="0" indent="0">
              <a:buNone/>
            </a:pPr>
            <a:endParaRPr lang="en-US" dirty="0"/>
          </a:p>
        </p:txBody>
      </p:sp>
    </p:spTree>
    <p:extLst>
      <p:ext uri="{BB962C8B-B14F-4D97-AF65-F5344CB8AC3E}">
        <p14:creationId xmlns:p14="http://schemas.microsoft.com/office/powerpoint/2010/main" val="3385022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E86AB-48EA-5DC0-7194-35084865704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9AB6526-5EDA-0AFD-75AE-7B0214E47031}"/>
              </a:ext>
            </a:extLst>
          </p:cNvPr>
          <p:cNvSpPr>
            <a:spLocks noGrp="1"/>
          </p:cNvSpPr>
          <p:nvPr>
            <p:ph idx="1"/>
          </p:nvPr>
        </p:nvSpPr>
        <p:spPr>
          <a:xfrm>
            <a:off x="838200" y="550606"/>
            <a:ext cx="10515600" cy="5626357"/>
          </a:xfrm>
        </p:spPr>
        <p: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Algorithmic Bias and Fairness</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Algorithms can inadvertently perpetuate biases present in training data or design. Ethical considerations demand that IT professionals actively work to identify and reduce bias. Fairness in algorithms is essential to prevent discrimination and promote equality.</a:t>
            </a:r>
          </a:p>
          <a:p>
            <a:pPr marL="0" indent="0">
              <a:buNone/>
            </a:pPr>
            <a:endParaRPr lang="en-US" dirty="0"/>
          </a:p>
        </p:txBody>
      </p:sp>
    </p:spTree>
    <p:extLst>
      <p:ext uri="{BB962C8B-B14F-4D97-AF65-F5344CB8AC3E}">
        <p14:creationId xmlns:p14="http://schemas.microsoft.com/office/powerpoint/2010/main" val="3083848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EB5F-4472-1A4A-BA6D-7E86C96F685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F0F5CE1-88B2-FCBC-7F05-EAF5B7577DDD}"/>
              </a:ext>
            </a:extLst>
          </p:cNvPr>
          <p:cNvSpPr>
            <a:spLocks noGrp="1"/>
          </p:cNvSpPr>
          <p:nvPr>
            <p:ph idx="1"/>
          </p:nvPr>
        </p:nvSpPr>
        <p:spPr/>
        <p: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Surveillance and Monitoring</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Surveillance technologies raise ethical questions about consent and user autonomy. </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Organizations must consider the implications of monitoring employee or user activity. </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Transparent policies are necessary to maintain ethical standards in surveillance practices.</a:t>
            </a:r>
          </a:p>
          <a:p>
            <a:pPr marL="0" indent="0">
              <a:buNone/>
            </a:pPr>
            <a:r>
              <a:rPr lang="en-US" dirty="0">
                <a:latin typeface="Times New Roman" panose="02020603050405020304" pitchFamily="18" charset="0"/>
                <a:cs typeface="Times New Roman" panose="02020603050405020304" pitchFamily="18" charset="0"/>
              </a:rPr>
              <a:t>(Institution of Electrical and electronics Engineers, 1963) </a:t>
            </a:r>
          </a:p>
          <a:p>
            <a:pPr marL="0" indent="0">
              <a:buNone/>
            </a:pPr>
            <a:r>
              <a:rPr lang="en-US" dirty="0">
                <a:latin typeface="Times New Roman" panose="02020603050405020304" pitchFamily="18" charset="0"/>
                <a:cs typeface="Times New Roman" panose="02020603050405020304" pitchFamily="18" charset="0"/>
              </a:rPr>
              <a:t>Ministry of communication and information technology</a:t>
            </a:r>
          </a:p>
          <a:p>
            <a:pPr marL="0" indent="0">
              <a:buNone/>
            </a:pPr>
            <a:r>
              <a:rPr lang="en-US" dirty="0">
                <a:latin typeface="Times New Roman" panose="02020603050405020304" pitchFamily="18" charset="0"/>
                <a:cs typeface="Times New Roman" panose="02020603050405020304" pitchFamily="18" charset="0"/>
              </a:rPr>
              <a:t>Department of information technology </a:t>
            </a:r>
          </a:p>
        </p:txBody>
      </p:sp>
    </p:spTree>
    <p:extLst>
      <p:ext uri="{BB962C8B-B14F-4D97-AF65-F5344CB8AC3E}">
        <p14:creationId xmlns:p14="http://schemas.microsoft.com/office/powerpoint/2010/main" val="251260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ED06D-5C5D-A597-7309-2502662F910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BD7E241-55FD-7DE9-1C56-134E4101D68B}"/>
              </a:ext>
            </a:extLst>
          </p:cNvPr>
          <p:cNvSpPr>
            <a:spLocks noGrp="1"/>
          </p:cNvSpPr>
          <p:nvPr>
            <p:ph idx="1"/>
          </p:nvPr>
        </p:nvSpPr>
        <p:spPr/>
        <p:txBody>
          <a:bodyPr>
            <a:normAutofit/>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Environmental Impact of IT</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IT industry contributes to environmental concerns through e-waste and energy consumption.</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Ethical considerations include promoting sustainable practices in technology development. </a:t>
            </a:r>
            <a:r>
              <a:rPr lang="en-US" sz="2000" dirty="0">
                <a:solidFill>
                  <a:prstClr val="black"/>
                </a:solidFill>
                <a:latin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professionals should advocate for green technologies and responsible disposal methods.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129676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A8E2F-203C-E057-36C3-230DA97EB28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B04B0FF-05CF-3981-CED3-1E9936F02265}"/>
              </a:ext>
            </a:extLst>
          </p:cNvPr>
          <p:cNvSpPr>
            <a:spLocks noGrp="1"/>
          </p:cNvSpPr>
          <p:nvPr>
            <p:ph idx="1"/>
          </p:nvPr>
        </p:nvSpPr>
        <p:spPr/>
        <p:txBody>
          <a:bodyPr/>
          <a:lstStyle/>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Responsibility in Artificial Intelligence Development</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rise of artificial intelligence brings ethical challenges related to autonomy and control.  Developers must consider the implications of AI decisions on human lives and society. </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Responsible AI development involves creating systems that prioritize human well-being.</a:t>
            </a:r>
          </a:p>
          <a:p>
            <a:pPr marL="0" indent="0">
              <a:buNone/>
            </a:pPr>
            <a:endParaRPr lang="en-US" dirty="0"/>
          </a:p>
        </p:txBody>
      </p:sp>
    </p:spTree>
    <p:extLst>
      <p:ext uri="{BB962C8B-B14F-4D97-AF65-F5344CB8AC3E}">
        <p14:creationId xmlns:p14="http://schemas.microsoft.com/office/powerpoint/2010/main" val="4247981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B4A6F-F7F3-46BE-FA58-3A716017A84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4C4A2AF-5228-231D-FEA4-11A20A89CE00}"/>
              </a:ext>
            </a:extLst>
          </p:cNvPr>
          <p:cNvSpPr>
            <a:spLocks noGrp="1"/>
          </p:cNvSpPr>
          <p:nvPr>
            <p:ph idx="1"/>
          </p:nvPr>
        </p:nvSpPr>
        <p:spPr/>
        <p:txBody>
          <a:bodyPr/>
          <a:lstStyle/>
          <a:p>
            <a:pPr marL="0" marR="0" lvl="0" indent="0" algn="just" defTabSz="914400" rtl="0" eaLnBrk="1" fontAlgn="auto" latinLnBrk="0" hangingPunct="1">
              <a:lnSpc>
                <a:spcPct val="90000"/>
              </a:lnSpc>
              <a:spcBef>
                <a:spcPts val="1000"/>
              </a:spcBef>
              <a:spcAft>
                <a:spcPts val="0"/>
              </a:spcAft>
              <a:buClrTx/>
              <a:buSz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Conclusion</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Ethical considerations in IT are critical for fostering trust and accountability.</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IT professionals must engage in continuous learning and dialogue about ethical practices.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By prioritizing ethics, the IT industry can contribute positively to society and the future.</a:t>
            </a:r>
          </a:p>
          <a:p>
            <a:pPr marL="0" indent="0">
              <a:buNone/>
            </a:pPr>
            <a:endParaRPr lang="en-US" dirty="0"/>
          </a:p>
        </p:txBody>
      </p:sp>
    </p:spTree>
    <p:extLst>
      <p:ext uri="{BB962C8B-B14F-4D97-AF65-F5344CB8AC3E}">
        <p14:creationId xmlns:p14="http://schemas.microsoft.com/office/powerpoint/2010/main" val="3723684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5500</TotalTime>
  <Words>1280</Words>
  <Application>Microsoft Office PowerPoint</Application>
  <PresentationFormat>Widescreen</PresentationFormat>
  <Paragraphs>86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Times New Roman</vt:lpstr>
      <vt:lpstr>Office Theme</vt:lpstr>
      <vt:lpstr>Ethical consideration in Information Technology</vt:lpstr>
      <vt:lpstr> </vt:lpstr>
      <vt:lpstr>Individual ethical consideration while using IT</vt:lpstr>
      <vt:lpstr> </vt:lpstr>
      <vt:lpstr> </vt:lpstr>
      <vt:lpstr>Ethical Consideration </vt:lpstr>
      <vt:lpstr> </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Ethical consideration in Information Technology</dc:title>
  <dc:creator>shristi baral</dc:creator>
  <cp:lastModifiedBy>Ravi Silwal</cp:lastModifiedBy>
  <cp:revision>3</cp:revision>
  <dcterms:created xsi:type="dcterms:W3CDTF">2025-05-06T08:16:14Z</dcterms:created>
  <dcterms:modified xsi:type="dcterms:W3CDTF">2025-06-25T13:42:41Z</dcterms:modified>
</cp:coreProperties>
</file>