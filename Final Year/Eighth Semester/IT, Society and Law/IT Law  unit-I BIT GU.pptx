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8" r:id="rId5"/>
    <p:sldId id="262" r:id="rId6"/>
    <p:sldId id="263" r:id="rId7"/>
    <p:sldId id="264" r:id="rId8"/>
    <p:sldId id="265" r:id="rId9"/>
    <p:sldId id="257" r:id="rId10"/>
    <p:sldId id="258" r:id="rId11"/>
    <p:sldId id="259"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32745-CD9E-1123-0372-DCBC83F2D6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E9EC78-AB13-A5E0-4BF3-6A270611DE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F8933D-A4BD-E3B3-9FFE-33336A485AED}"/>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D0539152-1F84-34E7-18CC-2099D030E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CD2A8-40EA-51B6-8972-72530A8782C2}"/>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29743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14CB-6A34-1317-6A99-64E21BA7A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35A402-ADCD-EBB5-F002-CDB79596D1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51851B-3C48-BC41-DE4C-5FB0BAD43372}"/>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6425E34B-B4F1-8C06-C04C-F85B3BB2F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3191B-3DE4-4F7B-3F55-1ED3BD75B38A}"/>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2377015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AD58-9FEC-FDEB-A5F1-3EF39AC534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BA835D-17D7-0B86-8DB2-0D0947C30B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DBA132-D9D5-97B4-1968-7EA4482BFC49}"/>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A413533F-F555-43F9-61F4-A24CD4D62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710A1-C81D-DC23-A0BD-8676752D5C4A}"/>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624185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6561-5699-075A-6D7D-C85E6FC4A4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8FCA8D-A819-D3D0-82D4-9CE27C83B8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020E0C-5E36-DDED-A1BB-DA7B5544B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8D4279-9F8F-1817-86FC-50EA7F4EBF8E}"/>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6" name="Footer Placeholder 5">
            <a:extLst>
              <a:ext uri="{FF2B5EF4-FFF2-40B4-BE49-F238E27FC236}">
                <a16:creationId xmlns:a16="http://schemas.microsoft.com/office/drawing/2014/main" id="{3D2366A3-8816-C88D-7E6E-69B4EC01AB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3220C-50F7-DF66-ADFD-673A1556CB4B}"/>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82271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E248-AF84-3EE0-B54B-1E3F6CCD3B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79666F-E2D8-E65E-E77C-FED5E83ADB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9C970D-7C24-7845-0E1C-383736C3EF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0AB09E-3EBB-C4B2-C0D0-72E6AA724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5B246A-96F0-57CE-455E-3DDFF44CF7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5829F-46E0-C6AD-0DE1-65E17538A6E1}"/>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8" name="Footer Placeholder 7">
            <a:extLst>
              <a:ext uri="{FF2B5EF4-FFF2-40B4-BE49-F238E27FC236}">
                <a16:creationId xmlns:a16="http://schemas.microsoft.com/office/drawing/2014/main" id="{2ADEE920-1F7A-8F19-68D5-9C0E6C86AA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3BAEB-A6B3-F83D-31E8-F8B2C2B75553}"/>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58031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0813-D344-C4D0-46FD-30B79A530A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1B0AB7-3330-7186-8AA0-B20EBA76A9DE}"/>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4" name="Footer Placeholder 3">
            <a:extLst>
              <a:ext uri="{FF2B5EF4-FFF2-40B4-BE49-F238E27FC236}">
                <a16:creationId xmlns:a16="http://schemas.microsoft.com/office/drawing/2014/main" id="{CD9EDA61-B516-8484-0B8A-7149E60271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394C37-5F05-B5FA-BE57-10145360BD16}"/>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860647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A857F-3642-C4D2-6957-38AD6F59EB29}"/>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3" name="Footer Placeholder 2">
            <a:extLst>
              <a:ext uri="{FF2B5EF4-FFF2-40B4-BE49-F238E27FC236}">
                <a16:creationId xmlns:a16="http://schemas.microsoft.com/office/drawing/2014/main" id="{E05E33C2-6526-5CBD-0325-043C4A9D2F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6EA4EA-93F9-2A14-0164-588086345C14}"/>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003127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B025-1E83-7929-F0FC-AA0F0ED17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998CA2-D162-F87E-4DA9-4B5A0BAB51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2C0508-38BF-02DE-37AD-95FD9410C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638E57-D50D-2FFD-27E6-10E3F5611989}"/>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6" name="Footer Placeholder 5">
            <a:extLst>
              <a:ext uri="{FF2B5EF4-FFF2-40B4-BE49-F238E27FC236}">
                <a16:creationId xmlns:a16="http://schemas.microsoft.com/office/drawing/2014/main" id="{709FF058-9A0C-431C-58D2-A6C0FA70D2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6F049F-2A05-EA7D-D4B8-5365F9221D77}"/>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228745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747AC-73BC-BE02-176C-787C7618E9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A24E2-4B56-CAAD-9883-FB1B301BA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FC6804-4BBF-E559-3A91-2A0AC6E38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83579C-275F-DED2-C092-5D40B5579C6D}"/>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6" name="Footer Placeholder 5">
            <a:extLst>
              <a:ext uri="{FF2B5EF4-FFF2-40B4-BE49-F238E27FC236}">
                <a16:creationId xmlns:a16="http://schemas.microsoft.com/office/drawing/2014/main" id="{7F8B23F4-9FC9-48AF-433A-04B53F96FD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D6290-FD91-E016-C1B7-2ED4D754A352}"/>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2200882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4A15E-E3A7-9871-349F-2898935731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A81ADD-0602-A54D-7D33-333496E04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63730-00F2-C71D-03F5-12767F7E94BE}"/>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7798D401-FA66-815D-469A-70BCEE123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7D7D2-AF54-E21F-4E45-4CEADB81F777}"/>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33378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354476-C012-A24B-02DF-062A152F6C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58D24A-9F40-A926-7B39-1B22785EEF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3CE11-C335-E772-290C-B8D9810E2477}"/>
              </a:ext>
            </a:extLst>
          </p:cNvPr>
          <p:cNvSpPr>
            <a:spLocks noGrp="1"/>
          </p:cNvSpPr>
          <p:nvPr>
            <p:ph type="dt" sz="half" idx="10"/>
          </p:nvPr>
        </p:nvSpPr>
        <p:spPr/>
        <p:txBody>
          <a:body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AAA7990C-DF84-4E2E-D549-AFEA746051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830F3-0B2B-58F6-1C9A-5DD6A24D8CA3}"/>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4205122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BDDB19-FBF6-3FC3-249B-AB1B904E34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B99DB7-3B36-1A0F-E62E-085DC6F4F3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F344F0-9CAB-D227-4372-9D1914675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9BFAD3-358C-45C3-8D7C-167182242608}" type="datetimeFigureOut">
              <a:rPr lang="en-US" smtClean="0"/>
              <a:t>5/6/2025</a:t>
            </a:fld>
            <a:endParaRPr lang="en-US"/>
          </a:p>
        </p:txBody>
      </p:sp>
      <p:sp>
        <p:nvSpPr>
          <p:cNvPr id="5" name="Footer Placeholder 4">
            <a:extLst>
              <a:ext uri="{FF2B5EF4-FFF2-40B4-BE49-F238E27FC236}">
                <a16:creationId xmlns:a16="http://schemas.microsoft.com/office/drawing/2014/main" id="{0125F28E-0B8F-131C-D635-65A794FDBF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6A9C7A-6CFF-F1D7-03DC-09B06874A3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D568AE-9CE1-4244-B382-06082C627918}" type="slidenum">
              <a:rPr lang="en-US" smtClean="0"/>
              <a:t>‹#›</a:t>
            </a:fld>
            <a:endParaRPr lang="en-US"/>
          </a:p>
        </p:txBody>
      </p:sp>
    </p:spTree>
    <p:extLst>
      <p:ext uri="{BB962C8B-B14F-4D97-AF65-F5344CB8AC3E}">
        <p14:creationId xmlns:p14="http://schemas.microsoft.com/office/powerpoint/2010/main" val="3381605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5A35879-BFE4-D90D-5DC0-BEBBD852F5DB}"/>
              </a:ext>
            </a:extLst>
          </p:cNvPr>
          <p:cNvSpPr>
            <a:spLocks noGrp="1"/>
          </p:cNvSpPr>
          <p:nvPr>
            <p:ph type="ctrTitle"/>
          </p:nvPr>
        </p:nvSpPr>
        <p:spPr>
          <a:xfrm>
            <a:off x="789708" y="363626"/>
            <a:ext cx="10558405" cy="980141"/>
          </a:xfrm>
        </p:spPr>
        <p:txBody>
          <a:bodyPr anchor="b">
            <a:normAutofit/>
          </a:bodyPr>
          <a:lstStyle/>
          <a:p>
            <a:r>
              <a:rPr lang="en-US" sz="4800" dirty="0">
                <a:solidFill>
                  <a:schemeClr val="bg1"/>
                </a:solidFill>
              </a:rPr>
              <a:t>Definition of IT</a:t>
            </a:r>
          </a:p>
        </p:txBody>
      </p:sp>
      <p:sp>
        <p:nvSpPr>
          <p:cNvPr id="3" name="Subtitle 2">
            <a:extLst>
              <a:ext uri="{FF2B5EF4-FFF2-40B4-BE49-F238E27FC236}">
                <a16:creationId xmlns:a16="http://schemas.microsoft.com/office/drawing/2014/main" id="{898C6630-3044-5736-F800-120274FBAFDF}"/>
              </a:ext>
            </a:extLst>
          </p:cNvPr>
          <p:cNvSpPr>
            <a:spLocks noGrp="1"/>
          </p:cNvSpPr>
          <p:nvPr>
            <p:ph type="subTitle" idx="1"/>
          </p:nvPr>
        </p:nvSpPr>
        <p:spPr>
          <a:xfrm>
            <a:off x="462116" y="1561436"/>
            <a:ext cx="11405419" cy="5035174"/>
          </a:xfrm>
        </p:spPr>
        <p:txBody>
          <a:bodyPr anchor="t">
            <a:normAutofit fontScale="85000" lnSpcReduction="20000"/>
          </a:bodyPr>
          <a:lstStyle/>
          <a:p>
            <a:pPr algn="just"/>
            <a:r>
              <a:rPr lang="en-US" sz="2400" b="1" dirty="0">
                <a:effectLst/>
                <a:latin typeface="Calibri" panose="020F0502020204030204" pitchFamily="34" charset="0"/>
                <a:ea typeface="Calibri" panose="020F0502020204030204" pitchFamily="34" charset="0"/>
                <a:cs typeface="Mangal" panose="02040503050203030202" pitchFamily="18" charset="0"/>
              </a:rPr>
              <a:t> </a:t>
            </a:r>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Technology is a term, defined as the scientific study of mechanized arts and applied science.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may be categorized as data, text and image.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therefore is not a scientific study of vehicles of information processing or communication. It is rather the use of scientific or technological designs and appliances to promote and advance the pattern and process of information channelization. </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Roger Carter put this in proper perspective when he defined Information Technology as “the use of technology to aid the capture, storage, retrieval, analysis, and communication of information whether in the form of data, text, image or voice”.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(IT) refers to the utilization of digital technologies for the storage, processing, and transmission of data and information. This encompasses hardware components like computers, servers, and storage devices, along with software, networks, and various other digital technologies.</a:t>
            </a:r>
          </a:p>
          <a:p>
            <a:pPr algn="just"/>
            <a:r>
              <a:rPr lang="en-US" dirty="0">
                <a:solidFill>
                  <a:schemeClr val="bg1">
                    <a:lumMod val="95000"/>
                  </a:schemeClr>
                </a:solidFill>
              </a:rPr>
              <a:t>The term "information technology," commonly abbreviated as "IT," refers to “the science and activity of using computers and other electronic equipment to store and send information” .</a:t>
            </a:r>
            <a:endPar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endParaRP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 simple term, Information technology is use of computer, storage, networking and other physical device, infrastructure and process to create, process, store, secure and exchange all form of electronic data. </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Association of America has defined IT as “the study, design, development, application, implementation, support and management of computer-based information.</a:t>
            </a:r>
            <a:endParaRPr lang="en-US" dirty="0">
              <a:solidFill>
                <a:schemeClr val="bg1">
                  <a:lumMod val="95000"/>
                </a:schemeClr>
              </a:solidFill>
            </a:endParaRPr>
          </a:p>
        </p:txBody>
      </p:sp>
    </p:spTree>
    <p:extLst>
      <p:ext uri="{BB962C8B-B14F-4D97-AF65-F5344CB8AC3E}">
        <p14:creationId xmlns:p14="http://schemas.microsoft.com/office/powerpoint/2010/main" val="45646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4A19-0B50-1AB5-FE13-2A11BA68342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F039A3E-230F-C374-4858-DDBE4026F457}"/>
              </a:ext>
            </a:extLst>
          </p:cNvPr>
          <p:cNvSpPr>
            <a:spLocks noGrp="1"/>
          </p:cNvSpPr>
          <p:nvPr>
            <p:ph idx="1"/>
          </p:nvPr>
        </p:nvSpPr>
        <p:spPr>
          <a:xfrm>
            <a:off x="838200" y="904568"/>
            <a:ext cx="10515600" cy="5272395"/>
          </a:xfrm>
        </p:spPr>
        <p:txBody>
          <a:bodyPr>
            <a:normAutofit fontScale="92500" lnSpcReduction="10000"/>
          </a:bodyPr>
          <a:lstStyle/>
          <a:p>
            <a:pPr marL="0" marR="0" algn="just" fontAlgn="base">
              <a:lnSpc>
                <a:spcPct val="150000"/>
              </a:lnSpc>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Merriam Webster online dictionary defines information technology as “the technology involving the development, maintenance, and use of computer systems, software, and networks for the processing and distribution of data”.</a:t>
            </a:r>
          </a:p>
          <a:p>
            <a:pPr marL="0" marR="0" algn="just" fontAlgn="base">
              <a:lnSpc>
                <a:spcPct val="150000"/>
              </a:lnSpc>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Carter defines information technology as the use of technology to aid the capture, storage, retrieval, analysis and communication of information whether in the form of data, text, voice or image.</a:t>
            </a:r>
          </a:p>
          <a:p>
            <a:pPr marL="0" marR="0" algn="just" fontAlgn="base">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 is the process and applications that create new methods and solve problems, perform tasks and manage communication. The world has become “global village” due to advancement of IT. </a:t>
            </a:r>
            <a:r>
              <a:rPr lang="en-US" sz="2000" dirty="0">
                <a:effectLst/>
                <a:latin typeface="Times New Roman" panose="02020603050405020304" pitchFamily="18" charset="0"/>
                <a:ea typeface="Times New Roman" panose="02020603050405020304" pitchFamily="18" charset="0"/>
              </a:rPr>
              <a:t>Since the advent of the Information Age, Information Technology (IT) has consistently served as a fundamental pillar across various aspects of human life. Individuals employ IT for their daily tasks, both at home and in professional settings, spanning education, small businesses, industries, government, healthcare, banking, communication, police departments, and retail. It plays a pivotal role in facilitating processes, accomplishing goals, automating tasks, and serving both internal and external customers.</a:t>
            </a:r>
          </a:p>
          <a:p>
            <a:pPr marL="0" marR="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883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D358-0592-7421-AAAA-6CBAD7CED27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4E2B3CF-B7C3-7E32-1DE1-013E937CADBB}"/>
              </a:ext>
            </a:extLst>
          </p:cNvPr>
          <p:cNvSpPr>
            <a:spLocks noGrp="1"/>
          </p:cNvSpPr>
          <p:nvPr>
            <p:ph idx="1"/>
          </p:nvPr>
        </p:nvSpPr>
        <p:spPr>
          <a:xfrm>
            <a:off x="275303" y="68826"/>
            <a:ext cx="11434916" cy="6341806"/>
          </a:xfrm>
        </p:spPr>
        <p:txBody>
          <a:bodyPr>
            <a:normAutofit fontScale="77500" lnSpcReduction="20000"/>
          </a:bodyPr>
          <a:lstStyle/>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first written or recorded information were done on tablets, papyrus and animal skins. The printing technology of 1450 changed the processes of information production, organization, access and retrieval. The printing revolution provided man with recorded and written information in a great mass that has steadily increased over the years. In 1987, DRUCKER observed that the number of books printed in the last 25 years almost equal the 30 million books produced in the first 500 years {1450-1950] of Gutenberg’s invention of the printing press. This rapid increase was due in part to the industrial revolution of 1780-1850, which brought about an explosion in publishing and production of paper and non-paper based information resources. Thus, information generated in the last century has grown in exponential dimensions .The latter part of the 21</a:t>
            </a:r>
            <a:r>
              <a:rPr lang="en-US" sz="2800" baseline="30000" dirty="0">
                <a:effectLst/>
                <a:latin typeface="Times New Roman" panose="02020603050405020304" pitchFamily="18" charset="0"/>
                <a:ea typeface="Calibri" panose="020F0502020204030204" pitchFamily="34" charset="0"/>
                <a:cs typeface="Mangal" panose="02040503050203030202" pitchFamily="18" charset="0"/>
              </a:rPr>
              <a:t>st</a:t>
            </a:r>
            <a:r>
              <a:rPr lang="en-US" sz="2800" dirty="0">
                <a:effectLst/>
                <a:latin typeface="Times New Roman" panose="02020603050405020304" pitchFamily="18" charset="0"/>
                <a:ea typeface="Calibri" panose="020F0502020204030204" pitchFamily="34" charset="0"/>
                <a:cs typeface="Mangal" panose="02040503050203030202" pitchFamily="18" charset="0"/>
              </a:rPr>
              <a:t> century witnessed an information revolution “propelled basically by the gains of the industrial revolution and advances in technology”. The computer is at the core of the information revolution and of information technology activities. In many instances, the terms “Computer” and “Information Technology” can be regarded as synonymous and are used interchangeably.</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spTree>
    <p:extLst>
      <p:ext uri="{BB962C8B-B14F-4D97-AF65-F5344CB8AC3E}">
        <p14:creationId xmlns:p14="http://schemas.microsoft.com/office/powerpoint/2010/main" val="246062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D476A-83F7-4825-AC7D-29C2376171C2}"/>
              </a:ext>
            </a:extLst>
          </p:cNvPr>
          <p:cNvSpPr>
            <a:spLocks noGrp="1"/>
          </p:cNvSpPr>
          <p:nvPr>
            <p:ph type="title"/>
          </p:nvPr>
        </p:nvSpPr>
        <p:spPr>
          <a:xfrm>
            <a:off x="838200" y="365125"/>
            <a:ext cx="10515600" cy="688423"/>
          </a:xfrm>
        </p:spPr>
        <p:txBody>
          <a:bodyPr>
            <a:normAutofit fontScale="90000"/>
          </a:bodyPr>
          <a:lstStyle/>
          <a:p>
            <a:r>
              <a:rPr lang="en-US" dirty="0" err="1"/>
              <a:t>Contd</a:t>
            </a:r>
            <a:r>
              <a:rPr lang="en-US" dirty="0"/>
              <a:t>…</a:t>
            </a:r>
          </a:p>
        </p:txBody>
      </p:sp>
      <p:sp>
        <p:nvSpPr>
          <p:cNvPr id="3" name="Content Placeholder 2">
            <a:extLst>
              <a:ext uri="{FF2B5EF4-FFF2-40B4-BE49-F238E27FC236}">
                <a16:creationId xmlns:a16="http://schemas.microsoft.com/office/drawing/2014/main" id="{D1C6647F-331F-4F31-B4DB-4A936473CB12}"/>
              </a:ext>
            </a:extLst>
          </p:cNvPr>
          <p:cNvSpPr>
            <a:spLocks noGrp="1"/>
          </p:cNvSpPr>
          <p:nvPr>
            <p:ph idx="1"/>
          </p:nvPr>
        </p:nvSpPr>
        <p:spPr>
          <a:xfrm>
            <a:off x="838200" y="1202635"/>
            <a:ext cx="10515600" cy="4974328"/>
          </a:xfrm>
        </p:spPr>
        <p:txBody>
          <a:bodyPr>
            <a:normAutofit fontScale="70000" lnSpcReduction="20000"/>
          </a:bodyPr>
          <a:lstStyle/>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invention of the Random Access Memory and its use in digital computing by the University of Manchester has been said to be the first information technology revolution. In 1969, the United States Department of Defense provided funding for the development of a computer network, ARPANET, which was to be the forerunner of the Internet. A release of the ban on commercial usage of the Internet in 1971 led to a rapid increase in its use by non-computer experts. In 1993, a British physicist, Tim Berners-Lee invented the World Wide WEB (WWW). The WWW makes use of hypertext technology to provide users with a simple way of navigating through the massive deposit of resources on the Internet, by creating links between documents.</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development of the Internet has led to profound changes in all aspects of society and has also dramatically changed the nature of information revolution.</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spTree>
    <p:extLst>
      <p:ext uri="{BB962C8B-B14F-4D97-AF65-F5344CB8AC3E}">
        <p14:creationId xmlns:p14="http://schemas.microsoft.com/office/powerpoint/2010/main" val="124141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BDD6E-1F9F-5A51-2370-347D3F7F4511}"/>
              </a:ext>
            </a:extLst>
          </p:cNvPr>
          <p:cNvSpPr>
            <a:spLocks noGrp="1"/>
          </p:cNvSpPr>
          <p:nvPr>
            <p:ph type="title"/>
          </p:nvPr>
        </p:nvSpPr>
        <p:spPr>
          <a:xfrm>
            <a:off x="793662" y="386930"/>
            <a:ext cx="10066122" cy="1298448"/>
          </a:xfrm>
        </p:spPr>
        <p:txBody>
          <a:bodyPr anchor="b">
            <a:normAutofit/>
          </a:bodyPr>
          <a:lstStyle/>
          <a:p>
            <a:r>
              <a:rPr lang="en-US" sz="4800" dirty="0"/>
              <a:t> </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AACFDE-ADDC-BDF3-948E-D2CCABC84EF8}"/>
              </a:ext>
            </a:extLst>
          </p:cNvPr>
          <p:cNvSpPr>
            <a:spLocks noGrp="1"/>
          </p:cNvSpPr>
          <p:nvPr>
            <p:ph idx="1"/>
          </p:nvPr>
        </p:nvSpPr>
        <p:spPr>
          <a:xfrm>
            <a:off x="174282" y="-462116"/>
            <a:ext cx="6130034" cy="8268929"/>
          </a:xfrm>
        </p:spPr>
        <p:txBody>
          <a:bodyPr anchor="ctr">
            <a:normAutofit/>
          </a:bodyPr>
          <a:lstStyle/>
          <a:p>
            <a:pPr algn="just"/>
            <a:r>
              <a:rPr lang="en-US" sz="1600" dirty="0">
                <a:latin typeface="Times New Roman" panose="02020603050405020304" pitchFamily="18" charset="0"/>
                <a:cs typeface="Times New Roman" panose="02020603050405020304" pitchFamily="18" charset="0"/>
              </a:rPr>
              <a:t>The world has become more advance in technology, especially in communication sector. The rapid development of information technology aims to improve life by providing easy interaction and access to people.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Information technology has revolutionized the way individuals and businesses communicate, facilitating instant interactions across the globe.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Social media platforms and messaging applications have transformed personal relationships and created new avenues for networking and collaboration.</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rise of video conferencing tools has allowed remote work to thrive, enhancing productivity and work-life balance for many employees</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It has also created more opportunities for traditional crime such as cracking/ hacking, viruses, large scale fraud, online gender trade, and hate speech phreaking, chipping, and stalking. </a:t>
            </a:r>
          </a:p>
          <a:p>
            <a:pPr algn="just"/>
            <a:r>
              <a:rPr lang="en-US" sz="1600" dirty="0">
                <a:latin typeface="Times New Roman" panose="02020603050405020304" pitchFamily="18" charset="0"/>
                <a:cs typeface="Times New Roman" panose="02020603050405020304" pitchFamily="18" charset="0"/>
              </a:rPr>
              <a:t>However , recent development include parasitic computing, whereby criminals use a series of remote computers to perform operations, including storing illegal data , such as pornographic pictures or pirated software.</a:t>
            </a:r>
          </a:p>
        </p:txBody>
      </p:sp>
      <p:pic>
        <p:nvPicPr>
          <p:cNvPr id="4" name="Picture 3">
            <a:extLst>
              <a:ext uri="{FF2B5EF4-FFF2-40B4-BE49-F238E27FC236}">
                <a16:creationId xmlns:a16="http://schemas.microsoft.com/office/drawing/2014/main" id="{1E938F4B-F343-9A35-C7F2-4D005690A216}"/>
              </a:ext>
            </a:extLst>
          </p:cNvPr>
          <p:cNvPicPr>
            <a:picLocks noChangeAspect="1"/>
          </p:cNvPicPr>
          <p:nvPr/>
        </p:nvPicPr>
        <p:blipFill>
          <a:blip r:embed="rId2"/>
          <a:stretch>
            <a:fillRect/>
          </a:stretch>
        </p:blipFill>
        <p:spPr>
          <a:xfrm>
            <a:off x="6304316" y="2780068"/>
            <a:ext cx="5150277" cy="2897030"/>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9034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C67A46-2A40-21A9-E552-BF3ED5AB63C6}"/>
              </a:ext>
            </a:extLst>
          </p:cNvPr>
          <p:cNvSpPr>
            <a:spLocks noGrp="1"/>
          </p:cNvSpPr>
          <p:nvPr>
            <p:ph type="title"/>
          </p:nvPr>
        </p:nvSpPr>
        <p:spPr>
          <a:xfrm>
            <a:off x="793662" y="386930"/>
            <a:ext cx="10066122" cy="1298448"/>
          </a:xfrm>
        </p:spPr>
        <p:txBody>
          <a:bodyPr anchor="b">
            <a:normAutofit/>
          </a:bodyPr>
          <a:lstStyle/>
          <a:p>
            <a:pPr marL="0" marR="0" lvl="0" indent="0" defTabSz="914400" rtl="0" eaLnBrk="1" fontAlgn="auto" latinLnBrk="0" hangingPunct="1">
              <a:spcBef>
                <a:spcPts val="0"/>
              </a:spcBef>
              <a:spcAft>
                <a:spcPts val="0"/>
              </a:spcAft>
              <a:tabLst/>
              <a:defRPr/>
            </a:pPr>
            <a:r>
              <a:rPr kumimoji="0" lang="en-US" sz="4100" b="1"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rPr>
              <a:t>Positive Impacts of Information Technology</a:t>
            </a:r>
            <a:br>
              <a:rPr kumimoji="0" lang="en-US" sz="4100" b="0" i="0" u="none" strike="noStrike" kern="1200" cap="none" spc="0" normalizeH="0" baseline="0" noProof="0">
                <a:ln>
                  <a:noFill/>
                </a:ln>
                <a:effectLst/>
                <a:uLnTx/>
                <a:uFillTx/>
                <a:latin typeface="Times New Roman" panose="02020603050405020304" pitchFamily="18" charset="0"/>
                <a:ea typeface="+mn-ea"/>
                <a:cs typeface="Times New Roman" panose="02020603050405020304" pitchFamily="18" charset="0"/>
              </a:rPr>
            </a:br>
            <a:endParaRPr lang="en-US" sz="41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36CF66-9876-0B26-328B-8F2B19C75BAC}"/>
              </a:ext>
            </a:extLst>
          </p:cNvPr>
          <p:cNvSpPr>
            <a:spLocks noGrp="1"/>
          </p:cNvSpPr>
          <p:nvPr>
            <p:ph idx="1"/>
          </p:nvPr>
        </p:nvSpPr>
        <p:spPr>
          <a:xfrm>
            <a:off x="793661" y="2203079"/>
            <a:ext cx="4530898" cy="4035880"/>
          </a:xfrm>
        </p:spPr>
        <p:txBody>
          <a:bodyPr anchor="ctr">
            <a:noAutofit/>
          </a:bodyPr>
          <a:lstStyle/>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Information technology has revolutionized communication, allowing people to connect instantly across the globe.</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It has enhanced access to information, empowering individuals with knowledge and resources that were previously unavailable.</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IT innovations have streamlined business processes, leading to increased productivity and economic growth in various sectors.</a:t>
            </a: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It enhance in daily work convince: E- banking, online shopping, online payment etc.</a:t>
            </a:r>
            <a:r>
              <a:rPr lang="en-US" sz="1700" b="0" i="0" dirty="0">
                <a:effectLst/>
                <a:latin typeface="Times New Roman" panose="02020603050405020304" pitchFamily="18" charset="0"/>
                <a:cs typeface="Times New Roman" panose="02020603050405020304" pitchFamily="18" charset="0"/>
              </a:rPr>
              <a:t> Licklider believed that computer networks could improve the quality of life.</a:t>
            </a:r>
            <a:r>
              <a:rPr lang="en-US" sz="1700" dirty="0">
                <a:latin typeface="Times New Roman" panose="02020603050405020304" pitchFamily="18" charset="0"/>
                <a:ea typeface="Optima" pitchFamily="34" charset="-122"/>
                <a:cs typeface="Times New Roman" panose="02020603050405020304" pitchFamily="18" charset="0"/>
              </a:rPr>
              <a:t> </a:t>
            </a: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lang="en-US" sz="1700" dirty="0">
                <a:latin typeface="Times New Roman" panose="02020603050405020304" pitchFamily="18" charset="0"/>
                <a:cs typeface="Times New Roman" panose="02020603050405020304" pitchFamily="18" charset="0"/>
              </a:rPr>
              <a:t>Enabling widespread and equitable access to knowledge through digital libraries, online journals, and educational platforms.</a:t>
            </a:r>
          </a:p>
        </p:txBody>
      </p:sp>
      <p:pic>
        <p:nvPicPr>
          <p:cNvPr id="7" name="Graphic 6" descr="Laptop Secure">
            <a:extLst>
              <a:ext uri="{FF2B5EF4-FFF2-40B4-BE49-F238E27FC236}">
                <a16:creationId xmlns:a16="http://schemas.microsoft.com/office/drawing/2014/main" id="{9644F5E1-4FE0-F7F3-9079-9B5E77BC4A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67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8BB6A8-7E9F-F37E-FEDF-DBF426107E8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Negative impact of Information technology</a:t>
            </a:r>
          </a:p>
        </p:txBody>
      </p:sp>
      <p:sp>
        <p:nvSpPr>
          <p:cNvPr id="3" name="Content Placeholder 2">
            <a:extLst>
              <a:ext uri="{FF2B5EF4-FFF2-40B4-BE49-F238E27FC236}">
                <a16:creationId xmlns:a16="http://schemas.microsoft.com/office/drawing/2014/main" id="{665764F8-33C1-8D80-8B7D-3C29B81CBBC8}"/>
              </a:ext>
            </a:extLst>
          </p:cNvPr>
          <p:cNvSpPr>
            <a:spLocks noGrp="1"/>
          </p:cNvSpPr>
          <p:nvPr>
            <p:ph idx="1"/>
          </p:nvPr>
        </p:nvSpPr>
        <p:spPr>
          <a:xfrm>
            <a:off x="4810259" y="649480"/>
            <a:ext cx="6555347" cy="5546047"/>
          </a:xfrm>
        </p:spPr>
        <p:txBody>
          <a:bodyPr anchor="ctr">
            <a:normAutofit/>
          </a:bodyPr>
          <a:lstStyle/>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rPr>
              <a:t>The rise of information technology has contributed to social isolation, as face-to-face interactions decrease in favor of virtual communication.</a:t>
            </a:r>
            <a:endParaRPr kumimoji="0" lang="en-US" sz="1700" b="0" i="0" u="none" strike="noStrike" kern="1200" cap="none" spc="0" normalizeH="0" baseline="0" noProof="0">
              <a:ln>
                <a:noFill/>
              </a:ln>
              <a:effectLst/>
              <a:uLnTx/>
              <a:uFillTx/>
              <a:latin typeface="Times New Roman" panose="02020603050405020304" pitchFamily="18" charset="0"/>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rPr>
              <a:t>Cybersecurity threats have escalated, putting personal and financial data at risk and leading to a loss of trust in online platforms.</a:t>
            </a:r>
            <a:endParaRPr kumimoji="0" lang="en-US" sz="1700" b="0" i="0" u="none" strike="noStrike" kern="1200" cap="none" spc="0" normalizeH="0" baseline="0" noProof="0">
              <a:ln>
                <a:noFill/>
              </a:ln>
              <a:effectLst/>
              <a:uLnTx/>
              <a:uFillTx/>
              <a:latin typeface="Times New Roman" panose="02020603050405020304" pitchFamily="18" charset="0"/>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rPr>
              <a:t>The digital divide continues to widen, leaving marginalized communities without access to essential technology and resources.</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Another problem is job insecure. Worker are replaced by robots. For example: Boston dynamics. </a:t>
            </a:r>
            <a:r>
              <a:rPr lang="en-US" sz="1700" b="0" i="0">
                <a:effectLst/>
                <a:latin typeface="Times New Roman" panose="02020603050405020304" pitchFamily="18" charset="0"/>
                <a:cs typeface="Times New Roman" panose="02020603050405020304" pitchFamily="18" charset="0"/>
              </a:rPr>
              <a:t>As machines and robots become more advanced, they can perform tasks that were previously done by humans. </a:t>
            </a:r>
            <a:endParaRPr lang="en-US" sz="1700">
              <a:latin typeface="Times New Roman" panose="02020603050405020304" pitchFamily="18" charset="0"/>
              <a:ea typeface="Optima" pitchFamily="34" charset="-122"/>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Destruction of critical thinking capacities.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Computer –oriented crime. For example: Cross broader crime, cyber bulling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Copyright infringement: unacknowledged use of somebody’s intellectual creation for the purpose of private gains.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Cyberbullying</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a:latin typeface="Times New Roman" panose="02020603050405020304" pitchFamily="18" charset="0"/>
                <a:ea typeface="Optima" pitchFamily="34" charset="-122"/>
                <a:cs typeface="Times New Roman" panose="02020603050405020304" pitchFamily="18" charset="0"/>
              </a:rPr>
              <a:t> </a:t>
            </a:r>
            <a:r>
              <a:rPr lang="en-US" sz="1700" i="0">
                <a:effectLst/>
                <a:latin typeface="Times New Roman" panose="02020603050405020304" pitchFamily="18" charset="0"/>
                <a:cs typeface="Times New Roman" panose="02020603050405020304" pitchFamily="18" charset="0"/>
              </a:rPr>
              <a:t>Technology Addiction: Many people spend excessive amounts of time on their phones, computers, and other devices, leading to a range of negative health effects, such as eye strain, sleep deprivation, and increased stress levels.</a:t>
            </a:r>
            <a:r>
              <a:rPr lang="en-US" sz="1700">
                <a:latin typeface="Times New Roman" panose="02020603050405020304" pitchFamily="18" charset="0"/>
                <a:ea typeface="Optima" pitchFamily="34" charset="-122"/>
                <a:cs typeface="Times New Roman" panose="02020603050405020304" pitchFamily="18" charset="0"/>
              </a:rPr>
              <a:t>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endParaRPr kumimoji="0" lang="en-US" sz="1700" b="0"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endParaRPr kumimoji="0" lang="en-US" sz="1700" b="0"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endParaRPr>
          </a:p>
          <a:p>
            <a:pPr marL="0" marR="0" lvl="0" indent="0" defTabSz="914400" rtl="0" eaLnBrk="1" fontAlgn="auto" latinLnBrk="0" hangingPunct="1">
              <a:spcBef>
                <a:spcPts val="0"/>
              </a:spcBef>
              <a:spcAft>
                <a:spcPts val="0"/>
              </a:spcAft>
              <a:buClrTx/>
              <a:buSzTx/>
              <a:buNone/>
              <a:tabLst/>
              <a:defRPr/>
            </a:pPr>
            <a:endParaRPr kumimoji="0" lang="en-US" sz="1700" b="0" i="0" u="none" strike="noStrike" kern="1200" cap="none" spc="0" normalizeH="0" baseline="0" noProof="0">
              <a:ln>
                <a:noFill/>
              </a:ln>
              <a:effectLst/>
              <a:uLnTx/>
              <a:uFillTx/>
              <a:latin typeface="Trebuchet MS" panose="020B0603020202020204"/>
              <a:ea typeface="+mn-ea"/>
              <a:cs typeface="+mn-cs"/>
            </a:endParaRPr>
          </a:p>
          <a:p>
            <a:pPr marL="0" indent="0">
              <a:buNone/>
            </a:pPr>
            <a:endParaRPr lang="en-US" sz="1700"/>
          </a:p>
        </p:txBody>
      </p:sp>
    </p:spTree>
    <p:extLst>
      <p:ext uri="{BB962C8B-B14F-4D97-AF65-F5344CB8AC3E}">
        <p14:creationId xmlns:p14="http://schemas.microsoft.com/office/powerpoint/2010/main" val="2890594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101E-290C-0AA0-CC26-6214DBC378E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D2014A0-E40F-6014-C64B-D717B066EDFD}"/>
              </a:ext>
            </a:extLst>
          </p:cNvPr>
          <p:cNvSpPr>
            <a:spLocks noGrp="1"/>
          </p:cNvSpPr>
          <p:nvPr>
            <p:ph idx="1"/>
          </p:nvPr>
        </p:nvSpPr>
        <p:spPr>
          <a:xfrm>
            <a:off x="838200" y="521110"/>
            <a:ext cx="10515600" cy="565585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ongoing computing and communications revolution has numerous economic and social impacts on modern society and requires serious social science investigation to manage its risks and dangers. Such work would be valuable for both social policy and technology design. Decisions must be taken carefully. Many choices being made now will be costly or difficult to modify in the future.</a:t>
            </a:r>
          </a:p>
          <a:p>
            <a:pPr marL="0" indent="0" algn="just">
              <a:buNone/>
            </a:pPr>
            <a:r>
              <a:rPr lang="en-US" dirty="0">
                <a:latin typeface="Times New Roman" panose="02020603050405020304" pitchFamily="18" charset="0"/>
                <a:cs typeface="Times New Roman" panose="02020603050405020304" pitchFamily="18" charset="0"/>
              </a:rPr>
              <a:t>Some Cases: Nepal experienced a significant increase in cybercrime cases during the 2023–24 fiscal year, with reports rising from 9,013 to 19,730 incidents.</a:t>
            </a:r>
          </a:p>
          <a:p>
            <a:pPr algn="just">
              <a:spcAft>
                <a:spcPts val="2250"/>
              </a:spcAft>
              <a:buNone/>
            </a:pPr>
            <a:r>
              <a:rPr lang="en-US" b="1" i="0" dirty="0">
                <a:solidFill>
                  <a:srgbClr val="0B0B0B"/>
                </a:solidFill>
                <a:effectLst/>
                <a:latin typeface="Times New Roman" panose="02020603050405020304" pitchFamily="18" charset="0"/>
                <a:cs typeface="Times New Roman" panose="02020603050405020304" pitchFamily="18" charset="0"/>
              </a:rPr>
              <a:t>Vianet data breach </a:t>
            </a:r>
          </a:p>
          <a:p>
            <a:pPr algn="just">
              <a:spcAft>
                <a:spcPts val="2250"/>
              </a:spcAft>
              <a:buNone/>
            </a:pPr>
            <a:r>
              <a:rPr lang="en-US" sz="2400" dirty="0">
                <a:latin typeface="Times New Roman" panose="02020603050405020304" pitchFamily="18" charset="0"/>
                <a:cs typeface="Times New Roman" panose="02020603050405020304" pitchFamily="18" charset="0"/>
              </a:rPr>
              <a:t>In 2020, Nepal experienced its largest data breach when over 175,000 records from Vianet Communications Pvt. Ltd. were exposed by a hacker named "</a:t>
            </a:r>
            <a:r>
              <a:rPr lang="en-US" sz="2400" dirty="0" err="1">
                <a:latin typeface="Times New Roman" panose="02020603050405020304" pitchFamily="18" charset="0"/>
                <a:cs typeface="Times New Roman" panose="02020603050405020304" pitchFamily="18" charset="0"/>
              </a:rPr>
              <a:t>Narapichas</a:t>
            </a:r>
            <a:r>
              <a:rPr lang="en-US" sz="2400" dirty="0">
                <a:latin typeface="Times New Roman" panose="02020603050405020304" pitchFamily="18" charset="0"/>
                <a:cs typeface="Times New Roman" panose="02020603050405020304" pitchFamily="18" charset="0"/>
              </a:rPr>
              <a:t>" on social </a:t>
            </a:r>
            <a:r>
              <a:rPr lang="en-US" sz="2400" dirty="0" err="1">
                <a:latin typeface="Times New Roman" panose="02020603050405020304" pitchFamily="18" charset="0"/>
                <a:cs typeface="Times New Roman" panose="02020603050405020304" pitchFamily="18" charset="0"/>
              </a:rPr>
              <a:t>media.</a:t>
            </a:r>
            <a:r>
              <a:rPr lang="en-US" sz="2400" dirty="0" err="1">
                <a:solidFill>
                  <a:srgbClr val="0B0B0B"/>
                </a:solidFill>
                <a:latin typeface="Times New Roman" panose="02020603050405020304" pitchFamily="18" charset="0"/>
                <a:cs typeface="Times New Roman" panose="02020603050405020304" pitchFamily="18" charset="0"/>
              </a:rPr>
              <a:t>The</a:t>
            </a:r>
            <a:r>
              <a:rPr lang="en-US" sz="2400" dirty="0">
                <a:solidFill>
                  <a:srgbClr val="0B0B0B"/>
                </a:solidFill>
                <a:latin typeface="Times New Roman" panose="02020603050405020304" pitchFamily="18" charset="0"/>
                <a:cs typeface="Times New Roman" panose="02020603050405020304" pitchFamily="18" charset="0"/>
              </a:rPr>
              <a:t> hacker was a 17-year-old , the hacker was sentence to six months in prison and 30 thousand  fine.</a:t>
            </a:r>
          </a:p>
          <a:p>
            <a:pPr algn="just">
              <a:spcAft>
                <a:spcPts val="2250"/>
              </a:spcAft>
              <a:buNone/>
            </a:pPr>
            <a:endParaRPr lang="en-US" sz="2400" dirty="0">
              <a:solidFill>
                <a:srgbClr val="0B0B0B"/>
              </a:solidFill>
              <a:latin typeface="Times New Roman" panose="02020603050405020304" pitchFamily="18" charset="0"/>
              <a:cs typeface="Times New Roman" panose="02020603050405020304" pitchFamily="18" charset="0"/>
            </a:endParaRPr>
          </a:p>
          <a:p>
            <a:pPr algn="just">
              <a:spcAft>
                <a:spcPts val="2250"/>
              </a:spcAft>
              <a:buNone/>
            </a:pPr>
            <a:endParaRPr lang="en-US" b="0" i="0" dirty="0">
              <a:solidFill>
                <a:srgbClr val="0B0B0B"/>
              </a:solidFill>
              <a:effectLst/>
              <a:latin typeface="Times New Roman" panose="02020603050405020304" pitchFamily="18" charset="0"/>
              <a:cs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355732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FC31-0C30-FA91-3710-0D484DC31067}"/>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Meaning and concept of law </a:t>
            </a:r>
            <a:b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3CBD80-BC2E-EE52-F184-CA8AE34FBDCF}"/>
              </a:ext>
            </a:extLst>
          </p:cNvPr>
          <p:cNvSpPr>
            <a:spLocks noGrp="1"/>
          </p:cNvSpPr>
          <p:nvPr>
            <p:ph idx="1"/>
          </p:nvPr>
        </p:nvSpPr>
        <p:spPr>
          <a:xfrm>
            <a:off x="838200" y="1180084"/>
            <a:ext cx="10515600" cy="5016757"/>
          </a:xfrm>
        </p:spPr>
        <p:txBody>
          <a:bodyPr>
            <a:normAutofit/>
          </a:bodyPr>
          <a:lstStyle/>
          <a:p>
            <a:pPr algn="just"/>
            <a:r>
              <a:rPr lang="en-US" dirty="0">
                <a:latin typeface="Times New Roman" panose="02020603050405020304" pitchFamily="18" charset="0"/>
                <a:cs typeface="Times New Roman" panose="02020603050405020304" pitchFamily="18" charset="0"/>
              </a:rPr>
              <a:t>Savigny ,opines that law is a rule, which control controls the manner of human being.</a:t>
            </a:r>
          </a:p>
          <a:p>
            <a:pPr algn="just"/>
            <a:r>
              <a:rPr lang="en-US" dirty="0">
                <a:latin typeface="Times New Roman" panose="02020603050405020304" pitchFamily="18" charset="0"/>
                <a:cs typeface="Times New Roman" panose="02020603050405020304" pitchFamily="18" charset="0"/>
              </a:rPr>
              <a:t>Black Law dictionary says; law is body of rules of action or conduct prescribed by controlling authority  and having binding legal force. That which must be obeyed and followed by citizen subject to sanctions or legal consequences. Law is medium by which government control behavior, and maintain peace, order and harmony in the society. </a:t>
            </a:r>
          </a:p>
          <a:p>
            <a:pPr algn="just"/>
            <a:r>
              <a:rPr lang="en-US" dirty="0">
                <a:latin typeface="Times New Roman" panose="02020603050405020304" pitchFamily="18" charset="0"/>
                <a:cs typeface="Times New Roman" panose="02020603050405020304" pitchFamily="18" charset="0"/>
              </a:rPr>
              <a:t>Law always contains the seed of future change and development in response to new conditions, new technology and new need that may arise.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81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7ECB-D66D-E21E-0921-AC3E1D87BDC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47E41276-04E6-4351-4CA2-F172E945B8DE}"/>
              </a:ext>
            </a:extLst>
          </p:cNvPr>
          <p:cNvSpPr>
            <a:spLocks noGrp="1"/>
          </p:cNvSpPr>
          <p:nvPr>
            <p:ph idx="1"/>
          </p:nvPr>
        </p:nvSpPr>
        <p:spPr>
          <a:xfrm>
            <a:off x="838200" y="599768"/>
            <a:ext cx="10515600" cy="5577195"/>
          </a:xfrm>
        </p:spPr>
        <p:txBody>
          <a:bodyPr>
            <a:normAutofit/>
          </a:bodyPr>
          <a:lstStyle/>
          <a:p>
            <a:r>
              <a:rPr lang="en-US" dirty="0">
                <a:latin typeface="Times New Roman" panose="02020603050405020304" pitchFamily="18" charset="0"/>
                <a:cs typeface="Times New Roman" panose="02020603050405020304" pitchFamily="18" charset="0"/>
              </a:rPr>
              <a:t>Law is instrumental in systematization of the social change. Generally , dramatic and relatively rapid changes in thew law ; in response to the vast social, economic and technological development. </a:t>
            </a:r>
          </a:p>
          <a:p>
            <a:r>
              <a:rPr lang="en-US" dirty="0">
                <a:latin typeface="Times New Roman" panose="02020603050405020304" pitchFamily="18" charset="0"/>
                <a:cs typeface="Times New Roman" panose="02020603050405020304" pitchFamily="18" charset="0"/>
              </a:rPr>
              <a:t>Society change faster than law. Therefore, law should follow the changing society to be living law. </a:t>
            </a:r>
          </a:p>
          <a:p>
            <a:r>
              <a:rPr lang="en-US" dirty="0">
                <a:latin typeface="Times New Roman" panose="02020603050405020304" pitchFamily="18" charset="0"/>
                <a:cs typeface="Times New Roman" panose="02020603050405020304" pitchFamily="18" charset="0"/>
              </a:rPr>
              <a:t>According to Kohler, the general function of law is to preserve further and transmit civilization. He further states the following specific function of law in society.</a:t>
            </a:r>
          </a:p>
          <a:p>
            <a:pPr marL="514350" indent="-514350">
              <a:buAutoNum type="alphaLcPeriod"/>
            </a:pPr>
            <a:r>
              <a:rPr lang="en-US" dirty="0">
                <a:latin typeface="Times New Roman" panose="02020603050405020304" pitchFamily="18" charset="0"/>
                <a:cs typeface="Times New Roman" panose="02020603050405020304" pitchFamily="18" charset="0"/>
              </a:rPr>
              <a:t>Law protect existing values and creates new values for society. </a:t>
            </a:r>
          </a:p>
          <a:p>
            <a:pPr marL="514350" indent="-514350">
              <a:buAutoNum type="alphaLcPeriod"/>
            </a:pPr>
            <a:r>
              <a:rPr lang="en-US" dirty="0">
                <a:latin typeface="Times New Roman" panose="02020603050405020304" pitchFamily="18" charset="0"/>
                <a:cs typeface="Times New Roman" panose="02020603050405020304" pitchFamily="18" charset="0"/>
              </a:rPr>
              <a:t>Law attends material and intellectual needs of civilization, </a:t>
            </a:r>
          </a:p>
          <a:p>
            <a:pPr marL="514350" indent="-514350">
              <a:buAutoNum type="alphaLcPeriod"/>
            </a:pPr>
            <a:r>
              <a:rPr lang="en-US" dirty="0">
                <a:latin typeface="Times New Roman" panose="02020603050405020304" pitchFamily="18" charset="0"/>
                <a:cs typeface="Times New Roman" panose="02020603050405020304" pitchFamily="18" charset="0"/>
              </a:rPr>
              <a:t>Law must delimit the share of individual rights as against civilization values.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663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B5F0-4BEF-78D9-990B-12DB63AB9B5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3DA748C-34CF-543A-A684-00908B2597E2}"/>
              </a:ext>
            </a:extLst>
          </p:cNvPr>
          <p:cNvSpPr>
            <a:spLocks noGrp="1"/>
          </p:cNvSpPr>
          <p:nvPr>
            <p:ph idx="1"/>
          </p:nvPr>
        </p:nvSpPr>
        <p:spPr>
          <a:xfrm>
            <a:off x="838200" y="471948"/>
            <a:ext cx="10515600" cy="5705015"/>
          </a:xfrm>
        </p:spPr>
        <p:txBody>
          <a:bodyPr>
            <a:normAutofit/>
          </a:bodyPr>
          <a:lstStyle/>
          <a:p>
            <a:pPr algn="just"/>
            <a:r>
              <a:rPr lang="en-US" sz="2400" dirty="0">
                <a:effectLst/>
                <a:latin typeface="Times New Roman" panose="02020603050405020304" pitchFamily="18" charset="0"/>
                <a:ea typeface="Calibri" panose="020F0502020204030204" pitchFamily="34" charset="0"/>
              </a:rPr>
              <a:t>The market today requires improved practice efficiency; new technology can help to streamline many day-to-day procedures, increasing both efficiency and productivity. Collaboration and connectivity tools, such as file sharing systems and conferencing services, make external and internal communication more flexible.</a:t>
            </a:r>
          </a:p>
          <a:p>
            <a:pPr algn="just"/>
            <a:r>
              <a:rPr lang="en-US" sz="2400" dirty="0">
                <a:latin typeface="Times New Roman" panose="02020603050405020304" pitchFamily="18" charset="0"/>
                <a:ea typeface="Calibri" panose="020F0502020204030204" pitchFamily="34" charset="0"/>
              </a:rPr>
              <a:t>At this point, we need a medium to regenerate moral and immoral conduct in the society, this is where law comes as a savior for us. For Example : Electronic transaction Act 2063. </a:t>
            </a:r>
          </a:p>
          <a:p>
            <a:pPr algn="just"/>
            <a:r>
              <a:rPr lang="en-US" sz="2400" dirty="0">
                <a:latin typeface="Times New Roman" panose="02020603050405020304" pitchFamily="18" charset="0"/>
                <a:cs typeface="Times New Roman" panose="02020603050405020304" pitchFamily="18" charset="0"/>
              </a:rPr>
              <a:t>The law now covers all the tools used to access the internet, like computers, phones, email, websites, storage devices, software, and hardware. It sets rules about online communication, privacy, free speech, and protecting ideas and content. These laws help keep internet users and businesses safe and punish those who commit online crimes.</a:t>
            </a:r>
          </a:p>
        </p:txBody>
      </p:sp>
    </p:spTree>
    <p:extLst>
      <p:ext uri="{BB962C8B-B14F-4D97-AF65-F5344CB8AC3E}">
        <p14:creationId xmlns:p14="http://schemas.microsoft.com/office/powerpoint/2010/main" val="642794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9CE1-405A-E9D7-9D2B-59FA8CABC2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Need of law in Information technology Advance Society. </a:t>
            </a:r>
          </a:p>
        </p:txBody>
      </p:sp>
      <p:sp>
        <p:nvSpPr>
          <p:cNvPr id="3" name="Content Placeholder 2">
            <a:extLst>
              <a:ext uri="{FF2B5EF4-FFF2-40B4-BE49-F238E27FC236}">
                <a16:creationId xmlns:a16="http://schemas.microsoft.com/office/drawing/2014/main" id="{71311C56-E09A-E9D6-8032-EE447253202D}"/>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To curb Cybercrimes</a:t>
            </a:r>
          </a:p>
          <a:p>
            <a:pPr algn="just"/>
            <a:r>
              <a:rPr lang="en-US" dirty="0">
                <a:latin typeface="Times New Roman" panose="02020603050405020304" pitchFamily="18" charset="0"/>
                <a:cs typeface="Times New Roman" panose="02020603050405020304" pitchFamily="18" charset="0"/>
              </a:rPr>
              <a:t>To Frame the required cyber laws, policies and procedures</a:t>
            </a:r>
          </a:p>
          <a:p>
            <a:pPr algn="just"/>
            <a:r>
              <a:rPr lang="en-US" dirty="0">
                <a:latin typeface="Times New Roman" panose="02020603050405020304" pitchFamily="18" charset="0"/>
                <a:cs typeface="Times New Roman" panose="02020603050405020304" pitchFamily="18" charset="0"/>
              </a:rPr>
              <a:t>To ensure responsible and legitimate exploitation of electronic services</a:t>
            </a:r>
          </a:p>
          <a:p>
            <a:pPr algn="just"/>
            <a:r>
              <a:rPr lang="en-US" dirty="0">
                <a:latin typeface="Times New Roman" panose="02020603050405020304" pitchFamily="18" charset="0"/>
                <a:cs typeface="Times New Roman" panose="02020603050405020304" pitchFamily="18" charset="0"/>
              </a:rPr>
              <a:t>To protect Intellectual Property Rights</a:t>
            </a:r>
          </a:p>
          <a:p>
            <a:pPr algn="just"/>
            <a:r>
              <a:rPr lang="en-US" dirty="0">
                <a:latin typeface="Times New Roman" panose="02020603050405020304" pitchFamily="18" charset="0"/>
                <a:cs typeface="Times New Roman" panose="02020603050405020304" pitchFamily="18" charset="0"/>
              </a:rPr>
              <a:t>To Settle Legal and commercial dispute having cyber elements</a:t>
            </a:r>
          </a:p>
          <a:p>
            <a:pPr algn="just"/>
            <a:r>
              <a:rPr lang="en-US" dirty="0">
                <a:latin typeface="Times New Roman" panose="02020603050405020304" pitchFamily="18" charset="0"/>
                <a:cs typeface="Times New Roman" panose="02020603050405020304" pitchFamily="18" charset="0"/>
              </a:rPr>
              <a:t>To establish and run regulating authorities</a:t>
            </a:r>
          </a:p>
          <a:p>
            <a:pPr algn="just"/>
            <a:r>
              <a:rPr lang="en-US" dirty="0">
                <a:latin typeface="Times New Roman" panose="02020603050405020304" pitchFamily="18" charset="0"/>
                <a:cs typeface="Times New Roman" panose="02020603050405020304" pitchFamily="18" charset="0"/>
              </a:rPr>
              <a:t>To filter internet content</a:t>
            </a:r>
          </a:p>
        </p:txBody>
      </p:sp>
    </p:spTree>
    <p:extLst>
      <p:ext uri="{BB962C8B-B14F-4D97-AF65-F5344CB8AC3E}">
        <p14:creationId xmlns:p14="http://schemas.microsoft.com/office/powerpoint/2010/main" val="334926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CEDE-3249-B053-0AEE-30CCBEE9BD6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BE2768AA-351F-47F2-0A35-8030E658D13C}"/>
              </a:ext>
            </a:extLst>
          </p:cNvPr>
          <p:cNvSpPr>
            <a:spLocks noGrp="1"/>
          </p:cNvSpPr>
          <p:nvPr>
            <p:ph idx="1"/>
          </p:nvPr>
        </p:nvSpPr>
        <p:spPr>
          <a:xfrm>
            <a:off x="838200" y="619432"/>
            <a:ext cx="10515600" cy="5557531"/>
          </a:xfrm>
        </p:spPr>
        <p:txBody>
          <a:bodyPr>
            <a:normAutofit/>
          </a:bodyPr>
          <a:lstStyle/>
          <a:p>
            <a:r>
              <a:rPr lang="en-US" dirty="0">
                <a:latin typeface="Times New Roman" panose="02020603050405020304" pitchFamily="18" charset="0"/>
                <a:cs typeface="Times New Roman" panose="02020603050405020304" pitchFamily="18" charset="0"/>
              </a:rPr>
              <a:t>To promote IT ethics and morality</a:t>
            </a:r>
          </a:p>
          <a:p>
            <a:r>
              <a:rPr lang="en-US" dirty="0">
                <a:latin typeface="Times New Roman" panose="02020603050405020304" pitchFamily="18" charset="0"/>
                <a:cs typeface="Times New Roman" panose="02020603050405020304" pitchFamily="18" charset="0"/>
              </a:rPr>
              <a:t>To provider for International cooperation in combating cyber evils</a:t>
            </a:r>
          </a:p>
          <a:p>
            <a:r>
              <a:rPr lang="en-US" dirty="0">
                <a:latin typeface="Times New Roman" panose="02020603050405020304" pitchFamily="18" charset="0"/>
                <a:cs typeface="Times New Roman" panose="02020603050405020304" pitchFamily="18" charset="0"/>
              </a:rPr>
              <a:t>To supervise electronic transaction and e-commerce</a:t>
            </a:r>
          </a:p>
          <a:p>
            <a:r>
              <a:rPr lang="en-US" dirty="0">
                <a:latin typeface="Times New Roman" panose="02020603050405020304" pitchFamily="18" charset="0"/>
                <a:cs typeface="Times New Roman" panose="02020603050405020304" pitchFamily="18" charset="0"/>
              </a:rPr>
              <a:t>To mitigate the threats and damages posed by technology.</a:t>
            </a:r>
          </a:p>
          <a:p>
            <a:r>
              <a:rPr lang="en-US" dirty="0">
                <a:latin typeface="Times New Roman" panose="02020603050405020304" pitchFamily="18" charset="0"/>
                <a:cs typeface="Times New Roman" panose="02020603050405020304" pitchFamily="18" charset="0"/>
              </a:rPr>
              <a:t>To accommodate information technology law into other branches of law.</a:t>
            </a:r>
          </a:p>
          <a:p>
            <a:r>
              <a:rPr lang="en-US" dirty="0">
                <a:latin typeface="Times New Roman" panose="02020603050405020304" pitchFamily="18" charset="0"/>
                <a:cs typeface="Times New Roman" panose="02020603050405020304" pitchFamily="18" charset="0"/>
              </a:rPr>
              <a:t>To provide for Digital Certificate and certificate authority</a:t>
            </a:r>
          </a:p>
          <a:p>
            <a:r>
              <a:rPr lang="en-US" dirty="0">
                <a:latin typeface="Times New Roman" panose="02020603050405020304" pitchFamily="18" charset="0"/>
                <a:cs typeface="Times New Roman" panose="02020603050405020304" pitchFamily="18" charset="0"/>
              </a:rPr>
              <a:t>To grant Uniformity in the use of IT Standards</a:t>
            </a:r>
          </a:p>
          <a:p>
            <a:r>
              <a:rPr lang="en-US" dirty="0">
                <a:latin typeface="Times New Roman" panose="02020603050405020304" pitchFamily="18" charset="0"/>
                <a:cs typeface="Times New Roman" panose="02020603050405020304" pitchFamily="18" charset="0"/>
              </a:rPr>
              <a:t>To Raise Information technology  law, policies and procedure in </a:t>
            </a:r>
            <a:r>
              <a:rPr lang="en-US">
                <a:latin typeface="Times New Roman" panose="02020603050405020304" pitchFamily="18" charset="0"/>
                <a:cs typeface="Times New Roman" panose="02020603050405020304" pitchFamily="18" charset="0"/>
              </a:rPr>
              <a:t>a timely manner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To make aware about the use of electronic advantages.</a:t>
            </a:r>
          </a:p>
        </p:txBody>
      </p:sp>
    </p:spTree>
    <p:extLst>
      <p:ext uri="{BB962C8B-B14F-4D97-AF65-F5344CB8AC3E}">
        <p14:creationId xmlns:p14="http://schemas.microsoft.com/office/powerpoint/2010/main" val="1375737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TotalTime>
  <Words>1939</Words>
  <Application>Microsoft Office PowerPoint</Application>
  <PresentationFormat>Widescreen</PresentationFormat>
  <Paragraphs>82</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Calibri</vt:lpstr>
      <vt:lpstr>Times New Roman</vt:lpstr>
      <vt:lpstr>Trebuchet MS</vt:lpstr>
      <vt:lpstr>Wingdings</vt:lpstr>
      <vt:lpstr>Office Theme</vt:lpstr>
      <vt:lpstr>Definition of IT</vt:lpstr>
      <vt:lpstr> </vt:lpstr>
      <vt:lpstr> </vt:lpstr>
      <vt:lpstr>Contd…</vt:lpstr>
      <vt:lpstr> </vt:lpstr>
      <vt:lpstr>Positive Impacts of Information Technology </vt:lpstr>
      <vt:lpstr>Negative impact of Information technology</vt:lpstr>
      <vt:lpstr> </vt:lpstr>
      <vt:lpstr>Meaning and concept of law  </vt:lpstr>
      <vt:lpstr> </vt:lpstr>
      <vt:lpstr> </vt:lpstr>
      <vt:lpstr>Need of law in Information technology Advance Society.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 of IT</dc:title>
  <dc:creator>shristi baral</dc:creator>
  <cp:lastModifiedBy>Ravi Silwal</cp:lastModifiedBy>
  <cp:revision>11</cp:revision>
  <dcterms:created xsi:type="dcterms:W3CDTF">2025-05-05T07:35:43Z</dcterms:created>
  <dcterms:modified xsi:type="dcterms:W3CDTF">2025-05-05T23:52:16Z</dcterms:modified>
</cp:coreProperties>
</file>