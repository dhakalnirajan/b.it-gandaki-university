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7" r:id="rId4"/>
    <p:sldId id="258" r:id="rId5"/>
    <p:sldId id="264" r:id="rId6"/>
    <p:sldId id="266" r:id="rId7"/>
    <p:sldId id="265" r:id="rId8"/>
    <p:sldId id="267" r:id="rId9"/>
    <p:sldId id="259" r:id="rId10"/>
    <p:sldId id="260" r:id="rId11"/>
    <p:sldId id="261" r:id="rId12"/>
    <p:sldId id="262" r:id="rId13"/>
    <p:sldId id="263"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2CC215F-2712-4A39-89E7-83C58315E0EE}" type="datetimeFigureOut">
              <a:rPr lang="en-US" smtClean="0"/>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E3CAD5-CF2E-4F5E-913E-C509E38BE59D}" type="slidenum">
              <a:rPr lang="en-US" smtClean="0"/>
              <a:t>‹#›</a:t>
            </a:fld>
            <a:endParaRPr lang="en-US"/>
          </a:p>
        </p:txBody>
      </p:sp>
    </p:spTree>
    <p:extLst>
      <p:ext uri="{BB962C8B-B14F-4D97-AF65-F5344CB8AC3E}">
        <p14:creationId xmlns:p14="http://schemas.microsoft.com/office/powerpoint/2010/main" val="4194540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CC215F-2712-4A39-89E7-83C58315E0EE}" type="datetimeFigureOut">
              <a:rPr lang="en-US" smtClean="0"/>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E3CAD5-CF2E-4F5E-913E-C509E38BE59D}" type="slidenum">
              <a:rPr lang="en-US" smtClean="0"/>
              <a:t>‹#›</a:t>
            </a:fld>
            <a:endParaRPr lang="en-US"/>
          </a:p>
        </p:txBody>
      </p:sp>
    </p:spTree>
    <p:extLst>
      <p:ext uri="{BB962C8B-B14F-4D97-AF65-F5344CB8AC3E}">
        <p14:creationId xmlns:p14="http://schemas.microsoft.com/office/powerpoint/2010/main" val="2827488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CC215F-2712-4A39-89E7-83C58315E0EE}" type="datetimeFigureOut">
              <a:rPr lang="en-US" smtClean="0"/>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E3CAD5-CF2E-4F5E-913E-C509E38BE59D}" type="slidenum">
              <a:rPr lang="en-US" smtClean="0"/>
              <a:t>‹#›</a:t>
            </a:fld>
            <a:endParaRPr lang="en-US"/>
          </a:p>
        </p:txBody>
      </p:sp>
    </p:spTree>
    <p:extLst>
      <p:ext uri="{BB962C8B-B14F-4D97-AF65-F5344CB8AC3E}">
        <p14:creationId xmlns:p14="http://schemas.microsoft.com/office/powerpoint/2010/main" val="50224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CC215F-2712-4A39-89E7-83C58315E0EE}" type="datetimeFigureOut">
              <a:rPr lang="en-US" smtClean="0"/>
              <a:t>5/20/2025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E3CAD5-CF2E-4F5E-913E-C509E38BE59D}" type="slidenum">
              <a:rPr lang="en-US" smtClean="0"/>
              <a:t>‹#›</a:t>
            </a:fld>
            <a:endParaRPr lang="en-US"/>
          </a:p>
        </p:txBody>
      </p:sp>
    </p:spTree>
    <p:extLst>
      <p:ext uri="{BB962C8B-B14F-4D97-AF65-F5344CB8AC3E}">
        <p14:creationId xmlns:p14="http://schemas.microsoft.com/office/powerpoint/2010/main" val="542685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2CC215F-2712-4A39-89E7-83C58315E0EE}" type="datetimeFigureOut">
              <a:rPr lang="en-US" smtClean="0"/>
              <a:t>5/20/2025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E3CAD5-CF2E-4F5E-913E-C509E38BE59D}" type="slidenum">
              <a:rPr lang="en-US" smtClean="0"/>
              <a:t>‹#›</a:t>
            </a:fld>
            <a:endParaRPr lang="en-US"/>
          </a:p>
        </p:txBody>
      </p:sp>
    </p:spTree>
    <p:extLst>
      <p:ext uri="{BB962C8B-B14F-4D97-AF65-F5344CB8AC3E}">
        <p14:creationId xmlns:p14="http://schemas.microsoft.com/office/powerpoint/2010/main" val="1511105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2CC215F-2712-4A39-89E7-83C58315E0EE}" type="datetimeFigureOut">
              <a:rPr lang="en-US" smtClean="0"/>
              <a:t>5/20/2025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E3CAD5-CF2E-4F5E-913E-C509E38BE59D}" type="slidenum">
              <a:rPr lang="en-US" smtClean="0"/>
              <a:t>‹#›</a:t>
            </a:fld>
            <a:endParaRPr lang="en-US"/>
          </a:p>
        </p:txBody>
      </p:sp>
    </p:spTree>
    <p:extLst>
      <p:ext uri="{BB962C8B-B14F-4D97-AF65-F5344CB8AC3E}">
        <p14:creationId xmlns:p14="http://schemas.microsoft.com/office/powerpoint/2010/main" val="770147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CC215F-2712-4A39-89E7-83C58315E0EE}" type="datetimeFigureOut">
              <a:rPr lang="en-US" smtClean="0"/>
              <a:t>5/20/2025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E3CAD5-CF2E-4F5E-913E-C509E38BE59D}" type="slidenum">
              <a:rPr lang="en-US" smtClean="0"/>
              <a:t>‹#›</a:t>
            </a:fld>
            <a:endParaRPr lang="en-US"/>
          </a:p>
        </p:txBody>
      </p:sp>
    </p:spTree>
    <p:extLst>
      <p:ext uri="{BB962C8B-B14F-4D97-AF65-F5344CB8AC3E}">
        <p14:creationId xmlns:p14="http://schemas.microsoft.com/office/powerpoint/2010/main" val="459728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CC215F-2712-4A39-89E7-83C58315E0EE}" type="datetimeFigureOut">
              <a:rPr lang="en-US" smtClean="0"/>
              <a:t>5/20/2025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E3CAD5-CF2E-4F5E-913E-C509E38BE59D}" type="slidenum">
              <a:rPr lang="en-US" smtClean="0"/>
              <a:t>‹#›</a:t>
            </a:fld>
            <a:endParaRPr lang="en-US"/>
          </a:p>
        </p:txBody>
      </p:sp>
    </p:spTree>
    <p:extLst>
      <p:ext uri="{BB962C8B-B14F-4D97-AF65-F5344CB8AC3E}">
        <p14:creationId xmlns:p14="http://schemas.microsoft.com/office/powerpoint/2010/main" val="2413235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CC215F-2712-4A39-89E7-83C58315E0EE}" type="datetimeFigureOut">
              <a:rPr lang="en-US" smtClean="0"/>
              <a:t>5/20/2025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E3CAD5-CF2E-4F5E-913E-C509E38BE59D}" type="slidenum">
              <a:rPr lang="en-US" smtClean="0"/>
              <a:t>‹#›</a:t>
            </a:fld>
            <a:endParaRPr lang="en-US"/>
          </a:p>
        </p:txBody>
      </p:sp>
    </p:spTree>
    <p:extLst>
      <p:ext uri="{BB962C8B-B14F-4D97-AF65-F5344CB8AC3E}">
        <p14:creationId xmlns:p14="http://schemas.microsoft.com/office/powerpoint/2010/main" val="2343517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CC215F-2712-4A39-89E7-83C58315E0EE}" type="datetimeFigureOut">
              <a:rPr lang="en-US" smtClean="0"/>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E3CAD5-CF2E-4F5E-913E-C509E38BE59D}" type="slidenum">
              <a:rPr lang="en-US" smtClean="0"/>
              <a:t>‹#›</a:t>
            </a:fld>
            <a:endParaRPr lang="en-US"/>
          </a:p>
        </p:txBody>
      </p:sp>
    </p:spTree>
    <p:extLst>
      <p:ext uri="{BB962C8B-B14F-4D97-AF65-F5344CB8AC3E}">
        <p14:creationId xmlns:p14="http://schemas.microsoft.com/office/powerpoint/2010/main" val="1111942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CC215F-2712-4A39-89E7-83C58315E0EE}" type="datetimeFigureOut">
              <a:rPr lang="en-US" smtClean="0"/>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E3CAD5-CF2E-4F5E-913E-C509E38BE59D}" type="slidenum">
              <a:rPr lang="en-US" smtClean="0"/>
              <a:t>‹#›</a:t>
            </a:fld>
            <a:endParaRPr lang="en-US"/>
          </a:p>
        </p:txBody>
      </p:sp>
    </p:spTree>
    <p:extLst>
      <p:ext uri="{BB962C8B-B14F-4D97-AF65-F5344CB8AC3E}">
        <p14:creationId xmlns:p14="http://schemas.microsoft.com/office/powerpoint/2010/main" val="1430652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CC215F-2712-4A39-89E7-83C58315E0EE}" type="datetimeFigureOut">
              <a:rPr lang="en-US" smtClean="0"/>
              <a:t>5/20/2025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E3CAD5-CF2E-4F5E-913E-C509E38BE59D}" type="slidenum">
              <a:rPr lang="en-US" smtClean="0"/>
              <a:t>‹#›</a:t>
            </a:fld>
            <a:endParaRPr lang="en-US"/>
          </a:p>
        </p:txBody>
      </p:sp>
    </p:spTree>
    <p:extLst>
      <p:ext uri="{BB962C8B-B14F-4D97-AF65-F5344CB8AC3E}">
        <p14:creationId xmlns:p14="http://schemas.microsoft.com/office/powerpoint/2010/main" val="1160107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Overview of intellectual property Law </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48833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Overview of Intellectual Property Law</a:t>
            </a:r>
            <a:endParaRPr lang="en-US" dirty="0"/>
          </a:p>
        </p:txBody>
      </p:sp>
      <p:sp>
        <p:nvSpPr>
          <p:cNvPr id="3" name="Content Placeholder 2"/>
          <p:cNvSpPr>
            <a:spLocks noGrp="1"/>
          </p:cNvSpPr>
          <p:nvPr>
            <p:ph idx="1"/>
          </p:nvPr>
        </p:nvSpPr>
        <p:spPr>
          <a:xfrm>
            <a:off x="467360" y="1574800"/>
            <a:ext cx="11399520" cy="4602163"/>
          </a:xfrm>
        </p:spPr>
        <p:txBody>
          <a:bodyPr/>
          <a:lstStyle/>
          <a:p>
            <a:pPr algn="just"/>
            <a:r>
              <a:rPr lang="en-US" dirty="0">
                <a:latin typeface="Times New Roman" panose="02020603050405020304" pitchFamily="18" charset="0"/>
                <a:cs typeface="Times New Roman" panose="02020603050405020304" pitchFamily="18" charset="0"/>
              </a:rPr>
              <a:t>A wide body of federal and state laws protects creative property such as writing, music, drawings, paintings, photography, and films. </a:t>
            </a:r>
          </a:p>
          <a:p>
            <a:pPr algn="just"/>
            <a:r>
              <a:rPr lang="en-US" dirty="0">
                <a:latin typeface="Times New Roman" panose="02020603050405020304" pitchFamily="18" charset="0"/>
                <a:cs typeface="Times New Roman" panose="02020603050405020304" pitchFamily="18" charset="0"/>
              </a:rPr>
              <a:t>Collectively, this body of law is called “intellectual property” law, which includes copyright, trademark, and patent laws, each applicable in various situations and each with its own set of technical rules. </a:t>
            </a:r>
          </a:p>
          <a:p>
            <a:pPr algn="just"/>
            <a:r>
              <a:rPr lang="en-US" dirty="0">
                <a:latin typeface="Times New Roman" panose="02020603050405020304" pitchFamily="18" charset="0"/>
                <a:cs typeface="Times New Roman" panose="02020603050405020304" pitchFamily="18" charset="0"/>
              </a:rPr>
              <a:t>When obtaining permission to use creative works, you’re concerned primarily with copyright law. </a:t>
            </a:r>
          </a:p>
          <a:p>
            <a:pPr algn="just"/>
            <a:r>
              <a:rPr lang="en-US" dirty="0">
                <a:latin typeface="Times New Roman" panose="02020603050405020304" pitchFamily="18" charset="0"/>
                <a:cs typeface="Times New Roman" panose="02020603050405020304" pitchFamily="18" charset="0"/>
              </a:rPr>
              <a:t>However, trademarks, trade secrets, and publicity and privacy rights sometimes come into play when permission to use certain types of works is sought. </a:t>
            </a:r>
          </a:p>
        </p:txBody>
      </p:sp>
    </p:spTree>
    <p:extLst>
      <p:ext uri="{BB962C8B-B14F-4D97-AF65-F5344CB8AC3E}">
        <p14:creationId xmlns:p14="http://schemas.microsoft.com/office/powerpoint/2010/main" val="1764559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6560"/>
            <a:ext cx="10515600" cy="909003"/>
          </a:xfrm>
        </p:spPr>
        <p:txBody>
          <a:bodyPr/>
          <a:lstStyle/>
          <a:p>
            <a:pPr marL="0" indent="0" algn="ctr"/>
            <a:r>
              <a:rPr lang="en-US" dirty="0">
                <a:latin typeface="Times New Roman" panose="02020603050405020304" pitchFamily="18" charset="0"/>
                <a:cs typeface="Times New Roman" panose="02020603050405020304" pitchFamily="18" charset="0"/>
              </a:rPr>
              <a:t>Definition and Purpose</a:t>
            </a:r>
          </a:p>
        </p:txBody>
      </p:sp>
      <p:sp>
        <p:nvSpPr>
          <p:cNvPr id="3" name="Content Placeholder 2"/>
          <p:cNvSpPr>
            <a:spLocks noGrp="1"/>
          </p:cNvSpPr>
          <p:nvPr>
            <p:ph idx="1"/>
          </p:nvPr>
        </p:nvSpPr>
        <p:spPr>
          <a:xfrm>
            <a:off x="355600" y="1747519"/>
            <a:ext cx="11470640" cy="4429443"/>
          </a:xfrm>
        </p:spPr>
        <p:txBody>
          <a:bodyPr/>
          <a:lstStyle/>
          <a:p>
            <a:pPr algn="just"/>
            <a:r>
              <a:rPr lang="en-US" dirty="0">
                <a:latin typeface="Times New Roman" panose="02020603050405020304" pitchFamily="18" charset="0"/>
                <a:cs typeface="Times New Roman" panose="02020603050405020304" pitchFamily="18" charset="0"/>
              </a:rPr>
              <a:t>Intellectual property (IP) law is the area of law that protects creations of the mind-such as inventions, literary and artistic works, designs, symbols, names, and images used in commerce. </a:t>
            </a:r>
          </a:p>
          <a:p>
            <a:pPr algn="just"/>
            <a:r>
              <a:rPr lang="en-US" dirty="0">
                <a:latin typeface="Times New Roman" panose="02020603050405020304" pitchFamily="18" charset="0"/>
                <a:cs typeface="Times New Roman" panose="02020603050405020304" pitchFamily="18" charset="0"/>
              </a:rPr>
              <a:t>Unlike tangible property, IP is intangible but often holds significant value for individuals and businesses. </a:t>
            </a:r>
          </a:p>
          <a:p>
            <a:pPr algn="just"/>
            <a:r>
              <a:rPr lang="en-US" dirty="0">
                <a:latin typeface="Times New Roman" panose="02020603050405020304" pitchFamily="18" charset="0"/>
                <a:cs typeface="Times New Roman" panose="02020603050405020304" pitchFamily="18" charset="0"/>
              </a:rPr>
              <a:t>The primary goal of IP law is to encourage innovation and creativity by granting creators exclusive rights to benefit from their work for a limited period, while also balancing public interest and promoting the dissemination of knowledge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8295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782143741"/>
              </p:ext>
            </p:extLst>
          </p:nvPr>
        </p:nvGraphicFramePr>
        <p:xfrm>
          <a:off x="304799" y="1073785"/>
          <a:ext cx="11704321" cy="5590500"/>
        </p:xfrm>
        <a:graphic>
          <a:graphicData uri="http://schemas.openxmlformats.org/drawingml/2006/table">
            <a:tbl>
              <a:tblPr/>
              <a:tblGrid>
                <a:gridCol w="1662252">
                  <a:extLst>
                    <a:ext uri="{9D8B030D-6E8A-4147-A177-3AD203B41FA5}">
                      <a16:colId xmlns:a16="http://schemas.microsoft.com/office/drawing/2014/main" val="2920656887"/>
                    </a:ext>
                  </a:extLst>
                </a:gridCol>
                <a:gridCol w="2886007">
                  <a:extLst>
                    <a:ext uri="{9D8B030D-6E8A-4147-A177-3AD203B41FA5}">
                      <a16:colId xmlns:a16="http://schemas.microsoft.com/office/drawing/2014/main" val="2074953870"/>
                    </a:ext>
                  </a:extLst>
                </a:gridCol>
                <a:gridCol w="7156062">
                  <a:extLst>
                    <a:ext uri="{9D8B030D-6E8A-4147-A177-3AD203B41FA5}">
                      <a16:colId xmlns:a16="http://schemas.microsoft.com/office/drawing/2014/main" val="1658157625"/>
                    </a:ext>
                  </a:extLst>
                </a:gridCol>
              </a:tblGrid>
              <a:tr h="145739">
                <a:tc>
                  <a:txBody>
                    <a:bodyPr/>
                    <a:lstStyle/>
                    <a:p>
                      <a:pPr algn="ctr" fontAlgn="t" latinLnBrk="0"/>
                      <a:r>
                        <a:rPr lang="en-US" sz="2400" b="0">
                          <a:effectLst/>
                          <a:latin typeface="Times New Roman" panose="02020603050405020304" pitchFamily="18" charset="0"/>
                          <a:cs typeface="Times New Roman" panose="02020603050405020304" pitchFamily="18" charset="0"/>
                        </a:rPr>
                        <a:t>Category</a:t>
                      </a:r>
                    </a:p>
                  </a:txBody>
                  <a:tcPr marL="20820" marR="20820" marT="10410" marB="1041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6350" cap="flat" cmpd="sng" algn="ctr">
                      <a:solidFill>
                        <a:srgbClr val="B05BA9"/>
                      </a:solidFill>
                      <a:prstDash val="solid"/>
                      <a:round/>
                      <a:headEnd type="none" w="med" len="med"/>
                      <a:tailEnd type="none" w="med" len="med"/>
                    </a:lnB>
                  </a:tcPr>
                </a:tc>
                <a:tc>
                  <a:txBody>
                    <a:bodyPr/>
                    <a:lstStyle/>
                    <a:p>
                      <a:pPr algn="ctr" fontAlgn="t" latinLnBrk="0"/>
                      <a:r>
                        <a:rPr lang="en-US" sz="2400" b="0">
                          <a:effectLst/>
                          <a:latin typeface="Times New Roman" panose="02020603050405020304" pitchFamily="18" charset="0"/>
                          <a:cs typeface="Times New Roman" panose="02020603050405020304" pitchFamily="18" charset="0"/>
                        </a:rPr>
                        <a:t>What It Protects</a:t>
                      </a:r>
                    </a:p>
                  </a:txBody>
                  <a:tcPr marL="20820" marR="20820" marT="10410" marB="1041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6350" cap="flat" cmpd="sng" algn="ctr">
                      <a:solidFill>
                        <a:srgbClr val="B04FA9"/>
                      </a:solidFill>
                      <a:prstDash val="solid"/>
                      <a:round/>
                      <a:headEnd type="none" w="med" len="med"/>
                      <a:tailEnd type="none" w="med" len="med"/>
                    </a:lnB>
                  </a:tcPr>
                </a:tc>
                <a:tc>
                  <a:txBody>
                    <a:bodyPr/>
                    <a:lstStyle/>
                    <a:p>
                      <a:pPr algn="ctr" fontAlgn="t" latinLnBrk="0"/>
                      <a:r>
                        <a:rPr lang="en-US" sz="2400" b="0">
                          <a:effectLst/>
                          <a:latin typeface="Times New Roman" panose="02020603050405020304" pitchFamily="18" charset="0"/>
                          <a:cs typeface="Times New Roman" panose="02020603050405020304" pitchFamily="18" charset="0"/>
                        </a:rPr>
                        <a:t>Key Features</a:t>
                      </a:r>
                    </a:p>
                  </a:txBody>
                  <a:tcPr marL="20820" marR="20820" marT="10410" marB="1041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6350" cap="flat" cmpd="sng" algn="ctr">
                      <a:solidFill>
                        <a:srgbClr val="3061A9"/>
                      </a:solidFill>
                      <a:prstDash val="solid"/>
                      <a:round/>
                      <a:headEnd type="none" w="med" len="med"/>
                      <a:tailEnd type="none" w="med" len="med"/>
                    </a:lnB>
                  </a:tcPr>
                </a:tc>
                <a:extLst>
                  <a:ext uri="{0D108BD9-81ED-4DB2-BD59-A6C34878D82A}">
                    <a16:rowId xmlns:a16="http://schemas.microsoft.com/office/drawing/2014/main" val="1753530065"/>
                  </a:ext>
                </a:extLst>
              </a:tr>
              <a:tr h="1270008">
                <a:tc>
                  <a:txBody>
                    <a:bodyPr/>
                    <a:lstStyle/>
                    <a:p>
                      <a:pPr algn="ctr" fontAlgn="base" latinLnBrk="0"/>
                      <a:r>
                        <a:rPr lang="en-US" sz="2400">
                          <a:effectLst/>
                          <a:latin typeface="Times New Roman" panose="02020603050405020304" pitchFamily="18" charset="0"/>
                          <a:cs typeface="Times New Roman" panose="02020603050405020304" pitchFamily="18" charset="0"/>
                        </a:rPr>
                        <a:t>Copyright</a:t>
                      </a:r>
                    </a:p>
                  </a:txBody>
                  <a:tcPr marL="20820" marR="20820" marT="10410" marB="10410" anchor="ctr">
                    <a:lnL w="6350" cap="flat" cmpd="sng" algn="ctr">
                      <a:solidFill>
                        <a:srgbClr val="B05BA9"/>
                      </a:solidFill>
                      <a:prstDash val="solid"/>
                      <a:round/>
                      <a:headEnd type="none" w="med" len="med"/>
                      <a:tailEnd type="none" w="med" len="med"/>
                    </a:lnL>
                    <a:lnR w="6350" cap="flat" cmpd="sng" algn="ctr">
                      <a:solidFill>
                        <a:srgbClr val="B04FA9"/>
                      </a:solidFill>
                      <a:prstDash val="solid"/>
                      <a:round/>
                      <a:headEnd type="none" w="med" len="med"/>
                      <a:tailEnd type="none" w="med" len="med"/>
                    </a:lnR>
                    <a:lnT w="6350" cap="flat" cmpd="sng" algn="ctr">
                      <a:solidFill>
                        <a:srgbClr val="B05BA9"/>
                      </a:solidFill>
                      <a:prstDash val="solid"/>
                      <a:round/>
                      <a:headEnd type="none" w="med" len="med"/>
                      <a:tailEnd type="none" w="med" len="med"/>
                    </a:lnT>
                    <a:lnB w="6350" cap="flat" cmpd="sng" algn="ctr">
                      <a:solidFill>
                        <a:srgbClr val="B064A9"/>
                      </a:solidFill>
                      <a:prstDash val="solid"/>
                      <a:round/>
                      <a:headEnd type="none" w="med" len="med"/>
                      <a:tailEnd type="none" w="med" len="med"/>
                    </a:lnB>
                  </a:tcPr>
                </a:tc>
                <a:tc>
                  <a:txBody>
                    <a:bodyPr/>
                    <a:lstStyle/>
                    <a:p>
                      <a:pPr algn="ctr" fontAlgn="base" latinLnBrk="0"/>
                      <a:r>
                        <a:rPr lang="en-US" sz="2400" dirty="0">
                          <a:effectLst/>
                          <a:latin typeface="Times New Roman" panose="02020603050405020304" pitchFamily="18" charset="0"/>
                          <a:cs typeface="Times New Roman" panose="02020603050405020304" pitchFamily="18" charset="0"/>
                        </a:rPr>
                        <a:t>Literary, artistic, and creative works</a:t>
                      </a:r>
                    </a:p>
                  </a:txBody>
                  <a:tcPr marL="20820" marR="20820" marT="10410" marB="10410" anchor="ctr">
                    <a:lnL w="6350" cap="flat" cmpd="sng" algn="ctr">
                      <a:solidFill>
                        <a:srgbClr val="B04FA9"/>
                      </a:solidFill>
                      <a:prstDash val="solid"/>
                      <a:round/>
                      <a:headEnd type="none" w="med" len="med"/>
                      <a:tailEnd type="none" w="med" len="med"/>
                    </a:lnL>
                    <a:lnR w="6350" cap="flat" cmpd="sng" algn="ctr">
                      <a:solidFill>
                        <a:srgbClr val="3061A9"/>
                      </a:solidFill>
                      <a:prstDash val="solid"/>
                      <a:round/>
                      <a:headEnd type="none" w="med" len="med"/>
                      <a:tailEnd type="none" w="med" len="med"/>
                    </a:lnR>
                    <a:lnT w="6350" cap="flat" cmpd="sng" algn="ctr">
                      <a:solidFill>
                        <a:srgbClr val="B04FA9"/>
                      </a:solidFill>
                      <a:prstDash val="solid"/>
                      <a:round/>
                      <a:headEnd type="none" w="med" len="med"/>
                      <a:tailEnd type="none" w="med" len="med"/>
                    </a:lnT>
                    <a:lnB w="6350" cap="flat" cmpd="sng" algn="ctr">
                      <a:solidFill>
                        <a:srgbClr val="B04EA9"/>
                      </a:solidFill>
                      <a:prstDash val="solid"/>
                      <a:round/>
                      <a:headEnd type="none" w="med" len="med"/>
                      <a:tailEnd type="none" w="med" len="med"/>
                    </a:lnB>
                  </a:tcPr>
                </a:tc>
                <a:tc>
                  <a:txBody>
                    <a:bodyPr/>
                    <a:lstStyle/>
                    <a:p>
                      <a:pPr algn="ctr" fontAlgn="base" latinLnBrk="0"/>
                      <a:r>
                        <a:rPr lang="en-US" sz="2400" dirty="0">
                          <a:effectLst/>
                          <a:latin typeface="Times New Roman" panose="02020603050405020304" pitchFamily="18" charset="0"/>
                          <a:cs typeface="Times New Roman" panose="02020603050405020304" pitchFamily="18" charset="0"/>
                        </a:rPr>
                        <a:t>Protects original works fixed in a tangible medium; covers books, music, software, films, and more. Rights are automatic upon creation and last for a set period (e.g., life of the author plus 70 years in many jurisdictions).</a:t>
                      </a:r>
                    </a:p>
                  </a:txBody>
                  <a:tcPr marL="20820" marR="20820" marT="10410" marB="10410" anchor="ctr">
                    <a:lnL w="6350" cap="flat" cmpd="sng" algn="ctr">
                      <a:solidFill>
                        <a:srgbClr val="3061A9"/>
                      </a:solidFill>
                      <a:prstDash val="solid"/>
                      <a:round/>
                      <a:headEnd type="none" w="med" len="med"/>
                      <a:tailEnd type="none" w="med" len="med"/>
                    </a:lnL>
                    <a:lnR w="6350" cap="flat" cmpd="sng" algn="ctr">
                      <a:solidFill>
                        <a:srgbClr val="3061A9"/>
                      </a:solidFill>
                      <a:prstDash val="solid"/>
                      <a:round/>
                      <a:headEnd type="none" w="med" len="med"/>
                      <a:tailEnd type="none" w="med" len="med"/>
                    </a:lnR>
                    <a:lnT w="6350" cap="flat" cmpd="sng" algn="ctr">
                      <a:solidFill>
                        <a:srgbClr val="3061A9"/>
                      </a:solidFill>
                      <a:prstDash val="solid"/>
                      <a:round/>
                      <a:headEnd type="none" w="med" len="med"/>
                      <a:tailEnd type="none" w="med" len="med"/>
                    </a:lnT>
                    <a:lnB w="6350" cap="flat" cmpd="sng" algn="ctr">
                      <a:solidFill>
                        <a:srgbClr val="B065A9"/>
                      </a:solidFill>
                      <a:prstDash val="solid"/>
                      <a:round/>
                      <a:headEnd type="none" w="med" len="med"/>
                      <a:tailEnd type="none" w="med" len="med"/>
                    </a:lnB>
                  </a:tcPr>
                </a:tc>
                <a:extLst>
                  <a:ext uri="{0D108BD9-81ED-4DB2-BD59-A6C34878D82A}">
                    <a16:rowId xmlns:a16="http://schemas.microsoft.com/office/drawing/2014/main" val="3918851928"/>
                  </a:ext>
                </a:extLst>
              </a:tr>
              <a:tr h="957711">
                <a:tc>
                  <a:txBody>
                    <a:bodyPr/>
                    <a:lstStyle/>
                    <a:p>
                      <a:pPr algn="ctr" fontAlgn="base" latinLnBrk="0"/>
                      <a:r>
                        <a:rPr lang="en-US" sz="2400">
                          <a:effectLst/>
                          <a:latin typeface="Times New Roman" panose="02020603050405020304" pitchFamily="18" charset="0"/>
                          <a:cs typeface="Times New Roman" panose="02020603050405020304" pitchFamily="18" charset="0"/>
                        </a:rPr>
                        <a:t>Trademark</a:t>
                      </a:r>
                    </a:p>
                  </a:txBody>
                  <a:tcPr marL="20820" marR="20820" marT="10410" marB="10410" anchor="ctr">
                    <a:lnL w="6350" cap="flat" cmpd="sng" algn="ctr">
                      <a:solidFill>
                        <a:srgbClr val="B064A9"/>
                      </a:solidFill>
                      <a:prstDash val="solid"/>
                      <a:round/>
                      <a:headEnd type="none" w="med" len="med"/>
                      <a:tailEnd type="none" w="med" len="med"/>
                    </a:lnL>
                    <a:lnR w="6350" cap="flat" cmpd="sng" algn="ctr">
                      <a:solidFill>
                        <a:srgbClr val="B04EA9"/>
                      </a:solidFill>
                      <a:prstDash val="solid"/>
                      <a:round/>
                      <a:headEnd type="none" w="med" len="med"/>
                      <a:tailEnd type="none" w="med" len="med"/>
                    </a:lnR>
                    <a:lnT w="6350" cap="flat" cmpd="sng" algn="ctr">
                      <a:solidFill>
                        <a:srgbClr val="B064A9"/>
                      </a:solidFill>
                      <a:prstDash val="solid"/>
                      <a:round/>
                      <a:headEnd type="none" w="med" len="med"/>
                      <a:tailEnd type="none" w="med" len="med"/>
                    </a:lnT>
                    <a:lnB w="6350" cap="flat" cmpd="sng" algn="ctr">
                      <a:solidFill>
                        <a:srgbClr val="305CA9"/>
                      </a:solidFill>
                      <a:prstDash val="solid"/>
                      <a:round/>
                      <a:headEnd type="none" w="med" len="med"/>
                      <a:tailEnd type="none" w="med" len="med"/>
                    </a:lnB>
                  </a:tcPr>
                </a:tc>
                <a:tc>
                  <a:txBody>
                    <a:bodyPr/>
                    <a:lstStyle/>
                    <a:p>
                      <a:pPr algn="ctr" fontAlgn="base" latinLnBrk="0"/>
                      <a:r>
                        <a:rPr lang="en-US" sz="2400">
                          <a:effectLst/>
                          <a:latin typeface="Times New Roman" panose="02020603050405020304" pitchFamily="18" charset="0"/>
                          <a:cs typeface="Times New Roman" panose="02020603050405020304" pitchFamily="18" charset="0"/>
                        </a:rPr>
                        <a:t>Brands, logos, names, and slogans</a:t>
                      </a:r>
                    </a:p>
                  </a:txBody>
                  <a:tcPr marL="20820" marR="20820" marT="10410" marB="10410" anchor="ctr">
                    <a:lnL w="6350" cap="flat" cmpd="sng" algn="ctr">
                      <a:solidFill>
                        <a:srgbClr val="B04EA9"/>
                      </a:solidFill>
                      <a:prstDash val="solid"/>
                      <a:round/>
                      <a:headEnd type="none" w="med" len="med"/>
                      <a:tailEnd type="none" w="med" len="med"/>
                    </a:lnL>
                    <a:lnR w="6350" cap="flat" cmpd="sng" algn="ctr">
                      <a:solidFill>
                        <a:srgbClr val="B065A9"/>
                      </a:solidFill>
                      <a:prstDash val="solid"/>
                      <a:round/>
                      <a:headEnd type="none" w="med" len="med"/>
                      <a:tailEnd type="none" w="med" len="med"/>
                    </a:lnR>
                    <a:lnT w="6350" cap="flat" cmpd="sng" algn="ctr">
                      <a:solidFill>
                        <a:srgbClr val="B04EA9"/>
                      </a:solidFill>
                      <a:prstDash val="solid"/>
                      <a:round/>
                      <a:headEnd type="none" w="med" len="med"/>
                      <a:tailEnd type="none" w="med" len="med"/>
                    </a:lnT>
                    <a:lnB w="6350" cap="flat" cmpd="sng" algn="ctr">
                      <a:solidFill>
                        <a:srgbClr val="306DA9"/>
                      </a:solidFill>
                      <a:prstDash val="solid"/>
                      <a:round/>
                      <a:headEnd type="none" w="med" len="med"/>
                      <a:tailEnd type="none" w="med" len="med"/>
                    </a:lnB>
                  </a:tcPr>
                </a:tc>
                <a:tc>
                  <a:txBody>
                    <a:bodyPr/>
                    <a:lstStyle/>
                    <a:p>
                      <a:pPr algn="ctr" fontAlgn="base" latinLnBrk="0"/>
                      <a:r>
                        <a:rPr lang="en-US" sz="2400" dirty="0">
                          <a:effectLst/>
                          <a:latin typeface="Times New Roman" panose="02020603050405020304" pitchFamily="18" charset="0"/>
                          <a:cs typeface="Times New Roman" panose="02020603050405020304" pitchFamily="18" charset="0"/>
                        </a:rPr>
                        <a:t>Protects symbols, words, or designs identifying goods/services. Prevents consumer confusion and protects brand identity. Rights can arise from use or registration</a:t>
                      </a:r>
                      <a:r>
                        <a:rPr lang="en-US" sz="2400" b="0" u="none" strike="noStrike" dirty="0">
                          <a:effectLst/>
                          <a:latin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cs typeface="Times New Roman" panose="02020603050405020304" pitchFamily="18" charset="0"/>
                      </a:endParaRPr>
                    </a:p>
                  </a:txBody>
                  <a:tcPr marL="20820" marR="20820" marT="10410" marB="10410" anchor="ctr">
                    <a:lnL w="6350" cap="flat" cmpd="sng" algn="ctr">
                      <a:solidFill>
                        <a:srgbClr val="B065A9"/>
                      </a:solidFill>
                      <a:prstDash val="solid"/>
                      <a:round/>
                      <a:headEnd type="none" w="med" len="med"/>
                      <a:tailEnd type="none" w="med" len="med"/>
                    </a:lnL>
                    <a:lnR w="6350" cap="flat" cmpd="sng" algn="ctr">
                      <a:solidFill>
                        <a:srgbClr val="B065A9"/>
                      </a:solidFill>
                      <a:prstDash val="solid"/>
                      <a:round/>
                      <a:headEnd type="none" w="med" len="med"/>
                      <a:tailEnd type="none" w="med" len="med"/>
                    </a:lnR>
                    <a:lnT w="6350" cap="flat" cmpd="sng" algn="ctr">
                      <a:solidFill>
                        <a:srgbClr val="B065A9"/>
                      </a:solidFill>
                      <a:prstDash val="solid"/>
                      <a:round/>
                      <a:headEnd type="none" w="med" len="med"/>
                      <a:tailEnd type="none" w="med" len="med"/>
                    </a:lnT>
                    <a:lnB w="6350" cap="flat" cmpd="sng" algn="ctr">
                      <a:solidFill>
                        <a:srgbClr val="B059A9"/>
                      </a:solidFill>
                      <a:prstDash val="solid"/>
                      <a:round/>
                      <a:headEnd type="none" w="med" len="med"/>
                      <a:tailEnd type="none" w="med" len="med"/>
                    </a:lnB>
                  </a:tcPr>
                </a:tc>
                <a:extLst>
                  <a:ext uri="{0D108BD9-81ED-4DB2-BD59-A6C34878D82A}">
                    <a16:rowId xmlns:a16="http://schemas.microsoft.com/office/drawing/2014/main" val="3271960029"/>
                  </a:ext>
                </a:extLst>
              </a:tr>
              <a:tr h="832792">
                <a:tc>
                  <a:txBody>
                    <a:bodyPr/>
                    <a:lstStyle/>
                    <a:p>
                      <a:pPr algn="ctr" fontAlgn="base" latinLnBrk="0"/>
                      <a:r>
                        <a:rPr lang="en-US" sz="2400">
                          <a:effectLst/>
                          <a:latin typeface="Times New Roman" panose="02020603050405020304" pitchFamily="18" charset="0"/>
                          <a:cs typeface="Times New Roman" panose="02020603050405020304" pitchFamily="18" charset="0"/>
                        </a:rPr>
                        <a:t>Patent</a:t>
                      </a:r>
                    </a:p>
                  </a:txBody>
                  <a:tcPr marL="20820" marR="20820" marT="10410" marB="10410" anchor="ctr">
                    <a:lnL w="6350" cap="flat" cmpd="sng" algn="ctr">
                      <a:solidFill>
                        <a:srgbClr val="305CA9"/>
                      </a:solidFill>
                      <a:prstDash val="solid"/>
                      <a:round/>
                      <a:headEnd type="none" w="med" len="med"/>
                      <a:tailEnd type="none" w="med" len="med"/>
                    </a:lnL>
                    <a:lnR w="6350" cap="flat" cmpd="sng" algn="ctr">
                      <a:solidFill>
                        <a:srgbClr val="306DA9"/>
                      </a:solidFill>
                      <a:prstDash val="solid"/>
                      <a:round/>
                      <a:headEnd type="none" w="med" len="med"/>
                      <a:tailEnd type="none" w="med" len="med"/>
                    </a:lnR>
                    <a:lnT w="6350" cap="flat" cmpd="sng" algn="ctr">
                      <a:solidFill>
                        <a:srgbClr val="305CA9"/>
                      </a:solidFill>
                      <a:prstDash val="solid"/>
                      <a:round/>
                      <a:headEnd type="none" w="med" len="med"/>
                      <a:tailEnd type="none" w="med" len="med"/>
                    </a:lnT>
                    <a:lnB w="6350" cap="flat" cmpd="sng" algn="ctr">
                      <a:solidFill>
                        <a:srgbClr val="B059A9"/>
                      </a:solidFill>
                      <a:prstDash val="solid"/>
                      <a:round/>
                      <a:headEnd type="none" w="med" len="med"/>
                      <a:tailEnd type="none" w="med" len="med"/>
                    </a:lnB>
                  </a:tcPr>
                </a:tc>
                <a:tc>
                  <a:txBody>
                    <a:bodyPr/>
                    <a:lstStyle/>
                    <a:p>
                      <a:pPr algn="ctr" fontAlgn="base" latinLnBrk="0"/>
                      <a:r>
                        <a:rPr lang="en-US" sz="2400">
                          <a:effectLst/>
                          <a:latin typeface="Times New Roman" panose="02020603050405020304" pitchFamily="18" charset="0"/>
                          <a:cs typeface="Times New Roman" panose="02020603050405020304" pitchFamily="18" charset="0"/>
                        </a:rPr>
                        <a:t>Inventions and processes</a:t>
                      </a:r>
                    </a:p>
                  </a:txBody>
                  <a:tcPr marL="20820" marR="20820" marT="10410" marB="10410" anchor="ctr">
                    <a:lnL w="6350" cap="flat" cmpd="sng" algn="ctr">
                      <a:solidFill>
                        <a:srgbClr val="306DA9"/>
                      </a:solidFill>
                      <a:prstDash val="solid"/>
                      <a:round/>
                      <a:headEnd type="none" w="med" len="med"/>
                      <a:tailEnd type="none" w="med" len="med"/>
                    </a:lnL>
                    <a:lnR w="6350" cap="flat" cmpd="sng" algn="ctr">
                      <a:solidFill>
                        <a:srgbClr val="B059A9"/>
                      </a:solidFill>
                      <a:prstDash val="solid"/>
                      <a:round/>
                      <a:headEnd type="none" w="med" len="med"/>
                      <a:tailEnd type="none" w="med" len="med"/>
                    </a:lnR>
                    <a:lnT w="6350" cap="flat" cmpd="sng" algn="ctr">
                      <a:solidFill>
                        <a:srgbClr val="306DA9"/>
                      </a:solidFill>
                      <a:prstDash val="solid"/>
                      <a:round/>
                      <a:headEnd type="none" w="med" len="med"/>
                      <a:tailEnd type="none" w="med" len="med"/>
                    </a:lnT>
                    <a:lnB w="6350" cap="flat" cmpd="sng" algn="ctr">
                      <a:solidFill>
                        <a:srgbClr val="B059A9"/>
                      </a:solidFill>
                      <a:prstDash val="solid"/>
                      <a:round/>
                      <a:headEnd type="none" w="med" len="med"/>
                      <a:tailEnd type="none" w="med" len="med"/>
                    </a:lnB>
                  </a:tcPr>
                </a:tc>
                <a:tc>
                  <a:txBody>
                    <a:bodyPr/>
                    <a:lstStyle/>
                    <a:p>
                      <a:pPr algn="ctr" fontAlgn="base" latinLnBrk="0"/>
                      <a:r>
                        <a:rPr lang="en-US" sz="2400" dirty="0">
                          <a:effectLst/>
                          <a:latin typeface="Times New Roman" panose="02020603050405020304" pitchFamily="18" charset="0"/>
                          <a:cs typeface="Times New Roman" panose="02020603050405020304" pitchFamily="18" charset="0"/>
                        </a:rPr>
                        <a:t>Grants inventors exclusive rights to make, use, or sell an invention for a limited time (usually 20 years). Requires novelty, non-obviousness, and utility.</a:t>
                      </a:r>
                    </a:p>
                  </a:txBody>
                  <a:tcPr marL="20820" marR="20820" marT="10410" marB="10410" anchor="ctr">
                    <a:lnL w="6350" cap="flat" cmpd="sng" algn="ctr">
                      <a:solidFill>
                        <a:srgbClr val="B059A9"/>
                      </a:solidFill>
                      <a:prstDash val="solid"/>
                      <a:round/>
                      <a:headEnd type="none" w="med" len="med"/>
                      <a:tailEnd type="none" w="med" len="med"/>
                    </a:lnL>
                    <a:lnR w="6350" cap="flat" cmpd="sng" algn="ctr">
                      <a:solidFill>
                        <a:srgbClr val="B059A9"/>
                      </a:solidFill>
                      <a:prstDash val="solid"/>
                      <a:round/>
                      <a:headEnd type="none" w="med" len="med"/>
                      <a:tailEnd type="none" w="med" len="med"/>
                    </a:lnR>
                    <a:lnT w="6350" cap="flat" cmpd="sng" algn="ctr">
                      <a:solidFill>
                        <a:srgbClr val="B059A9"/>
                      </a:solidFill>
                      <a:prstDash val="solid"/>
                      <a:round/>
                      <a:headEnd type="none" w="med" len="med"/>
                      <a:tailEnd type="none" w="med" len="med"/>
                    </a:lnT>
                    <a:lnB w="6350" cap="flat" cmpd="sng" algn="ctr">
                      <a:solidFill>
                        <a:srgbClr val="3063A9"/>
                      </a:solidFill>
                      <a:prstDash val="solid"/>
                      <a:round/>
                      <a:headEnd type="none" w="med" len="med"/>
                      <a:tailEnd type="none" w="med" len="med"/>
                    </a:lnB>
                  </a:tcPr>
                </a:tc>
                <a:extLst>
                  <a:ext uri="{0D108BD9-81ED-4DB2-BD59-A6C34878D82A}">
                    <a16:rowId xmlns:a16="http://schemas.microsoft.com/office/drawing/2014/main" val="247773857"/>
                  </a:ext>
                </a:extLst>
              </a:tr>
              <a:tr h="1145089">
                <a:tc>
                  <a:txBody>
                    <a:bodyPr/>
                    <a:lstStyle/>
                    <a:p>
                      <a:pPr algn="ctr" fontAlgn="base" latinLnBrk="0"/>
                      <a:r>
                        <a:rPr lang="en-US" sz="2400">
                          <a:effectLst/>
                          <a:latin typeface="Times New Roman" panose="02020603050405020304" pitchFamily="18" charset="0"/>
                          <a:cs typeface="Times New Roman" panose="02020603050405020304" pitchFamily="18" charset="0"/>
                        </a:rPr>
                        <a:t>Trade Secret</a:t>
                      </a:r>
                    </a:p>
                  </a:txBody>
                  <a:tcPr marL="20820" marR="20820" marT="10410" marB="10410" anchor="ctr">
                    <a:lnL w="6350" cap="flat" cmpd="sng" algn="ctr">
                      <a:solidFill>
                        <a:srgbClr val="B059A9"/>
                      </a:solidFill>
                      <a:prstDash val="solid"/>
                      <a:round/>
                      <a:headEnd type="none" w="med" len="med"/>
                      <a:tailEnd type="none" w="med" len="med"/>
                    </a:lnL>
                    <a:lnR w="6350" cap="flat" cmpd="sng" algn="ctr">
                      <a:solidFill>
                        <a:srgbClr val="B059A9"/>
                      </a:solidFill>
                      <a:prstDash val="solid"/>
                      <a:round/>
                      <a:headEnd type="none" w="med" len="med"/>
                      <a:tailEnd type="none" w="med" len="med"/>
                    </a:lnR>
                    <a:lnT w="6350" cap="flat" cmpd="sng" algn="ctr">
                      <a:solidFill>
                        <a:srgbClr val="B059A9"/>
                      </a:solidFill>
                      <a:prstDash val="solid"/>
                      <a:round/>
                      <a:headEnd type="none" w="med" len="med"/>
                      <a:tailEnd type="none" w="med" len="med"/>
                    </a:lnT>
                    <a:lnB w="6350" cap="flat" cmpd="sng" algn="ctr">
                      <a:solidFill>
                        <a:srgbClr val="B059A9"/>
                      </a:solidFill>
                      <a:prstDash val="solid"/>
                      <a:round/>
                      <a:headEnd type="none" w="med" len="med"/>
                      <a:tailEnd type="none" w="med" len="med"/>
                    </a:lnB>
                  </a:tcPr>
                </a:tc>
                <a:tc>
                  <a:txBody>
                    <a:bodyPr/>
                    <a:lstStyle/>
                    <a:p>
                      <a:pPr algn="ctr" fontAlgn="base" latinLnBrk="0"/>
                      <a:r>
                        <a:rPr lang="en-US" sz="2400">
                          <a:effectLst/>
                          <a:latin typeface="Times New Roman" panose="02020603050405020304" pitchFamily="18" charset="0"/>
                          <a:cs typeface="Times New Roman" panose="02020603050405020304" pitchFamily="18" charset="0"/>
                        </a:rPr>
                        <a:t>Confidential business information</a:t>
                      </a:r>
                    </a:p>
                  </a:txBody>
                  <a:tcPr marL="20820" marR="20820" marT="10410" marB="10410" anchor="ctr">
                    <a:lnL w="6350" cap="flat" cmpd="sng" algn="ctr">
                      <a:solidFill>
                        <a:srgbClr val="B059A9"/>
                      </a:solidFill>
                      <a:prstDash val="solid"/>
                      <a:round/>
                      <a:headEnd type="none" w="med" len="med"/>
                      <a:tailEnd type="none" w="med" len="med"/>
                    </a:lnL>
                    <a:lnR w="6350" cap="flat" cmpd="sng" algn="ctr">
                      <a:solidFill>
                        <a:srgbClr val="3063A9"/>
                      </a:solidFill>
                      <a:prstDash val="solid"/>
                      <a:round/>
                      <a:headEnd type="none" w="med" len="med"/>
                      <a:tailEnd type="none" w="med" len="med"/>
                    </a:lnR>
                    <a:lnT w="6350" cap="flat" cmpd="sng" algn="ctr">
                      <a:solidFill>
                        <a:srgbClr val="B059A9"/>
                      </a:solidFill>
                      <a:prstDash val="solid"/>
                      <a:round/>
                      <a:headEnd type="none" w="med" len="med"/>
                      <a:tailEnd type="none" w="med" len="med"/>
                    </a:lnT>
                    <a:lnB w="6350" cap="flat" cmpd="sng" algn="ctr">
                      <a:solidFill>
                        <a:srgbClr val="B059A9"/>
                      </a:solidFill>
                      <a:prstDash val="solid"/>
                      <a:round/>
                      <a:headEnd type="none" w="med" len="med"/>
                      <a:tailEnd type="none" w="med" len="med"/>
                    </a:lnB>
                  </a:tcPr>
                </a:tc>
                <a:tc>
                  <a:txBody>
                    <a:bodyPr/>
                    <a:lstStyle/>
                    <a:p>
                      <a:pPr algn="ctr" fontAlgn="base" latinLnBrk="0"/>
                      <a:r>
                        <a:rPr lang="en-US" sz="2400" dirty="0">
                          <a:effectLst/>
                          <a:latin typeface="Times New Roman" panose="02020603050405020304" pitchFamily="18" charset="0"/>
                          <a:cs typeface="Times New Roman" panose="02020603050405020304" pitchFamily="18" charset="0"/>
                        </a:rPr>
                        <a:t>Protects formulas, practices, processes, or information that provide a business advantage and are kept secret (e.g., Coca-Cola recipe). No registration required, but must take steps to maintain secrecy</a:t>
                      </a:r>
                    </a:p>
                  </a:txBody>
                  <a:tcPr marL="20820" marR="20820" marT="10410" marB="10410" anchor="ctr">
                    <a:lnL w="6350" cap="flat" cmpd="sng" algn="ctr">
                      <a:solidFill>
                        <a:srgbClr val="3063A9"/>
                      </a:solidFill>
                      <a:prstDash val="solid"/>
                      <a:round/>
                      <a:headEnd type="none" w="med" len="med"/>
                      <a:tailEnd type="none" w="med" len="med"/>
                    </a:lnL>
                    <a:lnR w="6350" cap="flat" cmpd="sng" algn="ctr">
                      <a:solidFill>
                        <a:srgbClr val="3063A9"/>
                      </a:solidFill>
                      <a:prstDash val="solid"/>
                      <a:round/>
                      <a:headEnd type="none" w="med" len="med"/>
                      <a:tailEnd type="none" w="med" len="med"/>
                    </a:lnR>
                    <a:lnT w="6350" cap="flat" cmpd="sng" algn="ctr">
                      <a:solidFill>
                        <a:srgbClr val="3063A9"/>
                      </a:solidFill>
                      <a:prstDash val="solid"/>
                      <a:round/>
                      <a:headEnd type="none" w="med" len="med"/>
                      <a:tailEnd type="none" w="med" len="med"/>
                    </a:lnT>
                    <a:lnB w="6350" cap="flat" cmpd="sng" algn="ctr">
                      <a:solidFill>
                        <a:srgbClr val="3063A9"/>
                      </a:solidFill>
                      <a:prstDash val="solid"/>
                      <a:round/>
                      <a:headEnd type="none" w="med" len="med"/>
                      <a:tailEnd type="none" w="med" len="med"/>
                    </a:lnB>
                  </a:tcPr>
                </a:tc>
                <a:extLst>
                  <a:ext uri="{0D108BD9-81ED-4DB2-BD59-A6C34878D82A}">
                    <a16:rowId xmlns:a16="http://schemas.microsoft.com/office/drawing/2014/main" val="1867693484"/>
                  </a:ext>
                </a:extLst>
              </a:tr>
            </a:tbl>
          </a:graphicData>
        </a:graphic>
      </p:graphicFrame>
      <p:sp>
        <p:nvSpPr>
          <p:cNvPr id="5" name="Rectangle 4"/>
          <p:cNvSpPr/>
          <p:nvPr/>
        </p:nvSpPr>
        <p:spPr>
          <a:xfrm>
            <a:off x="924561" y="308094"/>
            <a:ext cx="9089236" cy="584775"/>
          </a:xfrm>
          <a:prstGeom prst="rect">
            <a:avLst/>
          </a:prstGeom>
        </p:spPr>
        <p:txBody>
          <a:bodyPr wrap="square">
            <a:spAutoFit/>
          </a:bodyPr>
          <a:lstStyle/>
          <a:p>
            <a:pPr algn="ctr"/>
            <a:r>
              <a:rPr lang="en-US" sz="3200" b="1" i="0" dirty="0">
                <a:effectLst/>
                <a:latin typeface="Times New Roman" panose="02020603050405020304" pitchFamily="18" charset="0"/>
                <a:cs typeface="Times New Roman" panose="02020603050405020304" pitchFamily="18" charset="0"/>
              </a:rPr>
              <a:t>Main Categories of Intellectual Property</a:t>
            </a:r>
          </a:p>
        </p:txBody>
      </p:sp>
    </p:spTree>
    <p:extLst>
      <p:ext uri="{BB962C8B-B14F-4D97-AF65-F5344CB8AC3E}">
        <p14:creationId xmlns:p14="http://schemas.microsoft.com/office/powerpoint/2010/main" val="537693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2120" y="396240"/>
            <a:ext cx="10515600" cy="1005840"/>
          </a:xfrm>
        </p:spPr>
        <p:txBody>
          <a:bodyPr>
            <a:normAutofit/>
          </a:bodyPr>
          <a:lstStyle/>
          <a:p>
            <a:pPr marL="0" indent="0" algn="ctr">
              <a:buNone/>
            </a:pPr>
            <a:r>
              <a:rPr lang="en-US" sz="4000" b="1" dirty="0">
                <a:latin typeface="Times New Roman" panose="02020603050405020304" pitchFamily="18" charset="0"/>
                <a:cs typeface="Times New Roman" panose="02020603050405020304" pitchFamily="18" charset="0"/>
              </a:rPr>
              <a:t>Copyright law</a:t>
            </a:r>
            <a:r>
              <a:rPr lang="en-US" sz="4000" dirty="0">
                <a:latin typeface="Times New Roman" panose="02020603050405020304" pitchFamily="18" charset="0"/>
                <a:cs typeface="Times New Roman" panose="02020603050405020304" pitchFamily="18" charset="0"/>
              </a:rPr>
              <a:t> </a:t>
            </a:r>
          </a:p>
        </p:txBody>
      </p:sp>
      <p:sp>
        <p:nvSpPr>
          <p:cNvPr id="5" name="Content Placeholder 2"/>
          <p:cNvSpPr txBox="1">
            <a:spLocks/>
          </p:cNvSpPr>
          <p:nvPr/>
        </p:nvSpPr>
        <p:spPr>
          <a:xfrm>
            <a:off x="817880" y="1564640"/>
            <a:ext cx="10515600" cy="2082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dirty="0"/>
              <a:t>Copyright law</a:t>
            </a:r>
            <a:r>
              <a:rPr lang="en-US" dirty="0"/>
              <a:t> protects the rights of creators in their works in fine arts, publishing, entertainment, and computer software.</a:t>
            </a:r>
          </a:p>
          <a:p>
            <a:pPr algn="just"/>
            <a:r>
              <a:rPr lang="en-US" dirty="0"/>
              <a:t> The laws protect the owner of the work if others copy, present, or display the owners work without permission.</a:t>
            </a:r>
          </a:p>
          <a:p>
            <a:pPr algn="just"/>
            <a:endParaRPr lang="en-US" dirty="0"/>
          </a:p>
        </p:txBody>
      </p:sp>
    </p:spTree>
    <p:extLst>
      <p:ext uri="{BB962C8B-B14F-4D97-AF65-F5344CB8AC3E}">
        <p14:creationId xmlns:p14="http://schemas.microsoft.com/office/powerpoint/2010/main" val="4219982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080" y="1442721"/>
            <a:ext cx="11308080" cy="4897120"/>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Trademark law</a:t>
            </a:r>
            <a:r>
              <a:rPr lang="en-US" dirty="0">
                <a:latin typeface="Times New Roman" panose="02020603050405020304" pitchFamily="18" charset="0"/>
                <a:cs typeface="Times New Roman" panose="02020603050405020304" pitchFamily="18" charset="0"/>
              </a:rPr>
              <a:t> protects a word, phrase, symbol or design that is used by an entity to identify its product or service.</a:t>
            </a:r>
          </a:p>
          <a:p>
            <a:pPr algn="just"/>
            <a:r>
              <a:rPr lang="en-US" dirty="0">
                <a:latin typeface="Times New Roman" panose="02020603050405020304" pitchFamily="18" charset="0"/>
                <a:cs typeface="Times New Roman" panose="02020603050405020304" pitchFamily="18" charset="0"/>
              </a:rPr>
              <a:t> Examples are Dunkin Donuts orange and pink sausage style lettering, Apple’s apple logo, and Adidas’ three stripes. Trademark owners can prevent others from using their marks, or marks which are confusingly similar so that consumers would not be able to identify the source.</a:t>
            </a:r>
          </a:p>
          <a:p>
            <a:pPr algn="just"/>
            <a:r>
              <a:rPr lang="en-US" dirty="0">
                <a:latin typeface="Times New Roman" panose="02020603050405020304" pitchFamily="18" charset="0"/>
                <a:cs typeface="Times New Roman" panose="02020603050405020304" pitchFamily="18" charset="0"/>
              </a:rPr>
              <a:t> Federal and state laws govern trademarks but the Lanham Act is the primary source of trademark protection.</a:t>
            </a:r>
          </a:p>
          <a:p>
            <a:pPr algn="just"/>
            <a:r>
              <a:rPr lang="en-US" dirty="0">
                <a:latin typeface="Times New Roman" panose="02020603050405020304" pitchFamily="18" charset="0"/>
                <a:cs typeface="Times New Roman" panose="02020603050405020304" pitchFamily="18" charset="0"/>
              </a:rPr>
              <a:t> These laws protect against infringement and dilution.</a:t>
            </a:r>
          </a:p>
          <a:p>
            <a:pPr algn="just"/>
            <a:r>
              <a:rPr lang="en-US" dirty="0">
                <a:latin typeface="Times New Roman" panose="02020603050405020304" pitchFamily="18" charset="0"/>
                <a:cs typeface="Times New Roman" panose="02020603050405020304" pitchFamily="18" charset="0"/>
              </a:rPr>
              <a:t> Rights in trademarks are gained by being the first to use a trademark in commerce or being the first to register the mark with the United States Patent and Trademark Office.</a:t>
            </a:r>
          </a:p>
          <a:p>
            <a:pPr algn="just"/>
            <a:endParaRPr lang="en-US" dirty="0">
              <a:latin typeface="Times New Roman" panose="02020603050405020304" pitchFamily="18" charset="0"/>
              <a:cs typeface="Times New Roman" panose="02020603050405020304" pitchFamily="18" charset="0"/>
            </a:endParaRPr>
          </a:p>
        </p:txBody>
      </p:sp>
      <p:sp>
        <p:nvSpPr>
          <p:cNvPr id="2" name="TextBox 1"/>
          <p:cNvSpPr txBox="1"/>
          <p:nvPr/>
        </p:nvSpPr>
        <p:spPr>
          <a:xfrm>
            <a:off x="1798320" y="355600"/>
            <a:ext cx="7183120" cy="707886"/>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Trademark Law </a:t>
            </a:r>
          </a:p>
        </p:txBody>
      </p:sp>
    </p:spTree>
    <p:extLst>
      <p:ext uri="{BB962C8B-B14F-4D97-AF65-F5344CB8AC3E}">
        <p14:creationId xmlns:p14="http://schemas.microsoft.com/office/powerpoint/2010/main" val="2218636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60" y="1534160"/>
            <a:ext cx="11551920" cy="4216400"/>
          </a:xfrm>
        </p:spPr>
        <p:txBody>
          <a:bodyPr>
            <a:normAutofit/>
          </a:bodyPr>
          <a:lstStyle/>
          <a:p>
            <a:pPr algn="just"/>
            <a:r>
              <a:rPr lang="en-US" b="1" dirty="0">
                <a:latin typeface="Times New Roman" panose="02020603050405020304" pitchFamily="18" charset="0"/>
                <a:cs typeface="Times New Roman" panose="02020603050405020304" pitchFamily="18" charset="0"/>
              </a:rPr>
              <a:t>Patent law </a:t>
            </a:r>
            <a:r>
              <a:rPr lang="en-US" dirty="0">
                <a:latin typeface="Times New Roman" panose="02020603050405020304" pitchFamily="18" charset="0"/>
                <a:cs typeface="Times New Roman" panose="02020603050405020304" pitchFamily="18" charset="0"/>
              </a:rPr>
              <a:t>grants protection for new inventions which can be products, processes or designs and provides a mechanism for protection of the invention. </a:t>
            </a:r>
          </a:p>
          <a:p>
            <a:pPr algn="just"/>
            <a:r>
              <a:rPr lang="en-US" dirty="0">
                <a:latin typeface="Times New Roman" panose="02020603050405020304" pitchFamily="18" charset="0"/>
                <a:cs typeface="Times New Roman" panose="02020603050405020304" pitchFamily="18" charset="0"/>
              </a:rPr>
              <a:t>The patent law promotes the sharing of new developments with others to foster innovation. </a:t>
            </a:r>
          </a:p>
          <a:p>
            <a:pPr algn="just"/>
            <a:r>
              <a:rPr lang="en-US" dirty="0">
                <a:latin typeface="Times New Roman" panose="02020603050405020304" pitchFamily="18" charset="0"/>
                <a:cs typeface="Times New Roman" panose="02020603050405020304" pitchFamily="18" charset="0"/>
              </a:rPr>
              <a:t>The patent owner has the right to protect others from producing, using, distributing or importing the protected item. </a:t>
            </a:r>
          </a:p>
          <a:p>
            <a:pPr algn="just"/>
            <a:r>
              <a:rPr lang="en-US" dirty="0">
                <a:latin typeface="Times New Roman" panose="02020603050405020304" pitchFamily="18" charset="0"/>
                <a:cs typeface="Times New Roman" panose="02020603050405020304" pitchFamily="18" charset="0"/>
              </a:rPr>
              <a:t>Essentially the patent is a property right that can be licensed, sold, mortgaged or assigned.</a:t>
            </a:r>
          </a:p>
          <a:p>
            <a:pPr algn="just"/>
            <a:endParaRPr lang="en-US" dirty="0">
              <a:latin typeface="Times New Roman" panose="02020603050405020304" pitchFamily="18" charset="0"/>
              <a:cs typeface="Times New Roman" panose="02020603050405020304" pitchFamily="18" charset="0"/>
            </a:endParaRPr>
          </a:p>
        </p:txBody>
      </p:sp>
      <p:sp>
        <p:nvSpPr>
          <p:cNvPr id="2" name="TextBox 1"/>
          <p:cNvSpPr txBox="1"/>
          <p:nvPr/>
        </p:nvSpPr>
        <p:spPr>
          <a:xfrm>
            <a:off x="2306320" y="436880"/>
            <a:ext cx="76098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Patent Law </a:t>
            </a:r>
          </a:p>
        </p:txBody>
      </p:sp>
    </p:spTree>
    <p:extLst>
      <p:ext uri="{BB962C8B-B14F-4D97-AF65-F5344CB8AC3E}">
        <p14:creationId xmlns:p14="http://schemas.microsoft.com/office/powerpoint/2010/main" val="2405254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4960" y="1757680"/>
            <a:ext cx="11511280" cy="3789680"/>
          </a:xfrm>
        </p:spPr>
        <p:txBody>
          <a:bodyPr>
            <a:normAutofit/>
          </a:bodyPr>
          <a:lstStyle/>
          <a:p>
            <a:pPr algn="just"/>
            <a:r>
              <a:rPr lang="en-US" b="1" dirty="0">
                <a:latin typeface="Times New Roman" panose="02020603050405020304" pitchFamily="18" charset="0"/>
                <a:cs typeface="Times New Roman" panose="02020603050405020304" pitchFamily="18" charset="0"/>
              </a:rPr>
              <a:t>Trade secrets </a:t>
            </a:r>
            <a:r>
              <a:rPr lang="en-US" dirty="0">
                <a:latin typeface="Times New Roman" panose="02020603050405020304" pitchFamily="18" charset="0"/>
                <a:cs typeface="Times New Roman" panose="02020603050405020304" pitchFamily="18" charset="0"/>
              </a:rPr>
              <a:t>are business practices, formulas, designs or processes used in a business, designed specifically to provide a competitive advantage to a business. </a:t>
            </a:r>
          </a:p>
          <a:p>
            <a:pPr algn="just"/>
            <a:r>
              <a:rPr lang="en-US" dirty="0">
                <a:latin typeface="Times New Roman" panose="02020603050405020304" pitchFamily="18" charset="0"/>
                <a:cs typeface="Times New Roman" panose="02020603050405020304" pitchFamily="18" charset="0"/>
              </a:rPr>
              <a:t>These trade secrets would not be otherwise known to an “outsider” of the business. An example of this is the formula for Coca Cola.</a:t>
            </a:r>
          </a:p>
          <a:p>
            <a:pPr algn="just"/>
            <a:r>
              <a:rPr lang="en-US" dirty="0">
                <a:latin typeface="Times New Roman" panose="02020603050405020304" pitchFamily="18" charset="0"/>
                <a:cs typeface="Times New Roman" panose="02020603050405020304" pitchFamily="18" charset="0"/>
              </a:rPr>
              <a:t> Trade secrets are protected without registration and appropriate steps should be taken by the owner to maintain confidentiality.</a:t>
            </a:r>
          </a:p>
          <a:p>
            <a:pPr algn="just"/>
            <a:endParaRPr lang="en-US" dirty="0">
              <a:latin typeface="Times New Roman" panose="02020603050405020304" pitchFamily="18" charset="0"/>
              <a:cs typeface="Times New Roman" panose="02020603050405020304" pitchFamily="18" charset="0"/>
            </a:endParaRPr>
          </a:p>
        </p:txBody>
      </p:sp>
      <p:sp>
        <p:nvSpPr>
          <p:cNvPr id="2" name="TextBox 1"/>
          <p:cNvSpPr txBox="1"/>
          <p:nvPr/>
        </p:nvSpPr>
        <p:spPr>
          <a:xfrm>
            <a:off x="2976880" y="629920"/>
            <a:ext cx="51206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Trade Secrets </a:t>
            </a:r>
          </a:p>
        </p:txBody>
      </p:sp>
    </p:spTree>
    <p:extLst>
      <p:ext uri="{BB962C8B-B14F-4D97-AF65-F5344CB8AC3E}">
        <p14:creationId xmlns:p14="http://schemas.microsoft.com/office/powerpoint/2010/main" val="2586448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lstStyle/>
          <a:p>
            <a:pPr algn="ctr"/>
            <a:r>
              <a:rPr lang="en-US" dirty="0">
                <a:latin typeface="Times New Roman" panose="02020603050405020304" pitchFamily="18" charset="0"/>
                <a:cs typeface="Times New Roman" panose="02020603050405020304" pitchFamily="18" charset="0"/>
              </a:rPr>
              <a:t>Other forms of IP include</a:t>
            </a:r>
          </a:p>
        </p:txBody>
      </p:sp>
      <p:sp>
        <p:nvSpPr>
          <p:cNvPr id="3" name="Content Placeholder 2"/>
          <p:cNvSpPr>
            <a:spLocks noGrp="1"/>
          </p:cNvSpPr>
          <p:nvPr>
            <p:ph idx="1"/>
          </p:nvPr>
        </p:nvSpPr>
        <p:spPr>
          <a:xfrm>
            <a:off x="1333500" y="1439545"/>
            <a:ext cx="9525000" cy="3091815"/>
          </a:xfrm>
        </p:spPr>
        <p:txBody>
          <a:bodyPr/>
          <a:lstStyle/>
          <a:p>
            <a:r>
              <a:rPr lang="en-US" dirty="0">
                <a:latin typeface="Times New Roman" panose="02020603050405020304" pitchFamily="18" charset="0"/>
                <a:cs typeface="Times New Roman" panose="02020603050405020304" pitchFamily="18" charset="0"/>
              </a:rPr>
              <a:t>Industrial designs, </a:t>
            </a:r>
          </a:p>
          <a:p>
            <a:r>
              <a:rPr lang="en-US" dirty="0">
                <a:latin typeface="Times New Roman" panose="02020603050405020304" pitchFamily="18" charset="0"/>
                <a:cs typeface="Times New Roman" panose="02020603050405020304" pitchFamily="18" charset="0"/>
              </a:rPr>
              <a:t>Geographical indications,</a:t>
            </a:r>
          </a:p>
          <a:p>
            <a:r>
              <a:rPr lang="en-US" dirty="0">
                <a:latin typeface="Times New Roman" panose="02020603050405020304" pitchFamily="18" charset="0"/>
                <a:cs typeface="Times New Roman" panose="02020603050405020304" pitchFamily="18" charset="0"/>
              </a:rPr>
              <a:t> Plant variety rights, and, in some jurisdictions, rights such as the right of publicity and database rights</a:t>
            </a:r>
          </a:p>
        </p:txBody>
      </p:sp>
    </p:spTree>
    <p:extLst>
      <p:ext uri="{BB962C8B-B14F-4D97-AF65-F5344CB8AC3E}">
        <p14:creationId xmlns:p14="http://schemas.microsoft.com/office/powerpoint/2010/main" val="2136492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Legal Framework and Sources</a:t>
            </a:r>
          </a:p>
        </p:txBody>
      </p:sp>
      <p:sp>
        <p:nvSpPr>
          <p:cNvPr id="3" name="Content Placeholder 2"/>
          <p:cNvSpPr>
            <a:spLocks noGrp="1"/>
          </p:cNvSpPr>
          <p:nvPr>
            <p:ph idx="1"/>
          </p:nvPr>
        </p:nvSpPr>
        <p:spPr>
          <a:xfrm>
            <a:off x="497840" y="1825625"/>
            <a:ext cx="11155680" cy="4351338"/>
          </a:xfrm>
        </p:spPr>
        <p:txBody>
          <a:bodyPr>
            <a:normAutofit/>
          </a:bodyPr>
          <a:lstStyle/>
          <a:p>
            <a:pPr algn="just"/>
            <a:r>
              <a:rPr lang="en-US" dirty="0">
                <a:latin typeface="Times New Roman" panose="02020603050405020304" pitchFamily="18" charset="0"/>
                <a:cs typeface="Times New Roman" panose="02020603050405020304" pitchFamily="18" charset="0"/>
              </a:rPr>
              <a:t>Copyright and Patents: Primarily governed by federal law (in the U.S., under the Constitution’s IP Clause).</a:t>
            </a:r>
          </a:p>
          <a:p>
            <a:pPr algn="just"/>
            <a:r>
              <a:rPr lang="en-US" dirty="0">
                <a:latin typeface="Times New Roman" panose="02020603050405020304" pitchFamily="18" charset="0"/>
                <a:cs typeface="Times New Roman" panose="02020603050405020304" pitchFamily="18" charset="0"/>
              </a:rPr>
              <a:t>Trademarks: Governed by both federal and state law (notably the Lanham Act in the U.S.).</a:t>
            </a:r>
          </a:p>
          <a:p>
            <a:pPr algn="just"/>
            <a:r>
              <a:rPr lang="en-US" dirty="0">
                <a:latin typeface="Times New Roman" panose="02020603050405020304" pitchFamily="18" charset="0"/>
                <a:cs typeface="Times New Roman" panose="02020603050405020304" pitchFamily="18" charset="0"/>
              </a:rPr>
              <a:t>Trade Secrets: Mostly regulated by state law, often under unfair competition statutes.</a:t>
            </a:r>
          </a:p>
          <a:p>
            <a:pPr algn="just"/>
            <a:r>
              <a:rPr lang="en-US" dirty="0">
                <a:latin typeface="Times New Roman" panose="02020603050405020304" pitchFamily="18" charset="0"/>
                <a:cs typeface="Times New Roman" panose="02020603050405020304" pitchFamily="18" charset="0"/>
              </a:rPr>
              <a:t>Internationally, treaties and agreements-such as those administered by the World Intellectual Property Organization (WIPO)-help harmonize IP laws across borders</a:t>
            </a:r>
          </a:p>
        </p:txBody>
      </p:sp>
    </p:spTree>
    <p:extLst>
      <p:ext uri="{BB962C8B-B14F-4D97-AF65-F5344CB8AC3E}">
        <p14:creationId xmlns:p14="http://schemas.microsoft.com/office/powerpoint/2010/main" val="946707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6955"/>
          </a:xfrm>
        </p:spPr>
        <p:txBody>
          <a:bodyPr/>
          <a:lstStyle/>
          <a:p>
            <a:pPr algn="ctr"/>
            <a:r>
              <a:rPr lang="en-US" dirty="0">
                <a:latin typeface="Times New Roman" panose="02020603050405020304" pitchFamily="18" charset="0"/>
                <a:cs typeface="Times New Roman" panose="02020603050405020304" pitchFamily="18" charset="0"/>
              </a:rPr>
              <a:t>IP law is designed to</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Incentivize creation and innovation by granting exclusive rights and potential financial rewards to creators and inventors.</a:t>
            </a:r>
          </a:p>
          <a:p>
            <a:r>
              <a:rPr lang="en-US" dirty="0">
                <a:latin typeface="Times New Roman" panose="02020603050405020304" pitchFamily="18" charset="0"/>
                <a:cs typeface="Times New Roman" panose="02020603050405020304" pitchFamily="18" charset="0"/>
              </a:rPr>
              <a:t>Facilitate the sharing of knowledge and creative works with the public once exclusive rights expire.</a:t>
            </a:r>
          </a:p>
          <a:p>
            <a:r>
              <a:rPr lang="en-US" dirty="0">
                <a:latin typeface="Times New Roman" panose="02020603050405020304" pitchFamily="18" charset="0"/>
                <a:cs typeface="Times New Roman" panose="02020603050405020304" pitchFamily="18" charset="0"/>
              </a:rPr>
              <a:t>Promote fair competition and prevent consumer confusion in the marketplace.</a:t>
            </a:r>
          </a:p>
          <a:p>
            <a:r>
              <a:rPr lang="en-US" dirty="0">
                <a:latin typeface="Times New Roman" panose="02020603050405020304" pitchFamily="18" charset="0"/>
                <a:cs typeface="Times New Roman" panose="02020603050405020304" pitchFamily="18" charset="0"/>
              </a:rPr>
              <a:t>Deter economic espionage and unauthorized exploitation of valuable business information</a:t>
            </a:r>
          </a:p>
        </p:txBody>
      </p:sp>
    </p:spTree>
    <p:extLst>
      <p:ext uri="{BB962C8B-B14F-4D97-AF65-F5344CB8AC3E}">
        <p14:creationId xmlns:p14="http://schemas.microsoft.com/office/powerpoint/2010/main" val="1182164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Limitations and Exceptions</a:t>
            </a:r>
          </a:p>
        </p:txBody>
      </p:sp>
      <p:sp>
        <p:nvSpPr>
          <p:cNvPr id="3" name="Content Placeholder 2"/>
          <p:cNvSpPr>
            <a:spLocks noGrp="1"/>
          </p:cNvSpPr>
          <p:nvPr>
            <p:ph idx="1"/>
          </p:nvPr>
        </p:nvSpPr>
        <p:spPr>
          <a:xfrm>
            <a:off x="838200" y="1825625"/>
            <a:ext cx="10515600" cy="3904615"/>
          </a:xfrm>
        </p:spPr>
        <p:txBody>
          <a:bodyPr>
            <a:normAutofit/>
          </a:bodyPr>
          <a:lstStyle/>
          <a:p>
            <a:r>
              <a:rPr lang="en-US" sz="3200" dirty="0">
                <a:latin typeface="Times New Roman" panose="02020603050405020304" pitchFamily="18" charset="0"/>
                <a:cs typeface="Times New Roman" panose="02020603050405020304" pitchFamily="18" charset="0"/>
              </a:rPr>
              <a:t>IP rights are not absolute. There are various exceptions and limitations, such as:</a:t>
            </a:r>
          </a:p>
          <a:p>
            <a:pPr lvl="1"/>
            <a:r>
              <a:rPr lang="en-US" sz="2800" dirty="0">
                <a:latin typeface="Times New Roman" panose="02020603050405020304" pitchFamily="18" charset="0"/>
                <a:cs typeface="Times New Roman" panose="02020603050405020304" pitchFamily="18" charset="0"/>
              </a:rPr>
              <a:t>The doctrine of fair use (in copyright law), which allows limited use of protected works without permission under certain circumstances.</a:t>
            </a:r>
          </a:p>
          <a:p>
            <a:pPr lvl="1"/>
            <a:r>
              <a:rPr lang="en-US" sz="2800" dirty="0">
                <a:latin typeface="Times New Roman" panose="02020603050405020304" pitchFamily="18" charset="0"/>
                <a:cs typeface="Times New Roman" panose="02020603050405020304" pitchFamily="18" charset="0"/>
              </a:rPr>
              <a:t>Time limits on protection (e.g., patents expire after 20 years).</a:t>
            </a:r>
          </a:p>
          <a:p>
            <a:pPr lvl="1"/>
            <a:r>
              <a:rPr lang="en-US" sz="2800" dirty="0">
                <a:latin typeface="Times New Roman" panose="02020603050405020304" pitchFamily="18" charset="0"/>
                <a:cs typeface="Times New Roman" panose="02020603050405020304" pitchFamily="18" charset="0"/>
              </a:rPr>
              <a:t>Requirements for maintaining secrecy in trade secrets</a:t>
            </a:r>
          </a:p>
        </p:txBody>
      </p:sp>
    </p:spTree>
    <p:extLst>
      <p:ext uri="{BB962C8B-B14F-4D97-AF65-F5344CB8AC3E}">
        <p14:creationId xmlns:p14="http://schemas.microsoft.com/office/powerpoint/2010/main" val="840828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 </a:t>
            </a:r>
          </a:p>
        </p:txBody>
      </p:sp>
      <p:sp>
        <p:nvSpPr>
          <p:cNvPr id="3" name="Content Placeholder 2"/>
          <p:cNvSpPr>
            <a:spLocks noGrp="1"/>
          </p:cNvSpPr>
          <p:nvPr>
            <p:ph idx="1"/>
          </p:nvPr>
        </p:nvSpPr>
        <p:spPr>
          <a:xfrm>
            <a:off x="838200" y="1896745"/>
            <a:ext cx="10515600" cy="1760855"/>
          </a:xfrm>
        </p:spPr>
        <p:txBody>
          <a:bodyPr/>
          <a:lstStyle/>
          <a:p>
            <a:pPr algn="just"/>
            <a:r>
              <a:rPr lang="en-US" dirty="0">
                <a:latin typeface="Times New Roman" panose="02020603050405020304" pitchFamily="18" charset="0"/>
                <a:cs typeface="Times New Roman" panose="02020603050405020304" pitchFamily="18" charset="0"/>
              </a:rPr>
              <a:t>In summary, intellectual property law is a complex but vital legal framework that underpins modern innovation, creativity, and commerce by protecting intangible assets and balancing the interests of creators, businesses, and the public</a:t>
            </a:r>
          </a:p>
        </p:txBody>
      </p:sp>
    </p:spTree>
    <p:extLst>
      <p:ext uri="{BB962C8B-B14F-4D97-AF65-F5344CB8AC3E}">
        <p14:creationId xmlns:p14="http://schemas.microsoft.com/office/powerpoint/2010/main" val="1871107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639FC-AC9B-4C48-AE0A-DB14FA5199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0A3545-168B-4F7B-84A7-CCE2657875A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06931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latin typeface="Times New Roman" panose="02020603050405020304" pitchFamily="18" charset="0"/>
                <a:cs typeface="Times New Roman" panose="02020603050405020304" pitchFamily="18" charset="0"/>
              </a:rPr>
              <a:t>Copyright, Trademark, and Patent Law</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90717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Copyright, Trademark, and Patent Law</a:t>
            </a:r>
          </a:p>
        </p:txBody>
      </p:sp>
      <p:sp>
        <p:nvSpPr>
          <p:cNvPr id="3" name="Content Placeholder 2"/>
          <p:cNvSpPr>
            <a:spLocks noGrp="1"/>
          </p:cNvSpPr>
          <p:nvPr>
            <p:ph idx="1"/>
          </p:nvPr>
        </p:nvSpPr>
        <p:spPr>
          <a:xfrm>
            <a:off x="838200" y="2275839"/>
            <a:ext cx="10515600" cy="2865121"/>
          </a:xfrm>
        </p:spPr>
        <p:txBody>
          <a:bodyPr/>
          <a:lstStyle/>
          <a:p>
            <a:r>
              <a:rPr lang="en-US" dirty="0">
                <a:latin typeface="Times New Roman" panose="02020603050405020304" pitchFamily="18" charset="0"/>
                <a:cs typeface="Times New Roman" panose="02020603050405020304" pitchFamily="18" charset="0"/>
              </a:rPr>
              <a:t>Copyright, trademark, and patent laws are the foundational pillars of intellectual property (IP) protection. </a:t>
            </a:r>
          </a:p>
          <a:p>
            <a:r>
              <a:rPr lang="en-US" dirty="0">
                <a:latin typeface="Times New Roman" panose="02020603050405020304" pitchFamily="18" charset="0"/>
                <a:cs typeface="Times New Roman" panose="02020603050405020304" pitchFamily="18" charset="0"/>
              </a:rPr>
              <a:t>Each serves a distinct purpose, protecting different types of creations and innovations, and granting exclusive rights to their owners.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5064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885"/>
            <a:ext cx="10515600" cy="1047115"/>
          </a:xfrm>
        </p:spPr>
        <p:txBody>
          <a:bodyPr/>
          <a:lstStyle/>
          <a:p>
            <a:pPr algn="ctr"/>
            <a:r>
              <a:rPr lang="en-US" b="1" dirty="0">
                <a:latin typeface="Times New Roman" panose="02020603050405020304" pitchFamily="18" charset="0"/>
                <a:cs typeface="Times New Roman" panose="02020603050405020304" pitchFamily="18" charset="0"/>
              </a:rPr>
              <a:t>Copyright</a:t>
            </a:r>
          </a:p>
        </p:txBody>
      </p:sp>
      <p:sp>
        <p:nvSpPr>
          <p:cNvPr id="3" name="Content Placeholder 2"/>
          <p:cNvSpPr>
            <a:spLocks noGrp="1"/>
          </p:cNvSpPr>
          <p:nvPr>
            <p:ph idx="1"/>
          </p:nvPr>
        </p:nvSpPr>
        <p:spPr>
          <a:xfrm>
            <a:off x="538480" y="1270000"/>
            <a:ext cx="11176000" cy="5161280"/>
          </a:xfrm>
        </p:spPr>
        <p:txBody>
          <a:bodyPr>
            <a:normAutofit/>
          </a:bodyPr>
          <a:lstStyle/>
          <a:p>
            <a:pPr algn="just"/>
            <a:r>
              <a:rPr lang="en-US" b="1" dirty="0">
                <a:latin typeface="Times New Roman" panose="02020603050405020304" pitchFamily="18" charset="0"/>
                <a:cs typeface="Times New Roman" panose="02020603050405020304" pitchFamily="18" charset="0"/>
              </a:rPr>
              <a:t>What it protects:</a:t>
            </a:r>
            <a:r>
              <a:rPr lang="en-US" dirty="0">
                <a:latin typeface="Times New Roman" panose="02020603050405020304" pitchFamily="18" charset="0"/>
                <a:cs typeface="Times New Roman" panose="02020603050405020304" pitchFamily="18" charset="0"/>
              </a:rPr>
              <a:t> Copyright safeguards original works of authorship, such as books, music, films, paintings, software, and other artistic or literary creations. It protects the </a:t>
            </a:r>
            <a:r>
              <a:rPr lang="en-US" i="1" dirty="0">
                <a:latin typeface="Times New Roman" panose="02020603050405020304" pitchFamily="18" charset="0"/>
                <a:cs typeface="Times New Roman" panose="02020603050405020304" pitchFamily="18" charset="0"/>
              </a:rPr>
              <a:t>expression</a:t>
            </a:r>
            <a:r>
              <a:rPr lang="en-US" dirty="0">
                <a:latin typeface="Times New Roman" panose="02020603050405020304" pitchFamily="18" charset="0"/>
                <a:cs typeface="Times New Roman" panose="02020603050405020304" pitchFamily="18" charset="0"/>
              </a:rPr>
              <a:t> of ideas, not the ideas themselves.</a:t>
            </a:r>
          </a:p>
          <a:p>
            <a:pPr algn="just"/>
            <a:r>
              <a:rPr lang="en-US" dirty="0">
                <a:latin typeface="Times New Roman" panose="02020603050405020304" pitchFamily="18" charset="0"/>
                <a:cs typeface="Times New Roman" panose="02020603050405020304" pitchFamily="18" charset="0"/>
              </a:rPr>
              <a:t>Requirements: The work must be original, creative, and fixed in a tangible medium (e.g., written, recorded, or saved digitally).</a:t>
            </a:r>
          </a:p>
          <a:p>
            <a:pPr algn="just"/>
            <a:r>
              <a:rPr lang="en-US" b="1" dirty="0">
                <a:latin typeface="Times New Roman" panose="02020603050405020304" pitchFamily="18" charset="0"/>
                <a:cs typeface="Times New Roman" panose="02020603050405020304" pitchFamily="18" charset="0"/>
              </a:rPr>
              <a:t>Rights granted:</a:t>
            </a:r>
            <a:r>
              <a:rPr lang="en-US" dirty="0">
                <a:latin typeface="Times New Roman" panose="02020603050405020304" pitchFamily="18" charset="0"/>
                <a:cs typeface="Times New Roman" panose="02020603050405020304" pitchFamily="18" charset="0"/>
              </a:rPr>
              <a:t> The copyright owner has exclusive rights to reproduce, distribute, perform, display, and create derivative works from the original.</a:t>
            </a:r>
          </a:p>
          <a:p>
            <a:pPr algn="just"/>
            <a:r>
              <a:rPr lang="en-US" b="1" dirty="0">
                <a:latin typeface="Times New Roman" panose="02020603050405020304" pitchFamily="18" charset="0"/>
                <a:cs typeface="Times New Roman" panose="02020603050405020304" pitchFamily="18" charset="0"/>
              </a:rPr>
              <a:t>Duration:</a:t>
            </a:r>
            <a:r>
              <a:rPr lang="en-US" dirty="0">
                <a:latin typeface="Times New Roman" panose="02020603050405020304" pitchFamily="18" charset="0"/>
                <a:cs typeface="Times New Roman" panose="02020603050405020304" pitchFamily="18" charset="0"/>
              </a:rPr>
              <a:t> Generally lasts for the life of the author plus 70 years (in many jurisdictions), or for works made for hire, up to 95 years from publication.</a:t>
            </a:r>
          </a:p>
          <a:p>
            <a:pPr algn="just"/>
            <a:r>
              <a:rPr lang="en-US" b="1" dirty="0">
                <a:latin typeface="Times New Roman" panose="02020603050405020304" pitchFamily="18" charset="0"/>
                <a:cs typeface="Times New Roman" panose="02020603050405020304" pitchFamily="18" charset="0"/>
              </a:rPr>
              <a:t>Registration:</a:t>
            </a:r>
            <a:r>
              <a:rPr lang="en-US" dirty="0">
                <a:latin typeface="Times New Roman" panose="02020603050405020304" pitchFamily="18" charset="0"/>
                <a:cs typeface="Times New Roman" panose="02020603050405020304" pitchFamily="18" charset="0"/>
              </a:rPr>
              <a:t> Copyright protection is automatic upon creation, but registration is recommended for stronger legal enforcement.</a:t>
            </a:r>
          </a:p>
        </p:txBody>
      </p:sp>
    </p:spTree>
    <p:extLst>
      <p:ext uri="{BB962C8B-B14F-4D97-AF65-F5344CB8AC3E}">
        <p14:creationId xmlns:p14="http://schemas.microsoft.com/office/powerpoint/2010/main" val="599697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4395"/>
          </a:xfrm>
        </p:spPr>
        <p:txBody>
          <a:bodyPr/>
          <a:lstStyle/>
          <a:p>
            <a:pPr algn="ctr"/>
            <a:r>
              <a:rPr lang="en-US" dirty="0">
                <a:latin typeface="Times New Roman" panose="02020603050405020304" pitchFamily="18" charset="0"/>
                <a:cs typeface="Times New Roman" panose="02020603050405020304" pitchFamily="18" charset="0"/>
              </a:rPr>
              <a:t>Trademark</a:t>
            </a:r>
          </a:p>
        </p:txBody>
      </p:sp>
      <p:sp>
        <p:nvSpPr>
          <p:cNvPr id="3" name="Content Placeholder 2"/>
          <p:cNvSpPr>
            <a:spLocks noGrp="1"/>
          </p:cNvSpPr>
          <p:nvPr>
            <p:ph idx="1"/>
          </p:nvPr>
        </p:nvSpPr>
        <p:spPr>
          <a:xfrm>
            <a:off x="396240" y="1409064"/>
            <a:ext cx="11308080" cy="4625976"/>
          </a:xfrm>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What it protects</a:t>
            </a:r>
            <a:r>
              <a:rPr lang="en-US" dirty="0">
                <a:latin typeface="Times New Roman" panose="02020603050405020304" pitchFamily="18" charset="0"/>
                <a:cs typeface="Times New Roman" panose="02020603050405020304" pitchFamily="18" charset="0"/>
              </a:rPr>
              <a:t>: Trademarks protect words, phrases, logos, symbols, designs, or a combination thereof that identify and distinguish the source of goods or services. Trademarks help consumers recognize brands and prevent confusion in the marketplace.</a:t>
            </a:r>
          </a:p>
          <a:p>
            <a:pPr algn="just"/>
            <a:r>
              <a:rPr lang="en-US" b="1" dirty="0">
                <a:latin typeface="Times New Roman" panose="02020603050405020304" pitchFamily="18" charset="0"/>
                <a:cs typeface="Times New Roman" panose="02020603050405020304" pitchFamily="18" charset="0"/>
              </a:rPr>
              <a:t>Requirements:</a:t>
            </a:r>
            <a:r>
              <a:rPr lang="en-US" dirty="0">
                <a:latin typeface="Times New Roman" panose="02020603050405020304" pitchFamily="18" charset="0"/>
                <a:cs typeface="Times New Roman" panose="02020603050405020304" pitchFamily="18" charset="0"/>
              </a:rPr>
              <a:t> A trademark must be distinctive and capable of identifying the source of a product or service.</a:t>
            </a:r>
          </a:p>
          <a:p>
            <a:pPr algn="just"/>
            <a:r>
              <a:rPr lang="en-US" dirty="0">
                <a:latin typeface="Times New Roman" panose="02020603050405020304" pitchFamily="18" charset="0"/>
                <a:cs typeface="Times New Roman" panose="02020603050405020304" pitchFamily="18" charset="0"/>
              </a:rPr>
              <a:t>Rights granted: The owner can prevent others from using similar marks that could confuse consumers regarding the source of goods or services.</a:t>
            </a:r>
          </a:p>
          <a:p>
            <a:pPr algn="just"/>
            <a:r>
              <a:rPr lang="en-US" dirty="0">
                <a:latin typeface="Times New Roman" panose="02020603050405020304" pitchFamily="18" charset="0"/>
                <a:cs typeface="Times New Roman" panose="02020603050405020304" pitchFamily="18" charset="0"/>
              </a:rPr>
              <a:t>Duration: Trademark protection can last indefinitely, as long as the mark is used in commerce and renewed periodically (typically every 10 years).</a:t>
            </a:r>
          </a:p>
          <a:p>
            <a:pPr algn="just"/>
            <a:r>
              <a:rPr lang="en-US" dirty="0">
                <a:latin typeface="Times New Roman" panose="02020603050405020304" pitchFamily="18" charset="0"/>
                <a:cs typeface="Times New Roman" panose="02020603050405020304" pitchFamily="18" charset="0"/>
              </a:rPr>
              <a:t>Registration: While common law rights arise from use, formal registration provides stronger legal protection and is recommended</a:t>
            </a:r>
          </a:p>
        </p:txBody>
      </p:sp>
    </p:spTree>
    <p:extLst>
      <p:ext uri="{BB962C8B-B14F-4D97-AF65-F5344CB8AC3E}">
        <p14:creationId xmlns:p14="http://schemas.microsoft.com/office/powerpoint/2010/main" val="1587942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1765"/>
            <a:ext cx="10515600" cy="772795"/>
          </a:xfrm>
        </p:spPr>
        <p:txBody>
          <a:bodyPr/>
          <a:lstStyle/>
          <a:p>
            <a:pPr algn="ctr"/>
            <a:r>
              <a:rPr lang="en-US" dirty="0">
                <a:latin typeface="Times New Roman" panose="02020603050405020304" pitchFamily="18" charset="0"/>
                <a:cs typeface="Times New Roman" panose="02020603050405020304" pitchFamily="18" charset="0"/>
              </a:rPr>
              <a:t>Patent</a:t>
            </a:r>
          </a:p>
        </p:txBody>
      </p:sp>
      <p:sp>
        <p:nvSpPr>
          <p:cNvPr id="3" name="Content Placeholder 2"/>
          <p:cNvSpPr>
            <a:spLocks noGrp="1"/>
          </p:cNvSpPr>
          <p:nvPr>
            <p:ph idx="1"/>
          </p:nvPr>
        </p:nvSpPr>
        <p:spPr>
          <a:xfrm>
            <a:off x="457200" y="924560"/>
            <a:ext cx="11226800" cy="5588000"/>
          </a:xfrm>
        </p:spPr>
        <p:txBody>
          <a:bodyPr>
            <a:noAutofit/>
          </a:bodyPr>
          <a:lstStyle/>
          <a:p>
            <a:pPr algn="just"/>
            <a:r>
              <a:rPr lang="en-US" b="1" dirty="0">
                <a:latin typeface="Times New Roman" panose="02020603050405020304" pitchFamily="18" charset="0"/>
                <a:cs typeface="Times New Roman" panose="02020603050405020304" pitchFamily="18" charset="0"/>
              </a:rPr>
              <a:t>What it protects:</a:t>
            </a:r>
            <a:r>
              <a:rPr lang="en-US" dirty="0">
                <a:latin typeface="Times New Roman" panose="02020603050405020304" pitchFamily="18" charset="0"/>
                <a:cs typeface="Times New Roman" panose="02020603050405020304" pitchFamily="18" charset="0"/>
              </a:rPr>
              <a:t> Patents grant exclusive rights over new inventions, processes, machines, or compositions of matter that are novel, useful, and non-obvious. Patents protect the </a:t>
            </a:r>
            <a:r>
              <a:rPr lang="en-US" i="1" dirty="0">
                <a:latin typeface="Times New Roman" panose="02020603050405020304" pitchFamily="18" charset="0"/>
                <a:cs typeface="Times New Roman" panose="02020603050405020304" pitchFamily="18" charset="0"/>
              </a:rPr>
              <a:t>idea</a:t>
            </a:r>
            <a:r>
              <a:rPr lang="en-US" dirty="0">
                <a:latin typeface="Times New Roman" panose="02020603050405020304" pitchFamily="18" charset="0"/>
                <a:cs typeface="Times New Roman" panose="02020603050405020304" pitchFamily="18" charset="0"/>
              </a:rPr>
              <a:t> or technical solution itself, not just its expression.</a:t>
            </a:r>
          </a:p>
          <a:p>
            <a:pPr algn="just"/>
            <a:r>
              <a:rPr lang="en-US" b="1" dirty="0">
                <a:latin typeface="Times New Roman" panose="02020603050405020304" pitchFamily="18" charset="0"/>
                <a:cs typeface="Times New Roman" panose="02020603050405020304" pitchFamily="18" charset="0"/>
              </a:rPr>
              <a:t>Requirements:</a:t>
            </a:r>
            <a:r>
              <a:rPr lang="en-US" dirty="0">
                <a:latin typeface="Times New Roman" panose="02020603050405020304" pitchFamily="18" charset="0"/>
                <a:cs typeface="Times New Roman" panose="02020603050405020304" pitchFamily="18" charset="0"/>
              </a:rPr>
              <a:t> The invention must be new, involve an inventive step, and be industrially applicable.</a:t>
            </a:r>
          </a:p>
          <a:p>
            <a:pPr algn="just"/>
            <a:r>
              <a:rPr lang="en-US" b="1" dirty="0">
                <a:latin typeface="Times New Roman" panose="02020603050405020304" pitchFamily="18" charset="0"/>
                <a:cs typeface="Times New Roman" panose="02020603050405020304" pitchFamily="18" charset="0"/>
              </a:rPr>
              <a:t>Rights granted:</a:t>
            </a:r>
            <a:r>
              <a:rPr lang="en-US" dirty="0">
                <a:latin typeface="Times New Roman" panose="02020603050405020304" pitchFamily="18" charset="0"/>
                <a:cs typeface="Times New Roman" panose="02020603050405020304" pitchFamily="18" charset="0"/>
              </a:rPr>
              <a:t> The patent holder can prevent others from making, using, selling, or importing the patented invention without permission.</a:t>
            </a:r>
          </a:p>
          <a:p>
            <a:pPr algn="just"/>
            <a:r>
              <a:rPr lang="en-US" b="1" dirty="0">
                <a:latin typeface="Times New Roman" panose="02020603050405020304" pitchFamily="18" charset="0"/>
                <a:cs typeface="Times New Roman" panose="02020603050405020304" pitchFamily="18" charset="0"/>
              </a:rPr>
              <a:t>Duration:</a:t>
            </a:r>
            <a:r>
              <a:rPr lang="en-US" dirty="0">
                <a:latin typeface="Times New Roman" panose="02020603050405020304" pitchFamily="18" charset="0"/>
                <a:cs typeface="Times New Roman" panose="02020603050405020304" pitchFamily="18" charset="0"/>
              </a:rPr>
              <a:t> Patent protection typically lasts 20 years from the filing date, after which the invention enters the public domain.</a:t>
            </a:r>
          </a:p>
          <a:p>
            <a:pPr algn="just"/>
            <a:r>
              <a:rPr lang="en-US" b="1" dirty="0">
                <a:latin typeface="Times New Roman" panose="02020603050405020304" pitchFamily="18" charset="0"/>
                <a:cs typeface="Times New Roman" panose="02020603050405020304" pitchFamily="18" charset="0"/>
              </a:rPr>
              <a:t>Registration:</a:t>
            </a:r>
            <a:r>
              <a:rPr lang="en-US" dirty="0">
                <a:latin typeface="Times New Roman" panose="02020603050405020304" pitchFamily="18" charset="0"/>
                <a:cs typeface="Times New Roman" panose="02020603050405020304" pitchFamily="18" charset="0"/>
              </a:rPr>
              <a:t> Patent protection is only available through formal registration with the relevant government authority.</a:t>
            </a:r>
          </a:p>
        </p:txBody>
      </p:sp>
    </p:spTree>
    <p:extLst>
      <p:ext uri="{BB962C8B-B14F-4D97-AF65-F5344CB8AC3E}">
        <p14:creationId xmlns:p14="http://schemas.microsoft.com/office/powerpoint/2010/main" val="3001897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3120" y="1981201"/>
            <a:ext cx="10515600" cy="2245360"/>
          </a:xfrm>
        </p:spPr>
        <p:txBody>
          <a:bodyPr>
            <a:noAutofit/>
          </a:bodyPr>
          <a:lstStyle/>
          <a:p>
            <a:pPr algn="ctr"/>
            <a:r>
              <a:rPr lang="en-US" sz="5400" dirty="0">
                <a:latin typeface="Times New Roman" panose="02020603050405020304" pitchFamily="18" charset="0"/>
                <a:cs typeface="Times New Roman" panose="02020603050405020304" pitchFamily="18" charset="0"/>
              </a:rPr>
              <a:t>Protection of intellectual Property in the digital age</a:t>
            </a:r>
          </a:p>
        </p:txBody>
      </p:sp>
    </p:spTree>
    <p:extLst>
      <p:ext uri="{BB962C8B-B14F-4D97-AF65-F5344CB8AC3E}">
        <p14:creationId xmlns:p14="http://schemas.microsoft.com/office/powerpoint/2010/main" val="4107350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96720"/>
            <a:ext cx="11226800" cy="4815840"/>
          </a:xfrm>
        </p:spPr>
        <p:txBody>
          <a:bodyPr>
            <a:noAutofit/>
          </a:bodyPr>
          <a:lstStyle/>
          <a:p>
            <a:pPr algn="just"/>
            <a:r>
              <a:rPr lang="en-US" dirty="0">
                <a:latin typeface="Times New Roman" panose="02020603050405020304" pitchFamily="18" charset="0"/>
                <a:cs typeface="Times New Roman" panose="02020603050405020304" pitchFamily="18" charset="0"/>
              </a:rPr>
              <a:t>The digital age has fundamentally transformed how intellectual property (IP) is created, shared, and protected. While digital platforms offer unprecedented opportunities for creators and businesses, they also introduce significant challenges, such as widespread piracy, unauthorized reproduction, and complex jurisdictional issues. Protecting IP in this environment requires a combination of legal, technological, and organizational strategies.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a:xfrm>
            <a:off x="812800" y="233045"/>
            <a:ext cx="10515600" cy="1325563"/>
          </a:xfrm>
        </p:spPr>
        <p:txBody>
          <a:bodyPr/>
          <a:lstStyle/>
          <a:p>
            <a:pPr algn="ctr"/>
            <a:r>
              <a:rPr lang="en-US" dirty="0">
                <a:latin typeface="Times New Roman" panose="02020603050405020304" pitchFamily="18" charset="0"/>
                <a:cs typeface="Times New Roman" panose="02020603050405020304" pitchFamily="18" charset="0"/>
              </a:rPr>
              <a:t>Protection of intellectual Property in the digital age</a:t>
            </a:r>
          </a:p>
        </p:txBody>
      </p:sp>
    </p:spTree>
    <p:extLst>
      <p:ext uri="{BB962C8B-B14F-4D97-AF65-F5344CB8AC3E}">
        <p14:creationId xmlns:p14="http://schemas.microsoft.com/office/powerpoint/2010/main" val="18822877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Key Challenges in the Digital Age</a:t>
            </a:r>
          </a:p>
        </p:txBody>
      </p:sp>
      <p:sp>
        <p:nvSpPr>
          <p:cNvPr id="3" name="Content Placeholder 2"/>
          <p:cNvSpPr>
            <a:spLocks noGrp="1"/>
          </p:cNvSpPr>
          <p:nvPr>
            <p:ph idx="1"/>
          </p:nvPr>
        </p:nvSpPr>
        <p:spPr>
          <a:xfrm>
            <a:off x="518160" y="1825625"/>
            <a:ext cx="11155680" cy="4351338"/>
          </a:xfrm>
        </p:spPr>
        <p:txBody>
          <a:bodyPr>
            <a:normAutofit/>
          </a:bodyPr>
          <a:lstStyle/>
          <a:p>
            <a:pPr algn="just"/>
            <a:r>
              <a:rPr lang="en-US" b="1" dirty="0">
                <a:latin typeface="Times New Roman" panose="02020603050405020304" pitchFamily="18" charset="0"/>
                <a:cs typeface="Times New Roman" panose="02020603050405020304" pitchFamily="18" charset="0"/>
              </a:rPr>
              <a:t>Digital Piracy: </a:t>
            </a:r>
            <a:r>
              <a:rPr lang="en-US" dirty="0">
                <a:latin typeface="Times New Roman" panose="02020603050405020304" pitchFamily="18" charset="0"/>
                <a:cs typeface="Times New Roman" panose="02020603050405020304" pitchFamily="18" charset="0"/>
              </a:rPr>
              <a:t>The ease of copying and distributing digital content has led to a surge in piracy, making enforcement difficult.</a:t>
            </a:r>
          </a:p>
          <a:p>
            <a:pPr algn="just"/>
            <a:r>
              <a:rPr lang="en-US" b="1" dirty="0">
                <a:latin typeface="Times New Roman" panose="02020603050405020304" pitchFamily="18" charset="0"/>
                <a:cs typeface="Times New Roman" panose="02020603050405020304" pitchFamily="18" charset="0"/>
              </a:rPr>
              <a:t>Jurisdictional Complexity: </a:t>
            </a:r>
            <a:r>
              <a:rPr lang="en-US" dirty="0">
                <a:latin typeface="Times New Roman" panose="02020603050405020304" pitchFamily="18" charset="0"/>
                <a:cs typeface="Times New Roman" panose="02020603050405020304" pitchFamily="18" charset="0"/>
              </a:rPr>
              <a:t>The global nature of the internet means infringing content can be hosted and accessed across multiple countries, complicating legal action.</a:t>
            </a:r>
          </a:p>
          <a:p>
            <a:pPr algn="just"/>
            <a:r>
              <a:rPr lang="en-US" b="1" dirty="0">
                <a:latin typeface="Times New Roman" panose="02020603050405020304" pitchFamily="18" charset="0"/>
                <a:cs typeface="Times New Roman" panose="02020603050405020304" pitchFamily="18" charset="0"/>
              </a:rPr>
              <a:t>Technological Innovation: </a:t>
            </a:r>
            <a:r>
              <a:rPr lang="en-US" dirty="0">
                <a:latin typeface="Times New Roman" panose="02020603050405020304" pitchFamily="18" charset="0"/>
                <a:cs typeface="Times New Roman" panose="02020603050405020304" pitchFamily="18" charset="0"/>
              </a:rPr>
              <a:t>New technologies (AI, </a:t>
            </a:r>
            <a:r>
              <a:rPr lang="en-US" dirty="0" err="1">
                <a:latin typeface="Times New Roman" panose="02020603050405020304" pitchFamily="18" charset="0"/>
                <a:cs typeface="Times New Roman" panose="02020603050405020304" pitchFamily="18" charset="0"/>
              </a:rPr>
              <a:t>blockchain</a:t>
            </a:r>
            <a:r>
              <a:rPr lang="en-US" dirty="0">
                <a:latin typeface="Times New Roman" panose="02020603050405020304" pitchFamily="18" charset="0"/>
                <a:cs typeface="Times New Roman" panose="02020603050405020304" pitchFamily="18" charset="0"/>
              </a:rPr>
              <a:t>) often outpace the development of legal protections and enforcement mechanisms.</a:t>
            </a:r>
          </a:p>
          <a:p>
            <a:pPr algn="just"/>
            <a:r>
              <a:rPr lang="en-US" b="1" dirty="0">
                <a:latin typeface="Times New Roman" panose="02020603050405020304" pitchFamily="18" charset="0"/>
                <a:cs typeface="Times New Roman" panose="02020603050405020304" pitchFamily="18" charset="0"/>
              </a:rPr>
              <a:t>Balancing Interests: </a:t>
            </a:r>
            <a:r>
              <a:rPr lang="en-US" dirty="0">
                <a:latin typeface="Times New Roman" panose="02020603050405020304" pitchFamily="18" charset="0"/>
                <a:cs typeface="Times New Roman" panose="02020603050405020304" pitchFamily="18" charset="0"/>
              </a:rPr>
              <a:t>Policymakers must balance the rights of creators with public access and fair use principles.</a:t>
            </a:r>
          </a:p>
        </p:txBody>
      </p:sp>
    </p:spTree>
    <p:extLst>
      <p:ext uri="{BB962C8B-B14F-4D97-AF65-F5344CB8AC3E}">
        <p14:creationId xmlns:p14="http://schemas.microsoft.com/office/powerpoint/2010/main" val="2442082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680" y="172085"/>
            <a:ext cx="11490960" cy="1047115"/>
          </a:xfrm>
        </p:spPr>
        <p:txBody>
          <a:bodyPr/>
          <a:lstStyle/>
          <a:p>
            <a:pPr algn="ctr"/>
            <a:r>
              <a:rPr lang="en-US" dirty="0">
                <a:latin typeface="Times New Roman" panose="02020603050405020304" pitchFamily="18" charset="0"/>
                <a:cs typeface="Times New Roman" panose="02020603050405020304" pitchFamily="18" charset="0"/>
              </a:rPr>
              <a:t>Practical and Technological Protection Strategies</a:t>
            </a:r>
          </a:p>
        </p:txBody>
      </p:sp>
      <p:sp>
        <p:nvSpPr>
          <p:cNvPr id="3" name="Content Placeholder 2"/>
          <p:cNvSpPr>
            <a:spLocks noGrp="1"/>
          </p:cNvSpPr>
          <p:nvPr>
            <p:ph idx="1"/>
          </p:nvPr>
        </p:nvSpPr>
        <p:spPr>
          <a:xfrm>
            <a:off x="487680" y="1219200"/>
            <a:ext cx="11135360" cy="4846320"/>
          </a:xfrm>
        </p:spPr>
        <p:txBody>
          <a:bodyPr>
            <a:noAutofit/>
          </a:bodyPr>
          <a:lstStyle/>
          <a:p>
            <a:pPr algn="just"/>
            <a:r>
              <a:rPr lang="en-US" sz="2400" b="1" dirty="0">
                <a:latin typeface="Times New Roman" panose="02020603050405020304" pitchFamily="18" charset="0"/>
                <a:cs typeface="Times New Roman" panose="02020603050405020304" pitchFamily="18" charset="0"/>
              </a:rPr>
              <a:t>Digital Rights Management (DRM): </a:t>
            </a:r>
            <a:r>
              <a:rPr lang="en-US" sz="2400" dirty="0">
                <a:latin typeface="Times New Roman" panose="02020603050405020304" pitchFamily="18" charset="0"/>
                <a:cs typeface="Times New Roman" panose="02020603050405020304" pitchFamily="18" charset="0"/>
              </a:rPr>
              <a:t>DRM systems control access, copying, and distribution of digital works, ensuring only authorized users can access content.</a:t>
            </a:r>
          </a:p>
          <a:p>
            <a:pPr algn="just"/>
            <a:r>
              <a:rPr lang="en-US" sz="2400" dirty="0">
                <a:latin typeface="Times New Roman" panose="02020603050405020304" pitchFamily="18" charset="0"/>
                <a:cs typeface="Times New Roman" panose="02020603050405020304" pitchFamily="18" charset="0"/>
              </a:rPr>
              <a:t>Watermarking and Encryption: Digital watermarks and cryptographic techniques embed ownership information and protect content during transmission and storage.</a:t>
            </a:r>
          </a:p>
          <a:p>
            <a:pPr algn="just"/>
            <a:r>
              <a:rPr lang="en-US" sz="2400" dirty="0">
                <a:latin typeface="Times New Roman" panose="02020603050405020304" pitchFamily="18" charset="0"/>
                <a:cs typeface="Times New Roman" panose="02020603050405020304" pitchFamily="18" charset="0"/>
              </a:rPr>
              <a:t>Non-Disclosure Agreements (NDAs): Legally binding agreements protect trade secrets and sensitive information shared with employees or partners.</a:t>
            </a:r>
          </a:p>
          <a:p>
            <a:pPr algn="just"/>
            <a:r>
              <a:rPr lang="en-US" sz="2400" dirty="0">
                <a:latin typeface="Times New Roman" panose="02020603050405020304" pitchFamily="18" charset="0"/>
                <a:cs typeface="Times New Roman" panose="02020603050405020304" pitchFamily="18" charset="0"/>
              </a:rPr>
              <a:t>Regular Monitoring and Auditing: Continual online monitoring and IP audits help detect and respond to infringements quickly.</a:t>
            </a:r>
          </a:p>
          <a:p>
            <a:pPr algn="just"/>
            <a:r>
              <a:rPr lang="en-US" sz="2400" dirty="0">
                <a:latin typeface="Times New Roman" panose="02020603050405020304" pitchFamily="18" charset="0"/>
                <a:cs typeface="Times New Roman" panose="02020603050405020304" pitchFamily="18" charset="0"/>
              </a:rPr>
              <a:t>Access Controls and Cybersecurity: Restricting access to sensitive information using passwords, two-factor authentication, and secure networks reduces the risk of internal and external theft.</a:t>
            </a:r>
          </a:p>
          <a:p>
            <a:pPr algn="just"/>
            <a:r>
              <a:rPr lang="en-US" sz="2400" dirty="0">
                <a:latin typeface="Times New Roman" panose="02020603050405020304" pitchFamily="18" charset="0"/>
                <a:cs typeface="Times New Roman" panose="02020603050405020304" pitchFamily="18" charset="0"/>
              </a:rPr>
              <a:t>Employee Education: Training staff on the importance of IP and how to safeguard it is essential in preventing accidental or intentional leaks.</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4124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2085"/>
            <a:ext cx="10515600" cy="1325563"/>
          </a:xfrm>
        </p:spPr>
        <p:txBody>
          <a:bodyPr/>
          <a:lstStyle/>
          <a:p>
            <a:pPr algn="ctr"/>
            <a:r>
              <a:rPr lang="en-US" dirty="0">
                <a:latin typeface="Times New Roman" panose="02020603050405020304" pitchFamily="18" charset="0"/>
                <a:cs typeface="Times New Roman" panose="02020603050405020304" pitchFamily="18" charset="0"/>
              </a:rPr>
              <a:t>Enforcement and Remedies</a:t>
            </a:r>
          </a:p>
        </p:txBody>
      </p:sp>
      <p:sp>
        <p:nvSpPr>
          <p:cNvPr id="3" name="Content Placeholder 2"/>
          <p:cNvSpPr>
            <a:spLocks noGrp="1"/>
          </p:cNvSpPr>
          <p:nvPr>
            <p:ph idx="1"/>
          </p:nvPr>
        </p:nvSpPr>
        <p:spPr>
          <a:xfrm>
            <a:off x="386080" y="1497648"/>
            <a:ext cx="11480800" cy="4679315"/>
          </a:xfrm>
        </p:spPr>
        <p:txBody>
          <a:bodyPr/>
          <a:lstStyle/>
          <a:p>
            <a:pPr algn="just"/>
            <a:r>
              <a:rPr lang="en-US" b="1" dirty="0">
                <a:latin typeface="Times New Roman" panose="02020603050405020304" pitchFamily="18" charset="0"/>
                <a:cs typeface="Times New Roman" panose="02020603050405020304" pitchFamily="18" charset="0"/>
              </a:rPr>
              <a:t>Legal Action: </a:t>
            </a:r>
            <a:r>
              <a:rPr lang="en-US" dirty="0">
                <a:latin typeface="Times New Roman" panose="02020603050405020304" pitchFamily="18" charset="0"/>
                <a:cs typeface="Times New Roman" panose="02020603050405020304" pitchFamily="18" charset="0"/>
              </a:rPr>
              <a:t>Rights holders can pursue legal remedies such as takedown requests, cease-and-desist letters, and litigation against infringers.</a:t>
            </a:r>
          </a:p>
          <a:p>
            <a:pPr algn="just"/>
            <a:r>
              <a:rPr lang="en-US" b="1" dirty="0">
                <a:latin typeface="Times New Roman" panose="02020603050405020304" pitchFamily="18" charset="0"/>
                <a:cs typeface="Times New Roman" panose="02020603050405020304" pitchFamily="18" charset="0"/>
              </a:rPr>
              <a:t>International Cooperation: </a:t>
            </a:r>
            <a:r>
              <a:rPr lang="en-US" dirty="0">
                <a:latin typeface="Times New Roman" panose="02020603050405020304" pitchFamily="18" charset="0"/>
                <a:cs typeface="Times New Roman" panose="02020603050405020304" pitchFamily="18" charset="0"/>
              </a:rPr>
              <a:t>Cross-border enforcement often requires collaboration between governments, legal authorities, and international organizations.</a:t>
            </a:r>
          </a:p>
          <a:p>
            <a:pPr algn="just"/>
            <a:r>
              <a:rPr lang="en-US" b="1" dirty="0">
                <a:latin typeface="Times New Roman" panose="02020603050405020304" pitchFamily="18" charset="0"/>
                <a:cs typeface="Times New Roman" panose="02020603050405020304" pitchFamily="18" charset="0"/>
              </a:rPr>
              <a:t>Technological Solutions: </a:t>
            </a:r>
            <a:r>
              <a:rPr lang="en-US" dirty="0">
                <a:latin typeface="Times New Roman" panose="02020603050405020304" pitchFamily="18" charset="0"/>
                <a:cs typeface="Times New Roman" panose="02020603050405020304" pitchFamily="18" charset="0"/>
              </a:rPr>
              <a:t>Automated tools for online tracking, digital watermark detection, and content recognition assist in identifying and addressing infringements.</a:t>
            </a:r>
          </a:p>
        </p:txBody>
      </p:sp>
    </p:spTree>
    <p:extLst>
      <p:ext uri="{BB962C8B-B14F-4D97-AF65-F5344CB8AC3E}">
        <p14:creationId xmlns:p14="http://schemas.microsoft.com/office/powerpoint/2010/main" val="2892095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9000" y="2610485"/>
            <a:ext cx="10515600" cy="1325563"/>
          </a:xfrm>
        </p:spPr>
        <p:txBody>
          <a:bodyPr/>
          <a:lstStyle/>
          <a:p>
            <a:pPr algn="ctr"/>
            <a:r>
              <a:rPr lang="en-US" b="1" dirty="0">
                <a:latin typeface="Times New Roman" panose="02020603050405020304" pitchFamily="18" charset="0"/>
                <a:cs typeface="Times New Roman" panose="02020603050405020304" pitchFamily="18" charset="0"/>
              </a:rPr>
              <a:t>Case Law </a:t>
            </a:r>
          </a:p>
        </p:txBody>
      </p:sp>
    </p:spTree>
    <p:extLst>
      <p:ext uri="{BB962C8B-B14F-4D97-AF65-F5344CB8AC3E}">
        <p14:creationId xmlns:p14="http://schemas.microsoft.com/office/powerpoint/2010/main" val="39175981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1860</Words>
  <Application>Microsoft Office PowerPoint</Application>
  <PresentationFormat>Widescreen</PresentationFormat>
  <Paragraphs>107</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Overview of intellectual property Law </vt:lpstr>
      <vt:lpstr>Overview of Intellectual Property Law</vt:lpstr>
      <vt:lpstr>Definition and Purpose</vt:lpstr>
      <vt:lpstr>PowerPoint Presentation</vt:lpstr>
      <vt:lpstr>PowerPoint Presentation</vt:lpstr>
      <vt:lpstr>PowerPoint Presentation</vt:lpstr>
      <vt:lpstr>PowerPoint Presentation</vt:lpstr>
      <vt:lpstr>PowerPoint Presentation</vt:lpstr>
      <vt:lpstr>Other forms of IP include</vt:lpstr>
      <vt:lpstr>Legal Framework and Sources</vt:lpstr>
      <vt:lpstr>IP law is designed to</vt:lpstr>
      <vt:lpstr>Limitations and Exceptions</vt:lpstr>
      <vt:lpstr>Conclusion </vt:lpstr>
      <vt:lpstr>PowerPoint Presentation</vt:lpstr>
      <vt:lpstr>Copyright, Trademark, and Patent Law</vt:lpstr>
      <vt:lpstr>Copyright, Trademark, and Patent Law</vt:lpstr>
      <vt:lpstr>Copyright</vt:lpstr>
      <vt:lpstr>Trademark</vt:lpstr>
      <vt:lpstr>Patent</vt:lpstr>
      <vt:lpstr>Protection of intellectual Property in the digital age</vt:lpstr>
      <vt:lpstr>Protection of intellectual Property in the digital age</vt:lpstr>
      <vt:lpstr>Key Challenges in the Digital Age</vt:lpstr>
      <vt:lpstr>Practical and Technological Protection Strategies</vt:lpstr>
      <vt:lpstr>Enforcement and Remedies</vt:lpstr>
      <vt:lpstr>Case Law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intellectual property Law</dc:title>
  <dc:creator>USER</dc:creator>
  <cp:lastModifiedBy>Ravi Silwal</cp:lastModifiedBy>
  <cp:revision>6</cp:revision>
  <dcterms:created xsi:type="dcterms:W3CDTF">2025-05-18T16:25:18Z</dcterms:created>
  <dcterms:modified xsi:type="dcterms:W3CDTF">2025-05-20T08:20:34Z</dcterms:modified>
</cp:coreProperties>
</file>