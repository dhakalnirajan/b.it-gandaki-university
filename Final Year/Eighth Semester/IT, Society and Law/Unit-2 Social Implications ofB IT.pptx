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59" r:id="rId6"/>
    <p:sldId id="260" r:id="rId7"/>
    <p:sldId id="261" r:id="rId8"/>
    <p:sldId id="262" r:id="rId9"/>
    <p:sldId id="265" r:id="rId10"/>
    <p:sldId id="266" r:id="rId11"/>
    <p:sldId id="267" r:id="rId12"/>
    <p:sldId id="268" r:id="rId13"/>
    <p:sldId id="279" r:id="rId14"/>
    <p:sldId id="269" r:id="rId15"/>
    <p:sldId id="270" r:id="rId16"/>
    <p:sldId id="272" r:id="rId17"/>
    <p:sldId id="274" r:id="rId18"/>
    <p:sldId id="275" r:id="rId19"/>
    <p:sldId id="264" r:id="rId20"/>
    <p:sldId id="271" r:id="rId21"/>
    <p:sldId id="273"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412868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18465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568737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2E6E9E-DB1A-424E-8D58-3C72F49ECCF7}"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4280170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2E6E9E-DB1A-424E-8D58-3C72F49ECCF7}" type="datetimeFigureOut">
              <a:rPr lang="en-US" smtClean="0"/>
              <a:t>5/15/2025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820237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2E6E9E-DB1A-424E-8D58-3C72F49ECCF7}" type="datetimeFigureOut">
              <a:rPr lang="en-US" smtClean="0"/>
              <a:t>5/15/2025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815259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2E6E9E-DB1A-424E-8D58-3C72F49ECCF7}" type="datetimeFigureOut">
              <a:rPr lang="en-US" smtClean="0"/>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291427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2E6E9E-DB1A-424E-8D58-3C72F49ECCF7}"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953369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2E6E9E-DB1A-424E-8D58-3C72F49ECCF7}"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284777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416778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7322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3365178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6175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256907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3372618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267507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2E6E9E-DB1A-424E-8D58-3C72F49ECCF7}" type="datetimeFigureOut">
              <a:rPr lang="en-US" smtClean="0"/>
              <a:t>5/15/2025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7FA0EA5-A24D-4719-BE27-529394D41F67}" type="slidenum">
              <a:rPr lang="en-US" smtClean="0"/>
              <a:t>‹#›</a:t>
            </a:fld>
            <a:endParaRPr lang="en-US"/>
          </a:p>
        </p:txBody>
      </p:sp>
    </p:spTree>
    <p:extLst>
      <p:ext uri="{BB962C8B-B14F-4D97-AF65-F5344CB8AC3E}">
        <p14:creationId xmlns:p14="http://schemas.microsoft.com/office/powerpoint/2010/main" val="38482525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Social Implications of IT</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3418632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Implications in health sector </a:t>
            </a:r>
          </a:p>
        </p:txBody>
      </p:sp>
      <p:sp>
        <p:nvSpPr>
          <p:cNvPr id="5" name="Rectangle 2"/>
          <p:cNvSpPr>
            <a:spLocks noGrp="1" noChangeArrowheads="1"/>
          </p:cNvSpPr>
          <p:nvPr>
            <p:ph idx="1"/>
          </p:nvPr>
        </p:nvSpPr>
        <p:spPr bwMode="auto">
          <a:xfrm>
            <a:off x="391554" y="2287369"/>
            <a:ext cx="1140889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Digital systems enable accurate and organized patient records.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Hospital operations are streamlined through online appointments, billing, data sharing, and test result access.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AI and big data support advanced medical research by identifying patterns in health data.</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lang="en-US" sz="1800" dirty="0">
              <a:latin typeface="Arial" panose="020B0604020202020204" pitchFamily="34" charset="0"/>
            </a:endParaRPr>
          </a:p>
        </p:txBody>
      </p:sp>
    </p:spTree>
    <p:extLst>
      <p:ext uri="{BB962C8B-B14F-4D97-AF65-F5344CB8AC3E}">
        <p14:creationId xmlns:p14="http://schemas.microsoft.com/office/powerpoint/2010/main" val="2657988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education sector</a:t>
            </a:r>
          </a:p>
        </p:txBody>
      </p:sp>
      <p:sp>
        <p:nvSpPr>
          <p:cNvPr id="3" name="Content Placeholder 2"/>
          <p:cNvSpPr>
            <a:spLocks noGrp="1"/>
          </p:cNvSpPr>
          <p:nvPr>
            <p:ph idx="1"/>
          </p:nvPr>
        </p:nvSpPr>
        <p:spPr/>
        <p:txBody>
          <a:bodyPr>
            <a:normAutofit/>
          </a:bodyPr>
          <a:lstStyle/>
          <a:p>
            <a:pPr algn="just"/>
            <a:r>
              <a:rPr lang="en-US" dirty="0"/>
              <a:t>IT plays a significant role in modern education. It is taught as a core subject in universities and colleges. Moreover, it is used as a teaching aid in various disciplines, including science, medicine, and engineering. IT also supports interactive and practical learning in schools and universities. Online education, distance learning, and e-learning platforms are now commonly used to provide flexible education opportunities. </a:t>
            </a:r>
          </a:p>
          <a:p>
            <a:pPr algn="just"/>
            <a:r>
              <a:rPr lang="en-US" dirty="0"/>
              <a:t>It provide assistive tools like screen readers and speech- to- text software for students with disabilities. </a:t>
            </a:r>
          </a:p>
          <a:p>
            <a:pPr algn="just"/>
            <a:r>
              <a:rPr lang="en-US" dirty="0"/>
              <a:t>Customized learning platforms support diverse learning needs and styles. </a:t>
            </a:r>
          </a:p>
          <a:p>
            <a:pPr algn="just"/>
            <a:r>
              <a:rPr lang="en-US" dirty="0"/>
              <a:t>Online access helps reach remote and underserved communities, promoting equal education opportunities. </a:t>
            </a:r>
          </a:p>
        </p:txBody>
      </p:sp>
    </p:spTree>
    <p:extLst>
      <p:ext uri="{BB962C8B-B14F-4D97-AF65-F5344CB8AC3E}">
        <p14:creationId xmlns:p14="http://schemas.microsoft.com/office/powerpoint/2010/main" val="3679758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business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ea typeface="Tahoma" panose="020B0604030504040204" pitchFamily="34" charset="0"/>
                <a:cs typeface="Times New Roman" panose="02020603050405020304" pitchFamily="18" charset="0"/>
              </a:rPr>
              <a:t>Automation and quality control systems streamline production processes, leading to higher output and reduction cost. </a:t>
            </a:r>
          </a:p>
          <a:p>
            <a:pPr algn="just"/>
            <a:r>
              <a:rPr lang="en-US" dirty="0">
                <a:latin typeface="Times New Roman" panose="02020603050405020304" pitchFamily="18" charset="0"/>
                <a:ea typeface="Tahoma" panose="020B0604030504040204" pitchFamily="34" charset="0"/>
                <a:cs typeface="Times New Roman" panose="02020603050405020304" pitchFamily="18" charset="0"/>
              </a:rPr>
              <a:t>E- commerce platform , digital marketing strategies and social media channels enable business to reach and engage international audiences.</a:t>
            </a:r>
          </a:p>
          <a:p>
            <a:pPr algn="just"/>
            <a:r>
              <a:rPr lang="en-US" dirty="0">
                <a:latin typeface="Times New Roman" panose="02020603050405020304" pitchFamily="18" charset="0"/>
                <a:ea typeface="Tahoma" panose="020B0604030504040204" pitchFamily="34" charset="0"/>
                <a:cs typeface="Times New Roman" panose="02020603050405020304" pitchFamily="18" charset="0"/>
              </a:rPr>
              <a:t>It systems ensure secure storage, easy access, and effective analysis of business data, supporting informed and timely decision- making.</a:t>
            </a:r>
          </a:p>
          <a:p>
            <a:pPr marL="0" indent="0">
              <a:buNone/>
            </a:pPr>
            <a:endParaRPr lang="en-US" dirty="0"/>
          </a:p>
        </p:txBody>
      </p:sp>
    </p:spTree>
    <p:extLst>
      <p:ext uri="{BB962C8B-B14F-4D97-AF65-F5344CB8AC3E}">
        <p14:creationId xmlns:p14="http://schemas.microsoft.com/office/powerpoint/2010/main" val="122146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entertainment Sector </a:t>
            </a:r>
          </a:p>
        </p:txBody>
      </p:sp>
      <p:sp>
        <p:nvSpPr>
          <p:cNvPr id="3" name="Content Placeholder 2"/>
          <p:cNvSpPr>
            <a:spLocks noGrp="1"/>
          </p:cNvSpPr>
          <p:nvPr>
            <p:ph idx="1"/>
          </p:nvPr>
        </p:nvSpPr>
        <p:spPr/>
        <p:txBody>
          <a:bodyPr/>
          <a:lstStyle/>
          <a:p>
            <a:pPr algn="just"/>
            <a:r>
              <a:rPr lang="en-US" dirty="0"/>
              <a:t>IT are widely used in the entertainment industry for tasks like video editing, creating special effects, and producing animated films. In the music industry, they are used for composing, recording, and sound synthesis. It has made entertainment more creative and accessible. </a:t>
            </a:r>
          </a:p>
        </p:txBody>
      </p:sp>
    </p:spTree>
    <p:extLst>
      <p:ext uri="{BB962C8B-B14F-4D97-AF65-F5344CB8AC3E}">
        <p14:creationId xmlns:p14="http://schemas.microsoft.com/office/powerpoint/2010/main" val="228300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communication sector</a:t>
            </a:r>
          </a:p>
        </p:txBody>
      </p:sp>
      <p:sp>
        <p:nvSpPr>
          <p:cNvPr id="3" name="Content Placeholder 2"/>
          <p:cNvSpPr>
            <a:spLocks noGrp="1"/>
          </p:cNvSpPr>
          <p:nvPr>
            <p:ph idx="1"/>
          </p:nvPr>
        </p:nvSpPr>
        <p:spPr/>
        <p:txBody>
          <a:bodyPr/>
          <a:lstStyle/>
          <a:p>
            <a:pPr algn="just"/>
            <a:r>
              <a:rPr lang="en-US" dirty="0"/>
              <a:t>IT has revolutionaries the way information is shared. Through the internet, data can be exchange quickly and efficiently among individuals and organizations. Tools like email, instant messaging, video conferring, and online forums enable real-time communication.</a:t>
            </a:r>
          </a:p>
          <a:p>
            <a:pPr algn="just"/>
            <a:r>
              <a:rPr lang="en-US" dirty="0"/>
              <a:t>Additionally, electric advertisements, digital billboards, and online bulletins facilitate the widespread sharing of information. </a:t>
            </a:r>
          </a:p>
        </p:txBody>
      </p:sp>
    </p:spTree>
    <p:extLst>
      <p:ext uri="{BB962C8B-B14F-4D97-AF65-F5344CB8AC3E}">
        <p14:creationId xmlns:p14="http://schemas.microsoft.com/office/powerpoint/2010/main" val="212558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Banking sector</a:t>
            </a:r>
          </a:p>
        </p:txBody>
      </p:sp>
      <p:sp>
        <p:nvSpPr>
          <p:cNvPr id="3" name="Content Placeholder 2"/>
          <p:cNvSpPr>
            <a:spLocks noGrp="1"/>
          </p:cNvSpPr>
          <p:nvPr>
            <p:ph idx="1"/>
          </p:nvPr>
        </p:nvSpPr>
        <p:spPr/>
        <p:txBody>
          <a:bodyPr/>
          <a:lstStyle/>
          <a:p>
            <a:pPr algn="just"/>
            <a:r>
              <a:rPr lang="en-US" dirty="0"/>
              <a:t> Information Technology has significantly transformed the banking sector by enhancing efficiency, accessibility, and customer experience. Digital banking services, such as mobile apps and online portals, allow customers to access their accounts, transfer funds, and pay bills anytime, from anywhere. These advancements have led to faster, real-time transactions and greater convenience. </a:t>
            </a:r>
          </a:p>
          <a:p>
            <a:pPr algn="just"/>
            <a:endParaRPr lang="en-US" dirty="0"/>
          </a:p>
        </p:txBody>
      </p:sp>
    </p:spTree>
    <p:extLst>
      <p:ext uri="{BB962C8B-B14F-4D97-AF65-F5344CB8AC3E}">
        <p14:creationId xmlns:p14="http://schemas.microsoft.com/office/powerpoint/2010/main" val="2142496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 governance</a:t>
            </a:r>
          </a:p>
        </p:txBody>
      </p:sp>
      <p:sp>
        <p:nvSpPr>
          <p:cNvPr id="3" name="Content Placeholder 2"/>
          <p:cNvSpPr>
            <a:spLocks noGrp="1"/>
          </p:cNvSpPr>
          <p:nvPr>
            <p:ph idx="1"/>
          </p:nvPr>
        </p:nvSpPr>
        <p:spPr/>
        <p:txBody>
          <a:bodyPr/>
          <a:lstStyle/>
          <a:p>
            <a:pPr algn="just"/>
            <a:r>
              <a:rPr lang="en-US" dirty="0"/>
              <a:t>E-government refers to the use of Information technology by government agencies to improve the delivery of services, enhance transparency, and engage citizens more effectively. ( For example : </a:t>
            </a:r>
            <a:r>
              <a:rPr lang="en-US" dirty="0" err="1"/>
              <a:t>Nagarik</a:t>
            </a:r>
            <a:r>
              <a:rPr lang="en-US" dirty="0"/>
              <a:t> App)</a:t>
            </a:r>
          </a:p>
        </p:txBody>
      </p:sp>
    </p:spTree>
    <p:extLst>
      <p:ext uri="{BB962C8B-B14F-4D97-AF65-F5344CB8AC3E}">
        <p14:creationId xmlns:p14="http://schemas.microsoft.com/office/powerpoint/2010/main" val="229957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t>
            </a:r>
          </a:p>
        </p:txBody>
      </p:sp>
      <p:sp>
        <p:nvSpPr>
          <p:cNvPr id="3" name="Content Placeholder 2"/>
          <p:cNvSpPr>
            <a:spLocks noGrp="1"/>
          </p:cNvSpPr>
          <p:nvPr>
            <p:ph idx="1"/>
          </p:nvPr>
        </p:nvSpPr>
        <p:spPr/>
        <p:txBody>
          <a:bodyPr>
            <a:normAutofit fontScale="92500" lnSpcReduction="10000"/>
          </a:bodyPr>
          <a:lstStyle/>
          <a:p>
            <a:r>
              <a:rPr lang="en-US" dirty="0"/>
              <a:t>Article 27 of the Constitution of Nepal 2072  states that “Every citizen shall have the right to demand and receive information on any matter of his or her interest or of public interest.”</a:t>
            </a:r>
          </a:p>
          <a:p>
            <a:r>
              <a:rPr lang="en-US" dirty="0"/>
              <a:t>Provided that no one shall be compelled to provide information on any matter of which confidentiality must be maintained in accordance with the law.</a:t>
            </a:r>
          </a:p>
          <a:p>
            <a:r>
              <a:rPr lang="en-US" dirty="0"/>
              <a:t>These are also known as "cyber" or "internet" rights. They include rights related to access to information, privacy, and data protection. These rights have emerged due to the rapid growth of technology and the internet, aiming to protect both individual and societal rights in the digital age.</a:t>
            </a:r>
          </a:p>
          <a:p>
            <a:r>
              <a:rPr lang="en-US" dirty="0"/>
              <a:t>To request or receive information, two important conditions must be met:</a:t>
            </a:r>
          </a:p>
          <a:p>
            <a:pPr>
              <a:buFont typeface="+mj-lt"/>
              <a:buAutoNum type="arabicPeriod"/>
            </a:pPr>
            <a:r>
              <a:rPr lang="en-US" dirty="0"/>
              <a:t>The information should be of private or public interest and must be requested by a citizen exercising this fundamental right.</a:t>
            </a:r>
          </a:p>
          <a:p>
            <a:pPr>
              <a:buFont typeface="+mj-lt"/>
              <a:buAutoNum type="arabicPeriod"/>
            </a:pPr>
            <a:r>
              <a:rPr lang="en-US" dirty="0"/>
              <a:t>It must not violate another person's right to privacy or break confidentiality laws.</a:t>
            </a:r>
          </a:p>
          <a:p>
            <a:endParaRPr lang="en-US" dirty="0"/>
          </a:p>
        </p:txBody>
      </p:sp>
    </p:spTree>
    <p:extLst>
      <p:ext uri="{BB962C8B-B14F-4D97-AF65-F5344CB8AC3E}">
        <p14:creationId xmlns:p14="http://schemas.microsoft.com/office/powerpoint/2010/main" val="32690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normAutofit/>
          </a:bodyPr>
          <a:lstStyle/>
          <a:p>
            <a:r>
              <a:rPr lang="en-US" dirty="0"/>
              <a:t>The Federal Information Security Management Act of2002 (FISMA) defines three types of information  loss: loss of confidentiality, loss of integrity, or loss of availability(44 U.S.C., Sec. 3542)</a:t>
            </a:r>
          </a:p>
          <a:p>
            <a:endParaRPr lang="en-US" dirty="0"/>
          </a:p>
          <a:p>
            <a:r>
              <a:rPr lang="en-US" dirty="0"/>
              <a:t>A loss of confidentiality is defined as the unauthorized disclosure of information. </a:t>
            </a:r>
          </a:p>
          <a:p>
            <a:r>
              <a:rPr lang="en-US" dirty="0"/>
              <a:t>A loss of integrity is defined as the unauthorized modification or destruction of information.</a:t>
            </a:r>
          </a:p>
          <a:p>
            <a:r>
              <a:rPr lang="en-US" dirty="0"/>
              <a:t>A loss of availability is defined as the disruption of access to or use of information or an information system.</a:t>
            </a:r>
          </a:p>
        </p:txBody>
      </p:sp>
    </p:spTree>
    <p:extLst>
      <p:ext uri="{BB962C8B-B14F-4D97-AF65-F5344CB8AC3E}">
        <p14:creationId xmlns:p14="http://schemas.microsoft.com/office/powerpoint/2010/main" val="320457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of IT</a:t>
            </a:r>
          </a:p>
        </p:txBody>
      </p:sp>
      <p:sp>
        <p:nvSpPr>
          <p:cNvPr id="3" name="Content Placeholder 2"/>
          <p:cNvSpPr>
            <a:spLocks noGrp="1"/>
          </p:cNvSpPr>
          <p:nvPr>
            <p:ph idx="1"/>
          </p:nvPr>
        </p:nvSpPr>
        <p:spPr/>
        <p:txBody>
          <a:bodyPr>
            <a:normAutofit fontScale="92500" lnSpcReduction="20000"/>
          </a:bodyPr>
          <a:lstStyle/>
          <a:p>
            <a:r>
              <a:rPr lang="en-US" dirty="0"/>
              <a:t>Privacy</a:t>
            </a:r>
          </a:p>
          <a:p>
            <a:pPr algn="just"/>
            <a:r>
              <a:rPr lang="en-US" b="1" dirty="0">
                <a:latin typeface="Times New Roman" panose="02020603050405020304" pitchFamily="18" charset="0"/>
                <a:cs typeface="Times New Roman" panose="02020603050405020304" pitchFamily="18" charset="0"/>
              </a:rPr>
              <a:t>Privacy</a:t>
            </a:r>
            <a:r>
              <a:rPr lang="en-US" dirty="0">
                <a:latin typeface="Times New Roman" panose="02020603050405020304" pitchFamily="18" charset="0"/>
                <a:cs typeface="Times New Roman" panose="02020603050405020304" pitchFamily="18" charset="0"/>
              </a:rPr>
              <a:t> refers to an individual's fundamental right to autonomy over their personal information, ensuring that data related to their identity, behavior, and communication is not accessed, utilized, or disseminated without explicit consent.</a:t>
            </a:r>
          </a:p>
          <a:p>
            <a:pPr algn="just"/>
            <a:r>
              <a:rPr lang="en-US" b="0" i="0" dirty="0">
                <a:effectLst/>
                <a:latin typeface="Times New Roman" panose="02020603050405020304" pitchFamily="18" charset="0"/>
                <a:cs typeface="Times New Roman" panose="02020603050405020304" pitchFamily="18" charset="0"/>
              </a:rPr>
              <a:t>Privacy relates to the control individuals have over their personal information and how it is used, shared, and protected. It's about ensuring that data is collected, stored, and used in a way that respects individual rights and complies with applicable laws and regulations.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Within the realm of </a:t>
            </a:r>
            <a:r>
              <a:rPr lang="en-US" b="1" dirty="0">
                <a:latin typeface="Times New Roman" panose="02020603050405020304" pitchFamily="18" charset="0"/>
                <a:cs typeface="Times New Roman" panose="02020603050405020304" pitchFamily="18" charset="0"/>
              </a:rPr>
              <a:t>Information Technology</a:t>
            </a:r>
            <a:r>
              <a:rPr lang="en-US" dirty="0">
                <a:latin typeface="Times New Roman" panose="02020603050405020304" pitchFamily="18" charset="0"/>
                <a:cs typeface="Times New Roman" panose="02020603050405020304" pitchFamily="18" charset="0"/>
              </a:rPr>
              <a:t>, privacy encompasses the ability to control access to personal data—such as demographic details, geo-location, health records, and digital activity logs. It also involves the assurance that digital interactions and communications remain confidential and protected from unauthorized observation or interception.</a:t>
            </a:r>
          </a:p>
          <a:p>
            <a:pPr algn="just"/>
            <a:r>
              <a:rPr lang="en-US" dirty="0">
                <a:latin typeface="Times New Roman" panose="02020603050405020304" pitchFamily="18" charset="0"/>
                <a:cs typeface="Times New Roman" panose="02020603050405020304" pitchFamily="18" charset="0"/>
              </a:rPr>
              <a:t>Moreover, privacy implies transparency and informed consent regarding how personal data is collected, processed, stored, and shared by digital systems, aligning with ethical standards and legal frameworks such as data protection regulations.</a:t>
            </a:r>
          </a:p>
          <a:p>
            <a:pPr marL="0" indent="0">
              <a:buNone/>
            </a:pPr>
            <a:endParaRPr lang="en-US" dirty="0"/>
          </a:p>
        </p:txBody>
      </p:sp>
    </p:spTree>
    <p:extLst>
      <p:ext uri="{BB962C8B-B14F-4D97-AF65-F5344CB8AC3E}">
        <p14:creationId xmlns:p14="http://schemas.microsoft.com/office/powerpoint/2010/main" val="617074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838200" y="836762"/>
            <a:ext cx="10515600" cy="5340201"/>
          </a:xfrm>
        </p:spPr>
        <p:txBody>
          <a:bodyPr>
            <a:normAutofit/>
          </a:bodyPr>
          <a:lstStyle/>
          <a:p>
            <a:pPr algn="just"/>
            <a:r>
              <a:rPr lang="en-US" dirty="0"/>
              <a:t>Privacy means keeping personal information safe and giving control over who can access it. This includes details like :name, location or what you do online. It is important because if information is not protected, it can be misused by criminals or companies.</a:t>
            </a:r>
          </a:p>
          <a:p>
            <a:pPr algn="just"/>
            <a:r>
              <a:rPr lang="en-US" dirty="0"/>
              <a:t>Rights of Nepalese citizens under the Privacy Act, 2075.</a:t>
            </a:r>
          </a:p>
          <a:p>
            <a:pPr algn="just">
              <a:buFontTx/>
              <a:buChar char="-"/>
            </a:pPr>
            <a:r>
              <a:rPr lang="en-US" dirty="0"/>
              <a:t>The right to be informed</a:t>
            </a:r>
          </a:p>
          <a:p>
            <a:pPr algn="just">
              <a:buFontTx/>
              <a:buChar char="-"/>
            </a:pPr>
            <a:r>
              <a:rPr lang="en-US" dirty="0"/>
              <a:t>The right to access</a:t>
            </a:r>
          </a:p>
          <a:p>
            <a:pPr algn="just">
              <a:buFontTx/>
              <a:buChar char="-"/>
            </a:pPr>
            <a:r>
              <a:rPr lang="en-US" dirty="0"/>
              <a:t>The rights to erasure  </a:t>
            </a:r>
          </a:p>
          <a:p>
            <a:pPr algn="just">
              <a:buFontTx/>
              <a:buChar char="-"/>
            </a:pPr>
            <a:r>
              <a:rPr lang="en-US" dirty="0"/>
              <a:t>The right to rectification </a:t>
            </a:r>
          </a:p>
          <a:p>
            <a:pPr algn="just">
              <a:buFontTx/>
              <a:buChar char="-"/>
            </a:pPr>
            <a:r>
              <a:rPr lang="en-US" dirty="0"/>
              <a:t>The right not to have their sensitive personal data processed. </a:t>
            </a:r>
          </a:p>
          <a:p>
            <a:pPr algn="just">
              <a:buFontTx/>
              <a:buChar char="-"/>
            </a:pPr>
            <a:r>
              <a:rPr lang="en-US" dirty="0"/>
              <a:t>The right to file complain and seek compensation.</a:t>
            </a:r>
          </a:p>
        </p:txBody>
      </p:sp>
    </p:spTree>
    <p:extLst>
      <p:ext uri="{BB962C8B-B14F-4D97-AF65-F5344CB8AC3E}">
        <p14:creationId xmlns:p14="http://schemas.microsoft.com/office/powerpoint/2010/main" val="3979876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reasons for privacy </a:t>
            </a:r>
          </a:p>
        </p:txBody>
      </p:sp>
      <p:sp>
        <p:nvSpPr>
          <p:cNvPr id="3" name="Content Placeholder 2"/>
          <p:cNvSpPr>
            <a:spLocks noGrp="1"/>
          </p:cNvSpPr>
          <p:nvPr>
            <p:ph idx="1"/>
          </p:nvPr>
        </p:nvSpPr>
        <p:spPr>
          <a:xfrm>
            <a:off x="677334" y="1199073"/>
            <a:ext cx="8596668" cy="4842290"/>
          </a:xfrm>
        </p:spPr>
        <p:txBody>
          <a:bodyPr>
            <a:normAutofit fontScale="92500" lnSpcReduction="10000"/>
          </a:bodyPr>
          <a:lstStyle/>
          <a:p>
            <a:pPr algn="just"/>
            <a:r>
              <a:rPr lang="en-US" dirty="0"/>
              <a:t>Prevention of Harm: Unrestricted access to personal data can lead to serious risks, including identity theft, fraud, or reputational damage.</a:t>
            </a:r>
          </a:p>
          <a:p>
            <a:pPr algn="just"/>
            <a:endParaRPr lang="en-US" dirty="0"/>
          </a:p>
          <a:p>
            <a:pPr algn="just"/>
            <a:r>
              <a:rPr lang="en-US" dirty="0"/>
              <a:t>Informational Inequality: Individuals are at a disadvantage in negotiating how their data is used, especially when facing powerful corporations with more resources and information. Data protection laws aim to correct this imbalance by enforcing fair practices and transparency.</a:t>
            </a:r>
          </a:p>
          <a:p>
            <a:pPr algn="just"/>
            <a:endParaRPr lang="en-US" dirty="0"/>
          </a:p>
          <a:p>
            <a:pPr algn="just"/>
            <a:r>
              <a:rPr lang="en-US" dirty="0"/>
              <a:t>Informational Injustice and Discrimination: Data shared in one context (e.g., healthcare) may be misinterpreted or misused in another (e.g., employment, business), potentially resulting in unfair discrimination.</a:t>
            </a:r>
          </a:p>
          <a:p>
            <a:pPr algn="just"/>
            <a:endParaRPr lang="en-US" dirty="0"/>
          </a:p>
          <a:p>
            <a:pPr algn="just"/>
            <a:r>
              <a:rPr lang="en-US" dirty="0"/>
              <a:t>Moral Autonomy and Human Dignity: Constant surveillance can limit personal freedom by influencing behavior and undermining autonomy. Moreover, reducing a person to their data profile disregards the complex, private nature of human identity.</a:t>
            </a:r>
          </a:p>
        </p:txBody>
      </p:sp>
    </p:spTree>
    <p:extLst>
      <p:ext uri="{BB962C8B-B14F-4D97-AF65-F5344CB8AC3E}">
        <p14:creationId xmlns:p14="http://schemas.microsoft.com/office/powerpoint/2010/main" val="2319760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12 (4), Privacy Protection Act 2075</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No one is allowed to share or publish another person's personal information without their consent. This includes details about:</a:t>
            </a:r>
          </a:p>
          <a:p>
            <a:r>
              <a:rPr lang="en-US" dirty="0"/>
              <a:t>Health</a:t>
            </a:r>
          </a:p>
          <a:p>
            <a:r>
              <a:rPr lang="en-US" dirty="0"/>
              <a:t>Property and income</a:t>
            </a:r>
          </a:p>
          <a:p>
            <a:r>
              <a:rPr lang="en-US" dirty="0"/>
              <a:t>Job or employment</a:t>
            </a:r>
          </a:p>
          <a:p>
            <a:r>
              <a:rPr lang="en-US" dirty="0"/>
              <a:t>Family matters</a:t>
            </a:r>
          </a:p>
          <a:p>
            <a:r>
              <a:rPr lang="en-US" dirty="0"/>
              <a:t>Biometric data (like fingerprints)</a:t>
            </a:r>
          </a:p>
          <a:p>
            <a:r>
              <a:rPr lang="en-US" dirty="0"/>
              <a:t>Signatures (including electronic)</a:t>
            </a:r>
          </a:p>
          <a:p>
            <a:r>
              <a:rPr lang="en-US" dirty="0"/>
              <a:t>Political views or election activity</a:t>
            </a:r>
          </a:p>
          <a:p>
            <a:r>
              <a:rPr lang="en-US" dirty="0"/>
              <a:t>Business or financial transactions</a:t>
            </a:r>
          </a:p>
          <a:p>
            <a:r>
              <a:rPr lang="en-US" dirty="0"/>
              <a:t>However, this rule does not apply if the information is required by a court or legal authority for a criminal investigation.</a:t>
            </a:r>
          </a:p>
          <a:p>
            <a:endParaRPr lang="en-US" dirty="0"/>
          </a:p>
        </p:txBody>
      </p:sp>
    </p:spTree>
    <p:extLst>
      <p:ext uri="{BB962C8B-B14F-4D97-AF65-F5344CB8AC3E}">
        <p14:creationId xmlns:p14="http://schemas.microsoft.com/office/powerpoint/2010/main" val="1133280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Section-19 :to have privacy of electronic means.</a:t>
            </a:r>
          </a:p>
        </p:txBody>
      </p:sp>
      <p:sp>
        <p:nvSpPr>
          <p:cNvPr id="3" name="Content Placeholder 2"/>
          <p:cNvSpPr>
            <a:spLocks noGrp="1"/>
          </p:cNvSpPr>
          <p:nvPr>
            <p:ph idx="1"/>
          </p:nvPr>
        </p:nvSpPr>
        <p:spPr/>
        <p:txBody>
          <a:bodyPr/>
          <a:lstStyle/>
          <a:p>
            <a:r>
              <a:rPr lang="en-US" b="1" dirty="0"/>
              <a:t>Right to Electronic Privacy:</a:t>
            </a:r>
            <a:endParaRPr lang="en-US" dirty="0"/>
          </a:p>
          <a:p>
            <a:r>
              <a:rPr lang="en-US" dirty="0"/>
              <a:t>Everyone has the right to keep their personal information, documents, messages, and data stored electronically private.</a:t>
            </a:r>
          </a:p>
          <a:p>
            <a:r>
              <a:rPr lang="en-US" dirty="0"/>
              <a:t>No one is allowed to access, share, or violate someone else's electronic information without permission.</a:t>
            </a:r>
          </a:p>
          <a:p>
            <a:r>
              <a:rPr lang="en-US" dirty="0"/>
              <a:t>A person found guilty may face up to </a:t>
            </a:r>
            <a:r>
              <a:rPr lang="en-US" b="1" dirty="0"/>
              <a:t>three years in prison</a:t>
            </a:r>
            <a:r>
              <a:rPr lang="en-US" dirty="0"/>
              <a:t>, a </a:t>
            </a:r>
            <a:r>
              <a:rPr lang="en-US" b="1" dirty="0"/>
              <a:t>fine of up to 30,000 rupees</a:t>
            </a:r>
            <a:r>
              <a:rPr lang="en-US" dirty="0"/>
              <a:t>, or </a:t>
            </a:r>
            <a:r>
              <a:rPr lang="en-US" b="1" dirty="0"/>
              <a:t>both</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569182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Security </a:t>
            </a:r>
          </a:p>
        </p:txBody>
      </p:sp>
      <p:sp>
        <p:nvSpPr>
          <p:cNvPr id="3" name="Content Placeholder 2"/>
          <p:cNvSpPr>
            <a:spLocks noGrp="1"/>
          </p:cNvSpPr>
          <p:nvPr>
            <p:ph idx="1"/>
          </p:nvPr>
        </p:nvSpPr>
        <p:spPr/>
        <p:txBody>
          <a:bodyPr/>
          <a:lstStyle/>
          <a:p>
            <a:pPr algn="just"/>
            <a:r>
              <a:rPr lang="en-US" b="1" dirty="0"/>
              <a:t>IT Security</a:t>
            </a:r>
            <a:r>
              <a:rPr lang="en-US" dirty="0"/>
              <a:t>, also known as </a:t>
            </a:r>
            <a:r>
              <a:rPr lang="en-US" b="1" dirty="0"/>
              <a:t>cyber security</a:t>
            </a:r>
            <a:r>
              <a:rPr lang="en-US" dirty="0"/>
              <a:t>, refers to the protection of digital systems, networks, and data from unauthorized access, attacks, or damage. Its main goal is to ensure the </a:t>
            </a:r>
            <a:r>
              <a:rPr lang="en-US" b="1" dirty="0"/>
              <a:t>confidentiality</a:t>
            </a:r>
            <a:r>
              <a:rPr lang="en-US" dirty="0"/>
              <a:t>, </a:t>
            </a:r>
            <a:r>
              <a:rPr lang="en-US" b="1" dirty="0"/>
              <a:t>integrity</a:t>
            </a:r>
            <a:r>
              <a:rPr lang="en-US" dirty="0"/>
              <a:t>, and </a:t>
            </a:r>
            <a:r>
              <a:rPr lang="en-US" b="1" dirty="0"/>
              <a:t>availability</a:t>
            </a:r>
            <a:r>
              <a:rPr lang="en-US" dirty="0"/>
              <a:t> of information.</a:t>
            </a:r>
          </a:p>
          <a:p>
            <a:pPr algn="just"/>
            <a:r>
              <a:rPr lang="en-US" dirty="0"/>
              <a:t>It simple means protection from digital attack. </a:t>
            </a:r>
          </a:p>
          <a:p>
            <a:pPr algn="just"/>
            <a:r>
              <a:rPr lang="en-US" dirty="0"/>
              <a:t>‘Keeping people safe online is an enormous task and no one entity or government has the perfect solution. But there is much we can do, and need to do more of, to strengthen prevention and improve response to cybercrime.’- </a:t>
            </a:r>
            <a:r>
              <a:rPr lang="en-US" dirty="0" err="1"/>
              <a:t>Yury</a:t>
            </a:r>
            <a:r>
              <a:rPr lang="en-US" dirty="0"/>
              <a:t> </a:t>
            </a:r>
            <a:r>
              <a:rPr lang="en-US" dirty="0" err="1"/>
              <a:t>Fedotov</a:t>
            </a:r>
            <a:r>
              <a:rPr lang="en-US" dirty="0"/>
              <a:t>, Executive Director of the UNODC.</a:t>
            </a:r>
          </a:p>
          <a:p>
            <a:pPr algn="just"/>
            <a:endParaRPr lang="en-US" dirty="0"/>
          </a:p>
        </p:txBody>
      </p:sp>
    </p:spTree>
    <p:extLst>
      <p:ext uri="{BB962C8B-B14F-4D97-AF65-F5344CB8AC3E}">
        <p14:creationId xmlns:p14="http://schemas.microsoft.com/office/powerpoint/2010/main" val="10134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measures</a:t>
            </a:r>
          </a:p>
        </p:txBody>
      </p:sp>
      <p:sp>
        <p:nvSpPr>
          <p:cNvPr id="3" name="Content Placeholder 2"/>
          <p:cNvSpPr>
            <a:spLocks noGrp="1"/>
          </p:cNvSpPr>
          <p:nvPr>
            <p:ph idx="1"/>
          </p:nvPr>
        </p:nvSpPr>
        <p:spPr/>
        <p:txBody>
          <a:bodyPr>
            <a:normAutofit fontScale="92500"/>
          </a:bodyPr>
          <a:lstStyle/>
          <a:p>
            <a:r>
              <a:rPr lang="en-US" dirty="0"/>
              <a:t>Use strong , unique password</a:t>
            </a:r>
          </a:p>
          <a:p>
            <a:r>
              <a:rPr lang="en-US" dirty="0"/>
              <a:t>Enable multi-factor authentication</a:t>
            </a:r>
          </a:p>
          <a:p>
            <a:r>
              <a:rPr lang="en-US" dirty="0"/>
              <a:t>Installed security software</a:t>
            </a:r>
          </a:p>
          <a:p>
            <a:r>
              <a:rPr lang="en-US" dirty="0"/>
              <a:t>Use internet safety tools</a:t>
            </a:r>
          </a:p>
          <a:p>
            <a:r>
              <a:rPr lang="en-US" dirty="0"/>
              <a:t>Be aware of scams </a:t>
            </a:r>
          </a:p>
          <a:p>
            <a:r>
              <a:rPr lang="en-US" dirty="0"/>
              <a:t>Train and educate</a:t>
            </a:r>
          </a:p>
          <a:p>
            <a:r>
              <a:rPr lang="en-US" dirty="0"/>
              <a:t>Follow international best practices – general data protection regulation of the EU</a:t>
            </a:r>
          </a:p>
          <a:p>
            <a:r>
              <a:rPr lang="en-US" dirty="0"/>
              <a:t>Back up your data regularly</a:t>
            </a:r>
          </a:p>
          <a:p>
            <a:r>
              <a:rPr lang="en-US" dirty="0"/>
              <a:t>Use strong and unique passwords</a:t>
            </a:r>
          </a:p>
          <a:p>
            <a:r>
              <a:rPr lang="en-US" dirty="0"/>
              <a:t>Use a password manager- tools like last Pass, Kee Pass</a:t>
            </a:r>
          </a:p>
          <a:p>
            <a:endParaRPr lang="en-US" dirty="0"/>
          </a:p>
        </p:txBody>
      </p:sp>
    </p:spTree>
    <p:extLst>
      <p:ext uri="{BB962C8B-B14F-4D97-AF65-F5344CB8AC3E}">
        <p14:creationId xmlns:p14="http://schemas.microsoft.com/office/powerpoint/2010/main" val="898707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lstStyle/>
          <a:p>
            <a:r>
              <a:rPr lang="en-US" dirty="0"/>
              <a:t>Be careful online</a:t>
            </a:r>
          </a:p>
          <a:p>
            <a:r>
              <a:rPr lang="en-US" dirty="0"/>
              <a:t>Use antivirus and firewall protection</a:t>
            </a:r>
          </a:p>
          <a:p>
            <a:r>
              <a:rPr lang="en-US" dirty="0"/>
              <a:t>Change password often</a:t>
            </a:r>
          </a:p>
          <a:p>
            <a:r>
              <a:rPr lang="en-US" dirty="0"/>
              <a:t>Update your device and software</a:t>
            </a:r>
          </a:p>
          <a:p>
            <a:r>
              <a:rPr lang="en-US" dirty="0"/>
              <a:t>Avoid public Wi-Fi</a:t>
            </a:r>
          </a:p>
          <a:p>
            <a:r>
              <a:rPr lang="en-US" dirty="0"/>
              <a:t>Check HTTPs on websites</a:t>
            </a:r>
          </a:p>
          <a:p>
            <a:r>
              <a:rPr lang="en-US" dirty="0"/>
              <a:t>Invest security tools </a:t>
            </a:r>
          </a:p>
          <a:p>
            <a:r>
              <a:rPr lang="en-US" dirty="0"/>
              <a:t>Use secure file sharing tools</a:t>
            </a:r>
          </a:p>
          <a:p>
            <a:endParaRPr lang="en-US" dirty="0"/>
          </a:p>
          <a:p>
            <a:endParaRPr lang="en-US" dirty="0"/>
          </a:p>
        </p:txBody>
      </p:sp>
    </p:spTree>
    <p:extLst>
      <p:ext uri="{BB962C8B-B14F-4D97-AF65-F5344CB8AC3E}">
        <p14:creationId xmlns:p14="http://schemas.microsoft.com/office/powerpoint/2010/main" val="1933505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8286"/>
          </a:xfrm>
        </p:spPr>
        <p:txBody>
          <a:bodyPr>
            <a:normAutofit fontScale="90000"/>
          </a:bodyPr>
          <a:lstStyle/>
          <a:p>
            <a:r>
              <a:rPr lang="en-US" dirty="0"/>
              <a:t>Legal Framework for IT</a:t>
            </a:r>
          </a:p>
        </p:txBody>
      </p:sp>
      <p:sp>
        <p:nvSpPr>
          <p:cNvPr id="3" name="Content Placeholder 2"/>
          <p:cNvSpPr>
            <a:spLocks noGrp="1"/>
          </p:cNvSpPr>
          <p:nvPr>
            <p:ph idx="1"/>
          </p:nvPr>
        </p:nvSpPr>
        <p:spPr>
          <a:xfrm>
            <a:off x="838200" y="983412"/>
            <a:ext cx="10515600" cy="5426014"/>
          </a:xfrm>
        </p:spPr>
        <p:txBody>
          <a:bodyPr>
            <a:normAutofit fontScale="77500" lnSpcReduction="20000"/>
          </a:bodyPr>
          <a:lstStyle/>
          <a:p>
            <a:pPr marL="0" indent="0">
              <a:buNone/>
            </a:pPr>
            <a:r>
              <a:rPr lang="en-US" b="1" dirty="0"/>
              <a:t>Some Key legal Aspects of IT</a:t>
            </a:r>
          </a:p>
          <a:p>
            <a:pPr>
              <a:buFont typeface="+mj-lt"/>
              <a:buAutoNum type="arabicPeriod"/>
            </a:pPr>
            <a:r>
              <a:rPr lang="en-US" b="1" dirty="0"/>
              <a:t>Content Regulation</a:t>
            </a:r>
            <a:br>
              <a:rPr lang="en-US" dirty="0"/>
            </a:br>
            <a:r>
              <a:rPr lang="en-US" dirty="0"/>
              <a:t>Laws that control what type of digital content (e.g., videos, posts, websites) can be created, shared, or accessed. This includes restrictions on harmful, illegal, or offensive content.</a:t>
            </a:r>
          </a:p>
          <a:p>
            <a:pPr>
              <a:buFont typeface="+mj-lt"/>
              <a:buAutoNum type="arabicPeriod"/>
            </a:pPr>
            <a:r>
              <a:rPr lang="en-US" b="1" dirty="0"/>
              <a:t>Copyrights</a:t>
            </a:r>
            <a:br>
              <a:rPr lang="en-US" dirty="0"/>
            </a:br>
            <a:r>
              <a:rPr lang="en-US" dirty="0"/>
              <a:t>Protects the rights of creators over their digital work (e.g., software, music, videos, written content). It prevents others from copying or using their work without permission.</a:t>
            </a:r>
          </a:p>
          <a:p>
            <a:pPr>
              <a:buFont typeface="+mj-lt"/>
              <a:buAutoNum type="arabicPeriod"/>
            </a:pPr>
            <a:r>
              <a:rPr lang="en-US" b="1" dirty="0"/>
              <a:t>Defamation</a:t>
            </a:r>
            <a:br>
              <a:rPr lang="en-US" dirty="0"/>
            </a:br>
            <a:r>
              <a:rPr lang="en-US" dirty="0"/>
              <a:t>Publishing false or harmful information about someone online that damages their reputation is considered defamation and is punishable under law.</a:t>
            </a:r>
          </a:p>
          <a:p>
            <a:pPr>
              <a:buFont typeface="+mj-lt"/>
              <a:buAutoNum type="arabicPeriod"/>
            </a:pPr>
            <a:r>
              <a:rPr lang="en-US" b="1" dirty="0"/>
              <a:t>Privacy</a:t>
            </a:r>
            <a:br>
              <a:rPr lang="en-US" dirty="0"/>
            </a:br>
            <a:r>
              <a:rPr lang="en-US" dirty="0"/>
              <a:t>Legal protection of personal data stored or shared online. It ensures that individuals have control over their information and how it is used.</a:t>
            </a:r>
          </a:p>
          <a:p>
            <a:pPr>
              <a:buFont typeface="+mj-lt"/>
              <a:buAutoNum type="arabicPeriod"/>
            </a:pPr>
            <a:r>
              <a:rPr lang="en-US" b="1" dirty="0"/>
              <a:t>Cyber Crime</a:t>
            </a:r>
            <a:br>
              <a:rPr lang="en-US" dirty="0"/>
            </a:br>
            <a:r>
              <a:rPr lang="en-US" dirty="0"/>
              <a:t>Criminal activities committed using computers or the internet, such as hacking, identity theft, online fraud, and cyberbullying.</a:t>
            </a:r>
          </a:p>
          <a:p>
            <a:pPr>
              <a:buFont typeface="+mj-lt"/>
              <a:buAutoNum type="arabicPeriod"/>
            </a:pPr>
            <a:r>
              <a:rPr lang="en-US" b="1" dirty="0"/>
              <a:t>Cyber Security</a:t>
            </a:r>
            <a:br>
              <a:rPr lang="en-US" dirty="0"/>
            </a:br>
            <a:r>
              <a:rPr lang="en-US" dirty="0"/>
              <a:t>Legal measures and responsibilities to protect IT systems, networks, and data from unauthorized access, attacks, or damage.</a:t>
            </a:r>
          </a:p>
          <a:p>
            <a:pPr>
              <a:buFont typeface="+mj-lt"/>
              <a:buAutoNum type="arabicPeriod"/>
            </a:pPr>
            <a:r>
              <a:rPr lang="en-US" b="1" dirty="0"/>
              <a:t>Freedom of Speech and Expression</a:t>
            </a:r>
            <a:br>
              <a:rPr lang="en-US" dirty="0"/>
            </a:br>
            <a:r>
              <a:rPr lang="en-US" dirty="0"/>
              <a:t>The right to express opinions online, but within legal limits—speech that spreads hate, violence, or misinformation may be restricted.</a:t>
            </a:r>
          </a:p>
          <a:p>
            <a:pPr>
              <a:buFont typeface="+mj-lt"/>
              <a:buAutoNum type="arabicPeriod"/>
            </a:pPr>
            <a:r>
              <a:rPr lang="en-US" b="1" dirty="0"/>
              <a:t>Licensing</a:t>
            </a:r>
            <a:br>
              <a:rPr lang="en-US" dirty="0"/>
            </a:br>
            <a:r>
              <a:rPr lang="en-US" dirty="0"/>
              <a:t>Legal permission to use software or digital services under specific terms. It prevents unauthorized use and piracy of software or content.</a:t>
            </a:r>
          </a:p>
          <a:p>
            <a:endParaRPr lang="en-US" dirty="0"/>
          </a:p>
          <a:p>
            <a:endParaRPr lang="en-US" dirty="0"/>
          </a:p>
        </p:txBody>
      </p:sp>
    </p:spTree>
    <p:extLst>
      <p:ext uri="{BB962C8B-B14F-4D97-AF65-F5344CB8AC3E}">
        <p14:creationId xmlns:p14="http://schemas.microsoft.com/office/powerpoint/2010/main" val="3624162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US" dirty="0"/>
              <a:t>In Nepal, there are several laws that regulate to information technology. These laws aims to regulate IT Content and protect individual right in IT sphere.</a:t>
            </a:r>
          </a:p>
          <a:p>
            <a:pPr marL="514350" indent="-514350">
              <a:buAutoNum type="arabicParenR"/>
            </a:pPr>
            <a:r>
              <a:rPr lang="en-US" dirty="0"/>
              <a:t>Electronic Transaction Act 2063; EIA Regulates electronic transaction including computer offense.</a:t>
            </a:r>
          </a:p>
          <a:p>
            <a:pPr marL="514350" indent="-514350">
              <a:buAutoNum type="arabicParenR"/>
            </a:pPr>
            <a:r>
              <a:rPr lang="en-US" dirty="0"/>
              <a:t>Press and Publication Act 2048: the PPA regulates the press and publication of information, including online media and </a:t>
            </a:r>
            <a:r>
              <a:rPr lang="en-US" dirty="0" err="1"/>
              <a:t>vlog</a:t>
            </a:r>
            <a:r>
              <a:rPr lang="en-US" dirty="0"/>
              <a:t>.</a:t>
            </a:r>
          </a:p>
          <a:p>
            <a:pPr marL="514350" indent="-514350">
              <a:buAutoNum type="arabicParenR"/>
            </a:pPr>
            <a:r>
              <a:rPr lang="en-US" dirty="0"/>
              <a:t>National Penal Code,2074: Defragmentation is a criminal offense in Nepal according to Section 306 of National Penal code. </a:t>
            </a:r>
          </a:p>
          <a:p>
            <a:pPr marL="514350" indent="-514350">
              <a:buAutoNum type="arabicParenR"/>
            </a:pPr>
            <a:r>
              <a:rPr lang="en-US" dirty="0"/>
              <a:t>Telecommunication Act 1997: Has describe about establishment of Telecommunication Authority for regulating all telecommunication measure.</a:t>
            </a:r>
          </a:p>
          <a:p>
            <a:pPr marL="514350" indent="-514350">
              <a:buAutoNum type="arabicParenR"/>
            </a:pPr>
            <a:r>
              <a:rPr lang="en-US" dirty="0"/>
              <a:t>Right to Information Act, 2064 (2007)Ensures citizens' access to public information while respecting data privacy.</a:t>
            </a:r>
          </a:p>
          <a:p>
            <a:pPr marL="514350" indent="-514350">
              <a:buAutoNum type="arabicParenR"/>
            </a:pPr>
            <a:r>
              <a:rPr lang="en-US" dirty="0"/>
              <a:t>Copyright Act, 2059: Nepal’s </a:t>
            </a:r>
            <a:r>
              <a:rPr lang="en-US" b="1" dirty="0"/>
              <a:t>Copyright Act, 2059</a:t>
            </a:r>
            <a:r>
              <a:rPr lang="en-US" dirty="0"/>
              <a:t> is the main law that protects the rights of creators over their original works. It ensures that authors, artists, musicians, filmmakers, software developers, and other creators have control over how their work is used.</a:t>
            </a:r>
          </a:p>
          <a:p>
            <a:pPr marL="514350" indent="-514350">
              <a:buAutoNum type="arabicParenR"/>
            </a:pPr>
            <a:r>
              <a:rPr lang="en-US" dirty="0"/>
              <a:t>IT Policy 2072: Nepal’s IT Policy aims to promote the development and use of Information Technology to support </a:t>
            </a:r>
            <a:r>
              <a:rPr lang="en-US" b="1" dirty="0"/>
              <a:t>economic growth</a:t>
            </a:r>
            <a:r>
              <a:rPr lang="en-US" dirty="0"/>
              <a:t>, </a:t>
            </a:r>
            <a:r>
              <a:rPr lang="en-US" b="1" dirty="0"/>
              <a:t>good governance</a:t>
            </a:r>
            <a:r>
              <a:rPr lang="en-US" dirty="0"/>
              <a:t>, and </a:t>
            </a:r>
            <a:r>
              <a:rPr lang="en-US" b="1" dirty="0"/>
              <a:t>digital inclusion</a:t>
            </a:r>
            <a:r>
              <a:rPr lang="en-US" dirty="0"/>
              <a:t>. It focuses on expanding </a:t>
            </a:r>
            <a:r>
              <a:rPr lang="en-US" b="1" dirty="0"/>
              <a:t>digital infrastructure</a:t>
            </a:r>
            <a:r>
              <a:rPr lang="en-US" dirty="0"/>
              <a:t>, improving </a:t>
            </a:r>
            <a:r>
              <a:rPr lang="en-US" b="1" dirty="0"/>
              <a:t>e-governance</a:t>
            </a:r>
            <a:r>
              <a:rPr lang="en-US" dirty="0"/>
              <a:t>, encouraging </a:t>
            </a:r>
            <a:r>
              <a:rPr lang="en-US" b="1" dirty="0"/>
              <a:t>IT education</a:t>
            </a:r>
            <a:r>
              <a:rPr lang="en-US" dirty="0"/>
              <a:t>, supporting the </a:t>
            </a:r>
            <a:r>
              <a:rPr lang="en-US" b="1" dirty="0"/>
              <a:t>IT industry</a:t>
            </a:r>
            <a:r>
              <a:rPr lang="en-US" dirty="0"/>
              <a:t>, and ensuring </a:t>
            </a:r>
            <a:r>
              <a:rPr lang="en-US" b="1" dirty="0" err="1"/>
              <a:t>cybersecurity</a:t>
            </a:r>
            <a:r>
              <a:rPr lang="en-US" dirty="0"/>
              <a:t> and </a:t>
            </a:r>
            <a:r>
              <a:rPr lang="en-US" b="1" dirty="0"/>
              <a:t>data protection</a:t>
            </a:r>
            <a:r>
              <a:rPr lang="en-US" dirty="0"/>
              <a:t>.</a:t>
            </a:r>
          </a:p>
        </p:txBody>
      </p:sp>
    </p:spTree>
    <p:extLst>
      <p:ext uri="{BB962C8B-B14F-4D97-AF65-F5344CB8AC3E}">
        <p14:creationId xmlns:p14="http://schemas.microsoft.com/office/powerpoint/2010/main" val="3632232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of POLICY</a:t>
            </a:r>
          </a:p>
        </p:txBody>
      </p:sp>
      <p:sp>
        <p:nvSpPr>
          <p:cNvPr id="3" name="Content Placeholder 2"/>
          <p:cNvSpPr>
            <a:spLocks noGrp="1"/>
          </p:cNvSpPr>
          <p:nvPr>
            <p:ph idx="1"/>
          </p:nvPr>
        </p:nvSpPr>
        <p:spPr/>
        <p:txBody>
          <a:bodyPr/>
          <a:lstStyle/>
          <a:p>
            <a:r>
              <a:rPr lang="en-US" dirty="0"/>
              <a:t>Nepal aims to rank in the top second quartile globally for network readiness and e-government services.</a:t>
            </a:r>
          </a:p>
          <a:p>
            <a:r>
              <a:rPr lang="en-US" dirty="0"/>
              <a:t>75% of the population will be digitally literate.</a:t>
            </a:r>
          </a:p>
          <a:p>
            <a:r>
              <a:rPr lang="en-US" dirty="0"/>
              <a:t>90% of people will have access to broadband internet.</a:t>
            </a:r>
          </a:p>
          <a:p>
            <a:r>
              <a:rPr lang="en-US" dirty="0"/>
              <a:t>IT will contribute at least 2.5% to the national GDP.</a:t>
            </a:r>
          </a:p>
          <a:p>
            <a:r>
              <a:rPr lang="en-US" dirty="0"/>
              <a:t>The internet penetration rate will be significantly increased.80% of government services will be available online.</a:t>
            </a:r>
          </a:p>
          <a:p>
            <a:r>
              <a:rPr lang="en-US" dirty="0"/>
              <a:t>Full digitization of government transactions was targeted by 2017.</a:t>
            </a:r>
          </a:p>
        </p:txBody>
      </p:sp>
    </p:spTree>
    <p:extLst>
      <p:ext uri="{BB962C8B-B14F-4D97-AF65-F5344CB8AC3E}">
        <p14:creationId xmlns:p14="http://schemas.microsoft.com/office/powerpoint/2010/main" val="3520665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Electronic Transection Act </a:t>
            </a:r>
          </a:p>
        </p:txBody>
      </p:sp>
      <p:sp>
        <p:nvSpPr>
          <p:cNvPr id="3" name="Content Placeholder 2"/>
          <p:cNvSpPr>
            <a:spLocks noGrp="1"/>
          </p:cNvSpPr>
          <p:nvPr>
            <p:ph idx="1"/>
          </p:nvPr>
        </p:nvSpPr>
        <p:spPr>
          <a:xfrm>
            <a:off x="677334" y="1406107"/>
            <a:ext cx="8596668" cy="4635256"/>
          </a:xfrm>
        </p:spPr>
        <p:txBody>
          <a:bodyPr>
            <a:normAutofit lnSpcReduction="10000"/>
          </a:bodyPr>
          <a:lstStyle/>
          <a:p>
            <a:pPr marL="0" indent="0" algn="just">
              <a:buNone/>
            </a:pPr>
            <a:r>
              <a:rPr lang="en-US" dirty="0"/>
              <a:t>Chapter 9- Mention some of offense that are criminalized in law to address social and ethical issue arise in IT sector.  </a:t>
            </a:r>
          </a:p>
          <a:p>
            <a:pPr algn="just"/>
            <a:r>
              <a:rPr lang="en-US" dirty="0"/>
              <a:t>Section 44 of the Electronic Transactions Act, 2063 (2008), it is illegal to pirate, destroy, or alter computer source code that is required to be maintained in its original form by prevailing law. This includes any program listings, commands, designs, layouts, or analyses of computer resources.</a:t>
            </a:r>
          </a:p>
          <a:p>
            <a:pPr algn="just"/>
            <a:r>
              <a:rPr lang="en-US" dirty="0"/>
              <a:t>Un authorized access in computer materials: if an individual accesses any program, information, or data on a computer without the owner's authorization.</a:t>
            </a:r>
          </a:p>
          <a:p>
            <a:r>
              <a:rPr lang="en-US" dirty="0"/>
              <a:t>Damage to any computer and information system: if a person intentionally damages or disrupts computer information to harm an person, they may face:</a:t>
            </a:r>
          </a:p>
          <a:p>
            <a:pPr>
              <a:buFont typeface="Arial" panose="020B0604020202020204" pitchFamily="34" charset="0"/>
              <a:buChar char="•"/>
            </a:pPr>
            <a:r>
              <a:rPr lang="en-US" dirty="0"/>
              <a:t>A fine up to NPR 2,000</a:t>
            </a:r>
          </a:p>
          <a:p>
            <a:pPr>
              <a:buFont typeface="Arial" panose="020B0604020202020204" pitchFamily="34" charset="0"/>
              <a:buChar char="•"/>
            </a:pPr>
            <a:r>
              <a:rPr lang="en-US" dirty="0"/>
              <a:t>Imprisonment up to 3 years</a:t>
            </a:r>
          </a:p>
          <a:p>
            <a:pPr marL="0" indent="0" algn="just">
              <a:buNone/>
            </a:pPr>
            <a:r>
              <a:rPr lang="en-US" dirty="0"/>
              <a:t> This law aims to protect digital information and systems from intentional harm.</a:t>
            </a:r>
          </a:p>
          <a:p>
            <a:pPr algn="just"/>
            <a:endParaRPr lang="en-US" dirty="0"/>
          </a:p>
        </p:txBody>
      </p:sp>
    </p:spTree>
    <p:extLst>
      <p:ext uri="{BB962C8B-B14F-4D97-AF65-F5344CB8AC3E}">
        <p14:creationId xmlns:p14="http://schemas.microsoft.com/office/powerpoint/2010/main" val="2184267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677334" y="310551"/>
            <a:ext cx="8596668" cy="5730811"/>
          </a:xfrm>
        </p:spPr>
        <p:txBody>
          <a:bodyPr>
            <a:normAutofit lnSpcReduction="10000"/>
          </a:bodyPr>
          <a:lstStyle/>
          <a:p>
            <a:r>
              <a:rPr lang="en-US" dirty="0"/>
              <a:t>Publication of illegal materials in electronic form: It is prohibited to publish or display materials in electronic media—including computers and the internet—that are:</a:t>
            </a:r>
          </a:p>
          <a:p>
            <a:pPr>
              <a:buFont typeface="Arial" panose="020B0604020202020204" pitchFamily="34" charset="0"/>
              <a:buChar char="•"/>
            </a:pPr>
            <a:r>
              <a:rPr lang="en-US" dirty="0"/>
              <a:t>Prohibited by prevailing law</a:t>
            </a:r>
          </a:p>
          <a:p>
            <a:pPr>
              <a:buFont typeface="Arial" panose="020B0604020202020204" pitchFamily="34" charset="0"/>
              <a:buChar char="•"/>
            </a:pPr>
            <a:r>
              <a:rPr lang="en-US" dirty="0"/>
              <a:t>Contrary to public morality or decent behavior</a:t>
            </a:r>
          </a:p>
          <a:p>
            <a:pPr>
              <a:buFont typeface="Arial" panose="020B0604020202020204" pitchFamily="34" charset="0"/>
              <a:buChar char="•"/>
            </a:pPr>
            <a:r>
              <a:rPr lang="en-US" dirty="0"/>
              <a:t>Intended to spread hate or jealousy</a:t>
            </a:r>
          </a:p>
          <a:p>
            <a:pPr>
              <a:buFont typeface="Arial" panose="020B0604020202020204" pitchFamily="34" charset="0"/>
              <a:buChar char="•"/>
            </a:pPr>
            <a:r>
              <a:rPr lang="en-US" dirty="0"/>
              <a:t>Jeopardizing harmonious relations among various castes, tribes, and communities.</a:t>
            </a:r>
          </a:p>
          <a:p>
            <a:r>
              <a:rPr lang="en-US" dirty="0"/>
              <a:t>Privacy leak: if a person with authorized access to records, books, registers, correspondence, information, documents, or other materials divulges or causes to divulge the confidentiality of such materials to any unauthorized person, they shall be liable for punishment.</a:t>
            </a:r>
          </a:p>
          <a:p>
            <a:r>
              <a:rPr lang="en-US" dirty="0"/>
              <a:t>Dissemination of false statement</a:t>
            </a:r>
          </a:p>
          <a:p>
            <a:r>
              <a:rPr lang="en-US" dirty="0"/>
              <a:t>Committing computer fraud: if a person intentionally commits fraud or engages in any other illegal act by creating, publishing, or providing a digital signature certificate, or by acquiring benefits from the payment of any bill, balance amount of anyone's account, inventory, or ATM card through fraudulent means, they shall be liable for punishment.</a:t>
            </a:r>
          </a:p>
          <a:p>
            <a:endParaRPr lang="en-US" dirty="0"/>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671890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677334" y="319177"/>
            <a:ext cx="8596668" cy="5722185"/>
          </a:xfrm>
        </p:spPr>
        <p:txBody>
          <a:bodyPr/>
          <a:lstStyle/>
          <a:p>
            <a:r>
              <a:rPr lang="en-US" dirty="0"/>
              <a:t>Punishment in an offense committed outside Nepal :Individuals who commit cybercrimes affecting Nepal's digital infrastructure can be prosecuted under Nepali law.</a:t>
            </a:r>
          </a:p>
          <a:p>
            <a:r>
              <a:rPr lang="en-US" dirty="0"/>
              <a:t>Seizure of system and electronic device: Any computer, computer system, floppy disk, compact disk, tape drive, software, or other accessory devices used to commit an offense under this Act are subject to confiscation.</a:t>
            </a:r>
          </a:p>
          <a:p>
            <a:pPr marL="0" indent="0">
              <a:buNone/>
            </a:pPr>
            <a:endParaRPr lang="en-US" dirty="0"/>
          </a:p>
          <a:p>
            <a:pPr marL="0" indent="0">
              <a:buNone/>
            </a:pPr>
            <a:r>
              <a:rPr lang="en-US" dirty="0"/>
              <a:t>Chapter 10 mention about the provision of establishment of information technology tribunal. </a:t>
            </a:r>
          </a:p>
        </p:txBody>
      </p:sp>
    </p:spTree>
    <p:extLst>
      <p:ext uri="{BB962C8B-B14F-4D97-AF65-F5344CB8AC3E}">
        <p14:creationId xmlns:p14="http://schemas.microsoft.com/office/powerpoint/2010/main" val="6833072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6428</TotalTime>
  <Words>2458</Words>
  <Application>Microsoft Office PowerPoint</Application>
  <PresentationFormat>Widescreen</PresentationFormat>
  <Paragraphs>150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Times New Roman</vt:lpstr>
      <vt:lpstr>Trebuchet MS</vt:lpstr>
      <vt:lpstr>Wingdings 3</vt:lpstr>
      <vt:lpstr>Facet</vt:lpstr>
      <vt:lpstr>Social Implications of IT</vt:lpstr>
      <vt:lpstr>Implications in health sector </vt:lpstr>
      <vt:lpstr>Implication in education sector</vt:lpstr>
      <vt:lpstr>Implication in business</vt:lpstr>
      <vt:lpstr>Implication in entertainment Sector </vt:lpstr>
      <vt:lpstr>Implication in communication sector</vt:lpstr>
      <vt:lpstr>Implication in Banking sector</vt:lpstr>
      <vt:lpstr>E- governance</vt:lpstr>
      <vt:lpstr>Information </vt:lpstr>
      <vt:lpstr> </vt:lpstr>
      <vt:lpstr>Challenges of IT</vt:lpstr>
      <vt:lpstr> </vt:lpstr>
      <vt:lpstr>Moral reasons for privacy </vt:lpstr>
      <vt:lpstr>Section 12 (4), Privacy Protection Act 2075</vt:lpstr>
      <vt:lpstr>Section-19 :to have privacy of electronic means.</vt:lpstr>
      <vt:lpstr>IT Security </vt:lpstr>
      <vt:lpstr>Security measures</vt:lpstr>
      <vt:lpstr> </vt:lpstr>
      <vt:lpstr>Legal Framework for IT</vt:lpstr>
      <vt:lpstr> </vt:lpstr>
      <vt:lpstr>Objective of POLICY</vt:lpstr>
      <vt:lpstr>Electronic Transection Act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Implications of IT</dc:title>
  <dc:creator>Microsoft account</dc:creator>
  <cp:lastModifiedBy>Ravi Silwal</cp:lastModifiedBy>
  <cp:revision>43</cp:revision>
  <dcterms:created xsi:type="dcterms:W3CDTF">2025-05-10T12:42:59Z</dcterms:created>
  <dcterms:modified xsi:type="dcterms:W3CDTF">2025-05-17T09:17:42Z</dcterms:modified>
</cp:coreProperties>
</file>