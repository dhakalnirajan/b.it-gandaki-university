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61" r:id="rId3"/>
    <p:sldId id="262" r:id="rId4"/>
    <p:sldId id="257" r:id="rId5"/>
    <p:sldId id="258" r:id="rId6"/>
    <p:sldId id="259"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47838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73229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318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56810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8151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363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55926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34322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70579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3639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5/20/2026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8265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5/20/2026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4290717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a:extLst>
              <a:ext uri="{FF2B5EF4-FFF2-40B4-BE49-F238E27FC236}">
                <a16:creationId xmlns:a16="http://schemas.microsoft.com/office/drawing/2014/main" id="{9AD590AF-1E05-31A6-B4AC-9551DBC563D7}"/>
              </a:ext>
            </a:extLst>
          </p:cNvPr>
          <p:cNvPicPr>
            <a:picLocks noChangeAspect="1"/>
          </p:cNvPicPr>
          <p:nvPr/>
        </p:nvPicPr>
        <p:blipFill>
          <a:blip r:embed="rId2"/>
          <a:srcRect t="20213"/>
          <a:stretch>
            <a:fillRect/>
          </a:stretch>
        </p:blipFill>
        <p:spPr>
          <a:xfrm>
            <a:off x="20" y="-9929"/>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1F0990E-438E-1100-C2B6-8EFC1F70BE46}"/>
              </a:ext>
            </a:extLst>
          </p:cNvPr>
          <p:cNvSpPr>
            <a:spLocks noGrp="1"/>
          </p:cNvSpPr>
          <p:nvPr>
            <p:ph type="ctrTitle"/>
          </p:nvPr>
        </p:nvSpPr>
        <p:spPr>
          <a:xfrm>
            <a:off x="320039" y="5739969"/>
            <a:ext cx="8178501" cy="960120"/>
          </a:xfrm>
          <a:ln>
            <a:noFill/>
          </a:ln>
        </p:spPr>
        <p:txBody>
          <a:bodyPr anchor="ctr">
            <a:normAutofit/>
          </a:bodyPr>
          <a:lstStyle/>
          <a:p>
            <a:r>
              <a:rPr lang="en-US" sz="4400"/>
              <a:t>Cyber Security</a:t>
            </a:r>
          </a:p>
        </p:txBody>
      </p:sp>
      <p:sp>
        <p:nvSpPr>
          <p:cNvPr id="3" name="Subtitle 2">
            <a:extLst>
              <a:ext uri="{FF2B5EF4-FFF2-40B4-BE49-F238E27FC236}">
                <a16:creationId xmlns:a16="http://schemas.microsoft.com/office/drawing/2014/main" id="{9803FBD4-B65C-667D-39CE-07E6BBF492AB}"/>
              </a:ext>
            </a:extLst>
          </p:cNvPr>
          <p:cNvSpPr>
            <a:spLocks noGrp="1"/>
          </p:cNvSpPr>
          <p:nvPr>
            <p:ph type="subTitle" idx="1"/>
          </p:nvPr>
        </p:nvSpPr>
        <p:spPr>
          <a:xfrm>
            <a:off x="8641975" y="5739969"/>
            <a:ext cx="3355309" cy="960120"/>
          </a:xfrm>
        </p:spPr>
        <p:txBody>
          <a:bodyPr anchor="ctr">
            <a:normAutofit/>
          </a:bodyPr>
          <a:lstStyle/>
          <a:p>
            <a:pPr algn="r"/>
            <a:endParaRPr lang="en-US" sz="1900" dirty="0"/>
          </a:p>
        </p:txBody>
      </p:sp>
    </p:spTree>
    <p:extLst>
      <p:ext uri="{BB962C8B-B14F-4D97-AF65-F5344CB8AC3E}">
        <p14:creationId xmlns:p14="http://schemas.microsoft.com/office/powerpoint/2010/main" val="2873101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E0B42-2F81-96BE-74A9-87D5A0E487E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BA8AE52-D125-DB3E-320C-E5DA20B9F426}"/>
              </a:ext>
            </a:extLst>
          </p:cNvPr>
          <p:cNvSpPr>
            <a:spLocks noGrp="1"/>
          </p:cNvSpPr>
          <p:nvPr>
            <p:ph idx="1"/>
          </p:nvPr>
        </p:nvSpPr>
        <p:spPr>
          <a:xfrm>
            <a:off x="521208" y="904568"/>
            <a:ext cx="11155680" cy="5441368"/>
          </a:xfrm>
        </p:spPr>
        <p:txBody>
          <a:bodyPr/>
          <a:lstStyle/>
          <a:p>
            <a:pPr marL="0" indent="0">
              <a:buNone/>
            </a:pPr>
            <a:r>
              <a:rPr lang="en-US" dirty="0"/>
              <a:t>Cybersecurity law is a set of legal rules and regulations designed to protect digital systems, data, and networks from cyber threats. It outlines the rights and responsibilities of individuals, organizations, and governments in the digital world. </a:t>
            </a:r>
          </a:p>
          <a:p>
            <a:pPr marL="0" indent="0">
              <a:buNone/>
            </a:pPr>
            <a:r>
              <a:rPr lang="en-US" dirty="0"/>
              <a:t>Cyber security law is  the body of law that deals with crimes committed via electronic means. Cyber Security laws are effective regulatory mechanisms to govern digital technologies.</a:t>
            </a:r>
          </a:p>
          <a:p>
            <a:pPr marL="0" indent="0">
              <a:buNone/>
            </a:pPr>
            <a:r>
              <a:rPr lang="en-US" dirty="0"/>
              <a:t> “ The modern thief can steal more with a computer than with gun, tomorrow’s terrorist may be able to do more damage with keyboard than with a bomb.”- National Research Council, USA “ Computers at Risk”.</a:t>
            </a:r>
          </a:p>
          <a:p>
            <a:pPr marL="0" indent="0">
              <a:buNone/>
            </a:pPr>
            <a:endParaRPr lang="en-US" dirty="0"/>
          </a:p>
          <a:p>
            <a:pPr>
              <a:buNone/>
            </a:pPr>
            <a:r>
              <a:rPr lang="en-US" b="1" dirty="0"/>
              <a:t>Nature of Cybersecurity Law</a:t>
            </a:r>
          </a:p>
          <a:p>
            <a:pPr>
              <a:buFont typeface="Arial" panose="020B0604020202020204" pitchFamily="34" charset="0"/>
              <a:buChar char="•"/>
            </a:pPr>
            <a:r>
              <a:rPr lang="en-US" b="1" dirty="0"/>
              <a:t>Purpose</a:t>
            </a:r>
            <a:r>
              <a:rPr lang="en-US" dirty="0"/>
              <a:t>: To safeguard digital information and systems from cyber threats.</a:t>
            </a:r>
          </a:p>
          <a:p>
            <a:pPr>
              <a:buFont typeface="Arial" panose="020B0604020202020204" pitchFamily="34" charset="0"/>
              <a:buChar char="•"/>
            </a:pPr>
            <a:r>
              <a:rPr lang="en-US" b="1" dirty="0"/>
              <a:t>Scope</a:t>
            </a:r>
            <a:r>
              <a:rPr lang="en-US" dirty="0"/>
              <a:t>: Applies to individuals, businesses, and governments, setting standards for behavior and accountability in cyberspace.</a:t>
            </a:r>
          </a:p>
          <a:p>
            <a:pPr>
              <a:buFont typeface="Arial" panose="020B0604020202020204" pitchFamily="34" charset="0"/>
              <a:buChar char="•"/>
            </a:pPr>
            <a:r>
              <a:rPr lang="en-US" b="1" dirty="0"/>
              <a:t>Core Principles</a:t>
            </a:r>
            <a:r>
              <a:rPr lang="en-US" dirty="0"/>
              <a:t>: Ensures the confidentiality, integrity, and availability of digital information and systems</a:t>
            </a:r>
          </a:p>
          <a:p>
            <a:endParaRPr lang="en-US" dirty="0"/>
          </a:p>
        </p:txBody>
      </p:sp>
    </p:spTree>
    <p:extLst>
      <p:ext uri="{BB962C8B-B14F-4D97-AF65-F5344CB8AC3E}">
        <p14:creationId xmlns:p14="http://schemas.microsoft.com/office/powerpoint/2010/main" val="3619116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6577-A1ED-AA57-1C5C-0B4835C002E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B07F51E-76D3-8B42-7340-696E949967BC}"/>
              </a:ext>
            </a:extLst>
          </p:cNvPr>
          <p:cNvSpPr>
            <a:spLocks noGrp="1"/>
          </p:cNvSpPr>
          <p:nvPr>
            <p:ph idx="1"/>
          </p:nvPr>
        </p:nvSpPr>
        <p:spPr>
          <a:xfrm>
            <a:off x="521208" y="978408"/>
            <a:ext cx="11155680" cy="5367528"/>
          </a:xfrm>
        </p:spPr>
        <p:txBody>
          <a:bodyPr>
            <a:normAutofit fontScale="92500"/>
          </a:bodyPr>
          <a:lstStyle/>
          <a:p>
            <a:pPr>
              <a:buNone/>
            </a:pPr>
            <a:r>
              <a:rPr lang="en-US" b="1" dirty="0"/>
              <a:t>Scope of Cybersecurity Law</a:t>
            </a:r>
          </a:p>
          <a:p>
            <a:pPr>
              <a:buFont typeface="+mj-lt"/>
              <a:buAutoNum type="arabicPeriod"/>
            </a:pPr>
            <a:r>
              <a:rPr lang="en-US" b="1" dirty="0"/>
              <a:t>Data Protection &amp; Privacy</a:t>
            </a:r>
            <a:br>
              <a:rPr lang="en-US" dirty="0"/>
            </a:br>
            <a:r>
              <a:rPr lang="en-US" dirty="0"/>
              <a:t>Laws like the General Data Protection Regulation (GDPR) in the EU and the California Consumer Privacy Act (CCPA) in the U.S. govern how personal data is collected, stored, and shared, granting individuals rights over their data .</a:t>
            </a:r>
          </a:p>
          <a:p>
            <a:pPr>
              <a:buFont typeface="+mj-lt"/>
              <a:buAutoNum type="arabicPeriod"/>
            </a:pPr>
            <a:r>
              <a:rPr lang="en-US" b="1" dirty="0"/>
              <a:t>Cybercrimes</a:t>
            </a:r>
            <a:br>
              <a:rPr lang="en-US" dirty="0"/>
            </a:br>
            <a:r>
              <a:rPr lang="en-US" dirty="0"/>
              <a:t>Defines and penalizes illegal activities such as hacking, identity theft, and online fraud. For instance, the Computer Fraud and Abuse Act (CFAA),1986 in the U.S. addresses various cyber offenses .</a:t>
            </a:r>
          </a:p>
          <a:p>
            <a:pPr>
              <a:buFont typeface="+mj-lt"/>
              <a:buAutoNum type="arabicPeriod"/>
            </a:pPr>
            <a:r>
              <a:rPr lang="en-US" b="1" dirty="0"/>
              <a:t>Critical Infrastructure Protection</a:t>
            </a:r>
            <a:br>
              <a:rPr lang="en-US" dirty="0"/>
            </a:br>
            <a:r>
              <a:rPr lang="en-US" dirty="0"/>
              <a:t>Focuses on securing essential sectors like energy, finance, and healthcare. Laws mandate operators to enhance their systems and report incidents promptly.</a:t>
            </a:r>
          </a:p>
          <a:p>
            <a:pPr>
              <a:buFont typeface="+mj-lt"/>
              <a:buAutoNum type="arabicPeriod"/>
            </a:pPr>
            <a:r>
              <a:rPr lang="en-US" b="1" dirty="0"/>
              <a:t>Corporate Governance</a:t>
            </a:r>
            <a:br>
              <a:rPr lang="en-US" dirty="0"/>
            </a:br>
            <a:r>
              <a:rPr lang="en-US" dirty="0"/>
              <a:t>Requires companies to implement cybersecurity practices and report breaches. According Nepal law, within 1 year case should be filed from the commission of that offense. </a:t>
            </a:r>
          </a:p>
          <a:p>
            <a:pPr>
              <a:buFont typeface="+mj-lt"/>
              <a:buAutoNum type="arabicPeriod"/>
            </a:pPr>
            <a:r>
              <a:rPr lang="en-US" b="1" dirty="0"/>
              <a:t>International Cooperation</a:t>
            </a:r>
            <a:br>
              <a:rPr lang="en-US" dirty="0"/>
            </a:br>
            <a:r>
              <a:rPr lang="en-US" dirty="0"/>
              <a:t>Encourages countries to collaborate in combating cybercrime. The Budapest Convention on Cybercrime facilitates international cooperation by harmonizing national laws and improving investigative techniques .</a:t>
            </a:r>
          </a:p>
          <a:p>
            <a:endParaRPr lang="en-US" dirty="0"/>
          </a:p>
        </p:txBody>
      </p:sp>
    </p:spTree>
    <p:extLst>
      <p:ext uri="{BB962C8B-B14F-4D97-AF65-F5344CB8AC3E}">
        <p14:creationId xmlns:p14="http://schemas.microsoft.com/office/powerpoint/2010/main" val="4158156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46E0D-C714-7113-3050-120705BBACCF}"/>
              </a:ext>
            </a:extLst>
          </p:cNvPr>
          <p:cNvSpPr>
            <a:spLocks noGrp="1"/>
          </p:cNvSpPr>
          <p:nvPr>
            <p:ph type="title"/>
          </p:nvPr>
        </p:nvSpPr>
        <p:spPr>
          <a:xfrm>
            <a:off x="521208" y="978408"/>
            <a:ext cx="11155680" cy="930779"/>
          </a:xfrm>
        </p:spPr>
        <p:txBody>
          <a:bodyPr>
            <a:normAutofit fontScale="90000"/>
          </a:bodyPr>
          <a:lstStyle/>
          <a:p>
            <a:r>
              <a:rPr lang="en-US" dirty="0"/>
              <a:t>Cyber Security Laws </a:t>
            </a:r>
            <a:br>
              <a:rPr lang="en-US" dirty="0"/>
            </a:br>
            <a:endParaRPr lang="en-US" dirty="0"/>
          </a:p>
        </p:txBody>
      </p:sp>
      <p:sp>
        <p:nvSpPr>
          <p:cNvPr id="3" name="Content Placeholder 2">
            <a:extLst>
              <a:ext uri="{FF2B5EF4-FFF2-40B4-BE49-F238E27FC236}">
                <a16:creationId xmlns:a16="http://schemas.microsoft.com/office/drawing/2014/main" id="{921B3E8A-B969-8CBD-1174-CF8319E83B06}"/>
              </a:ext>
            </a:extLst>
          </p:cNvPr>
          <p:cNvSpPr>
            <a:spLocks noGrp="1"/>
          </p:cNvSpPr>
          <p:nvPr>
            <p:ph idx="1"/>
          </p:nvPr>
        </p:nvSpPr>
        <p:spPr>
          <a:xfrm>
            <a:off x="521208" y="1612490"/>
            <a:ext cx="11155680" cy="4733446"/>
          </a:xfrm>
        </p:spPr>
        <p:txBody>
          <a:bodyPr>
            <a:normAutofit lnSpcReduction="10000"/>
          </a:bodyPr>
          <a:lstStyle/>
          <a:p>
            <a:pPr marL="0" indent="0" algn="just">
              <a:buNone/>
            </a:pPr>
            <a:r>
              <a:rPr lang="en-US" b="1" u="sng" dirty="0">
                <a:latin typeface="Times New Roman" panose="02020603050405020304" pitchFamily="18" charset="0"/>
                <a:cs typeface="Times New Roman" panose="02020603050405020304" pitchFamily="18" charset="0"/>
              </a:rPr>
              <a:t>1) Electronic Transaction Act, 2063</a:t>
            </a:r>
          </a:p>
          <a:p>
            <a:pPr marL="0" indent="0" algn="just">
              <a:buNone/>
            </a:pPr>
            <a:r>
              <a:rPr lang="en-US" dirty="0">
                <a:latin typeface="Times New Roman" panose="02020603050405020304" pitchFamily="18" charset="0"/>
                <a:cs typeface="Times New Roman" panose="02020603050405020304" pitchFamily="18" charset="0"/>
              </a:rPr>
              <a:t>This law is created to control the illegal activities. It contains a strong provision of punishment against cyber crimes according to nature of the crime. </a:t>
            </a:r>
          </a:p>
          <a:p>
            <a:pPr marL="342900" indent="-342900" algn="just">
              <a:buAutoNum type="alphaLcParenR"/>
            </a:pPr>
            <a:r>
              <a:rPr lang="en-US" dirty="0">
                <a:latin typeface="Times New Roman" panose="02020603050405020304" pitchFamily="18" charset="0"/>
                <a:cs typeface="Times New Roman" panose="02020603050405020304" pitchFamily="18" charset="0"/>
              </a:rPr>
              <a:t>Privacy, destroy or alter computer source code:  Imprisonment for up to three years, a fine not exceeding Rs.2,00,000 , or both.</a:t>
            </a:r>
          </a:p>
          <a:p>
            <a:pPr marL="342900" indent="-342900" algn="just">
              <a:buAutoNum type="alphaLcParenR"/>
            </a:pPr>
            <a:r>
              <a:rPr lang="en-US" dirty="0">
                <a:latin typeface="Times New Roman" panose="02020603050405020304" pitchFamily="18" charset="0"/>
                <a:cs typeface="Times New Roman" panose="02020603050405020304" pitchFamily="18" charset="0"/>
              </a:rPr>
              <a:t>Unauthorized access in computer materials: Imprisonment for up to three years, a fine not exceeding Rs.2,00,000, or both.</a:t>
            </a:r>
          </a:p>
          <a:p>
            <a:pPr marL="342900" indent="-342900" algn="just">
              <a:buAutoNum type="alphaLcParenR"/>
            </a:pPr>
            <a:r>
              <a:rPr lang="en-US" dirty="0">
                <a:latin typeface="Times New Roman" panose="02020603050405020304" pitchFamily="18" charset="0"/>
                <a:cs typeface="Times New Roman" panose="02020603050405020304" pitchFamily="18" charset="0"/>
              </a:rPr>
              <a:t>Damage to any computer and information system: A fine not exceeding Rs.2000, imprisonment for a term not exceeding 3 year, or both.</a:t>
            </a:r>
          </a:p>
          <a:p>
            <a:pPr marL="342900" indent="-342900" algn="just">
              <a:buAutoNum type="alphaLcParenR"/>
            </a:pPr>
            <a:r>
              <a:rPr lang="en-US" dirty="0">
                <a:latin typeface="Times New Roman" panose="02020603050405020304" pitchFamily="18" charset="0"/>
                <a:cs typeface="Times New Roman" panose="02020603050405020304" pitchFamily="18" charset="0"/>
              </a:rPr>
              <a:t>Publication of illegal materials in electronic form:  fine not exceeding 1,00,000 imprisonment not exceeding 5 yr, or both.</a:t>
            </a:r>
          </a:p>
          <a:p>
            <a:pPr marL="342900" indent="-342900" algn="just">
              <a:buAutoNum type="alphaLcParenR"/>
            </a:pPr>
            <a:r>
              <a:rPr lang="en-US" dirty="0">
                <a:latin typeface="Times New Roman" panose="02020603050405020304" pitchFamily="18" charset="0"/>
                <a:cs typeface="Times New Roman" panose="02020603050405020304" pitchFamily="18" charset="0"/>
              </a:rPr>
              <a:t>Privacy leak: Punishable by a fine not exceeding 10,000 imprisonment not exceeding 2year or both, depending on the seriousness of the offense.</a:t>
            </a:r>
          </a:p>
          <a:p>
            <a:pPr marL="342900" indent="-342900">
              <a:buAutoNum type="alphaLcParenR"/>
            </a:pPr>
            <a:endParaRPr lang="en-US" dirty="0"/>
          </a:p>
        </p:txBody>
      </p:sp>
    </p:spTree>
    <p:extLst>
      <p:ext uri="{BB962C8B-B14F-4D97-AF65-F5344CB8AC3E}">
        <p14:creationId xmlns:p14="http://schemas.microsoft.com/office/powerpoint/2010/main" val="849261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E635-C96E-7988-5C75-6A02FC97138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6511265-28B5-E942-8E51-C0D68859C3A7}"/>
              </a:ext>
            </a:extLst>
          </p:cNvPr>
          <p:cNvSpPr>
            <a:spLocks noGrp="1"/>
          </p:cNvSpPr>
          <p:nvPr>
            <p:ph idx="1"/>
          </p:nvPr>
        </p:nvSpPr>
        <p:spPr>
          <a:xfrm>
            <a:off x="521208" y="816077"/>
            <a:ext cx="11155680" cy="5771536"/>
          </a:xfrm>
        </p:spPr>
        <p:txBody>
          <a:bodyPr>
            <a:normAutofit/>
          </a:bodyPr>
          <a:lstStyle/>
          <a:p>
            <a:pPr algn="just"/>
            <a:r>
              <a:rPr lang="en-US" dirty="0">
                <a:latin typeface="Times New Roman" panose="02020603050405020304" pitchFamily="18" charset="0"/>
                <a:cs typeface="Times New Roman" panose="02020603050405020304" pitchFamily="18" charset="0"/>
              </a:rPr>
              <a:t>Dissemination of false statement : Punishment with fine not exceeding 1,00,000 or with an imprisonment not exceeding 2 years or with both.</a:t>
            </a:r>
          </a:p>
          <a:p>
            <a:pPr algn="just"/>
            <a:r>
              <a:rPr lang="en-US" dirty="0">
                <a:latin typeface="Times New Roman" panose="02020603050405020304" pitchFamily="18" charset="0"/>
                <a:cs typeface="Times New Roman" panose="02020603050405020304" pitchFamily="18" charset="0"/>
              </a:rPr>
              <a:t>Committing computer fraud: Punishment with fine not exceeding 1,00,000 or with an imprisonment not exceeding two years or both.</a:t>
            </a:r>
          </a:p>
          <a:p>
            <a:pPr algn="just"/>
            <a:r>
              <a:rPr lang="en-US" dirty="0">
                <a:latin typeface="Times New Roman" panose="02020603050405020304" pitchFamily="18" charset="0"/>
                <a:cs typeface="Times New Roman" panose="02020603050405020304" pitchFamily="18" charset="0"/>
              </a:rPr>
              <a:t>Punishment in an offence committed outside Nepal: This means that if someone commits a cybercrime against a Nepali system or network from abroad, they can still be charged and punished under Nepali law.</a:t>
            </a:r>
          </a:p>
          <a:p>
            <a:pPr algn="just"/>
            <a:r>
              <a:rPr lang="en-US" dirty="0">
                <a:latin typeface="Times New Roman" panose="02020603050405020304" pitchFamily="18" charset="0"/>
                <a:cs typeface="Times New Roman" panose="02020603050405020304" pitchFamily="18" charset="0"/>
              </a:rPr>
              <a:t>Seizure of system and electronic device which are used in committing cyber crime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u="sng" dirty="0">
                <a:latin typeface="Times New Roman" panose="02020603050405020304" pitchFamily="18" charset="0"/>
                <a:cs typeface="Times New Roman" panose="02020603050405020304" pitchFamily="18" charset="0"/>
              </a:rPr>
              <a:t>2) The Copyright Act, 2056 </a:t>
            </a:r>
          </a:p>
          <a:p>
            <a:pPr algn="just">
              <a:buNone/>
            </a:pPr>
            <a:r>
              <a:rPr lang="en-US" dirty="0">
                <a:latin typeface="Times New Roman" panose="02020603050405020304" pitchFamily="18" charset="0"/>
                <a:cs typeface="Times New Roman" panose="02020603050405020304" pitchFamily="18" charset="0"/>
              </a:rPr>
              <a:t>This  Act prohibit people from copying the original work of others and using it for their own economic and moral advantage.</a:t>
            </a:r>
            <a:r>
              <a:rPr lang="en-US" b="1" dirty="0">
                <a:latin typeface="Times New Roman" panose="02020603050405020304" pitchFamily="18" charset="0"/>
                <a:cs typeface="Times New Roman" panose="02020603050405020304" pitchFamily="18" charset="0"/>
              </a:rPr>
              <a:t> Section 27</a:t>
            </a:r>
            <a:r>
              <a:rPr lang="en-US" dirty="0">
                <a:latin typeface="Times New Roman" panose="02020603050405020304" pitchFamily="18" charset="0"/>
                <a:cs typeface="Times New Roman" panose="02020603050405020304" pitchFamily="18" charset="0"/>
              </a:rPr>
              <a:t> of the Copyright Act specifies the following punishments: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First Offense</a:t>
            </a:r>
            <a:r>
              <a:rPr lang="en-US" dirty="0">
                <a:latin typeface="Times New Roman" panose="02020603050405020304" pitchFamily="18" charset="0"/>
                <a:cs typeface="Times New Roman" panose="02020603050405020304" pitchFamily="18" charset="0"/>
              </a:rPr>
              <a:t>: A fine ranging from </a:t>
            </a:r>
            <a:r>
              <a:rPr lang="en-US" b="1" dirty="0">
                <a:latin typeface="Times New Roman" panose="02020603050405020304" pitchFamily="18" charset="0"/>
                <a:cs typeface="Times New Roman" panose="02020603050405020304" pitchFamily="18" charset="0"/>
              </a:rPr>
              <a:t>NPR 10,000 to NPR 1,00,000</a:t>
            </a:r>
            <a:r>
              <a:rPr lang="en-US" dirty="0">
                <a:latin typeface="Times New Roman" panose="02020603050405020304" pitchFamily="18" charset="0"/>
                <a:cs typeface="Times New Roman" panose="02020603050405020304" pitchFamily="18" charset="0"/>
              </a:rPr>
              <a:t>, imprisonment for up to </a:t>
            </a:r>
            <a:r>
              <a:rPr lang="en-US" b="1" dirty="0">
                <a:latin typeface="Times New Roman" panose="02020603050405020304" pitchFamily="18" charset="0"/>
                <a:cs typeface="Times New Roman" panose="02020603050405020304" pitchFamily="18" charset="0"/>
              </a:rPr>
              <a:t>6 months</a:t>
            </a:r>
            <a:r>
              <a:rPr lang="en-US" dirty="0">
                <a:latin typeface="Times New Roman" panose="02020603050405020304" pitchFamily="18" charset="0"/>
                <a:cs typeface="Times New Roman" panose="02020603050405020304" pitchFamily="18" charset="0"/>
              </a:rPr>
              <a:t>, or both.</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Subsequent Offenses</a:t>
            </a:r>
            <a:r>
              <a:rPr lang="en-US" dirty="0">
                <a:latin typeface="Times New Roman" panose="02020603050405020304" pitchFamily="18" charset="0"/>
                <a:cs typeface="Times New Roman" panose="02020603050405020304" pitchFamily="18" charset="0"/>
              </a:rPr>
              <a:t>: A fine ranging from </a:t>
            </a:r>
            <a:r>
              <a:rPr lang="en-US" b="1" dirty="0">
                <a:latin typeface="Times New Roman" panose="02020603050405020304" pitchFamily="18" charset="0"/>
                <a:cs typeface="Times New Roman" panose="02020603050405020304" pitchFamily="18" charset="0"/>
              </a:rPr>
              <a:t>NPR 20,000 to NPR 200,000</a:t>
            </a:r>
            <a:r>
              <a:rPr lang="en-US" dirty="0">
                <a:latin typeface="Times New Roman" panose="02020603050405020304" pitchFamily="18" charset="0"/>
                <a:cs typeface="Times New Roman" panose="02020603050405020304" pitchFamily="18" charset="0"/>
              </a:rPr>
              <a:t>, imprisonment for up to </a:t>
            </a:r>
            <a:r>
              <a:rPr lang="en-US" b="1" dirty="0">
                <a:latin typeface="Times New Roman" panose="02020603050405020304" pitchFamily="18" charset="0"/>
                <a:cs typeface="Times New Roman" panose="02020603050405020304" pitchFamily="18" charset="0"/>
              </a:rPr>
              <a:t>1 year</a:t>
            </a:r>
            <a:r>
              <a:rPr lang="en-US" dirty="0">
                <a:latin typeface="Times New Roman" panose="02020603050405020304" pitchFamily="18" charset="0"/>
                <a:cs typeface="Times New Roman" panose="02020603050405020304" pitchFamily="18" charset="0"/>
              </a:rPr>
              <a:t>, or both.</a:t>
            </a:r>
          </a:p>
          <a:p>
            <a:pPr algn="just"/>
            <a:r>
              <a:rPr lang="en-US" dirty="0">
                <a:latin typeface="Times New Roman" panose="02020603050405020304" pitchFamily="18" charset="0"/>
                <a:cs typeface="Times New Roman" panose="02020603050405020304" pitchFamily="18" charset="0"/>
              </a:rPr>
              <a:t>Additionally, the infringing materials and devices used to reproduce them may be </a:t>
            </a:r>
            <a:r>
              <a:rPr lang="en-US" b="1" dirty="0">
                <a:latin typeface="Times New Roman" panose="02020603050405020304" pitchFamily="18" charset="0"/>
                <a:cs typeface="Times New Roman" panose="02020603050405020304" pitchFamily="18" charset="0"/>
              </a:rPr>
              <a:t>seized and destroyed</a:t>
            </a:r>
            <a:r>
              <a:rPr lang="en-US" dirty="0">
                <a:latin typeface="Times New Roman" panose="02020603050405020304" pitchFamily="18" charset="0"/>
                <a:cs typeface="Times New Roman" panose="02020603050405020304" pitchFamily="18" charset="0"/>
              </a:rPr>
              <a:t>, and the infringer may be required to </a:t>
            </a:r>
            <a:r>
              <a:rPr lang="en-US" b="1" dirty="0">
                <a:latin typeface="Times New Roman" panose="02020603050405020304" pitchFamily="18" charset="0"/>
                <a:cs typeface="Times New Roman" panose="02020603050405020304" pitchFamily="18" charset="0"/>
              </a:rPr>
              <a:t>compensate the copyright owner</a:t>
            </a:r>
            <a:r>
              <a:rPr lang="en-US" dirty="0">
                <a:latin typeface="Times New Roman" panose="02020603050405020304" pitchFamily="18" charset="0"/>
                <a:cs typeface="Times New Roman" panose="02020603050405020304" pitchFamily="18" charset="0"/>
              </a:rPr>
              <a:t> for any losses incurred.</a:t>
            </a:r>
          </a:p>
          <a:p>
            <a:pPr marL="0" indent="0" algn="just">
              <a:buNone/>
            </a:pPr>
            <a:endParaRPr lang="en-US" dirty="0"/>
          </a:p>
        </p:txBody>
      </p:sp>
    </p:spTree>
    <p:extLst>
      <p:ext uri="{BB962C8B-B14F-4D97-AF65-F5344CB8AC3E}">
        <p14:creationId xmlns:p14="http://schemas.microsoft.com/office/powerpoint/2010/main" val="4028643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0D65-06C5-7194-BF59-4F57D6627DF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BBD0C6A-3496-BA98-8F06-19EE6352124A}"/>
              </a:ext>
            </a:extLst>
          </p:cNvPr>
          <p:cNvSpPr>
            <a:spLocks noGrp="1"/>
          </p:cNvSpPr>
          <p:nvPr>
            <p:ph idx="1"/>
          </p:nvPr>
        </p:nvSpPr>
        <p:spPr>
          <a:xfrm>
            <a:off x="521208" y="766916"/>
            <a:ext cx="11155680" cy="5781368"/>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3) Banking offense and Punishment Act, 2064</a:t>
            </a:r>
          </a:p>
          <a:p>
            <a:pPr algn="just">
              <a:buNone/>
            </a:pPr>
            <a:r>
              <a:rPr lang="en-US" dirty="0">
                <a:latin typeface="Times New Roman" panose="02020603050405020304" pitchFamily="18" charset="0"/>
                <a:cs typeface="Times New Roman" panose="02020603050405020304" pitchFamily="18" charset="0"/>
              </a:rPr>
              <a:t>Section 6 of the Banking Offence and Punishment Act, 2064 (2008), it is illegal to obtain or make payments through the abuse or unauthorized use of electronic means such as credit cards, debit cards, ATM cards, or other electronic methods. </a:t>
            </a:r>
          </a:p>
          <a:p>
            <a:pPr algn="just">
              <a:buNone/>
            </a:pPr>
            <a:r>
              <a:rPr lang="en-US" dirty="0">
                <a:latin typeface="Times New Roman" panose="02020603050405020304" pitchFamily="18" charset="0"/>
                <a:cs typeface="Times New Roman" panose="02020603050405020304" pitchFamily="18" charset="0"/>
              </a:rPr>
              <a:t>Punishment: Depending on the amount involved, the offender may face imprisonment for up to five years.</a:t>
            </a:r>
          </a:p>
          <a:p>
            <a:pPr algn="just">
              <a:buNone/>
            </a:pPr>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4) </a:t>
            </a:r>
            <a:r>
              <a:rPr lang="en-US" b="1" dirty="0" err="1">
                <a:latin typeface="Times New Roman" panose="02020603050405020304" pitchFamily="18" charset="0"/>
                <a:cs typeface="Times New Roman" panose="02020603050405020304" pitchFamily="18" charset="0"/>
              </a:rPr>
              <a:t>Muluki</a:t>
            </a:r>
            <a:r>
              <a:rPr lang="en-US" b="1" dirty="0">
                <a:latin typeface="Times New Roman" panose="02020603050405020304" pitchFamily="18" charset="0"/>
                <a:cs typeface="Times New Roman" panose="02020603050405020304" pitchFamily="18" charset="0"/>
              </a:rPr>
              <a:t> Criminal Code, 2074</a:t>
            </a:r>
          </a:p>
          <a:p>
            <a:pPr algn="just">
              <a:buNone/>
            </a:pPr>
            <a:r>
              <a:rPr lang="en-US" dirty="0">
                <a:latin typeface="Times New Roman" panose="02020603050405020304" pitchFamily="18" charset="0"/>
                <a:cs typeface="Times New Roman" panose="02020603050405020304" pitchFamily="18" charset="0"/>
              </a:rPr>
              <a:t>Section 276: Prohibit forgery: a person who makes a false document or false electronic record or a part or portion of a document or electronic record, with intent to cause any harm, injury or damage to public or any person or to render any benefit to person himself or herself or to any person shall be considered to commit forgery. Punishment up to 10 years to 5 years. </a:t>
            </a:r>
          </a:p>
          <a:p>
            <a:pPr algn="just">
              <a:buNone/>
            </a:pPr>
            <a:r>
              <a:rPr lang="en-US" dirty="0">
                <a:latin typeface="Times New Roman" panose="02020603050405020304" pitchFamily="18" charset="0"/>
                <a:cs typeface="Times New Roman" panose="02020603050405020304" pitchFamily="18" charset="0"/>
              </a:rPr>
              <a:t>Section 298: Prohibition of breaching privacy through electronic means: Up to 2 years or a fine not exceeding twenty thousand rupees or both the sentences.</a:t>
            </a:r>
          </a:p>
          <a:p>
            <a:pPr algn="just">
              <a:buNone/>
            </a:pPr>
            <a:r>
              <a:rPr lang="en-US" dirty="0">
                <a:latin typeface="Times New Roman" panose="02020603050405020304" pitchFamily="18" charset="0"/>
                <a:cs typeface="Times New Roman" panose="02020603050405020304" pitchFamily="18" charset="0"/>
              </a:rPr>
              <a:t>Section 299: Prohibition of deceitfully making telephone calls or transmitting messages: Cyber criminal shall be liable for imprisonment not exceeding 2 years or a fine not exceeding 20,000 fine or both.</a:t>
            </a:r>
          </a:p>
          <a:p>
            <a:pPr algn="just">
              <a:buNone/>
            </a:pPr>
            <a:r>
              <a:rPr lang="en-US" dirty="0">
                <a:latin typeface="Times New Roman" panose="02020603050405020304" pitchFamily="18" charset="0"/>
                <a:cs typeface="Times New Roman" panose="02020603050405020304" pitchFamily="18" charset="0"/>
              </a:rPr>
              <a:t>Section 307: Punishment for defamation : Punishment up to 2 years imprisonment and 20,000 fine or both.</a:t>
            </a:r>
          </a:p>
          <a:p>
            <a:pPr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3947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E199-27EF-75CE-9828-1CA22C0C44A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3846195-6EF4-2E81-8431-9A00211DCF52}"/>
              </a:ext>
            </a:extLst>
          </p:cNvPr>
          <p:cNvSpPr>
            <a:spLocks noGrp="1"/>
          </p:cNvSpPr>
          <p:nvPr>
            <p:ph idx="1"/>
          </p:nvPr>
        </p:nvSpPr>
        <p:spPr>
          <a:xfrm>
            <a:off x="521208" y="1366684"/>
            <a:ext cx="11155680" cy="4979252"/>
          </a:xfrm>
        </p:spPr>
        <p:txBody>
          <a:bodyPr>
            <a:normAutofit fontScale="92500" lnSpcReduction="10000"/>
          </a:bodyPr>
          <a:lstStyle/>
          <a:p>
            <a:pPr marL="0" indent="0" algn="just">
              <a:buNone/>
            </a:pPr>
            <a:r>
              <a:rPr lang="en-US" b="1" dirty="0">
                <a:latin typeface="Times New Roman" panose="02020603050405020304" pitchFamily="18" charset="0"/>
                <a:cs typeface="Times New Roman" panose="02020603050405020304" pitchFamily="18" charset="0"/>
              </a:rPr>
              <a:t>5) Children Act, 2075 </a:t>
            </a:r>
          </a:p>
          <a:p>
            <a:pPr marL="0" indent="0" algn="just">
              <a:buNone/>
            </a:pPr>
            <a:r>
              <a:rPr lang="en-US" dirty="0">
                <a:latin typeface="Times New Roman" panose="02020603050405020304" pitchFamily="18" charset="0"/>
                <a:cs typeface="Times New Roman" panose="02020603050405020304" pitchFamily="18" charset="0"/>
              </a:rPr>
              <a:t>This act prohibit ‘Child pornography’.</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6) Nepal Rastra Bank (NRB) IT Guidelines 2012 B.S</a:t>
            </a:r>
          </a:p>
          <a:p>
            <a:pPr marL="0" indent="0" algn="just">
              <a:buNone/>
            </a:pPr>
            <a:r>
              <a:rPr lang="en-US" dirty="0">
                <a:latin typeface="Times New Roman" panose="02020603050405020304" pitchFamily="18" charset="0"/>
                <a:cs typeface="Times New Roman" panose="02020603050405020304" pitchFamily="18" charset="0"/>
              </a:rPr>
              <a:t>It is to establish a secure, stable, and standardized IT environment within the banking sector.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t>7)</a:t>
            </a:r>
            <a:r>
              <a:rPr lang="en-US" b="1" dirty="0">
                <a:latin typeface="Times New Roman" panose="02020603050405020304" pitchFamily="18" charset="0"/>
                <a:cs typeface="Times New Roman" panose="02020603050405020304" pitchFamily="18" charset="0"/>
              </a:rPr>
              <a:t>National Cyber Security Policy 2080 (2023)</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This aims to establish a secure digital environment by implementing legal and institutional frameworks. The policy focuses on protecting sensitive national infrastructure from cyber threats and enhancing cybersecurity research and human resource development. It emphasizes making digital services reliable and secure, fostering public trust in online platforms. </a:t>
            </a:r>
          </a:p>
          <a:p>
            <a:pPr marL="0" indent="0" algn="just">
              <a:buNone/>
            </a:pPr>
            <a:r>
              <a:rPr lang="en-US" dirty="0">
                <a:latin typeface="Times New Roman" panose="02020603050405020304" pitchFamily="18" charset="0"/>
                <a:cs typeface="Times New Roman" panose="02020603050405020304" pitchFamily="18" charset="0"/>
              </a:rPr>
              <a:t>Nepal's </a:t>
            </a:r>
            <a:r>
              <a:rPr lang="en-US" b="1" dirty="0">
                <a:latin typeface="Times New Roman" panose="02020603050405020304" pitchFamily="18" charset="0"/>
                <a:cs typeface="Times New Roman" panose="02020603050405020304" pitchFamily="18" charset="0"/>
              </a:rPr>
              <a:t>National Cyber Security Policy 2080 (2023)</a:t>
            </a:r>
            <a:r>
              <a:rPr lang="en-US" dirty="0">
                <a:latin typeface="Times New Roman" panose="02020603050405020304" pitchFamily="18" charset="0"/>
                <a:cs typeface="Times New Roman" panose="02020603050405020304" pitchFamily="18" charset="0"/>
              </a:rPr>
              <a:t> sets ambitious targets to enhance the country's cybersecurity posture. The policy aims to increase Nepal's Global Cybersecurity Index (GCI) score from the current 44.99% to 60% within the next five years, 70% within ten years, and 80% within fifteen years. These goals reflect Nepal's commitment to strengthening its digital infrastructure and improving its cybersecurity capabilities.</a:t>
            </a:r>
          </a:p>
          <a:p>
            <a:pPr marL="0" indent="0" algn="just">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29449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54E4-1936-903F-941E-B7714D9C33AB}"/>
              </a:ext>
            </a:extLst>
          </p:cNvPr>
          <p:cNvSpPr>
            <a:spLocks noGrp="1"/>
          </p:cNvSpPr>
          <p:nvPr>
            <p:ph type="title"/>
          </p:nvPr>
        </p:nvSpPr>
        <p:spPr>
          <a:xfrm>
            <a:off x="285135" y="766916"/>
            <a:ext cx="11391753" cy="619432"/>
          </a:xfrm>
        </p:spPr>
        <p:txBody>
          <a:bodyPr>
            <a:normAutofit fontScale="90000"/>
          </a:bodyPr>
          <a:lstStyle/>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en-US" dirty="0"/>
              <a:t> </a:t>
            </a:r>
            <a:r>
              <a:rPr lang="en-US" sz="1500" dirty="0">
                <a:solidFill>
                  <a:srgbClr val="000000"/>
                </a:solidFill>
                <a:latin typeface="Times New Roman" panose="02020603050405020304" pitchFamily="18" charset="0"/>
                <a:ea typeface="+mn-ea"/>
                <a:cs typeface="Times New Roman" panose="02020603050405020304" pitchFamily="18" charset="0"/>
              </a:rPr>
              <a:t>T</a:t>
            </a:r>
            <a:r>
              <a:rPr kumimoji="0" lang="en-US" sz="150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echnical</a:t>
            </a:r>
            <a:r>
              <a:rPr kumimoji="0" lang="en-US" sz="150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measures that address various aspects of Cyber Security</a:t>
            </a:r>
            <a:endParaRPr lang="en-US" sz="1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8D2B65-D6F1-90BC-0322-C6B7474316CF}"/>
              </a:ext>
            </a:extLst>
          </p:cNvPr>
          <p:cNvSpPr>
            <a:spLocks noGrp="1"/>
          </p:cNvSpPr>
          <p:nvPr>
            <p:ph idx="1"/>
          </p:nvPr>
        </p:nvSpPr>
        <p:spPr>
          <a:xfrm>
            <a:off x="285135" y="1514168"/>
            <a:ext cx="11749549" cy="5181600"/>
          </a:xfrm>
        </p:spPr>
        <p:txBody>
          <a:bodyPr>
            <a:normAutofit fontScale="85000" lnSpcReduction="20000"/>
          </a:bodyPr>
          <a:lstStyle/>
          <a:p>
            <a:pPr algn="just">
              <a:buFont typeface="+mj-lt"/>
              <a:buAutoNum type="arabicPeriod"/>
            </a:pPr>
            <a:r>
              <a:rPr lang="en-US" b="1" dirty="0">
                <a:latin typeface="Times New Roman" panose="02020603050405020304" pitchFamily="18" charset="0"/>
                <a:cs typeface="Times New Roman" panose="02020603050405020304" pitchFamily="18" charset="0"/>
              </a:rPr>
              <a:t>Firewalls</a:t>
            </a:r>
            <a:r>
              <a:rPr lang="en-US" dirty="0">
                <a:latin typeface="Times New Roman" panose="02020603050405020304" pitchFamily="18" charset="0"/>
                <a:cs typeface="Times New Roman" panose="02020603050405020304" pitchFamily="18" charset="0"/>
              </a:rPr>
              <a:t>: Act as gatekeepers, controlling incoming and outgoing network traffic based on predetermined security rules, thereby preventing unauthorized access and mitigating potential threats.</a:t>
            </a:r>
          </a:p>
          <a:p>
            <a:pPr algn="just">
              <a:buFont typeface="+mj-lt"/>
              <a:buAutoNum type="arabicPeriod"/>
            </a:pPr>
            <a:r>
              <a:rPr lang="en-US" b="1" dirty="0">
                <a:latin typeface="Times New Roman" panose="02020603050405020304" pitchFamily="18" charset="0"/>
                <a:cs typeface="Times New Roman" panose="02020603050405020304" pitchFamily="18" charset="0"/>
              </a:rPr>
              <a:t>Antivirus &amp; Anti-Malware Software</a:t>
            </a:r>
            <a:r>
              <a:rPr lang="en-US" dirty="0">
                <a:latin typeface="Times New Roman" panose="02020603050405020304" pitchFamily="18" charset="0"/>
                <a:cs typeface="Times New Roman" panose="02020603050405020304" pitchFamily="18" charset="0"/>
              </a:rPr>
              <a:t>: Detect and eliminate malicious software, such as viruses and ransomware, that can compromise system integrity and data security.</a:t>
            </a:r>
          </a:p>
          <a:p>
            <a:pPr algn="just">
              <a:buFont typeface="+mj-lt"/>
              <a:buAutoNum type="arabicPeriod"/>
            </a:pPr>
            <a:r>
              <a:rPr lang="en-US" b="1" dirty="0">
                <a:latin typeface="Times New Roman" panose="02020603050405020304" pitchFamily="18" charset="0"/>
                <a:cs typeface="Times New Roman" panose="02020603050405020304" pitchFamily="18" charset="0"/>
              </a:rPr>
              <a:t>Encryption</a:t>
            </a:r>
            <a:r>
              <a:rPr lang="en-US" dirty="0">
                <a:latin typeface="Times New Roman" panose="02020603050405020304" pitchFamily="18" charset="0"/>
                <a:cs typeface="Times New Roman" panose="02020603050405020304" pitchFamily="18" charset="0"/>
              </a:rPr>
              <a:t>: Protect sensitive data both in transit and at rest by converting it into unreadable formats, ensuring that unauthorized parties cannot access or decipher the information.</a:t>
            </a:r>
          </a:p>
          <a:p>
            <a:pPr algn="just">
              <a:buFont typeface="+mj-lt"/>
              <a:buAutoNum type="arabicPeriod"/>
            </a:pPr>
            <a:r>
              <a:rPr lang="en-US" b="1" dirty="0">
                <a:latin typeface="Times New Roman" panose="02020603050405020304" pitchFamily="18" charset="0"/>
                <a:cs typeface="Times New Roman" panose="02020603050405020304" pitchFamily="18" charset="0"/>
              </a:rPr>
              <a:t>Multi-Factor Authentication (MFA)</a:t>
            </a:r>
            <a:r>
              <a:rPr lang="en-US" dirty="0">
                <a:latin typeface="Times New Roman" panose="02020603050405020304" pitchFamily="18" charset="0"/>
                <a:cs typeface="Times New Roman" panose="02020603050405020304" pitchFamily="18" charset="0"/>
              </a:rPr>
              <a:t>: Enhance security by requiring multiple forms of verification—something the user knows (password), has (smartphone), or is (biometric)—before granting access to systems or data.</a:t>
            </a:r>
          </a:p>
          <a:p>
            <a:pPr algn="just">
              <a:buFont typeface="+mj-lt"/>
              <a:buAutoNum type="arabicPeriod"/>
            </a:pPr>
            <a:r>
              <a:rPr lang="en-US" b="1" dirty="0">
                <a:latin typeface="Times New Roman" panose="02020603050405020304" pitchFamily="18" charset="0"/>
                <a:cs typeface="Times New Roman" panose="02020603050405020304" pitchFamily="18" charset="0"/>
              </a:rPr>
              <a:t>Patch Management</a:t>
            </a:r>
            <a:r>
              <a:rPr lang="en-US" dirty="0">
                <a:latin typeface="Times New Roman" panose="02020603050405020304" pitchFamily="18" charset="0"/>
                <a:cs typeface="Times New Roman" panose="02020603050405020304" pitchFamily="18" charset="0"/>
              </a:rPr>
              <a:t>: Regularly update software and systems to fix known vulnerabilities, reducing the risk of exploitation by cybercriminals.</a:t>
            </a:r>
          </a:p>
          <a:p>
            <a:pPr algn="just">
              <a:buFont typeface="+mj-lt"/>
              <a:buAutoNum type="arabicPeriod"/>
            </a:pPr>
            <a:r>
              <a:rPr lang="en-US" b="1" dirty="0">
                <a:latin typeface="Times New Roman" panose="02020603050405020304" pitchFamily="18" charset="0"/>
                <a:cs typeface="Times New Roman" panose="02020603050405020304" pitchFamily="18" charset="0"/>
              </a:rPr>
              <a:t>Intrusion Detection and Prevention Systems (IDS/IPS)</a:t>
            </a:r>
            <a:r>
              <a:rPr lang="en-US" dirty="0">
                <a:latin typeface="Times New Roman" panose="02020603050405020304" pitchFamily="18" charset="0"/>
                <a:cs typeface="Times New Roman" panose="02020603050405020304" pitchFamily="18" charset="0"/>
              </a:rPr>
              <a:t>: Monitor network traffic for suspicious activities and automatically take action to block potential threats in real-time.</a:t>
            </a:r>
          </a:p>
          <a:p>
            <a:pPr algn="just">
              <a:buFont typeface="+mj-lt"/>
              <a:buAutoNum type="arabicPeriod"/>
            </a:pPr>
            <a:r>
              <a:rPr lang="en-US" b="1" dirty="0">
                <a:latin typeface="Times New Roman" panose="02020603050405020304" pitchFamily="18" charset="0"/>
                <a:cs typeface="Times New Roman" panose="02020603050405020304" pitchFamily="18" charset="0"/>
              </a:rPr>
              <a:t>Access Controls</a:t>
            </a:r>
            <a:r>
              <a:rPr lang="en-US" dirty="0">
                <a:latin typeface="Times New Roman" panose="02020603050405020304" pitchFamily="18" charset="0"/>
                <a:cs typeface="Times New Roman" panose="02020603050405020304" pitchFamily="18" charset="0"/>
              </a:rPr>
              <a:t>: Implement policies like Role-Based Access Control (RBAC) to ensure that only authorized users can access specific systems and data, minimizing the risk of internal and external breaches.</a:t>
            </a:r>
          </a:p>
          <a:p>
            <a:pPr algn="just">
              <a:buFont typeface="+mj-lt"/>
              <a:buAutoNum type="arabicPeriod"/>
            </a:pPr>
            <a:r>
              <a:rPr lang="en-US" b="1" dirty="0">
                <a:latin typeface="Times New Roman" panose="02020603050405020304" pitchFamily="18" charset="0"/>
                <a:cs typeface="Times New Roman" panose="02020603050405020304" pitchFamily="18" charset="0"/>
              </a:rPr>
              <a:t>Secure Network Configuration</a:t>
            </a:r>
            <a:r>
              <a:rPr lang="en-US" dirty="0">
                <a:latin typeface="Times New Roman" panose="02020603050405020304" pitchFamily="18" charset="0"/>
                <a:cs typeface="Times New Roman" panose="02020603050405020304" pitchFamily="18" charset="0"/>
              </a:rPr>
              <a:t>: Disable unused ports and services, enforce strong password policies, and regularly review configurations to eliminate potential vulnerabilities.</a:t>
            </a:r>
          </a:p>
          <a:p>
            <a:pPr algn="just">
              <a:buFont typeface="+mj-lt"/>
              <a:buAutoNum type="arabicPeriod"/>
            </a:pPr>
            <a:r>
              <a:rPr lang="en-US" b="1" dirty="0">
                <a:latin typeface="Times New Roman" panose="02020603050405020304" pitchFamily="18" charset="0"/>
                <a:cs typeface="Times New Roman" panose="02020603050405020304" pitchFamily="18" charset="0"/>
              </a:rPr>
              <a:t>Data Loss Prevention (DLP)</a:t>
            </a:r>
            <a:r>
              <a:rPr lang="en-US" dirty="0">
                <a:latin typeface="Times New Roman" panose="02020603050405020304" pitchFamily="18" charset="0"/>
                <a:cs typeface="Times New Roman" panose="02020603050405020304" pitchFamily="18" charset="0"/>
              </a:rPr>
              <a:t>: Monitor and control data transfers to prevent unauthorized sharing or leakage of sensitive information.</a:t>
            </a:r>
          </a:p>
          <a:p>
            <a:pPr algn="just">
              <a:buFont typeface="+mj-lt"/>
              <a:buAutoNum type="arabicPeriod"/>
            </a:pPr>
            <a:r>
              <a:rPr lang="en-US" b="1" dirty="0">
                <a:latin typeface="Times New Roman" panose="02020603050405020304" pitchFamily="18" charset="0"/>
                <a:cs typeface="Times New Roman" panose="02020603050405020304" pitchFamily="18" charset="0"/>
              </a:rPr>
              <a:t>Backup and Disaster Recovery</a:t>
            </a:r>
            <a:r>
              <a:rPr lang="en-US" dirty="0">
                <a:latin typeface="Times New Roman" panose="02020603050405020304" pitchFamily="18" charset="0"/>
                <a:cs typeface="Times New Roman" panose="02020603050405020304" pitchFamily="18" charset="0"/>
              </a:rPr>
              <a:t>: Regularly back up critical data and establish recovery plans to ensure business continuity in the event of a cyberattack or system failure.</a:t>
            </a:r>
          </a:p>
          <a:p>
            <a:endParaRPr lang="en-US" dirty="0"/>
          </a:p>
        </p:txBody>
      </p:sp>
    </p:spTree>
    <p:extLst>
      <p:ext uri="{BB962C8B-B14F-4D97-AF65-F5344CB8AC3E}">
        <p14:creationId xmlns:p14="http://schemas.microsoft.com/office/powerpoint/2010/main" val="4517079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3559</TotalTime>
  <Words>1435</Words>
  <Application>Microsoft Office PowerPoint</Application>
  <PresentationFormat>Widescreen</PresentationFormat>
  <Paragraphs>67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Bierstadt</vt:lpstr>
      <vt:lpstr>Times New Roman</vt:lpstr>
      <vt:lpstr>GestaltVTI</vt:lpstr>
      <vt:lpstr>Cyber Security</vt:lpstr>
      <vt:lpstr> </vt:lpstr>
      <vt:lpstr> </vt:lpstr>
      <vt:lpstr>Cyber Security Laws  </vt:lpstr>
      <vt:lpstr> </vt:lpstr>
      <vt:lpstr> </vt:lpstr>
      <vt:lpstr> </vt:lpstr>
      <vt:lpstr> Technical measures that address various aspects of Cyber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dc:title>
  <dc:creator>shristi baral</dc:creator>
  <cp:lastModifiedBy>Ravi Silwal</cp:lastModifiedBy>
  <cp:revision>8</cp:revision>
  <dcterms:created xsi:type="dcterms:W3CDTF">2025-05-22T12:54:51Z</dcterms:created>
  <dcterms:modified xsi:type="dcterms:W3CDTF">2026-05-20T01:05:29Z</dcterms:modified>
</cp:coreProperties>
</file>