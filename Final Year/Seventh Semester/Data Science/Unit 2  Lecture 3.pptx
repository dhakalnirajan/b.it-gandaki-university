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65" r:id="rId11"/>
    <p:sldId id="278" r:id="rId12"/>
    <p:sldId id="282" r:id="rId13"/>
    <p:sldId id="279" r:id="rId14"/>
    <p:sldId id="280" r:id="rId15"/>
    <p:sldId id="281" r:id="rId16"/>
    <p:sldId id="257" r:id="rId17"/>
    <p:sldId id="266" r:id="rId18"/>
    <p:sldId id="259" r:id="rId19"/>
    <p:sldId id="260" r:id="rId20"/>
    <p:sldId id="261" r:id="rId21"/>
    <p:sldId id="262" r:id="rId22"/>
    <p:sldId id="263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2358E-332E-4815-ACF8-3E716CBE618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78996-49E5-4974-BB1E-E2187C0F8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8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78996-49E5-4974-BB1E-E2187C0F84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1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AFF-B408-F469-9A3D-A0D58448E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72956-5B7E-E514-264E-998B55A6A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B940-6D24-914E-090B-86B44DA7E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4FCF3-821E-8393-395D-02DF4648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F9BBC-98BD-F18B-9796-CC9E5AEA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9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4630-10E5-090D-D8F8-17E41E43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80511-2566-960D-37FA-40B8D3B47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74B3F-0D52-A361-EC0B-DF493767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D4DE-B312-DF85-4CF3-D54D84C7F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BD28B-FB2F-A9CC-634E-6CDC7BC8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2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B6BB-76B0-EDA2-0F8D-8915B732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5FA71-236F-8C86-7EA3-940C1116E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7AA7C-1B52-8D1A-BA18-AB5143D8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3CC3A-3E26-35E1-C812-38C6FE2B2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EAF4A-C3F3-081C-12AE-7458EB80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1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2623-8756-A8D4-51E7-D213DB72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AFF69-2947-AC9C-6068-45396D854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AFCC8-109D-DDFA-55A6-BAD776D19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DA9C0-632F-CB8B-AD2C-09A338ED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A1F0C-D8BE-FC00-52CA-E6031315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8071A-0B17-AF40-4DA9-AD37C184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3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B764-B610-FAA6-7B48-D0E3AC33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1ECD8-4FB5-6168-F40B-2C5550E6A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8002A-BCE3-E60E-7C19-F0A135862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825DA-27DF-7D43-6251-BA5742067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B5A48-BFD9-632F-4118-014927CE5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2C410-077E-4BA5-4483-E7C245C90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B294C-C5AE-346B-9A5C-39BAB290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3F0903-2D1B-75EC-5B13-82BEE4A9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5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B875-4D2F-95C4-3930-F1709EE8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8E41D-BA66-E0A3-AABC-857E4050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236BD-6EA0-AF92-079F-EE8BEFB9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67C1E-43CD-CE95-3BE9-6214778D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6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8728F4-356C-94E8-C9D2-0C827383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A6F8C-962F-C3CA-6CFD-9BA69FFA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90687-0A8E-57B0-689C-F44E5A90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391D-30D1-C000-7DBB-80411B8BB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41E89-817C-00C0-8EBE-4CFCAD6E8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10DFB-F983-6FAD-8480-74BCBF968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A76EF-A370-5473-FC78-D5B96D67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3A3D1-EBEB-56F1-8776-4BD2CDCE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FDCEF-D7E9-A5EC-DA77-BA574B06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4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B25D-6BA5-1B5E-0914-60B7CCFF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AF897-731B-B035-2D93-8FC2B4DCD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0AC90-9138-6DBD-6EAD-663FD2402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35610-4417-7857-CFC5-29A7EF5F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2BDB7-3726-B1B9-A097-4CBBA76E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BA240-F90D-601F-6CA7-0F00672D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6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7DF9-9FAE-2BBF-B27B-53FC4A95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56F0E-C78B-BA2E-E0EB-B14ACCCD9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D353A-009A-43E8-92B8-DB7F1049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A704B-F9B5-244B-2BB9-6C4DEA1C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B16D0-7BE0-E526-EE21-51E84F71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331423-5105-F98E-94F5-EE9251F84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0330F-6C72-2028-FD4F-3447A68F1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E163D-9F6A-9A3F-B686-F6D6988D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957CE-F5D1-A021-C9C3-45FFBBB3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E94A2-0383-4C29-F809-5F9FF48F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44A6AF-8447-2401-5854-CA2EB2B5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04140-4629-9716-0D69-170C06487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23A7-4D09-F8D3-32B0-F198D6014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DEFFD-5950-451A-B206-A1FA774D65F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AF53E-7358-8920-F1A2-E4DA4B3FB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4111E-B2E2-23C5-AFDC-D036A8D06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ECD63-DB59-4931-8D8F-15F0E2DBD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6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64F1-5D0F-FB21-B53D-9472B1FB0C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Data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FB1E0-9F61-7897-496C-9787C286A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2696"/>
            <a:ext cx="9144000" cy="1355103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Handling Missing Data</a:t>
            </a:r>
          </a:p>
          <a:p>
            <a:endParaRPr lang="en-US" sz="2800" b="1" dirty="0"/>
          </a:p>
          <a:p>
            <a:r>
              <a:rPr lang="en-US" sz="2800" b="1"/>
              <a:t>Lecture 3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49140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3EB0-E868-5B24-FFAB-BFE0FCD4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Identifying and handing missing data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F8B79-1C39-E84C-527F-83DBAD9FE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754"/>
            <a:ext cx="10515600" cy="4857210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Missing Data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 data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refers to the absence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certain values in the dataset.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 data is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common challenge in data science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affecting analysis accuracy and statistical power.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 data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or missing values, occur when you don’t have data stored for certain variables or participants.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can go missing due to incomplete data entry, equipment malfunctions, lost files, and many other reasons.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any dataset, there are usually some missing data. In quantitative research, missing values appear as blank cells in your spreadsheet of csv file.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79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20E-7E06-631A-1068-0694E8CDD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Consequences of Missing Data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5A7A0-7BFE-8B48-94AE-5E5E8907C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 can be biased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Incorrect accuracy and precision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substantial loss in power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E1822-78D1-A318-7A12-81CE9B67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068" y="1825625"/>
            <a:ext cx="5088879" cy="3581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5A501F-1B24-B4CD-6774-0D0F5E168FD6}"/>
              </a:ext>
            </a:extLst>
          </p:cNvPr>
          <p:cNvSpPr txBox="1"/>
          <p:nvPr/>
        </p:nvSpPr>
        <p:spPr>
          <a:xfrm>
            <a:off x="509047" y="4694548"/>
            <a:ext cx="4402318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</a:rPr>
              <a:t>MCAR: Missing Completely at Random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</a:rPr>
              <a:t>MNAR: Missing Not at Random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</a:rPr>
              <a:t>MAR: Missing at Random</a:t>
            </a:r>
          </a:p>
        </p:txBody>
      </p:sp>
    </p:spTree>
    <p:extLst>
      <p:ext uri="{BB962C8B-B14F-4D97-AF65-F5344CB8AC3E}">
        <p14:creationId xmlns:p14="http://schemas.microsoft.com/office/powerpoint/2010/main" val="257639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2FFB-0FE3-1DBE-F972-6422D9B4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DFBAA-F56C-CE17-5099-4C21B38BC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740"/>
            <a:ext cx="10515600" cy="4791223"/>
          </a:xfrm>
        </p:spPr>
        <p:txBody>
          <a:bodyPr/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a)  Missing Completely at Random (MCAR)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MCAR means that the missing data is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entirely unrelated to any values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(observed or unobserved) in the dataset. </a:t>
            </a: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other words, the missingness has no pattern or reason — it’s purely random. </a:t>
            </a: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e.g., you conduct a survey where people fill out their age and height. </a:t>
            </a:r>
          </a:p>
          <a:p>
            <a:pPr marL="742950" marR="0" lvl="1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some people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randomly forget to answer the height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question (and there's no link between the person's age or any other factor and their likelihood of skipping the height question), then this missing data can be considered MCAR.</a:t>
            </a:r>
          </a:p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2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DC7-483F-7F2E-1049-9C4F07E4F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FED0F-BCD5-4FD3-51E6-23729671C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643"/>
            <a:ext cx="10515600" cy="5036320"/>
          </a:xfrm>
        </p:spPr>
        <p:txBody>
          <a:bodyPr>
            <a:normAutofit fontScale="92500" lnSpcReduction="20000"/>
          </a:bodyPr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pandas as pd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numpy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as np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Create a sample dataset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data_mcar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'Age': [25, 30, 35, 40, 45, 50],  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'Height': [160, 175, 180,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165, 170]     # Randomly missing value in 'Height'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Display the dataset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print("MCAR Example Dataset:")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data_mcar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63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2A61-8C78-3D87-576D-AF67F16F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B4A4-1698-8C0C-8048-EC31EDA74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8"/>
            <a:ext cx="10515600" cy="4932625"/>
          </a:xfrm>
        </p:spPr>
        <p:txBody>
          <a:bodyPr/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b) Missing at Random (MAR)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 means that the missingness in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is related to some other observed information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dataset, but not the missing values themselves.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 survey where people are asked about their age and income.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younger people are more likely to skip the income question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then the missingness of income data depends on age.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we know the missingness is related to another observed variable (age), but not to income itself.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1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C309-69FE-D8FC-7737-C0DB460D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7C3A-BE20-0A25-A087-08C8F5F7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rmAutofit fontScale="85000" lnSpcReduction="10000"/>
          </a:bodyPr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pandas as pd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numpy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as np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Create a sample dataset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data_mar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'Age': [20, 22, 25, 28, 30, 35, 40],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'Income': [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40000, 42000, 50000, 60000, 65000]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Display the dataset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print("\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nMAR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Example Dataset:")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data_mar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80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E717-B65A-F6C6-E338-36901AB8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EBC4-F9EB-BAC3-807E-D19F44559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35"/>
            <a:ext cx="10515600" cy="4687528"/>
          </a:xfrm>
        </p:spPr>
        <p:txBody>
          <a:bodyPr/>
          <a:lstStyle/>
          <a:p>
            <a:pPr marL="0" marR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c) Missing Not at Random (MNAR)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lv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MNAR means that the missing data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depends on the value of the missing data itself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say you are conducting a survey on people’s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but some people choose not to answer the income question. The likelihood that a person skips the income question is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directly related to their income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for example,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wealthier people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may be less likely to disclose their income. </a:t>
            </a:r>
          </a:p>
          <a:p>
            <a:pPr marL="0" marR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</a:t>
            </a:r>
          </a:p>
          <a:p>
            <a:pPr marL="0" marR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80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0D79-A301-AB6E-700B-03BBC796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45C21-1C24-1343-5241-6DCE59AC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849"/>
            <a:ext cx="10515600" cy="4612114"/>
          </a:xfrm>
        </p:spPr>
        <p:txBody>
          <a:bodyPr>
            <a:normAutofit fontScale="92500" lnSpcReduction="20000"/>
          </a:bodyPr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pandas as pd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numpy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as np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Create a sample dataset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data_mnar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'Age': [25, 30, 35, 40, 45, 50, 55]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'Income': [35000,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40000,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45000, 50000,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]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Display the dataset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print("\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nMNAR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Example Dataset:")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data_mnar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283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A73B-A818-48A5-7938-46E6C20D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Identifying Missing Data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20CD-E33C-3F2F-08F3-CAB44BD0B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62154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missing data is an essential first step in data cleaning.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methods to detect missing values in Python are: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  <a:tabLst>
                <a:tab pos="9144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Using </a:t>
            </a:r>
            <a:r>
              <a:rPr lang="en-US" sz="18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isna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or </a:t>
            </a:r>
            <a:r>
              <a:rPr lang="en-US" sz="18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isnull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  <a:tabLst>
                <a:tab pos="9144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Using 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info()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  <a:tabLst>
                <a:tab pos="9144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Using </a:t>
            </a:r>
            <a:r>
              <a:rPr lang="en-US" sz="18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notna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  <a:tabLst>
                <a:tab pos="9144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Using 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any()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and 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sum()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with </a:t>
            </a:r>
            <a:r>
              <a:rPr lang="en-US" sz="18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isna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  <a:tabLst>
                <a:tab pos="9144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Using visualization techniques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25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BA1C-8D97-D746-36AB-7BD9D05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8055-03A1-A963-CD3D-D0AD3D260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7"/>
            <a:ext cx="10515600" cy="4753516"/>
          </a:xfrm>
        </p:spPr>
        <p:txBody>
          <a:bodyPr/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) Using </a:t>
            </a:r>
            <a:r>
              <a:rPr lang="en-US" sz="1800" b="1" i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isna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 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or </a:t>
            </a:r>
            <a:r>
              <a:rPr lang="en-US" sz="1800" b="1" i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isnull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342900" marR="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The </a:t>
            </a:r>
            <a:r>
              <a:rPr lang="en-US" sz="18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isna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and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</a:t>
            </a:r>
            <a:r>
              <a:rPr lang="en-US" sz="18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isnull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fucntions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in Pandas detect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values.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They return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True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for missing values and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False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for present values.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CEE99C-6FA4-5949-E41B-DB589595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9010"/>
            <a:ext cx="7099169" cy="374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7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2DC6-892A-65AA-7924-C63E8972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3F3E1-C486-1ED7-88F0-A459D27A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Task: </a:t>
            </a:r>
          </a:p>
          <a:p>
            <a:pPr marL="0" indent="0">
              <a:buNone/>
            </a:pPr>
            <a:r>
              <a:rPr lang="en-US" dirty="0"/>
              <a:t>Use Titanic data sets from </a:t>
            </a:r>
            <a:r>
              <a:rPr lang="en-US" dirty="0" err="1"/>
              <a:t>kaggle</a:t>
            </a:r>
            <a:r>
              <a:rPr lang="en-US" dirty="0"/>
              <a:t> for checking missing values using :</a:t>
            </a:r>
          </a:p>
          <a:p>
            <a:pPr marL="0" indent="0">
              <a:buNone/>
            </a:pPr>
            <a:r>
              <a:rPr lang="en-US" dirty="0"/>
              <a:t>//</a:t>
            </a:r>
            <a:r>
              <a:rPr lang="en-US" dirty="0" err="1"/>
              <a:t>isna</a:t>
            </a:r>
            <a:r>
              <a:rPr lang="en-US" dirty="0"/>
              <a:t> or </a:t>
            </a:r>
            <a:r>
              <a:rPr lang="en-US"/>
              <a:t>isnull</a:t>
            </a:r>
          </a:p>
        </p:txBody>
      </p:sp>
    </p:spTree>
    <p:extLst>
      <p:ext uri="{BB962C8B-B14F-4D97-AF65-F5344CB8AC3E}">
        <p14:creationId xmlns:p14="http://schemas.microsoft.com/office/powerpoint/2010/main" val="144949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EE2C-4801-CC34-D57F-0254F5AB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544C1-A039-0111-7E98-F8356221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021"/>
            <a:ext cx="10515600" cy="4762942"/>
          </a:xfrm>
        </p:spPr>
        <p:txBody>
          <a:bodyPr/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ii) Using 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info()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The 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info()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function in Pandas provides a quick summary of the dataset, including the count of non-null values per column.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EAA0E-7E58-0926-F6A2-C0054CD7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92" y="3091992"/>
            <a:ext cx="7440828" cy="247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7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4EC0-6D86-A926-75C7-B16FB7C5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41420-477F-1C37-3E24-3B51E81A1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793" y="1470581"/>
            <a:ext cx="9455084" cy="5222450"/>
          </a:xfrm>
        </p:spPr>
      </p:pic>
    </p:spTree>
    <p:extLst>
      <p:ext uri="{BB962C8B-B14F-4D97-AF65-F5344CB8AC3E}">
        <p14:creationId xmlns:p14="http://schemas.microsoft.com/office/powerpoint/2010/main" val="44441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FEE6-C0E5-8BB4-1BBE-F64BC9CC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478E-2691-5C87-094F-F667AB7BD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924"/>
            <a:ext cx="10515600" cy="5008039"/>
          </a:xfrm>
        </p:spPr>
        <p:txBody>
          <a:bodyPr>
            <a:normAutofit fontScale="92500" lnSpcReduction="10000"/>
          </a:bodyPr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iv) Using  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any() 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or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sum() 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with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</a:t>
            </a:r>
            <a:r>
              <a:rPr lang="en-US" sz="1800" b="1" i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isna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To quickly check if any column contains missing values, we can use any() or sum() with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isna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pandas as pd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numpy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as np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Sample data with missing values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'Age': [25,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35, 40,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],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'Income': [50000, 60000,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70000, 80000]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Check if any value is missing in each column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print("\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nAny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missing values in each column?")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data.isna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().any())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Count the number of missing values per column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print("\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nCount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of missing values in each column:")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data.isna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().sum())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51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7F84-844C-1716-EAFF-BDC9659E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9786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Using Virtualizations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CF077-00C7-D103-4E21-96C9650735E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235075"/>
            <a:ext cx="10515600" cy="439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pandas </a:t>
            </a: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pd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numpy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np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missingno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msno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matplotlib.pyplot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>
                <a:solidFill>
                  <a:srgbClr val="AF00DB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plt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# Sample data with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mising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values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data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pd.DataFrame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({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'Age'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: [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25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np.nan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35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40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np.nan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],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'Income'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: [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50000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60000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np.nan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70000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80000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],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 'Gender'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: [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'Male'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'Female'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'Male'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'Female'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np.nan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]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})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05333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E7CF-D6BA-1F67-AF90-9EFCDA56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C2F3-521B-45EB-750E-2D106770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239"/>
            <a:ext cx="10515600" cy="4404724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# Create a figure and axis with a smaller size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fig, ax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plt.subplots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figsize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=(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5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, </a:t>
            </a:r>
            <a:r>
              <a:rPr lang="en-US" sz="1800" dirty="0">
                <a:solidFill>
                  <a:srgbClr val="11664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4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))  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# Smaller figure size (5, 4 inches)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# Plot the missing data matrix on the axis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msno.matrix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(data, ax=ax)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# Add title and labels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plt.title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'Missing Data Matrix'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plt.xlabel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'Columns'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plt.ylabel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'Rows'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0000400000000000000" pitchFamily="2"/>
              </a:rPr>
              <a:t># Show the plot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plt.show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255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5908-0C52-B6EB-E48A-ECBD0932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Handling Missing Data</a:t>
            </a:r>
            <a:b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F57D4-B852-E6C8-B246-E47FA341A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30"/>
            <a:ext cx="10515600" cy="458383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Filtering out data or filling missing values in Python, especially with the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Pandas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library, is an essential task when cleaning data for analysis.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may want to remove rows or columns that do not meet specific conditions or that contain missing or unwanted values.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4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dropna</a:t>
            </a:r>
            <a:r>
              <a:rPr lang="en-US" sz="24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can be used to remove the rows with missing values in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007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DBDF-F8A2-2935-3538-D67FD582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0EDB3-58E4-502E-515B-275E8426C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4"/>
            <a:ext cx="10515600" cy="4564979"/>
          </a:xfrm>
        </p:spPr>
        <p:txBody>
          <a:bodyPr>
            <a:normAutofit lnSpcReduction="10000"/>
          </a:bodyPr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) Removing rows or with missing values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remove rows or columns with missing values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using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dropna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pandas as pd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numpy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as np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Sample data with missing values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'Age’: [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35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40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45,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],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'Income’: [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na.nan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60000,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70000, 80000]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#Remove rows with any missing values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filtered_data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data.dropna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()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filtered_data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97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14AE-0D37-1562-4CE6-2FD58C32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464E4-61A8-0E64-5E85-E2F6F4A59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1021080" algn="l"/>
              </a:tabLst>
            </a:pP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also remove columns with missing values (</a:t>
            </a:r>
            <a:r>
              <a:rPr lang="en-US" sz="1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using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dropna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pandas as pd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numpy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as np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tabLst>
                <a:tab pos="1021080" algn="l"/>
              </a:tabLst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Sample data with missing values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 'Age’: [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30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35, 40,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],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'Income': [50000, 60000, 40000, 70000, 80000],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 'Gender': [‘F', ‘M', ‘F', 'F', 'M']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tabLst>
                <a:tab pos="1021080" algn="l"/>
              </a:tabLst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Drop columns with any missing values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data_cleaned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data.dropna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(axis=1)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data_cleaned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89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093E-21D6-5033-40B9-9FE44A61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DC95-8FBB-4F45-E897-34103540B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ii) Filling Missing Values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lv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Another approach is to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missing values using </a:t>
            </a:r>
            <a:r>
              <a:rPr lang="en-US" sz="1800" b="1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fillna</a:t>
            </a: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 specific value, such as the mean, median, or mode. </a:t>
            </a:r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457200" algn="l"/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commonly done for numerical columns.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pandas as pd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import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numpy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as np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Sample data with missing values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 'Age': [25,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35, 40,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],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  'Income': [50000, 60000,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70000, 80000],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'Gender': ['M', 'F', 'M', 'F', 'M']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Fill missing numerical values with the mean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data['Age'] = data['Age'].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fillna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(data['Age'].mean()).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astype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(int)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data['Income'] = data['Income'].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fillna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(data['Income'].mean()).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astype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(int)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print(data)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84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FF85-A2B5-8F75-B13A-C3C50DDA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D107-9005-C255-7BA5-4E9EA93E1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Sample data with missing values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pd.DataFrame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({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'Age': [25,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35, 40,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],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 'Income': [50000, 60000,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70000, 80000],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'Gender': ['M', 'F', 'F',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np.nan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, 'M']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})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46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0CC5-8265-915E-9DA2-1DF845CC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8760-92C0-8A05-9200-401838B07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Fill missing numerical values with the mean 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# Fill missing categorical values with the mode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data['Age'] = data['Age'].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fillna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(data['Age'].mean()).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astype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(int)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data['Income'] = data['Income'].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fillna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(data['Income'].mean()).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astype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(int)</a:t>
            </a: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data['Gender'] = data['Gender'].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fillna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(data['Gender'].mode()[0])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02108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print(data)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1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1701</Words>
  <Application>Microsoft Office PowerPoint</Application>
  <PresentationFormat>Widescreen</PresentationFormat>
  <Paragraphs>176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Symbol</vt:lpstr>
      <vt:lpstr>Office Theme</vt:lpstr>
      <vt:lpstr>Unit 2 Data Preprocessing</vt:lpstr>
      <vt:lpstr>Identifying and handing missing data </vt:lpstr>
      <vt:lpstr>Consequences of Missing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Identifying Missing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Virtualizations Techniques</vt:lpstr>
      <vt:lpstr>PowerPoint Presentation</vt:lpstr>
      <vt:lpstr>Handling Missing Data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Saroj Giri</dc:creator>
  <cp:lastModifiedBy>Saroj Giri</cp:lastModifiedBy>
  <cp:revision>21</cp:revision>
  <dcterms:created xsi:type="dcterms:W3CDTF">2024-12-22T12:15:43Z</dcterms:created>
  <dcterms:modified xsi:type="dcterms:W3CDTF">2025-11-23T12:40:59Z</dcterms:modified>
</cp:coreProperties>
</file>