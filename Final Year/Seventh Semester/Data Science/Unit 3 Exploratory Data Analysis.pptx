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1" r:id="rId7"/>
    <p:sldId id="261" r:id="rId8"/>
    <p:sldId id="262" r:id="rId9"/>
    <p:sldId id="266" r:id="rId10"/>
    <p:sldId id="267" r:id="rId11"/>
    <p:sldId id="285" r:id="rId12"/>
    <p:sldId id="286" r:id="rId13"/>
    <p:sldId id="268" r:id="rId14"/>
    <p:sldId id="269" r:id="rId15"/>
    <p:sldId id="270" r:id="rId16"/>
    <p:sldId id="271" r:id="rId17"/>
    <p:sldId id="272" r:id="rId18"/>
    <p:sldId id="273" r:id="rId19"/>
    <p:sldId id="263" r:id="rId20"/>
    <p:sldId id="264" r:id="rId21"/>
    <p:sldId id="265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4" r:id="rId32"/>
    <p:sldId id="288" r:id="rId33"/>
    <p:sldId id="289" r:id="rId34"/>
    <p:sldId id="287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B5CE2-EDC0-0F06-ADF8-91AB1E7AB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C0320-4AE2-D064-8AE9-6EC98F306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0EB50-0DCF-7EAA-3C0B-E6DEE4B4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F92D-B56B-4F42-AF29-4697D57A525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68898-B7EB-9D72-D226-B25FC419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AA369-D093-B16D-A7CC-6A64C709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13CB-E6FC-4911-AA1E-9BA7EB18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6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5BB44-AC66-95AC-9D55-32EFF901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5BAC7-0135-C85B-5CCA-9A0C83B38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F9D70-A072-9728-C51D-C363576F8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F92D-B56B-4F42-AF29-4697D57A525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FD17F-F464-BD8E-6DC6-7007646B3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7A83-5B43-7D3D-B95B-AF7F6362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13CB-E6FC-4911-AA1E-9BA7EB18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7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67E6-2FFF-4461-8C4F-9A03EB10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28644-4F58-2CAE-23DF-A7296EE4E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1C986-F7B9-7FA8-D101-888152431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F92D-B56B-4F42-AF29-4697D57A525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04A8F-AF83-2208-71FE-4A7742AE9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7F9DB-5556-F25F-F666-939639B9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13CB-E6FC-4911-AA1E-9BA7EB18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20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90FE3-AB1C-0BDC-396B-807742349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BC9C1-AA73-B608-5D4D-32368BC95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73AD8-C9FC-BDDA-DB73-701A12F58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A4C99-A6AE-E0A2-5F51-55D0B1F79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F92D-B56B-4F42-AF29-4697D57A525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63CBF-A999-5FC4-AF2D-D12A403E5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A1D1B-4312-3A23-C9FB-63C60CF5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13CB-E6FC-4911-AA1E-9BA7EB18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77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30089-8802-2FD6-8C54-709D2D23F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C89FE-5353-39FB-D2EC-5E55D5805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46350-15B8-9778-01EA-7DD5CB199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72895-EA80-B9B4-39E2-29DD3E38C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CC21E-C1EF-A43A-71B1-62FEFC83E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F7A794-7F59-5C88-B381-1AB90DBE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F92D-B56B-4F42-AF29-4697D57A525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85061-972E-1C27-769E-054C20EDD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B60B67-388F-7171-6C71-5C41D7D0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13CB-E6FC-4911-AA1E-9BA7EB18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8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0445-5339-1857-DD59-BD35C57E4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416F5A-3771-E7B3-549C-78DA9C647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F92D-B56B-4F42-AF29-4697D57A525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85545-0362-4F54-2C3C-B8C8DDF24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3B25D-63BF-E648-0C5F-1D8AC15E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13CB-E6FC-4911-AA1E-9BA7EB18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0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D585D-FC7A-BDAB-2C8D-57FF7651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F92D-B56B-4F42-AF29-4697D57A525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9936C8-A418-4D0E-D078-F78AB6C1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FE6B8-8028-232A-628D-8D00C87C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13CB-E6FC-4911-AA1E-9BA7EB18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30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0264-92F6-0DDA-3F52-69E069795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47B53-D650-037F-C483-00D1AA743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2CD6B-EDA9-D33D-0CD4-210490DB5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58327-D439-5574-B113-6C5E8F4F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F92D-B56B-4F42-AF29-4697D57A525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EC564-EE63-7999-E85F-470A0AE92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50290-AE68-5C0E-2138-76FA3F7B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13CB-E6FC-4911-AA1E-9BA7EB18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3B25-16A2-F82B-71C8-856C721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4CC43-B068-248D-0370-81057CD74A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B0BDC-ED4C-AB3B-CD4F-DFC527766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8B876-3205-0637-DA05-323197AA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F92D-B56B-4F42-AF29-4697D57A525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5FB47-69CA-9F21-B90D-079717E9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4EA64-5483-778F-B449-F89926D50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13CB-E6FC-4911-AA1E-9BA7EB18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0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7FD7-E44A-2259-7F69-C3C05E63C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907AB-0471-20DB-0943-6B44DE04E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E7253-26C4-D723-495A-C0B45027E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F92D-B56B-4F42-AF29-4697D57A525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F7104-5C77-897D-925C-91F2DF06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CC0D1-F5D7-FA57-0DF4-EB37984C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13CB-E6FC-4911-AA1E-9BA7EB18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4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E30772-7DF8-18B1-86F8-47735FC136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ABD389-0B1C-36A5-0454-92FE7A2E00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7E493-7A8C-8F55-70A2-1D39DD147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F92D-B56B-4F42-AF29-4697D57A525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639B9-1778-1A70-BB44-2F341429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2FB15-3494-5D43-20ED-01609C25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213CB-E6FC-4911-AA1E-9BA7EB18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20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FF3150-2495-6A23-907B-444DEC39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230CC-C64D-4F39-750E-BFFD55CB5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C7B80-A2D8-DC86-30B7-3F79FFFF3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DF92D-B56B-4F42-AF29-4697D57A525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8740B-6679-4B47-71E4-26F0EFA05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C96D7-2FAA-6E43-4683-48CC09D09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0213CB-E6FC-4911-AA1E-9BA7EB189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5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33E3-AB56-E513-8953-CC07057207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Unit 3: Data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856DA-EC8E-531C-8E48-9BB7921539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Exploratory Data Analysis (EDA)</a:t>
            </a:r>
          </a:p>
        </p:txBody>
      </p:sp>
    </p:spTree>
    <p:extLst>
      <p:ext uri="{BB962C8B-B14F-4D97-AF65-F5344CB8AC3E}">
        <p14:creationId xmlns:p14="http://schemas.microsoft.com/office/powerpoint/2010/main" val="4160879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2433-AEAB-CCFF-9167-FCC015F1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3F144-4B75-8142-D92D-B11AF3A0D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008"/>
            <a:ext cx="10515600" cy="4696955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Exploratory Data Analysis (EDA) is a statistical approach for analyzing and summarizing data sets before applying formal modeling techniques. </a:t>
            </a:r>
          </a:p>
          <a:p>
            <a:pPr algn="just"/>
            <a:r>
              <a:rPr lang="en-US" dirty="0"/>
              <a:t>The primary goal of EDA is to understand the underlying structure of the data and identify any patterns, anomalies, or relationships.</a:t>
            </a:r>
          </a:p>
          <a:p>
            <a:pPr marL="0" indent="0" algn="just">
              <a:buNone/>
            </a:pPr>
            <a:r>
              <a:rPr lang="en-US" dirty="0"/>
              <a:t>The main focus of EDA includes: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Visualizing data: Using graphs and plots to understand the structure and patterns.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Data transformation: Modifying or reshaping data to make it easier to analyze.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Summary statistics: Using measures like the mean, median, variance, etc., to summarize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989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2AB1-6641-E143-22A6-DECA77D9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3571"/>
            <a:ext cx="10515600" cy="92711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Estimates of Location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93BC5-F6D6-69E7-04A9-1C78405C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703"/>
            <a:ext cx="10515600" cy="45932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Location</a:t>
            </a:r>
            <a:r>
              <a:rPr lang="en-US" dirty="0"/>
              <a:t> refers to the central tendency or the "typical" value of a dataset.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measures of location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Mean</a:t>
            </a:r>
            <a:r>
              <a:rPr lang="en-US" dirty="0"/>
              <a:t>: The average of all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Median</a:t>
            </a:r>
            <a:r>
              <a:rPr lang="en-US" dirty="0"/>
              <a:t>: The middle value when data is sorted.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Mode</a:t>
            </a:r>
            <a:r>
              <a:rPr lang="en-US" dirty="0"/>
              <a:t>: The most frequent value.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91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432BD-DBCB-B774-2690-98DAA569E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269AA-0830-03C6-6A5E-47131BBBC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984"/>
            <a:ext cx="10515600" cy="456497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data</a:t>
            </a:r>
          </a:p>
          <a:p>
            <a:pPr marL="0" indent="0">
              <a:buNone/>
            </a:pPr>
            <a:r>
              <a:rPr lang="en-US" dirty="0"/>
              <a:t>data = [24, 45, 67, 89, 23, 56, 45, 67,46,38, 45]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Create </a:t>
            </a:r>
            <a:r>
              <a:rPr lang="en-US" dirty="0" err="1"/>
              <a:t>DataFrame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(data, columns=["Values"])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Calculate mean, median, and mode</a:t>
            </a:r>
          </a:p>
          <a:p>
            <a:pPr marL="0" indent="0">
              <a:buNone/>
            </a:pPr>
            <a:r>
              <a:rPr lang="en-US" dirty="0"/>
              <a:t>mean = </a:t>
            </a:r>
            <a:r>
              <a:rPr lang="en-US" dirty="0" err="1"/>
              <a:t>df</a:t>
            </a:r>
            <a:r>
              <a:rPr lang="en-US" dirty="0"/>
              <a:t>["Values"].mean()</a:t>
            </a:r>
          </a:p>
          <a:p>
            <a:pPr marL="0" indent="0">
              <a:buNone/>
            </a:pPr>
            <a:r>
              <a:rPr lang="en-US" dirty="0"/>
              <a:t>median = </a:t>
            </a:r>
            <a:r>
              <a:rPr lang="en-US" dirty="0" err="1"/>
              <a:t>df</a:t>
            </a:r>
            <a:r>
              <a:rPr lang="en-US" dirty="0"/>
              <a:t>["Values"].median()</a:t>
            </a:r>
          </a:p>
          <a:p>
            <a:pPr marL="0" indent="0">
              <a:buNone/>
            </a:pPr>
            <a:r>
              <a:rPr lang="en-US" dirty="0"/>
              <a:t>mode = </a:t>
            </a:r>
            <a:r>
              <a:rPr lang="en-US" dirty="0" err="1"/>
              <a:t>df</a:t>
            </a:r>
            <a:r>
              <a:rPr lang="en-US" dirty="0"/>
              <a:t>["Values"].mode()[0]  # The most frequent value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f"Mean</a:t>
            </a:r>
            <a:r>
              <a:rPr lang="en-US" dirty="0"/>
              <a:t>: {mean}")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f"Median</a:t>
            </a:r>
            <a:r>
              <a:rPr lang="en-US" dirty="0"/>
              <a:t>: {median}")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f"Mode</a:t>
            </a:r>
            <a:r>
              <a:rPr lang="en-US" dirty="0"/>
              <a:t>: {mode}")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073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8177D-E21C-827C-7B85-4E456905C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7762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Estimates of Variability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DEBCE-2AA4-3497-9D38-1EE2A65C0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569"/>
            <a:ext cx="10515600" cy="464039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Variability refers to how spread out or scattered the data points 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measures of variability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Range: Difference between the maximum and minimum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Variance: Measure of the spread of data points.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Standard Deviation (SD): The square root of the variance.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Interquartile Range (IQR): The range between the 25th and 75th percentiles.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242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D1A1-E96F-2D48-88DA-AC70E17A2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88E99-6D55-6AB7-3CFC-0C4205110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326"/>
            <a:ext cx="10515600" cy="48666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Variance:</a:t>
            </a:r>
          </a:p>
          <a:p>
            <a:pPr marL="0" indent="0">
              <a:buNone/>
            </a:pPr>
            <a:r>
              <a:rPr lang="en-US" dirty="0"/>
              <a:t>How far the data points are spread out from the mean on average.</a:t>
            </a:r>
          </a:p>
          <a:p>
            <a:pPr marL="0" indent="0">
              <a:buNone/>
            </a:pPr>
            <a:r>
              <a:rPr lang="en-US" dirty="0"/>
              <a:t>If variance is small, data values are close to the mean.</a:t>
            </a:r>
          </a:p>
          <a:p>
            <a:pPr marL="0" indent="0">
              <a:buNone/>
            </a:pPr>
            <a:r>
              <a:rPr lang="en-US" dirty="0"/>
              <a:t>If variance is large, values vary a lot.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Standard Deviation:</a:t>
            </a:r>
          </a:p>
          <a:p>
            <a:pPr marL="0" indent="0">
              <a:buNone/>
            </a:pPr>
            <a:r>
              <a:rPr lang="en-US" dirty="0"/>
              <a:t>Calculated from square root of variance.</a:t>
            </a:r>
          </a:p>
          <a:p>
            <a:pPr marL="0" indent="0">
              <a:buNone/>
            </a:pPr>
            <a:r>
              <a:rPr lang="en-US" dirty="0"/>
              <a:t>Used in normal distribution, confidence of intervals.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Inquartile</a:t>
            </a:r>
            <a:r>
              <a:rPr lang="en-US" dirty="0">
                <a:solidFill>
                  <a:srgbClr val="FF0000"/>
                </a:solidFill>
              </a:rPr>
              <a:t> Range:</a:t>
            </a:r>
          </a:p>
          <a:p>
            <a:pPr marL="0" indent="0">
              <a:buNone/>
            </a:pPr>
            <a:r>
              <a:rPr lang="en-US" dirty="0"/>
              <a:t>Shows the middle 50% spread of the data.</a:t>
            </a:r>
          </a:p>
          <a:p>
            <a:pPr marL="0" indent="0">
              <a:buNone/>
            </a:pPr>
            <a:r>
              <a:rPr lang="en-US" dirty="0"/>
              <a:t>It helps to detect outliers.</a:t>
            </a:r>
          </a:p>
        </p:txBody>
      </p:sp>
    </p:spTree>
    <p:extLst>
      <p:ext uri="{BB962C8B-B14F-4D97-AF65-F5344CB8AC3E}">
        <p14:creationId xmlns:p14="http://schemas.microsoft.com/office/powerpoint/2010/main" val="3531773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5F59-567D-FA82-04B2-F3DA84575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EEE25-FAD4-39EB-5A87-97697EF13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3192"/>
            <a:ext cx="10515600" cy="491377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dirty="0"/>
              <a:t>import pandas as pd</a:t>
            </a:r>
          </a:p>
          <a:p>
            <a:pPr marL="0" indent="0">
              <a:buNone/>
            </a:pPr>
            <a:r>
              <a:rPr lang="en-US" sz="2900" dirty="0"/>
              <a:t>import </a:t>
            </a:r>
            <a:r>
              <a:rPr lang="en-US" sz="2900" dirty="0" err="1"/>
              <a:t>numpy</a:t>
            </a:r>
            <a:r>
              <a:rPr lang="en-US" sz="2900" dirty="0"/>
              <a:t> as np</a:t>
            </a:r>
          </a:p>
          <a:p>
            <a:pPr marL="0" indent="0">
              <a:buNone/>
            </a:pPr>
            <a:r>
              <a:rPr lang="en-US" sz="2900" dirty="0"/>
              <a:t># data</a:t>
            </a:r>
          </a:p>
          <a:p>
            <a:pPr marL="0" indent="0">
              <a:buNone/>
            </a:pPr>
            <a:r>
              <a:rPr lang="en-US" sz="2900" dirty="0"/>
              <a:t>data = [24, 45, 67, 89, 23, 56, 45, 67,46,38, 45]</a:t>
            </a:r>
          </a:p>
          <a:p>
            <a:pPr marL="0" indent="0">
              <a:buNone/>
            </a:pPr>
            <a:r>
              <a:rPr lang="en-US" sz="2900" dirty="0"/>
              <a:t># Create </a:t>
            </a:r>
            <a:r>
              <a:rPr lang="en-US" sz="2900" dirty="0" err="1"/>
              <a:t>DataFrame</a:t>
            </a:r>
            <a:endParaRPr lang="en-US" sz="2900" dirty="0"/>
          </a:p>
          <a:p>
            <a:pPr marL="0" indent="0">
              <a:buNone/>
            </a:pPr>
            <a:r>
              <a:rPr lang="en-US" sz="2900" dirty="0" err="1"/>
              <a:t>df</a:t>
            </a:r>
            <a:r>
              <a:rPr lang="en-US" sz="2900" dirty="0"/>
              <a:t> = </a:t>
            </a:r>
            <a:r>
              <a:rPr lang="en-US" sz="2900" dirty="0" err="1"/>
              <a:t>pd.DataFrame</a:t>
            </a:r>
            <a:r>
              <a:rPr lang="en-US" sz="2900" dirty="0"/>
              <a:t>(data, columns=["Values"])</a:t>
            </a:r>
          </a:p>
          <a:p>
            <a:pPr marL="0" indent="0">
              <a:buNone/>
            </a:pPr>
            <a:r>
              <a:rPr lang="en-US" sz="2900" dirty="0"/>
              <a:t># Calculate range, variance, standard deviation, and IQR</a:t>
            </a:r>
          </a:p>
          <a:p>
            <a:pPr marL="0" indent="0">
              <a:buNone/>
            </a:pPr>
            <a:r>
              <a:rPr lang="en-US" sz="2900" dirty="0" err="1"/>
              <a:t>range_value</a:t>
            </a:r>
            <a:r>
              <a:rPr lang="en-US" sz="2900" dirty="0"/>
              <a:t> = </a:t>
            </a:r>
            <a:r>
              <a:rPr lang="en-US" sz="2900" dirty="0" err="1"/>
              <a:t>df</a:t>
            </a:r>
            <a:r>
              <a:rPr lang="en-US" sz="2900" dirty="0"/>
              <a:t>["Values"].max() - </a:t>
            </a:r>
            <a:r>
              <a:rPr lang="en-US" sz="2900" dirty="0" err="1"/>
              <a:t>df</a:t>
            </a:r>
            <a:r>
              <a:rPr lang="en-US" sz="2900" dirty="0"/>
              <a:t>["Values"].min()</a:t>
            </a:r>
          </a:p>
          <a:p>
            <a:pPr marL="0" indent="0">
              <a:buNone/>
            </a:pPr>
            <a:r>
              <a:rPr lang="en-US" sz="2900" dirty="0"/>
              <a:t>variance = </a:t>
            </a:r>
            <a:r>
              <a:rPr lang="en-US" sz="2900" dirty="0" err="1"/>
              <a:t>df</a:t>
            </a:r>
            <a:r>
              <a:rPr lang="en-US" sz="2900" dirty="0"/>
              <a:t>["Values"].var()</a:t>
            </a:r>
          </a:p>
          <a:p>
            <a:pPr marL="0" indent="0">
              <a:buNone/>
            </a:pPr>
            <a:r>
              <a:rPr lang="en-US" sz="2900" dirty="0" err="1"/>
              <a:t>std_dev</a:t>
            </a:r>
            <a:r>
              <a:rPr lang="en-US" sz="2900" dirty="0"/>
              <a:t> = </a:t>
            </a:r>
            <a:r>
              <a:rPr lang="en-US" sz="2900" dirty="0" err="1"/>
              <a:t>df</a:t>
            </a:r>
            <a:r>
              <a:rPr lang="en-US" sz="2900" dirty="0"/>
              <a:t>["Values"].std()</a:t>
            </a:r>
          </a:p>
          <a:p>
            <a:pPr marL="0" indent="0">
              <a:buNone/>
            </a:pPr>
            <a:r>
              <a:rPr lang="en-US" sz="2900" dirty="0"/>
              <a:t>IQR = </a:t>
            </a:r>
            <a:r>
              <a:rPr lang="en-US" sz="2900" dirty="0" err="1"/>
              <a:t>np.percentile</a:t>
            </a:r>
            <a:r>
              <a:rPr lang="en-US" sz="2900" dirty="0"/>
              <a:t>(</a:t>
            </a:r>
            <a:r>
              <a:rPr lang="en-US" sz="2900" dirty="0" err="1"/>
              <a:t>df</a:t>
            </a:r>
            <a:r>
              <a:rPr lang="en-US" sz="2900" dirty="0"/>
              <a:t>["Values"], 75) - </a:t>
            </a:r>
            <a:r>
              <a:rPr lang="en-US" sz="2900" dirty="0" err="1"/>
              <a:t>np.percentile</a:t>
            </a:r>
            <a:r>
              <a:rPr lang="en-US" sz="2900" dirty="0"/>
              <a:t>(</a:t>
            </a:r>
            <a:r>
              <a:rPr lang="en-US" sz="2900" dirty="0" err="1"/>
              <a:t>df</a:t>
            </a:r>
            <a:r>
              <a:rPr lang="en-US" sz="2900" dirty="0"/>
              <a:t>["Values"], 25)</a:t>
            </a:r>
          </a:p>
          <a:p>
            <a:pPr marL="0" indent="0">
              <a:buNone/>
            </a:pPr>
            <a:r>
              <a:rPr lang="en-US" sz="2900" dirty="0"/>
              <a:t>print(</a:t>
            </a:r>
            <a:r>
              <a:rPr lang="en-US" sz="2900" dirty="0" err="1"/>
              <a:t>f"Range</a:t>
            </a:r>
            <a:r>
              <a:rPr lang="en-US" sz="2900" dirty="0"/>
              <a:t>: {</a:t>
            </a:r>
            <a:r>
              <a:rPr lang="en-US" sz="2900" dirty="0" err="1"/>
              <a:t>range_value</a:t>
            </a:r>
            <a:r>
              <a:rPr lang="en-US" sz="2900" dirty="0"/>
              <a:t>}")</a:t>
            </a:r>
          </a:p>
          <a:p>
            <a:pPr marL="0" indent="0">
              <a:buNone/>
            </a:pPr>
            <a:r>
              <a:rPr lang="en-US" sz="2900" dirty="0"/>
              <a:t>print(</a:t>
            </a:r>
            <a:r>
              <a:rPr lang="en-US" sz="2900" dirty="0" err="1"/>
              <a:t>f"Variance</a:t>
            </a:r>
            <a:r>
              <a:rPr lang="en-US" sz="2900" dirty="0"/>
              <a:t>: {variance}")</a:t>
            </a:r>
          </a:p>
          <a:p>
            <a:pPr marL="0" indent="0">
              <a:buNone/>
            </a:pPr>
            <a:r>
              <a:rPr lang="en-US" sz="2900" dirty="0"/>
              <a:t>print(</a:t>
            </a:r>
            <a:r>
              <a:rPr lang="en-US" sz="2900" dirty="0" err="1"/>
              <a:t>f"Standard</a:t>
            </a:r>
            <a:r>
              <a:rPr lang="en-US" sz="2900" dirty="0"/>
              <a:t> Deviation: {</a:t>
            </a:r>
            <a:r>
              <a:rPr lang="en-US" sz="2900" dirty="0" err="1"/>
              <a:t>std_dev</a:t>
            </a:r>
            <a:r>
              <a:rPr lang="en-US" sz="2900" dirty="0"/>
              <a:t>}")</a:t>
            </a:r>
          </a:p>
          <a:p>
            <a:pPr marL="0" indent="0">
              <a:buNone/>
            </a:pPr>
            <a:r>
              <a:rPr lang="en-US" sz="2900" dirty="0"/>
              <a:t>print(</a:t>
            </a:r>
            <a:r>
              <a:rPr lang="en-US" sz="2900" dirty="0" err="1"/>
              <a:t>f"IQR</a:t>
            </a:r>
            <a:r>
              <a:rPr lang="en-US" sz="2900" dirty="0"/>
              <a:t>: {IQR}")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382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9A17E-893D-1935-D140-AE53F0AA8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0705"/>
            <a:ext cx="10515600" cy="87998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Exploring the Data Distribution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AEFB7-9070-830B-F966-826B6F642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the distribution of data is essential to identify patterns, trends, and outliers. </a:t>
            </a:r>
          </a:p>
          <a:p>
            <a:r>
              <a:rPr lang="en-US" dirty="0"/>
              <a:t>We can visualize data using histograms and density plots to see how data is distributed.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878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75709-866B-95EF-1D7E-161ADC8E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Importance of 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C04D9-654E-C970-5A6D-D986EA838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984"/>
            <a:ext cx="10515600" cy="4564979"/>
          </a:xfrm>
        </p:spPr>
        <p:txBody>
          <a:bodyPr>
            <a:normAutofit fontScale="92500" lnSpcReduction="20000"/>
          </a:bodyPr>
          <a:lstStyle/>
          <a:p>
            <a:pPr marL="571500" indent="-571500">
              <a:buFont typeface="+mj-lt"/>
              <a:buAutoNum type="romanLcPeriod"/>
            </a:pPr>
            <a:r>
              <a:rPr lang="en-US" dirty="0"/>
              <a:t>Clarifies Complex Data: Makes complicated data easier to understand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Increases Engagement: Visuals are more engaging and memorable than raw data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Enhances Decision Making: Helps in making faster and more informed decisions.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Identifies Patterns: Makes trends and relationships easier to spot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Simplifies Comparisons: Allows quick comparison between different sets of data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Improves Retention: People remember visual information better than text or numbers.</a:t>
            </a:r>
          </a:p>
          <a:p>
            <a:pPr marL="571500" indent="-571500">
              <a:buFont typeface="+mj-lt"/>
              <a:buAutoNum type="romanLcPeriod"/>
            </a:pPr>
            <a:r>
              <a:rPr lang="en-US" dirty="0"/>
              <a:t>Saves Time: Dashboards and charts provide quick insights without sifting through data.</a:t>
            </a:r>
          </a:p>
        </p:txBody>
      </p:sp>
    </p:spTree>
    <p:extLst>
      <p:ext uri="{BB962C8B-B14F-4D97-AF65-F5344CB8AC3E}">
        <p14:creationId xmlns:p14="http://schemas.microsoft.com/office/powerpoint/2010/main" val="2178366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3BF35-662A-BD00-F515-4E082ED2D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 Visualization Techniques</a:t>
            </a:r>
          </a:p>
        </p:txBody>
      </p:sp>
      <p:pic>
        <p:nvPicPr>
          <p:cNvPr id="1026" name="Picture 2" descr="Data Visualization in Machine Learning">
            <a:extLst>
              <a:ext uri="{FF2B5EF4-FFF2-40B4-BE49-F238E27FC236}">
                <a16:creationId xmlns:a16="http://schemas.microsoft.com/office/drawing/2014/main" id="{6A8135C0-2ACD-F81A-AA53-8D3311744D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361" y="1473872"/>
            <a:ext cx="5715798" cy="3630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402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B209-83C8-ECE2-66ED-2483E15E7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Univariate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60ED4-F9F6-EEE4-DA38-67FD38D3C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are the plots used to visualize and analyze one variable at a time.</a:t>
            </a:r>
          </a:p>
          <a:p>
            <a:r>
              <a:rPr lang="en-US" dirty="0"/>
              <a:t>The purpose is to understand the distribution , central tendency and spread of the data</a:t>
            </a:r>
          </a:p>
          <a:p>
            <a:r>
              <a:rPr lang="en-US" dirty="0" err="1"/>
              <a:t>Eg</a:t>
            </a:r>
            <a:r>
              <a:rPr lang="en-US" dirty="0"/>
              <a:t>: Histogram, Bar plot, Line plot, Boxplot (summarized the distribution of variable using median, quartiles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34182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F29F-CFB7-77B8-5E66-E57960EE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Multivariate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F2ACF-8D4C-06F0-E36C-72E43430E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plots involve two or more variables and help to visualize relationships , correlations or interactions between variables.</a:t>
            </a:r>
          </a:p>
          <a:p>
            <a:r>
              <a:rPr lang="en-US" dirty="0" err="1"/>
              <a:t>Eg.</a:t>
            </a:r>
            <a:r>
              <a:rPr lang="en-US" dirty="0"/>
              <a:t> Scatter plot, 3D scatter plot, Violin plot etc.</a:t>
            </a:r>
          </a:p>
        </p:txBody>
      </p:sp>
    </p:spTree>
    <p:extLst>
      <p:ext uri="{BB962C8B-B14F-4D97-AF65-F5344CB8AC3E}">
        <p14:creationId xmlns:p14="http://schemas.microsoft.com/office/powerpoint/2010/main" val="3606511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7AE02-5165-DE8E-8D47-0C48D8E38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1EC9A-F159-F3E6-9123-7216B7B41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5260155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1600" dirty="0"/>
              <a:t>The </a:t>
            </a:r>
            <a:r>
              <a:rPr lang="en-US" sz="1600" dirty="0" err="1"/>
              <a:t>pyplot</a:t>
            </a:r>
            <a:r>
              <a:rPr lang="en-US" sz="1600" dirty="0"/>
              <a:t> module provides an interface for graphing a data.</a:t>
            </a:r>
          </a:p>
          <a:p>
            <a:pPr>
              <a:lnSpc>
                <a:spcPct val="170000"/>
              </a:lnSpc>
            </a:pPr>
            <a:r>
              <a:rPr lang="en-US" sz="1600" dirty="0"/>
              <a:t>It contains over 100 functions and to use them we must import this module by writing, </a:t>
            </a:r>
            <a:r>
              <a:rPr lang="en-US" sz="1600" dirty="0">
                <a:latin typeface="Bahnschrift Light" panose="020B0502040204020203" pitchFamily="34" charset="0"/>
              </a:rPr>
              <a:t>import </a:t>
            </a:r>
            <a:r>
              <a:rPr lang="en-US" sz="1600" dirty="0">
                <a:solidFill>
                  <a:schemeClr val="accent1"/>
                </a:solidFill>
                <a:highlight>
                  <a:srgbClr val="FFFF00"/>
                </a:highlight>
                <a:latin typeface="Bahnschrift Light" panose="020B0502040204020203" pitchFamily="34" charset="0"/>
              </a:rPr>
              <a:t>matplotlib. </a:t>
            </a:r>
            <a:r>
              <a:rPr lang="en-US" sz="1600" dirty="0" err="1">
                <a:solidFill>
                  <a:schemeClr val="accent1"/>
                </a:solidFill>
                <a:highlight>
                  <a:srgbClr val="FFFF00"/>
                </a:highlight>
                <a:latin typeface="Bahnschrift Light" panose="020B0502040204020203" pitchFamily="34" charset="0"/>
              </a:rPr>
              <a:t>pyplot</a:t>
            </a:r>
            <a:r>
              <a:rPr lang="en-US" sz="1600" dirty="0">
                <a:solidFill>
                  <a:schemeClr val="accent1"/>
                </a:solidFill>
                <a:highlight>
                  <a:srgbClr val="FFFF00"/>
                </a:highlight>
                <a:latin typeface="Bahnschrift Light" panose="020B0502040204020203" pitchFamily="34" charset="0"/>
              </a:rPr>
              <a:t> as </a:t>
            </a:r>
            <a:r>
              <a:rPr lang="en-US" sz="1600" dirty="0" err="1">
                <a:solidFill>
                  <a:schemeClr val="accent1"/>
                </a:solidFill>
                <a:highlight>
                  <a:srgbClr val="FFFF00"/>
                </a:highlight>
                <a:latin typeface="Bahnschrift Light" panose="020B0502040204020203" pitchFamily="34" charset="0"/>
              </a:rPr>
              <a:t>plt</a:t>
            </a:r>
            <a:r>
              <a:rPr lang="en-US" sz="1600" dirty="0">
                <a:solidFill>
                  <a:schemeClr val="accent1"/>
                </a:solidFill>
                <a:latin typeface="Bahnschrift Light" panose="020B0502040204020203" pitchFamily="34" charset="0"/>
              </a:rPr>
              <a:t> </a:t>
            </a:r>
            <a:r>
              <a:rPr lang="en-US" sz="1600" dirty="0"/>
              <a:t>where </a:t>
            </a:r>
            <a:r>
              <a:rPr lang="en-US" sz="1600" dirty="0" err="1"/>
              <a:t>plt</a:t>
            </a:r>
            <a:r>
              <a:rPr lang="en-US" sz="1600" dirty="0"/>
              <a:t> is the standard variable name used.</a:t>
            </a:r>
          </a:p>
          <a:p>
            <a:pPr>
              <a:lnSpc>
                <a:spcPct val="170000"/>
              </a:lnSpc>
            </a:pPr>
            <a:r>
              <a:rPr lang="en-US" sz="1600" dirty="0"/>
              <a:t>The module allows user to,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Create a plot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Visualize data effectively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Save the plot for future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Show the plot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Clear the plot areas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ü"/>
            </a:pPr>
            <a:r>
              <a:rPr lang="en-US" sz="1600" dirty="0"/>
              <a:t>Close the plot</a:t>
            </a:r>
          </a:p>
        </p:txBody>
      </p:sp>
    </p:spTree>
    <p:extLst>
      <p:ext uri="{BB962C8B-B14F-4D97-AF65-F5344CB8AC3E}">
        <p14:creationId xmlns:p14="http://schemas.microsoft.com/office/powerpoint/2010/main" val="422443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E2613-ED8A-5095-D960-66A3DF774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B483A-99B7-FEAB-350F-1EF57599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bar chart or bar graph is a chart or graph that presents categorical data with rectangular bars.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bars can be drawn either vertically or horizontally 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height or length of the bars is proportional to the values they represent.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advantage of plotting a bar graph is that it depicts comparison among discrete categories.</a:t>
            </a:r>
          </a:p>
        </p:txBody>
      </p:sp>
    </p:spTree>
    <p:extLst>
      <p:ext uri="{BB962C8B-B14F-4D97-AF65-F5344CB8AC3E}">
        <p14:creationId xmlns:p14="http://schemas.microsoft.com/office/powerpoint/2010/main" val="1494422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0E5B-926C-82BD-2426-16737CE3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2C482-D741-6970-7D92-7CF49131F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328"/>
            <a:ext cx="10515600" cy="469563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from pandas import series, </a:t>
            </a:r>
            <a:r>
              <a:rPr lang="en-US" dirty="0" err="1"/>
              <a:t>Dataframe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data= [27,45,36,18,72,81,108,19,91]</a:t>
            </a:r>
          </a:p>
          <a:p>
            <a:pPr marL="0" indent="0">
              <a:buNone/>
            </a:pPr>
            <a:r>
              <a:rPr lang="en-US" dirty="0"/>
              <a:t>x=range (1,10)</a:t>
            </a:r>
          </a:p>
          <a:p>
            <a:pPr marL="0" indent="0">
              <a:buNone/>
            </a:pPr>
            <a:r>
              <a:rPr lang="en-US" dirty="0" err="1"/>
              <a:t>plt.bar</a:t>
            </a:r>
            <a:r>
              <a:rPr lang="en-US" dirty="0"/>
              <a:t> (x, data)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 ()</a:t>
            </a:r>
          </a:p>
        </p:txBody>
      </p:sp>
    </p:spTree>
    <p:extLst>
      <p:ext uri="{BB962C8B-B14F-4D97-AF65-F5344CB8AC3E}">
        <p14:creationId xmlns:p14="http://schemas.microsoft.com/office/powerpoint/2010/main" val="3154865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10B4-7442-803C-8719-A916F45FA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3CCC5-F52B-CE9B-ED15-8284AA37E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Qn: Write program that plots a bar graph depicting number of students who are interested in learning Mathematics, Data Science, Machine Learning, Cloud Computing and Economics.</a:t>
            </a:r>
          </a:p>
        </p:txBody>
      </p:sp>
    </p:spTree>
    <p:extLst>
      <p:ext uri="{BB962C8B-B14F-4D97-AF65-F5344CB8AC3E}">
        <p14:creationId xmlns:p14="http://schemas.microsoft.com/office/powerpoint/2010/main" val="4265618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68D5-0267-B1A8-C7A3-4706736B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Plotting 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30363-29A3-D10A-2A42-D7C2DC435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480"/>
            <a:ext cx="10515600" cy="462248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Histogram is a graphical representation which is quite similar to a bar graph.</a:t>
            </a:r>
          </a:p>
          <a:p>
            <a:r>
              <a:rPr lang="en-US" dirty="0"/>
              <a:t>It is a tool for assessing a probability distribution of a continuous variable that is easily understood by people by looking it.</a:t>
            </a:r>
          </a:p>
          <a:p>
            <a:r>
              <a:rPr lang="en-US" dirty="0"/>
              <a:t>It plots a frequency distribution of a numeric array by splitting it to small equal sized bins.</a:t>
            </a:r>
          </a:p>
          <a:p>
            <a:r>
              <a:rPr lang="en-US" dirty="0"/>
              <a:t>It is not only an excellent tool for visualizing and understanding the probabilistic distribution of numerical data but also of image data.</a:t>
            </a:r>
          </a:p>
          <a:p>
            <a:r>
              <a:rPr lang="en-US" i="1" dirty="0"/>
              <a:t>To plot a histogram , the hist () function of matplotlib and </a:t>
            </a:r>
            <a:r>
              <a:rPr lang="en-US" i="1" dirty="0" err="1"/>
              <a:t>pyplot</a:t>
            </a:r>
            <a:r>
              <a:rPr lang="en-US" i="1" dirty="0"/>
              <a:t> module is used.</a:t>
            </a:r>
          </a:p>
          <a:p>
            <a:r>
              <a:rPr lang="en-US" dirty="0"/>
              <a:t>The syntax of this function is,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i="1" dirty="0" err="1"/>
              <a:t>plt.hist</a:t>
            </a:r>
            <a:r>
              <a:rPr lang="en-US" i="1" dirty="0"/>
              <a:t> (data, bins=number of bins)</a:t>
            </a:r>
          </a:p>
          <a:p>
            <a:pPr marL="0" indent="0">
              <a:buNone/>
            </a:pPr>
            <a:r>
              <a:rPr lang="en-US" i="1" dirty="0"/>
              <a:t>Note: Bin is the range of values.</a:t>
            </a:r>
          </a:p>
        </p:txBody>
      </p:sp>
    </p:spTree>
    <p:extLst>
      <p:ext uri="{BB962C8B-B14F-4D97-AF65-F5344CB8AC3E}">
        <p14:creationId xmlns:p14="http://schemas.microsoft.com/office/powerpoint/2010/main" val="4102051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B69E1-B51F-A67A-906B-C6222B85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Seaborn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9BC38-2908-B537-D4FB-C9E5C7FB5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410"/>
            <a:ext cx="10515600" cy="4555553"/>
          </a:xfrm>
        </p:spPr>
        <p:txBody>
          <a:bodyPr/>
          <a:lstStyle/>
          <a:p>
            <a:r>
              <a:rPr lang="en-US" dirty="0"/>
              <a:t>Seaborn is mainly designed to resolve the two major problems faced by Matplotlib-default matplotlib parameters and working with data frames.</a:t>
            </a:r>
          </a:p>
          <a:p>
            <a:pPr marL="0" indent="0">
              <a:buNone/>
            </a:pPr>
            <a:r>
              <a:rPr lang="en-US" dirty="0"/>
              <a:t>Features:</a:t>
            </a:r>
          </a:p>
          <a:p>
            <a:r>
              <a:rPr lang="en-US" dirty="0"/>
              <a:t>Built in theme for styling matplotlib  graphics</a:t>
            </a:r>
          </a:p>
          <a:p>
            <a:r>
              <a:rPr lang="en-US" dirty="0"/>
              <a:t>Visualize linear regression models</a:t>
            </a:r>
          </a:p>
          <a:p>
            <a:r>
              <a:rPr lang="en-US" dirty="0"/>
              <a:t>Supports plotting of time series data</a:t>
            </a:r>
          </a:p>
          <a:p>
            <a:r>
              <a:rPr lang="en-US" dirty="0"/>
              <a:t>Can work with </a:t>
            </a:r>
            <a:r>
              <a:rPr lang="en-US" dirty="0" err="1"/>
              <a:t>Numpy</a:t>
            </a:r>
            <a:r>
              <a:rPr lang="en-US" dirty="0"/>
              <a:t> and pandas data structures.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980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BA26-195E-7B6A-A3B0-EB395F455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F5E52-F991-023C-4FD7-91306DFDB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130"/>
            <a:ext cx="10515600" cy="45838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r>
              <a:rPr lang="en-US" sz="2800" dirty="0"/>
              <a:t># data</a:t>
            </a:r>
          </a:p>
          <a:p>
            <a:pPr marL="0" indent="0">
              <a:buNone/>
            </a:pPr>
            <a:r>
              <a:rPr lang="en-US" sz="2800" dirty="0"/>
              <a:t>data = [24, 45, 67, 89, 23, 56, 45, 67,46,38, 45]</a:t>
            </a:r>
          </a:p>
          <a:p>
            <a:pPr marL="0" indent="0">
              <a:buNone/>
            </a:pPr>
            <a:r>
              <a:rPr lang="en-US" sz="2800" dirty="0"/>
              <a:t># Create </a:t>
            </a:r>
            <a:r>
              <a:rPr lang="en-US" sz="2800" dirty="0" err="1"/>
              <a:t>DataFrame</a:t>
            </a: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df</a:t>
            </a:r>
            <a:r>
              <a:rPr lang="en-US" sz="2800" dirty="0"/>
              <a:t> = </a:t>
            </a:r>
            <a:r>
              <a:rPr lang="en-US" sz="2800" dirty="0" err="1"/>
              <a:t>pd.DataFrame</a:t>
            </a:r>
            <a:r>
              <a:rPr lang="en-US" sz="2800" dirty="0"/>
              <a:t>(data, columns=["Values"])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Visualizing the data distribution using a histogram</a:t>
            </a:r>
          </a:p>
          <a:p>
            <a:pPr marL="0" indent="0">
              <a:buNone/>
            </a:pPr>
            <a:r>
              <a:rPr lang="en-US" dirty="0" err="1"/>
              <a:t>sns.histplot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["Values"], </a:t>
            </a:r>
            <a:r>
              <a:rPr lang="en-US" dirty="0" err="1"/>
              <a:t>kde</a:t>
            </a:r>
            <a:r>
              <a:rPr lang="en-US" dirty="0"/>
              <a:t>=True)              // Kernel distribution estimate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("Data Distribution")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502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E721D-A64F-D891-16C1-9C07B1613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1852"/>
            <a:ext cx="10515600" cy="89883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Exploring Binary and Categorical Data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E18CB-4119-32A9-8963-33D59A215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Binary data refers to data with two possible outcomes, e.g., 0 or 1, Yes or 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Categorical data refers to non-numeric data that can be divided into categories, e.g., "Red", "Blue", "Green".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249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118E-6E80-D2A5-6F84-C786E5F5B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5B9F0-F6E2-D6B4-F62D-4C2710754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423"/>
            <a:ext cx="10515600" cy="46215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 Example binary data</a:t>
            </a:r>
          </a:p>
          <a:p>
            <a:pPr marL="0" indent="0">
              <a:buNone/>
            </a:pPr>
            <a:r>
              <a:rPr lang="en-US" dirty="0" err="1"/>
              <a:t>binary_data</a:t>
            </a:r>
            <a:r>
              <a:rPr lang="en-US" dirty="0"/>
              <a:t> = [1, 0, 1, 1, 0, 1, 0, 0, 1]</a:t>
            </a:r>
          </a:p>
          <a:p>
            <a:pPr marL="0" indent="0">
              <a:buNone/>
            </a:pPr>
            <a:r>
              <a:rPr lang="en-US" dirty="0"/>
              <a:t># Convert binary data to a pandas </a:t>
            </a:r>
            <a:r>
              <a:rPr lang="en-US" dirty="0" err="1"/>
              <a:t>DataFrame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df_binary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</a:t>
            </a:r>
            <a:r>
              <a:rPr lang="en-US" dirty="0" err="1"/>
              <a:t>binary_data</a:t>
            </a:r>
            <a:r>
              <a:rPr lang="en-US" dirty="0"/>
              <a:t>, columns=["Outcome"])</a:t>
            </a:r>
          </a:p>
          <a:p>
            <a:pPr marL="0" indent="0">
              <a:buNone/>
            </a:pPr>
            <a:r>
              <a:rPr lang="en-US" dirty="0"/>
              <a:t># Count the occurrences of each category (0 and 1)</a:t>
            </a:r>
          </a:p>
          <a:p>
            <a:pPr marL="0" indent="0">
              <a:buNone/>
            </a:pPr>
            <a:r>
              <a:rPr lang="en-US" dirty="0" err="1"/>
              <a:t>binary_counts</a:t>
            </a:r>
            <a:r>
              <a:rPr lang="en-US" dirty="0"/>
              <a:t> = </a:t>
            </a:r>
            <a:r>
              <a:rPr lang="en-US" dirty="0" err="1"/>
              <a:t>df_binary</a:t>
            </a:r>
            <a:r>
              <a:rPr lang="en-US" dirty="0"/>
              <a:t>["Outcome"].</a:t>
            </a:r>
            <a:r>
              <a:rPr lang="en-US" dirty="0" err="1"/>
              <a:t>value_counts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binary_counts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29082-B2BF-9DE6-EEBD-4C5124027C5E}"/>
              </a:ext>
            </a:extLst>
          </p:cNvPr>
          <p:cNvSpPr txBox="1"/>
          <p:nvPr/>
        </p:nvSpPr>
        <p:spPr>
          <a:xfrm flipH="1">
            <a:off x="10040112" y="3105835"/>
            <a:ext cx="13136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1    5</a:t>
            </a:r>
          </a:p>
          <a:p>
            <a:r>
              <a:rPr lang="en-US" dirty="0"/>
              <a:t>0    4</a:t>
            </a:r>
          </a:p>
        </p:txBody>
      </p:sp>
    </p:spTree>
    <p:extLst>
      <p:ext uri="{BB962C8B-B14F-4D97-AF65-F5344CB8AC3E}">
        <p14:creationId xmlns:p14="http://schemas.microsoft.com/office/powerpoint/2010/main" val="1402696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0B4C-BBE0-4977-86A2-62BE6418C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8083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Frequency Tables 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0EC7E-A067-5C2E-E6A5-928A95015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4810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frequency table is a simple yet powerful way to summarize data. It shows how often each unique value (or category) appears in a dataset. This table is particularly useful in understanding the distribution of categorical or discrete numerical data.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of a frequency table: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Value/Category: The unique elements in the dataset (e.g., colors, product types, etc.).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Frequency: The number of times each value or category appears in the 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487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A7F30-1430-28A7-4D4E-37482C16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143C4-F809-1B16-36DA-AFF26F1F1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Color       Frequency</a:t>
            </a:r>
          </a:p>
          <a:p>
            <a:pPr marL="0" indent="0">
              <a:buNone/>
            </a:pPr>
            <a:r>
              <a:rPr lang="en-US" dirty="0"/>
              <a:t>Red            10</a:t>
            </a:r>
          </a:p>
          <a:p>
            <a:pPr marL="0" indent="0">
              <a:buNone/>
            </a:pPr>
            <a:r>
              <a:rPr lang="en-US" dirty="0"/>
              <a:t>Blue            8</a:t>
            </a:r>
          </a:p>
          <a:p>
            <a:pPr marL="0" indent="0">
              <a:buNone/>
            </a:pPr>
            <a:r>
              <a:rPr lang="en-US" dirty="0"/>
              <a:t>Green        13</a:t>
            </a:r>
          </a:p>
          <a:p>
            <a:pPr marL="0" indent="0">
              <a:buNone/>
            </a:pPr>
            <a:r>
              <a:rPr lang="en-US" dirty="0"/>
              <a:t>Pink           14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66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B3904-CC67-2670-889E-7D43E872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52671-EB10-7DBC-7114-47182281A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# Sample data (categorical)</a:t>
            </a:r>
          </a:p>
          <a:p>
            <a:pPr marL="0" indent="0">
              <a:buNone/>
            </a:pPr>
            <a:r>
              <a:rPr lang="en-US" dirty="0"/>
              <a:t>data = ['Red', 'Blue', 'Green', 'Blue', 'Red', 'Blue', 'Green', 'Red', 'Red', 'Blue']</a:t>
            </a:r>
          </a:p>
          <a:p>
            <a:pPr marL="0" indent="0">
              <a:buNone/>
            </a:pPr>
            <a:r>
              <a:rPr lang="en-US" dirty="0"/>
              <a:t># Create a </a:t>
            </a:r>
            <a:r>
              <a:rPr lang="en-US" dirty="0" err="1"/>
              <a:t>DataFrame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(data, columns=['Color'])</a:t>
            </a:r>
          </a:p>
          <a:p>
            <a:pPr marL="0" indent="0">
              <a:buNone/>
            </a:pPr>
            <a:r>
              <a:rPr lang="en-US" dirty="0"/>
              <a:t># Generate frequency table using `</a:t>
            </a:r>
            <a:r>
              <a:rPr lang="en-US" dirty="0" err="1"/>
              <a:t>value_counts</a:t>
            </a:r>
            <a:r>
              <a:rPr lang="en-US" dirty="0"/>
              <a:t>`</a:t>
            </a:r>
          </a:p>
          <a:p>
            <a:pPr marL="0" indent="0">
              <a:buNone/>
            </a:pPr>
            <a:r>
              <a:rPr lang="en-US" dirty="0" err="1"/>
              <a:t>frequency_table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['Color'].</a:t>
            </a:r>
            <a:r>
              <a:rPr lang="en-US" dirty="0" err="1"/>
              <a:t>value_counts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# Display the frequency table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frequency_table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2913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37B5-97D9-C582-4C08-EFE56AE18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Line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307D5-3393-34BE-78D6-6C041ACDF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619"/>
            <a:ext cx="10515600" cy="5052767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 plot (or line chart) is a basic type of graph used in data visualization to represent data points in a time sequence or an ordered set.</a:t>
            </a: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used to visualize trends, relationships, or patterns over a continuous range (e.g., time, ordered categories, numerical values).</a:t>
            </a:r>
          </a:p>
          <a:p>
            <a:pPr marL="0" indent="0">
              <a:spcBef>
                <a:spcPts val="600"/>
              </a:spcBef>
              <a:buNone/>
            </a:pP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spcBef>
                <a:spcPts val="600"/>
              </a:spcBef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 of a Line Plot:</a:t>
            </a:r>
          </a:p>
          <a:p>
            <a:pPr>
              <a:lnSpc>
                <a:spcPct val="17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 Typically represents the independent variable, often time or ordered categories.</a:t>
            </a:r>
          </a:p>
          <a:p>
            <a:pPr>
              <a:lnSpc>
                <a:spcPct val="17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Y-Axis: Represents the dependent variable, which changes in response to the independent variable.</a:t>
            </a:r>
          </a:p>
          <a:p>
            <a:pPr>
              <a:lnSpc>
                <a:spcPct val="17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Points: Each point on the line plot corresponds to a value of the dependent variable at a given point of the independent variable.</a:t>
            </a:r>
          </a:p>
          <a:p>
            <a:pPr>
              <a:lnSpc>
                <a:spcPct val="17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Line: A line connects the data points, making it easier to visualize trends and patterns.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690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9A0FC-2EFE-E39F-B456-2F2E5FDE8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Purpose of Line Plots: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1F41C-3604-9B3D-C4F7-30FF4D38A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167"/>
            <a:ext cx="10515600" cy="478179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Trend Analysis: Line plots are useful for showing how values change over time or along a continuous scale.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Comparing Multiple Variables: Multiple lines on the same plot can show how different variables compare or change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Identifying Patterns: Line plots can help spot cycles, increases, decreases, or other patterns in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341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24658-D1FB-DF5B-8209-660066A3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CB161-06BC-08C5-D297-E8EA19AF5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3571"/>
            <a:ext cx="10515600" cy="5413391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6800" dirty="0"/>
              <a:t>import </a:t>
            </a:r>
            <a:r>
              <a:rPr lang="en-US" sz="6800" dirty="0" err="1"/>
              <a:t>matplotlib.pyplot</a:t>
            </a:r>
            <a:r>
              <a:rPr lang="en-US" sz="6800" dirty="0"/>
              <a:t> as </a:t>
            </a:r>
            <a:r>
              <a:rPr lang="en-US" sz="6800" dirty="0" err="1"/>
              <a:t>plt</a:t>
            </a:r>
            <a:endParaRPr lang="en-US" sz="6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800" dirty="0"/>
              <a:t># Sample Data: Time vs Temperature (in degrees Celsius)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800" dirty="0"/>
              <a:t>time = [1, 2, 3, 4, 5, 6, 7]                            // seven days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800" dirty="0"/>
              <a:t>temperature = [22, 23, 24, 25, 24, 23, 22]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800" dirty="0"/>
              <a:t># Creating the line plot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800" dirty="0" err="1"/>
              <a:t>plt.plot</a:t>
            </a:r>
            <a:r>
              <a:rPr lang="en-US" sz="6800" dirty="0"/>
              <a:t>(time, temperature, marker='o', color='b', label='Temperature’)   // circular marks on data point and b set color blue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800" dirty="0"/>
              <a:t># Adding titles and labels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800" dirty="0" err="1"/>
              <a:t>plt.title</a:t>
            </a:r>
            <a:r>
              <a:rPr lang="en-US" sz="6800" dirty="0"/>
              <a:t>('Temperature Over Time')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800" dirty="0" err="1"/>
              <a:t>plt.xlabel</a:t>
            </a:r>
            <a:r>
              <a:rPr lang="en-US" sz="6800" dirty="0"/>
              <a:t>('Time (days)')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800" dirty="0" err="1"/>
              <a:t>plt.ylabel</a:t>
            </a:r>
            <a:r>
              <a:rPr lang="en-US" sz="6800" dirty="0"/>
              <a:t>('Temperature (°C)')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800" dirty="0" err="1"/>
              <a:t>plt.legend</a:t>
            </a:r>
            <a:r>
              <a:rPr lang="en-US" sz="6800" dirty="0"/>
              <a:t>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800" dirty="0"/>
              <a:t># Display the plot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6800" dirty="0" err="1"/>
              <a:t>plt.show</a:t>
            </a:r>
            <a:r>
              <a:rPr lang="en-US" sz="6800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C48CB-FEEA-B049-39F6-C3BF649B9DED}"/>
              </a:ext>
            </a:extLst>
          </p:cNvPr>
          <p:cNvSpPr txBox="1"/>
          <p:nvPr/>
        </p:nvSpPr>
        <p:spPr>
          <a:xfrm>
            <a:off x="7692272" y="4798243"/>
            <a:ext cx="3661528" cy="40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440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86A44-99B4-394B-6B9B-802338E5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Multiple lines in one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B098B-2F40-39BC-340E-7950F91E8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703"/>
            <a:ext cx="10515600" cy="45932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# Multiple lines: Temperature and Humidity</a:t>
            </a:r>
          </a:p>
          <a:p>
            <a:pPr marL="0" indent="0">
              <a:buNone/>
            </a:pPr>
            <a:r>
              <a:rPr lang="en-US" dirty="0"/>
              <a:t>humidity = [55, 60, 62, 58, 56, 57, 59]</a:t>
            </a:r>
          </a:p>
          <a:p>
            <a:pPr marL="0" indent="0">
              <a:buNone/>
            </a:pPr>
            <a:r>
              <a:rPr lang="en-US" dirty="0"/>
              <a:t># Creating the line plot for two variables</a:t>
            </a:r>
          </a:p>
          <a:p>
            <a:pPr marL="0" indent="0">
              <a:buNone/>
            </a:pPr>
            <a:r>
              <a:rPr lang="en-US" dirty="0" err="1"/>
              <a:t>plt.plot</a:t>
            </a:r>
            <a:r>
              <a:rPr lang="en-US" dirty="0"/>
              <a:t>(time, temperature, marker='o', color='b', label='Temperature')</a:t>
            </a:r>
          </a:p>
          <a:p>
            <a:pPr marL="0" indent="0">
              <a:buNone/>
            </a:pPr>
            <a:r>
              <a:rPr lang="en-US" dirty="0" err="1"/>
              <a:t>plt.plot</a:t>
            </a:r>
            <a:r>
              <a:rPr lang="en-US" dirty="0"/>
              <a:t>(time, humidity, marker='x', color='r', label='Humidity')</a:t>
            </a:r>
          </a:p>
          <a:p>
            <a:pPr marL="0" indent="0">
              <a:buNone/>
            </a:pPr>
            <a:r>
              <a:rPr lang="en-US" dirty="0"/>
              <a:t># Adding titles and labels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('Temperature and Humidity Over Time')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('Time (days)')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('Values')</a:t>
            </a:r>
          </a:p>
          <a:p>
            <a:pPr marL="0" indent="0">
              <a:buNone/>
            </a:pPr>
            <a:r>
              <a:rPr lang="en-US" dirty="0" err="1"/>
              <a:t>plt.legend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# Display the plot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829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9FE8-1159-5856-5120-2897A381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Density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E3BE9-7CEE-E577-9864-56974EA28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289"/>
            <a:ext cx="10515600" cy="466867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 </a:t>
            </a:r>
            <a:r>
              <a:rPr lang="en-US" sz="2400" b="1" dirty="0"/>
              <a:t>density plot</a:t>
            </a:r>
            <a:r>
              <a:rPr lang="en-US" sz="2400" dirty="0"/>
              <a:t> is a data visualization that represents the distribution of a continuous variable.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It is a smoothed version of a histogram, where the frequency of data points in a range is represented by a curve.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This plot is helpful in visualizing the underlying probability distribution of the data, showing the likelihood of different values within a dataset.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This curve helps visualize the data's distribution more effectively, especially when comparing multiple datasets or identifying patterns like skewness, bimodality, or outliers.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195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EF48-69C5-8165-5B15-13869D73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1852"/>
            <a:ext cx="10515600" cy="71643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Density Plots:</a:t>
            </a:r>
            <a:b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CDCCE-DB51-4988-0D15-3DDAD0F0C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959"/>
            <a:ext cx="10515600" cy="4633272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Visualizing Data Distribution: Density plots provide a clear understanding of how data is distributed, such as whether it is skewed, normal, or multimodal.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Datasets: When comparing multiple datasets, density plots can help identify differences in their distributions.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Patterns: By smoothing the data, density plots make it easier to spot patterns, such as peaks (modes) or gaps in the data.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Detection: Extreme values that fall far from the main density of the data can be more easily identified.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9070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F2C6-2968-63C9-71A1-AD707595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347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1AAD0-4711-5EEC-F5BC-615CEA9EC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472"/>
            <a:ext cx="10515600" cy="488549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Sample data: Random values following a normal distribution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marL="0" indent="0">
              <a:buNone/>
            </a:pPr>
            <a:r>
              <a:rPr lang="en-US" dirty="0"/>
              <a:t>data = </a:t>
            </a:r>
            <a:r>
              <a:rPr lang="en-US" dirty="0" err="1"/>
              <a:t>np.random.normal</a:t>
            </a:r>
            <a:r>
              <a:rPr lang="en-US" dirty="0"/>
              <a:t>(loc=0, scale=1, size=1000)  # Mean=0, Std Dev=1, 1000 samples</a:t>
            </a:r>
          </a:p>
          <a:p>
            <a:pPr marL="0" indent="0">
              <a:buNone/>
            </a:pPr>
            <a:r>
              <a:rPr lang="en-US" dirty="0"/>
              <a:t># Create the density plot</a:t>
            </a:r>
          </a:p>
          <a:p>
            <a:pPr marL="0" indent="0">
              <a:buNone/>
            </a:pPr>
            <a:r>
              <a:rPr lang="en-US" dirty="0" err="1"/>
              <a:t>sns.kdeplot</a:t>
            </a:r>
            <a:r>
              <a:rPr lang="en-US" dirty="0"/>
              <a:t>(data, shade=True, color=‘green')</a:t>
            </a:r>
          </a:p>
          <a:p>
            <a:pPr marL="0" indent="0">
              <a:buNone/>
            </a:pPr>
            <a:r>
              <a:rPr lang="en-US" dirty="0"/>
              <a:t># Add title and labels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('Density Plot of Normally Distributed Data')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('Value')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('Density')</a:t>
            </a:r>
          </a:p>
          <a:p>
            <a:pPr marL="0" indent="0">
              <a:buNone/>
            </a:pPr>
            <a:r>
              <a:rPr lang="en-US" dirty="0"/>
              <a:t># Show the plot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350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AF6CB-0B4F-D9FC-5840-EF9A53965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6DBBB-1FF7-2CB0-422C-579E3D25E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130"/>
            <a:ext cx="10515600" cy="4583833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scatter plot is  used to display the relationship between two quantitative variables.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to identify patterns, trends, correlations, or outliers in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point in the scatter plot represents an observation with its position determined by the values of the two variables.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relationship between two variables (e.g., age and income).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unusual data points that deviate significantly from the trend.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clusters of data points, often combined with techniques like K-means clustering.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Analysis: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the fit of a regression model visually by overlaying the regression 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414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9576-3936-4BAB-3E07-C1DA008EC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29"/>
            <a:ext cx="10515600" cy="6254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Features of a Scatter Plot: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43BF0-411F-6097-4B50-66D6D22F3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38391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b="1" dirty="0"/>
              <a:t> Axes</a:t>
            </a:r>
            <a:r>
              <a:rPr lang="en-US" sz="24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x-axis</a:t>
            </a:r>
            <a:r>
              <a:rPr lang="en-US" dirty="0"/>
              <a:t> represents the independent variable (feature/input).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y-axis</a:t>
            </a:r>
            <a:r>
              <a:rPr lang="en-US" dirty="0"/>
              <a:t> represents the dependent variable (target/output).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 Points</a:t>
            </a:r>
            <a:r>
              <a:rPr lang="en-US" sz="24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Each point on the plot corresponds to a single data observation.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position of the point is based on the values of the two variables.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 Trend Identification</a:t>
            </a:r>
            <a:r>
              <a:rPr lang="en-US" sz="2400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Positive correlation: Points trend upward from left to right.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Negative correlation: Points trend downward from left to right.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No correlation: Points appear scattered randomly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1846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87F5-510A-0920-23B1-043FBB9F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DF61B-FAD5-59C8-65D9-DCE3E9E9B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155"/>
            <a:ext cx="10515600" cy="471580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matplotlib.pyplot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Sample data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5,6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 = [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4</a:t>
            </a:r>
            <a:r>
              <a:rPr 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,5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Create scatter plot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plt.scatter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(x, y, color=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'blue'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label=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'Data Points'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Add labels and title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plt.xlabel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'X-axis (Independent Variable)'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plt.ylabel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'Y-axis (Dependent Variable)'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'Scatter Plot Example'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plt.legend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Show plot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1436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355D-51AB-3D4A-6110-A1F46CBA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1DE61-834B-4A96-6EC3-819E52C51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 Assignment create a bar graph, line graph, scatter plot and histogram from the following CSV file, Also handle the missing data in the file if any. </a:t>
            </a:r>
          </a:p>
        </p:txBody>
      </p:sp>
    </p:spTree>
    <p:extLst>
      <p:ext uri="{BB962C8B-B14F-4D97-AF65-F5344CB8AC3E}">
        <p14:creationId xmlns:p14="http://schemas.microsoft.com/office/powerpoint/2010/main" val="1030024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2711</Words>
  <Application>Microsoft Office PowerPoint</Application>
  <PresentationFormat>Widescreen</PresentationFormat>
  <Paragraphs>272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Bahnschrift Light</vt:lpstr>
      <vt:lpstr>Calibri</vt:lpstr>
      <vt:lpstr>Calibri Light</vt:lpstr>
      <vt:lpstr>Courier New</vt:lpstr>
      <vt:lpstr>Times New Roman</vt:lpstr>
      <vt:lpstr>Wingdings</vt:lpstr>
      <vt:lpstr>Office Theme</vt:lpstr>
      <vt:lpstr>Unit 3: Data Science</vt:lpstr>
      <vt:lpstr>Exploratory Data Analysis (EDA)</vt:lpstr>
      <vt:lpstr>Estimates of Location </vt:lpstr>
      <vt:lpstr>PowerPoint Presentation</vt:lpstr>
      <vt:lpstr>Estimates of Variability </vt:lpstr>
      <vt:lpstr>PowerPoint Presentation</vt:lpstr>
      <vt:lpstr>PowerPoint Presentation</vt:lpstr>
      <vt:lpstr>Exploring the Data Distribution </vt:lpstr>
      <vt:lpstr>Importance of Data Visualization</vt:lpstr>
      <vt:lpstr>Data Visualization Techniques</vt:lpstr>
      <vt:lpstr>Univariate Plots</vt:lpstr>
      <vt:lpstr>Multivariate Plots</vt:lpstr>
      <vt:lpstr>Data Visualization</vt:lpstr>
      <vt:lpstr>Bar Chart</vt:lpstr>
      <vt:lpstr>Example</vt:lpstr>
      <vt:lpstr>PowerPoint Presentation</vt:lpstr>
      <vt:lpstr>Plotting Histogram</vt:lpstr>
      <vt:lpstr>Seaborn Library</vt:lpstr>
      <vt:lpstr>Example</vt:lpstr>
      <vt:lpstr>Exploring Binary and Categorical Data </vt:lpstr>
      <vt:lpstr>PowerPoint Presentation</vt:lpstr>
      <vt:lpstr>Frequency Tables :  </vt:lpstr>
      <vt:lpstr>Example</vt:lpstr>
      <vt:lpstr>PowerPoint Presentation</vt:lpstr>
      <vt:lpstr>Line Plot</vt:lpstr>
      <vt:lpstr>Purpose of Line Plots: </vt:lpstr>
      <vt:lpstr>PowerPoint Presentation</vt:lpstr>
      <vt:lpstr>Multiple lines in one plot</vt:lpstr>
      <vt:lpstr>Density Plot</vt:lpstr>
      <vt:lpstr>Purpose of Density Plots: </vt:lpstr>
      <vt:lpstr>Example</vt:lpstr>
      <vt:lpstr>Scatter Plot</vt:lpstr>
      <vt:lpstr>Features of a Scatter Plot: </vt:lpstr>
      <vt:lpstr>Example: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Saroj Giri</dc:creator>
  <cp:lastModifiedBy>Saroj Giri</cp:lastModifiedBy>
  <cp:revision>24</cp:revision>
  <dcterms:created xsi:type="dcterms:W3CDTF">2025-01-15T13:08:46Z</dcterms:created>
  <dcterms:modified xsi:type="dcterms:W3CDTF">2025-12-09T15:38:46Z</dcterms:modified>
</cp:coreProperties>
</file>