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8"/>
  </p:notesMasterIdLst>
  <p:sldIdLst>
    <p:sldId id="256" r:id="rId2"/>
    <p:sldId id="268" r:id="rId3"/>
    <p:sldId id="257" r:id="rId4"/>
    <p:sldId id="269" r:id="rId5"/>
    <p:sldId id="258" r:id="rId6"/>
    <p:sldId id="266" r:id="rId7"/>
    <p:sldId id="259" r:id="rId8"/>
    <p:sldId id="260" r:id="rId9"/>
    <p:sldId id="261" r:id="rId10"/>
    <p:sldId id="272" r:id="rId11"/>
    <p:sldId id="262" r:id="rId12"/>
    <p:sldId id="273" r:id="rId13"/>
    <p:sldId id="274" r:id="rId14"/>
    <p:sldId id="263" r:id="rId15"/>
    <p:sldId id="270" r:id="rId16"/>
    <p:sldId id="303" r:id="rId17"/>
    <p:sldId id="278" r:id="rId18"/>
    <p:sldId id="279" r:id="rId19"/>
    <p:sldId id="271" r:id="rId20"/>
    <p:sldId id="301" r:id="rId21"/>
    <p:sldId id="275" r:id="rId22"/>
    <p:sldId id="283" r:id="rId23"/>
    <p:sldId id="280" r:id="rId24"/>
    <p:sldId id="306" r:id="rId25"/>
    <p:sldId id="304" r:id="rId26"/>
    <p:sldId id="314" r:id="rId27"/>
    <p:sldId id="312" r:id="rId28"/>
    <p:sldId id="313" r:id="rId29"/>
    <p:sldId id="284" r:id="rId30"/>
    <p:sldId id="305" r:id="rId31"/>
    <p:sldId id="287" r:id="rId32"/>
    <p:sldId id="308" r:id="rId33"/>
    <p:sldId id="307" r:id="rId34"/>
    <p:sldId id="289" r:id="rId35"/>
    <p:sldId id="315" r:id="rId36"/>
    <p:sldId id="310" r:id="rId37"/>
    <p:sldId id="290" r:id="rId38"/>
    <p:sldId id="291" r:id="rId39"/>
    <p:sldId id="292" r:id="rId40"/>
    <p:sldId id="293" r:id="rId41"/>
    <p:sldId id="294" r:id="rId42"/>
    <p:sldId id="295" r:id="rId43"/>
    <p:sldId id="297" r:id="rId44"/>
    <p:sldId id="298" r:id="rId45"/>
    <p:sldId id="302" r:id="rId46"/>
    <p:sldId id="300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0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66" d="100"/>
        <a:sy n="66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5FDB26-8290-4354-8F2D-CD1517C1EE9B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BD648F-E7E4-41B8-92C3-0116577D3B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6927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BD648F-E7E4-41B8-92C3-0116577D3BB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4619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BD648F-E7E4-41B8-92C3-0116577D3BBB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470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B51FB-8D14-46D6-EFB0-A9B66C44FA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08F134-BBD1-E6CE-85AC-E8EC18319C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14207A-C18F-7CF0-53BC-8994FF675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4D55F-080F-477D-83FD-7AD20705891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E3C1D4-8AD5-49CE-F6D3-03AFFCD73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E80594-6BC8-AE19-814D-C080DDD2B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D5E18-B0F2-4C8C-B55A-479E08E97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524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4651B-3F49-00EE-2F9A-235E4A4E5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4C7534-F01E-98BA-942E-400A35AE9E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38B982-299F-FAA4-D2B6-F6805F45B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4D55F-080F-477D-83FD-7AD20705891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F429B4-29B3-CA46-FCC9-1B4FE9315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2799A0-C47A-A089-4992-E40784F1E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D5E18-B0F2-4C8C-B55A-479E08E97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6514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6E723-CAAE-CD1C-94F4-48CF8C799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A9605A-C01F-8726-549F-2AADFE3906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DBEF56-A791-08B8-29F6-D6F2A9BD6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4D55F-080F-477D-83FD-7AD20705891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B65CEF-6240-F640-1DE1-65D3A025F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DC540-3834-F631-B373-52CF132BC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D5E18-B0F2-4C8C-B55A-479E08E97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517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FB83C-0230-3053-CE71-841CF8B2A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DFCEE4-C234-86F7-D72F-37A1B28B18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6FEB15-5598-EAA1-A751-67FA53A3DB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1A529F-6B68-1721-01A8-9962E15DB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4D55F-080F-477D-83FD-7AD20705891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767312-5CBB-9447-780A-49A3050BF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D61ACC-003F-A27F-3AC7-1B7E3EE29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D5E18-B0F2-4C8C-B55A-479E08E97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9900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40C1D-4B7F-0330-B726-CDFC1712B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AD3E4E-4FC4-C94B-2729-556D80DB23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D59A14-FCBE-EFFA-F586-4A02634D4F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0FFDD1-9125-E890-5284-5B1FD16ACC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F94E46-6AC9-55CE-6903-8224D0D77C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776CAE-EBF3-A5AE-DF2A-F2DC5E380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4D55F-080F-477D-83FD-7AD20705891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207D77-75CA-3DF8-D1C8-B36DA50E4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11C4CE-7ECC-8D6C-7130-B9E046C61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D5E18-B0F2-4C8C-B55A-479E08E97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866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76997-7149-3DB2-5F74-C8D4DC074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3878C0-B5DC-BA73-280C-5E4B9F57C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4D55F-080F-477D-83FD-7AD20705891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A345BD-47A5-173F-9DB3-BA5EA3E1E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143213-9BFB-3B39-8518-55F4EBFB5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D5E18-B0F2-4C8C-B55A-479E08E97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737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8A0257-3C24-D21A-5920-54AD7E682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4D55F-080F-477D-83FD-7AD20705891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218571-880F-40D1-B2F5-3D43D0813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D71A5-BD20-BDC6-73E7-E4075220A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D5E18-B0F2-4C8C-B55A-479E08E97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2864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4F957-FB91-090D-A49E-EE09B0079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95B644-924B-FF66-FD7E-0B418F3370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5FC112-DF04-EADE-BFB3-3A8D330441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760CB8-621F-90A9-B3DD-A9F25AB59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4D55F-080F-477D-83FD-7AD20705891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25B7B9-6465-3C59-DAE4-FC8603A47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3EC8E1-EE53-E5A9-5F59-D8EB34FE1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D5E18-B0F2-4C8C-B55A-479E08E97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8624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76495-19B3-492A-33AB-297242C96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018A0C-96AE-30CA-E331-64CD7603EC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1EAEB1-89D8-1699-6A9D-A1F4F7F974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A6577E-7CC7-A793-8266-037E0D36E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4D55F-080F-477D-83FD-7AD20705891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8ED8E3-5017-EA66-4E01-6BA5B559B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7C78CD-853E-146F-4710-D77E60AC4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D5E18-B0F2-4C8C-B55A-479E08E97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6639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7ED56-0775-A303-EEAB-9814F9FE3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339E82-1607-52BB-D5CD-0EA5BF5D27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B502E5-83F2-4A89-E8EA-F52C8A5D7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4D55F-080F-477D-83FD-7AD20705891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5021BB-46E6-6EA3-4DCC-04A690EDB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9866DA-4378-B6B6-1E6B-1FCD4C39E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D5E18-B0F2-4C8C-B55A-479E08E97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207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D779A9-CD44-8DC7-B297-92CA41B065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2DB379-7EF1-CFBE-2467-7F2FB82169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D3F7C2-A37A-AB8A-BF55-C615A6D18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4D55F-080F-477D-83FD-7AD20705891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835DDA-53C6-1A9C-5456-FB017E503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E9B960-54F6-3D63-27F6-9925CCF7F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D5E18-B0F2-4C8C-B55A-479E08E97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937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83CCDB-07BB-29DE-CA61-DA0AFE96B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C6A4E1-50BC-E1B2-32FA-05A57248BD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EDCDAE-16C4-98CA-7BAF-F33631B49F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E4D55F-080F-477D-83FD-7AD20705891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A94D3-980E-3B1B-6E98-B34328963B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792406-1E38-D55F-4F1B-889E574B64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FD5E18-B0F2-4C8C-B55A-479E08E97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060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1EA61-5937-7996-E8FB-C79EC23BDB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57460"/>
            <a:ext cx="9144000" cy="1743959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Unit 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89B907-9019-282E-CD51-1D05D8CA6C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74416"/>
            <a:ext cx="9144000" cy="1383384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accent1"/>
                </a:solidFill>
              </a:rPr>
              <a:t>Statistical Analysis in Data Science</a:t>
            </a:r>
          </a:p>
        </p:txBody>
      </p:sp>
    </p:spTree>
    <p:extLst>
      <p:ext uri="{BB962C8B-B14F-4D97-AF65-F5344CB8AC3E}">
        <p14:creationId xmlns:p14="http://schemas.microsoft.com/office/powerpoint/2010/main" val="1114212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EDDAA-89E0-B68A-021E-2903CFBF5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chemeClr val="accent1"/>
                </a:solidFill>
              </a:rPr>
              <a:t>Descriptive Statistics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62CA9-1226-7D53-062B-7899966A5E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/>
          <a:lstStyle/>
          <a:p>
            <a:pPr algn="just"/>
            <a:r>
              <a:rPr lang="en-US" dirty="0"/>
              <a:t>It measures the central tendency (mean, median, mode) and variability (range, variance, standard deviation).</a:t>
            </a:r>
          </a:p>
          <a:p>
            <a:pPr algn="just"/>
            <a:r>
              <a:rPr lang="en-US" dirty="0"/>
              <a:t>Summarizes and understand data distribution and features.</a:t>
            </a:r>
          </a:p>
          <a:p>
            <a:pPr algn="just"/>
            <a:r>
              <a:rPr lang="en-US" dirty="0"/>
              <a:t>Mean , median and mode are commonly used to measure the central tendency in statistics.</a:t>
            </a:r>
          </a:p>
          <a:p>
            <a:pPr algn="just"/>
            <a:r>
              <a:rPr lang="en-US" dirty="0"/>
              <a:t>Variance is the measure of the spread or dispersion of data points.</a:t>
            </a:r>
          </a:p>
          <a:p>
            <a:pPr algn="just"/>
            <a:r>
              <a:rPr lang="en-US" dirty="0"/>
              <a:t>Standard deviation is the square root of the variance, providing the measure of data variability.</a:t>
            </a:r>
          </a:p>
        </p:txBody>
      </p:sp>
    </p:spTree>
    <p:extLst>
      <p:ext uri="{BB962C8B-B14F-4D97-AF65-F5344CB8AC3E}">
        <p14:creationId xmlns:p14="http://schemas.microsoft.com/office/powerpoint/2010/main" val="17215983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E74C2-21EF-8CBC-4E25-114A56019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12742"/>
            <a:ext cx="10515600" cy="1077946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Random Sampling and Sample Bias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B4E878-B349-B0BC-1995-1EC1376E6F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21410"/>
            <a:ext cx="10515600" cy="455555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</a:rPr>
              <a:t>Bias</a:t>
            </a:r>
          </a:p>
          <a:p>
            <a:pPr algn="just"/>
            <a:r>
              <a:rPr lang="en-US" dirty="0"/>
              <a:t>Bias refers to a systematic error in the process of collecting, analyzing, interpreting or presenting data that leads to inaccurate results.</a:t>
            </a:r>
          </a:p>
          <a:p>
            <a:pPr algn="just"/>
            <a:r>
              <a:rPr lang="en-US" dirty="0"/>
              <a:t>It skews the results in a particular direction and can mispresent the population under study.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Common types of Bias are: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/>
                </a:solidFill>
              </a:rPr>
              <a:t>Selection Bias</a:t>
            </a:r>
            <a:r>
              <a:rPr lang="en-US" dirty="0"/>
              <a:t>: Occurs when the sample is not representative of the population.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/>
                </a:solidFill>
              </a:rPr>
              <a:t>Response Bias: </a:t>
            </a:r>
            <a:r>
              <a:rPr lang="en-US" dirty="0"/>
              <a:t>Influenced by how survey questions are worded.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/>
                </a:solidFill>
              </a:rPr>
              <a:t>Measurement Bias: </a:t>
            </a:r>
            <a:r>
              <a:rPr lang="en-US" dirty="0"/>
              <a:t>Due to errors in data measurement.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13983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DA271-ED72-AC06-4A84-4DC5BA67A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Population Vs Sample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3C4C8F-D33E-5697-CC00-7F017EEC95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2557"/>
            <a:ext cx="10515600" cy="4574406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Population Vs Sampling</a:t>
            </a:r>
          </a:p>
          <a:p>
            <a:r>
              <a:rPr lang="en-US" dirty="0"/>
              <a:t>A population is the entire set of the observations, while a sample is a subset taken from the population.</a:t>
            </a:r>
          </a:p>
          <a:p>
            <a:pPr marL="0" indent="0">
              <a:buNone/>
            </a:pPr>
            <a:r>
              <a:rPr lang="en-US" dirty="0"/>
              <a:t>Sampling Distribution:</a:t>
            </a:r>
          </a:p>
          <a:p>
            <a:r>
              <a:rPr lang="en-US" dirty="0"/>
              <a:t>The distribution of a sample statistics (</a:t>
            </a:r>
            <a:r>
              <a:rPr lang="en-US" dirty="0" err="1"/>
              <a:t>eg.</a:t>
            </a:r>
            <a:r>
              <a:rPr lang="en-US" dirty="0"/>
              <a:t> Mean) across multiple random samples from the same population.</a:t>
            </a:r>
          </a:p>
          <a:p>
            <a:pPr marL="0" indent="0">
              <a:buNone/>
            </a:pPr>
            <a:r>
              <a:rPr lang="en-US" dirty="0"/>
              <a:t>Sample from Population ( Simple Random Sampling, Cluster Sampling,       Convenience Sampling, Stratified Sampling etc.)</a:t>
            </a:r>
          </a:p>
        </p:txBody>
      </p:sp>
    </p:spTree>
    <p:extLst>
      <p:ext uri="{BB962C8B-B14F-4D97-AF65-F5344CB8AC3E}">
        <p14:creationId xmlns:p14="http://schemas.microsoft.com/office/powerpoint/2010/main" val="15688017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7A066-B8CE-887A-CA6A-73687B312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5772FA-A9A8-D9A3-5EA3-0BB805D7A2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6769"/>
            <a:ext cx="10515600" cy="4770194"/>
          </a:xfrm>
        </p:spPr>
        <p:txBody>
          <a:bodyPr/>
          <a:lstStyle/>
          <a:p>
            <a:r>
              <a:rPr lang="en-US" b="1" dirty="0"/>
              <a:t>Random Selection</a:t>
            </a:r>
          </a:p>
          <a:p>
            <a:r>
              <a:rPr lang="en-US" dirty="0"/>
              <a:t>Random sampling ensures every individual in the population has an equal chance of selection, reducing bias and improving representativeness.</a:t>
            </a:r>
          </a:p>
          <a:p>
            <a:pPr marL="0" indent="0">
              <a:buNone/>
            </a:pPr>
            <a:r>
              <a:rPr lang="en-US" b="1" dirty="0"/>
              <a:t>Size Versus Quality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Larger sample sizes reduce random errors but don’t eliminate bias.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High-quality sampling strategies (e.g., stratified sampling) balance size and representativeness.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46504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DB373-44F0-29D8-A1F5-B7460C2B7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75518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accent1"/>
                </a:solidFill>
              </a:rPr>
              <a:t>Example: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2F5B29-2055-7B68-B263-B6EEC29061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9754"/>
            <a:ext cx="10515600" cy="485721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import random</a:t>
            </a:r>
          </a:p>
          <a:p>
            <a:pPr marL="0" indent="0">
              <a:buNone/>
            </a:pPr>
            <a:r>
              <a:rPr lang="en-US" dirty="0"/>
              <a:t># Simulating a random sample</a:t>
            </a:r>
          </a:p>
          <a:p>
            <a:pPr marL="0" indent="0">
              <a:buNone/>
            </a:pPr>
            <a:r>
              <a:rPr lang="en-US" dirty="0"/>
              <a:t>population = list(range(1, 101))  # Population from 1 to 100</a:t>
            </a:r>
          </a:p>
          <a:p>
            <a:pPr marL="0" indent="0">
              <a:buNone/>
            </a:pPr>
            <a:r>
              <a:rPr lang="en-US" dirty="0" err="1"/>
              <a:t>sample_size</a:t>
            </a:r>
            <a:r>
              <a:rPr lang="en-US" dirty="0"/>
              <a:t> = 10</a:t>
            </a:r>
          </a:p>
          <a:p>
            <a:pPr marL="0" indent="0">
              <a:buNone/>
            </a:pPr>
            <a:r>
              <a:rPr lang="en-US" dirty="0" err="1"/>
              <a:t>random_sample</a:t>
            </a:r>
            <a:r>
              <a:rPr lang="en-US" dirty="0"/>
              <a:t> = </a:t>
            </a:r>
            <a:r>
              <a:rPr lang="en-US" dirty="0" err="1"/>
              <a:t>random.sample</a:t>
            </a:r>
            <a:r>
              <a:rPr lang="en-US" dirty="0"/>
              <a:t>(population, </a:t>
            </a:r>
            <a:r>
              <a:rPr lang="en-US" dirty="0" err="1"/>
              <a:t>sample_size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print("Random Sample:", </a:t>
            </a:r>
            <a:r>
              <a:rPr lang="en-US" dirty="0" err="1"/>
              <a:t>random_sample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6886342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1DB8B-288C-4922-A698-BD14CBCB1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692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564AA8-8123-435A-2B7C-D63DD68254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6313"/>
            <a:ext cx="10515600" cy="4800650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</a:rPr>
              <a:t>Sample Mean vs. Population Mean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Sample Mean (μ): Calculated mean of a subset of the population.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Population Mean (μ): Mean of the entire population; generally unknown.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</a:rPr>
              <a:t>Mean vs. Median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Mean: Sum of values divided by the number of values.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Median: Middle value when data is ordered. Median is less affected by outliers.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65193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73DD1-FBF2-31C7-6BAC-F63FC6C40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90677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accent1"/>
                </a:solidFill>
              </a:rPr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A17383-F7CC-BB17-648D-AE9C29A255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1155"/>
            <a:ext cx="10515600" cy="471580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import </a:t>
            </a:r>
            <a:r>
              <a:rPr lang="en-US" dirty="0" err="1"/>
              <a:t>numpy</a:t>
            </a:r>
            <a:r>
              <a:rPr lang="en-US" dirty="0"/>
              <a:t> as np</a:t>
            </a:r>
          </a:p>
          <a:p>
            <a:pPr marL="0" indent="0">
              <a:buNone/>
            </a:pPr>
            <a:r>
              <a:rPr lang="en-US" dirty="0"/>
              <a:t>data = [10, 12, 15, 20, 22, 23, 25, 30]</a:t>
            </a:r>
          </a:p>
          <a:p>
            <a:pPr marL="0" indent="0">
              <a:buNone/>
            </a:pPr>
            <a:r>
              <a:rPr lang="en-US" dirty="0"/>
              <a:t>mean = </a:t>
            </a:r>
            <a:r>
              <a:rPr lang="en-US" dirty="0" err="1"/>
              <a:t>np.mean</a:t>
            </a:r>
            <a:r>
              <a:rPr lang="en-US" dirty="0"/>
              <a:t>(data)</a:t>
            </a:r>
          </a:p>
          <a:p>
            <a:pPr marL="0" indent="0">
              <a:buNone/>
            </a:pPr>
            <a:r>
              <a:rPr lang="en-US" dirty="0"/>
              <a:t>median = </a:t>
            </a:r>
            <a:r>
              <a:rPr lang="en-US" dirty="0" err="1"/>
              <a:t>np.median</a:t>
            </a:r>
            <a:r>
              <a:rPr lang="en-US" dirty="0"/>
              <a:t>(data)</a:t>
            </a:r>
          </a:p>
          <a:p>
            <a:pPr marL="0" indent="0">
              <a:buNone/>
            </a:pPr>
            <a:r>
              <a:rPr lang="en-US" dirty="0"/>
              <a:t>print(</a:t>
            </a:r>
            <a:r>
              <a:rPr lang="en-US" dirty="0" err="1"/>
              <a:t>f"Mean</a:t>
            </a:r>
            <a:r>
              <a:rPr lang="en-US" dirty="0"/>
              <a:t>: {mean}, Median: {median}")</a:t>
            </a:r>
          </a:p>
        </p:txBody>
      </p:sp>
    </p:spTree>
    <p:extLst>
      <p:ext uri="{BB962C8B-B14F-4D97-AF65-F5344CB8AC3E}">
        <p14:creationId xmlns:p14="http://schemas.microsoft.com/office/powerpoint/2010/main" val="11978870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C4501-0A7D-1177-5055-24762B828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4150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0261BF-346B-CC27-9351-529DD8A8B8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06632"/>
            <a:ext cx="10515600" cy="497033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</a:rPr>
              <a:t>1.2 Inferential Statistics</a:t>
            </a:r>
          </a:p>
          <a:p>
            <a:pPr marL="0" indent="0">
              <a:buNone/>
            </a:pPr>
            <a:r>
              <a:rPr lang="en-US" b="1" dirty="0"/>
              <a:t>Central Limit Theorem</a:t>
            </a:r>
          </a:p>
          <a:p>
            <a:pPr algn="just"/>
            <a:r>
              <a:rPr lang="en-US" dirty="0"/>
              <a:t>The sampling distribution of the sample mean approaches a normal distribution as the sample size increases, regardless of the population’s distribution.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Standard Error</a:t>
            </a:r>
          </a:p>
          <a:p>
            <a:r>
              <a:rPr lang="en-US" dirty="0"/>
              <a:t>Standard error measures the variability of the sample mean and is calculated as: Where:</a:t>
            </a:r>
          </a:p>
          <a:p>
            <a:pPr marL="0" indent="0">
              <a:buNone/>
            </a:pPr>
            <a:r>
              <a:rPr lang="en-US" dirty="0"/>
              <a:t>s: Sample standard deviation</a:t>
            </a:r>
          </a:p>
          <a:p>
            <a:pPr marL="0" indent="0">
              <a:buNone/>
            </a:pPr>
            <a:r>
              <a:rPr lang="en-US" dirty="0"/>
              <a:t>n: Sample size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96747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E748D-FC0C-8B59-2863-9BAEC5EEB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Sample Standard deviation (s)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28D7DFA-82FC-2A23-A570-656E743C24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8051276" cy="4499097"/>
          </a:xfrm>
        </p:spPr>
      </p:pic>
    </p:spTree>
    <p:extLst>
      <p:ext uri="{BB962C8B-B14F-4D97-AF65-F5344CB8AC3E}">
        <p14:creationId xmlns:p14="http://schemas.microsoft.com/office/powerpoint/2010/main" val="20153438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338CF-5941-F6C4-0659-0714923EE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86982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F2D5EA-A690-84EB-65AB-E26A0FCDAE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4338"/>
            <a:ext cx="10515600" cy="4932625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</a:rPr>
              <a:t>Confidence Intervals</a:t>
            </a:r>
          </a:p>
          <a:p>
            <a:r>
              <a:rPr lang="en-US" sz="2200" dirty="0"/>
              <a:t>A range of values likely to contain the population mean.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/>
              <a:t>Formula for 95% CI: 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CDE637-6E07-191A-8AE4-DD1A959971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422" y="2743200"/>
            <a:ext cx="9347417" cy="3749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6437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CAF9C-770B-7E95-57B5-97EF26F36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6978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6BA8C2-D3B5-E98A-5683-60525D2AF2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6888"/>
            <a:ext cx="10515600" cy="4810076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</a:rPr>
              <a:t>Normal Distribution</a:t>
            </a:r>
          </a:p>
          <a:p>
            <a:r>
              <a:rPr lang="en-US" dirty="0"/>
              <a:t>The bell-shaped curve often used to model random variables in statistics.</a:t>
            </a:r>
          </a:p>
          <a:p>
            <a:r>
              <a:rPr lang="en-US" dirty="0"/>
              <a:t>Many machine learning algorithms assume that the data is normally distributed.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69482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D65C1-3C4F-4CB7-43BA-0FCA14DC1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50933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EE2279C-E368-780A-5D83-A2014AB452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9262" y="1366887"/>
            <a:ext cx="10084746" cy="4788816"/>
          </a:xfrm>
        </p:spPr>
      </p:pic>
    </p:spTree>
    <p:extLst>
      <p:ext uri="{BB962C8B-B14F-4D97-AF65-F5344CB8AC3E}">
        <p14:creationId xmlns:p14="http://schemas.microsoft.com/office/powerpoint/2010/main" val="10689934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8E89F-D36C-8FD5-C7FB-A3A45ED47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2970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2F3A73-DE5A-1A27-F08D-50BA7C115D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8924"/>
            <a:ext cx="10515600" cy="5008039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Student’s t-Distribution:</a:t>
            </a:r>
          </a:p>
          <a:p>
            <a:r>
              <a:rPr lang="en-US" dirty="0"/>
              <a:t>Used for small sample sizes or when population variance is unknown. Similar to the normal distribution but with heavier tails. Used for small sample size.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Bernoulli Distribution:</a:t>
            </a:r>
          </a:p>
          <a:p>
            <a:r>
              <a:rPr lang="en-US" dirty="0"/>
              <a:t>Model's binary outcomes (e.g. Success or failure)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Poisson Distribution:</a:t>
            </a:r>
          </a:p>
          <a:p>
            <a:r>
              <a:rPr lang="en-US" dirty="0"/>
              <a:t>Models the number of events occurring within a fixed interval of time or space.</a:t>
            </a:r>
          </a:p>
          <a:p>
            <a:pPr marL="0" indent="0">
              <a:buNone/>
            </a:pPr>
            <a:endParaRPr lang="en-US" b="1" dirty="0"/>
          </a:p>
          <a:p>
            <a:endParaRPr lang="en-US" b="1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97729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7EC24-0D0C-2D06-993E-610FDD809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D6DCE9-976B-5801-EF7B-6C7E5ADC91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1216"/>
            <a:ext cx="10515600" cy="5045747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Binomial Distribution:</a:t>
            </a:r>
          </a:p>
          <a:p>
            <a:r>
              <a:rPr lang="en-US" dirty="0"/>
              <a:t>Models the number of successes in a fixed number of trials with two possible outcomes.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7730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198F1-7ED2-7AA9-FEC9-D2B6615A1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45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A1EC7-46FB-1466-8F52-54D4755BFC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84082"/>
            <a:ext cx="10515600" cy="5316718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b="0" dirty="0">
                <a:solidFill>
                  <a:srgbClr val="002060"/>
                </a:solidFill>
                <a:effectLst/>
                <a:cs typeface="Times New Roman" panose="02020603050405020304" pitchFamily="18" charset="0"/>
              </a:rPr>
              <a:t>Generate binomial distribution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b="0" dirty="0">
                <a:solidFill>
                  <a:srgbClr val="002060"/>
                </a:solidFill>
                <a:effectLst/>
                <a:cs typeface="Times New Roman" panose="02020603050405020304" pitchFamily="18" charset="0"/>
              </a:rPr>
              <a:t>x = </a:t>
            </a:r>
            <a:r>
              <a:rPr lang="en-US" b="0" dirty="0" err="1">
                <a:solidFill>
                  <a:srgbClr val="002060"/>
                </a:solidFill>
                <a:effectLst/>
                <a:cs typeface="Times New Roman" panose="02020603050405020304" pitchFamily="18" charset="0"/>
              </a:rPr>
              <a:t>np.arange</a:t>
            </a:r>
            <a:r>
              <a:rPr lang="en-US" b="0" dirty="0">
                <a:solidFill>
                  <a:srgbClr val="002060"/>
                </a:solidFill>
                <a:effectLst/>
                <a:cs typeface="Times New Roman" panose="02020603050405020304" pitchFamily="18" charset="0"/>
              </a:rPr>
              <a:t>(0, n+1)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b="0" dirty="0">
                <a:solidFill>
                  <a:srgbClr val="002060"/>
                </a:solidFill>
                <a:effectLst/>
                <a:cs typeface="Times New Roman" panose="02020603050405020304" pitchFamily="18" charset="0"/>
              </a:rPr>
              <a:t>y = </a:t>
            </a:r>
            <a:r>
              <a:rPr lang="en-US" b="0" dirty="0" err="1">
                <a:solidFill>
                  <a:srgbClr val="002060"/>
                </a:solidFill>
                <a:effectLst/>
                <a:cs typeface="Times New Roman" panose="02020603050405020304" pitchFamily="18" charset="0"/>
              </a:rPr>
              <a:t>binom.pmf</a:t>
            </a:r>
            <a:r>
              <a:rPr lang="en-US" b="0" dirty="0">
                <a:solidFill>
                  <a:srgbClr val="002060"/>
                </a:solidFill>
                <a:effectLst/>
                <a:cs typeface="Times New Roman" panose="02020603050405020304" pitchFamily="18" charset="0"/>
              </a:rPr>
              <a:t>(x, n, p)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b="0" dirty="0">
                <a:solidFill>
                  <a:srgbClr val="002060"/>
                </a:solidFill>
                <a:effectLst/>
                <a:cs typeface="Times New Roman" panose="02020603050405020304" pitchFamily="18" charset="0"/>
              </a:rPr>
              <a:t># Plot the distribution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b="0" dirty="0" err="1">
                <a:solidFill>
                  <a:srgbClr val="002060"/>
                </a:solidFill>
                <a:effectLst/>
                <a:cs typeface="Times New Roman" panose="02020603050405020304" pitchFamily="18" charset="0"/>
              </a:rPr>
              <a:t>plt.bar</a:t>
            </a:r>
            <a:r>
              <a:rPr lang="en-US" b="0" dirty="0">
                <a:solidFill>
                  <a:srgbClr val="002060"/>
                </a:solidFill>
                <a:effectLst/>
                <a:cs typeface="Times New Roman" panose="02020603050405020304" pitchFamily="18" charset="0"/>
              </a:rPr>
              <a:t>(x, y, alpha=0.75, color='b', </a:t>
            </a:r>
            <a:r>
              <a:rPr lang="en-US" b="0" dirty="0" err="1">
                <a:solidFill>
                  <a:srgbClr val="002060"/>
                </a:solidFill>
                <a:effectLst/>
                <a:cs typeface="Times New Roman" panose="02020603050405020304" pitchFamily="18" charset="0"/>
              </a:rPr>
              <a:t>edgecolor</a:t>
            </a:r>
            <a:r>
              <a:rPr lang="en-US" b="0" dirty="0">
                <a:solidFill>
                  <a:srgbClr val="002060"/>
                </a:solidFill>
                <a:effectLst/>
                <a:cs typeface="Times New Roman" panose="02020603050405020304" pitchFamily="18" charset="0"/>
              </a:rPr>
              <a:t>='k')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b="0" dirty="0" err="1">
                <a:solidFill>
                  <a:srgbClr val="002060"/>
                </a:solidFill>
                <a:effectLst/>
                <a:cs typeface="Times New Roman" panose="02020603050405020304" pitchFamily="18" charset="0"/>
              </a:rPr>
              <a:t>plt.xlabel</a:t>
            </a:r>
            <a:r>
              <a:rPr lang="en-US" b="0" dirty="0">
                <a:solidFill>
                  <a:srgbClr val="002060"/>
                </a:solidFill>
                <a:effectLst/>
                <a:cs typeface="Times New Roman" panose="02020603050405020304" pitchFamily="18" charset="0"/>
              </a:rPr>
              <a:t>('Number of Successes')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b="0" dirty="0" err="1">
                <a:solidFill>
                  <a:srgbClr val="002060"/>
                </a:solidFill>
                <a:effectLst/>
                <a:cs typeface="Times New Roman" panose="02020603050405020304" pitchFamily="18" charset="0"/>
              </a:rPr>
              <a:t>plt.ylabel</a:t>
            </a:r>
            <a:r>
              <a:rPr lang="en-US" b="0" dirty="0">
                <a:solidFill>
                  <a:srgbClr val="002060"/>
                </a:solidFill>
                <a:effectLst/>
                <a:cs typeface="Times New Roman" panose="02020603050405020304" pitchFamily="18" charset="0"/>
              </a:rPr>
              <a:t>('Probability Mass Function')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b="0" dirty="0" err="1">
                <a:solidFill>
                  <a:srgbClr val="002060"/>
                </a:solidFill>
                <a:effectLst/>
                <a:cs typeface="Times New Roman" panose="02020603050405020304" pitchFamily="18" charset="0"/>
              </a:rPr>
              <a:t>plt.title</a:t>
            </a:r>
            <a:r>
              <a:rPr lang="en-US" b="0" dirty="0">
                <a:solidFill>
                  <a:srgbClr val="002060"/>
                </a:solidFill>
                <a:effectLst/>
                <a:cs typeface="Times New Roman" panose="02020603050405020304" pitchFamily="18" charset="0"/>
              </a:rPr>
              <a:t>(</a:t>
            </a:r>
            <a:r>
              <a:rPr lang="en-US" b="0" dirty="0" err="1">
                <a:solidFill>
                  <a:srgbClr val="002060"/>
                </a:solidFill>
                <a:effectLst/>
                <a:cs typeface="Times New Roman" panose="02020603050405020304" pitchFamily="18" charset="0"/>
              </a:rPr>
              <a:t>f'Binomial</a:t>
            </a:r>
            <a:r>
              <a:rPr lang="en-US" b="0" dirty="0">
                <a:solidFill>
                  <a:srgbClr val="002060"/>
                </a:solidFill>
                <a:effectLst/>
                <a:cs typeface="Times New Roman" panose="02020603050405020304" pitchFamily="18" charset="0"/>
              </a:rPr>
              <a:t> Distribution (n={n}, p={p})')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b="0" dirty="0" err="1">
                <a:solidFill>
                  <a:srgbClr val="002060"/>
                </a:solidFill>
                <a:effectLst/>
                <a:cs typeface="Times New Roman" panose="02020603050405020304" pitchFamily="18" charset="0"/>
              </a:rPr>
              <a:t>plt.grid</a:t>
            </a:r>
            <a:r>
              <a:rPr lang="en-US" b="0" dirty="0">
                <a:solidFill>
                  <a:srgbClr val="002060"/>
                </a:solidFill>
                <a:effectLst/>
                <a:cs typeface="Times New Roman" panose="02020603050405020304" pitchFamily="18" charset="0"/>
              </a:rPr>
              <a:t>(axis='y', </a:t>
            </a:r>
            <a:r>
              <a:rPr lang="en-US" b="0" dirty="0" err="1">
                <a:solidFill>
                  <a:srgbClr val="002060"/>
                </a:solidFill>
                <a:effectLst/>
                <a:cs typeface="Times New Roman" panose="02020603050405020304" pitchFamily="18" charset="0"/>
              </a:rPr>
              <a:t>linestyle</a:t>
            </a:r>
            <a:r>
              <a:rPr lang="en-US" b="0" dirty="0">
                <a:solidFill>
                  <a:srgbClr val="002060"/>
                </a:solidFill>
                <a:effectLst/>
                <a:cs typeface="Times New Roman" panose="02020603050405020304" pitchFamily="18" charset="0"/>
              </a:rPr>
              <a:t>='--', alpha=0.7)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b="0" dirty="0" err="1">
                <a:solidFill>
                  <a:srgbClr val="002060"/>
                </a:solidFill>
                <a:effectLst/>
                <a:cs typeface="Times New Roman" panose="02020603050405020304" pitchFamily="18" charset="0"/>
              </a:rPr>
              <a:t>plt.show</a:t>
            </a:r>
            <a:r>
              <a:rPr lang="en-US" b="0" dirty="0">
                <a:solidFill>
                  <a:srgbClr val="002060"/>
                </a:solidFill>
                <a:effectLst/>
                <a:cs typeface="Times New Roman" panose="02020603050405020304" pitchFamily="18" charset="0"/>
              </a:rPr>
              <a:t>()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74118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10F41-F9F9-C9FA-3BCB-039D3A780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74213"/>
          </a:xfrm>
        </p:spPr>
        <p:txBody>
          <a:bodyPr/>
          <a:lstStyle/>
          <a:p>
            <a:r>
              <a:rPr lang="en-US" dirty="0"/>
              <a:t>Hypothesis Test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7F7745-9867-E43D-1E5E-D38C2FDD0F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9338"/>
            <a:ext cx="10515600" cy="4737625"/>
          </a:xfrm>
        </p:spPr>
        <p:txBody>
          <a:bodyPr/>
          <a:lstStyle/>
          <a:p>
            <a:r>
              <a:rPr lang="en-US" sz="2200" dirty="0"/>
              <a:t>Hypothesis testing is a statistical method used to decide whether there is enough evidence in a data sample to infer that a certain condition is true for the entire population.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BE9D4F-093C-A4E2-F695-14D71BAC7C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125" y="2513551"/>
            <a:ext cx="9624298" cy="3798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47633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2378F-A6D4-CE0A-EDD0-53059D488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009651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solidFill>
                  <a:schemeClr val="accent1"/>
                </a:solidFill>
              </a:rPr>
              <a:t>Steps in Hypothesis Testing</a:t>
            </a:r>
            <a:br>
              <a:rPr lang="en-US" b="1" dirty="0">
                <a:solidFill>
                  <a:schemeClr val="accent1"/>
                </a:solidFill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D3DF9-5E4A-4272-6CB5-3F32E4A4B8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1154"/>
            <a:ext cx="10515600" cy="4715809"/>
          </a:xfrm>
        </p:spPr>
        <p:txBody>
          <a:bodyPr/>
          <a:lstStyle/>
          <a:p>
            <a:pPr>
              <a:buFont typeface="+mj-lt"/>
              <a:buAutoNum type="arabicPeriod"/>
            </a:pPr>
            <a:r>
              <a:rPr lang="en-US" dirty="0"/>
              <a:t>State the null and alternative hypotheses.</a:t>
            </a:r>
          </a:p>
          <a:p>
            <a:pPr>
              <a:buFont typeface="+mj-lt"/>
              <a:buAutoNum type="arabicPeriod"/>
            </a:pPr>
            <a:r>
              <a:rPr lang="en-US" dirty="0"/>
              <a:t>Choose the significance level (α).</a:t>
            </a:r>
          </a:p>
          <a:p>
            <a:pPr>
              <a:buFont typeface="+mj-lt"/>
              <a:buAutoNum type="arabicPeriod"/>
            </a:pPr>
            <a:r>
              <a:rPr lang="en-US" dirty="0"/>
              <a:t>Compute the test statistic.</a:t>
            </a:r>
          </a:p>
          <a:p>
            <a:pPr>
              <a:buFont typeface="+mj-lt"/>
              <a:buAutoNum type="arabicPeriod"/>
            </a:pPr>
            <a:r>
              <a:rPr lang="en-US" dirty="0"/>
              <a:t>Calculate the p-value or compare the test statistic to critical values.</a:t>
            </a:r>
          </a:p>
          <a:p>
            <a:pPr>
              <a:buFont typeface="+mj-lt"/>
              <a:buAutoNum type="arabicPeriod"/>
            </a:pPr>
            <a:r>
              <a:rPr lang="en-US" dirty="0"/>
              <a:t>Make a decision: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If p-value ≤α: Reject H0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If p-value &gt; α: Fail to reject H0.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29982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FF3E0-43E1-DF93-E7FB-35810A693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Hypothesis Testing: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6527D8-7E42-62E1-F46C-72D604F458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5424"/>
            <a:ext cx="10515600" cy="4621540"/>
          </a:xfrm>
        </p:spPr>
        <p:txBody>
          <a:bodyPr>
            <a:normAutofit/>
          </a:bodyPr>
          <a:lstStyle/>
          <a:p>
            <a:r>
              <a:rPr lang="en-US" sz="2400" dirty="0"/>
              <a:t>Null Hypothesis (H0):</a:t>
            </a:r>
          </a:p>
          <a:p>
            <a:pPr marL="0" indent="0">
              <a:buNone/>
            </a:pPr>
            <a:r>
              <a:rPr lang="en-US" sz="2400" dirty="0"/>
              <a:t>A statement that there is no effect or no difference.</a:t>
            </a:r>
          </a:p>
          <a:p>
            <a:r>
              <a:rPr lang="en-US" sz="2400" dirty="0"/>
              <a:t>Alternative Hypothesis (H1):</a:t>
            </a:r>
          </a:p>
          <a:p>
            <a:pPr marL="0" indent="0">
              <a:buNone/>
            </a:pPr>
            <a:r>
              <a:rPr lang="en-US" sz="2400" dirty="0"/>
              <a:t>A statement that there is an effect or difference.</a:t>
            </a:r>
          </a:p>
          <a:p>
            <a:r>
              <a:rPr lang="en-US" sz="2400" dirty="0"/>
              <a:t>p-Value: The probability of observing results as extreme as the ones obtained if the null hypothesis is true. It is used to determine statistical significance, where type I is a false positive and Type II is a false negative.</a:t>
            </a:r>
          </a:p>
        </p:txBody>
      </p:sp>
    </p:spTree>
    <p:extLst>
      <p:ext uri="{BB962C8B-B14F-4D97-AF65-F5344CB8AC3E}">
        <p14:creationId xmlns:p14="http://schemas.microsoft.com/office/powerpoint/2010/main" val="4898186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71152-C870-9472-8E2A-5F50F6797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8494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2F4484-83F1-7E28-38BC-5A4D432AE7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9179"/>
            <a:ext cx="10515600" cy="4847784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>
                <a:solidFill>
                  <a:schemeClr val="accent1"/>
                </a:solidFill>
              </a:rPr>
              <a:t>Type – I and Type-II Errors:</a:t>
            </a:r>
          </a:p>
          <a:p>
            <a:pPr marL="0" indent="0">
              <a:buNone/>
            </a:pPr>
            <a:r>
              <a:rPr lang="en-US" sz="2800" dirty="0"/>
              <a:t>Errors made in hypothesis testing, </a:t>
            </a:r>
          </a:p>
          <a:p>
            <a:r>
              <a:rPr lang="en-US" b="0" i="0" dirty="0">
                <a:solidFill>
                  <a:srgbClr val="FF0000"/>
                </a:solidFill>
                <a:effectLst/>
                <a:latin typeface="Google Sans"/>
              </a:rPr>
              <a:t>"Type I error" </a:t>
            </a:r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occurs when you reject a null hypothesis that is actually true (a false positive), while</a:t>
            </a:r>
          </a:p>
          <a:p>
            <a:r>
              <a:rPr lang="en-US" b="0" i="0" dirty="0">
                <a:solidFill>
                  <a:srgbClr val="FF0000"/>
                </a:solidFill>
                <a:effectLst/>
                <a:latin typeface="Google Sans"/>
              </a:rPr>
              <a:t> "Type II error" </a:t>
            </a:r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happens when you fail to reject a null hypothesis that is actually false (a false negative).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37139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0F857-4320-E047-6154-F605CA77C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Statistical Significance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D74B9F-9CA3-E8B7-CCBB-27482700C0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/>
          <a:lstStyle/>
          <a:p>
            <a:r>
              <a:rPr lang="en-US" dirty="0"/>
              <a:t>Statistical significance measures whether the observed results of a study are likely to have occurred by chance or reflect a true effect.</a:t>
            </a:r>
          </a:p>
          <a:p>
            <a:r>
              <a:rPr lang="en-US" dirty="0"/>
              <a:t> It helps researchers determine the reliability of their findings.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Significance Level (α)</a:t>
            </a:r>
            <a:r>
              <a:rPr lang="en-US" dirty="0">
                <a:solidFill>
                  <a:srgbClr val="FF0000"/>
                </a:solidFill>
              </a:rPr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Commonly used values are 0.05 (5%) or 0.01 (1%).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represents the threshold for rejecting the null hypothesis.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20074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89C08-CF21-1D9A-146E-8B0623E90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6405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139CA-4455-A2AD-20E5-D37A9B0E82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9180"/>
            <a:ext cx="10515600" cy="4847783"/>
          </a:xfr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2. P-value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 p-value ≤α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result is statistically significant.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 p-value &gt; α: The result is not statistically significant.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3.Confidence Interval (CI)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range of values within which the true population parameter is likely to lie.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 the CI does not include the null hypothesis value, the result is statistically significant.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6609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A57C8-D3DD-807F-032E-01DA42A70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4115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FF6A3-A97A-9AA3-73F0-F27C47DD93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1216"/>
            <a:ext cx="10515600" cy="5045747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</a:rPr>
              <a:t>Example: One-Sample t-Test</a:t>
            </a:r>
          </a:p>
          <a:p>
            <a:pPr marL="0" indent="0">
              <a:buNone/>
            </a:pPr>
            <a:r>
              <a:rPr lang="en-US" dirty="0"/>
              <a:t>Suppose a factory claims that the average weight of its products is 50g. A random sample of 10 products has the weights:</a:t>
            </a:r>
            <a:br>
              <a:rPr lang="en-US" dirty="0"/>
            </a:br>
            <a:r>
              <a:rPr lang="en-US" dirty="0"/>
              <a:t>[49.5, 50.1, 50.3, 49.9, 50.0, 49.7, 50.2, 49.8, 50.4, 49.6].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H0:μ=50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H1:μ≠50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8179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B4037-9C54-D135-632A-4755743D0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0070C0"/>
                </a:solidFill>
              </a:rPr>
              <a:t>One Sample and two sample t-test: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2445DE-EB73-9E5C-C74F-F6645F6F33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21410"/>
            <a:ext cx="10515600" cy="4555553"/>
          </a:xfrm>
        </p:spPr>
        <p:txBody>
          <a:bodyPr>
            <a:normAutofit/>
          </a:bodyPr>
          <a:lstStyle/>
          <a:p>
            <a:r>
              <a:rPr lang="en-US" dirty="0"/>
              <a:t>When we want to check if a sample mean is significantly different from a known or hypothesized population mean then we use one sample t-test.</a:t>
            </a:r>
          </a:p>
          <a:p>
            <a:pPr marL="0" indent="0">
              <a:buNone/>
            </a:pPr>
            <a:r>
              <a:rPr lang="en-US" b="1" dirty="0"/>
              <a:t> </a:t>
            </a:r>
          </a:p>
          <a:p>
            <a:r>
              <a:rPr lang="en-US" dirty="0"/>
              <a:t>A </a:t>
            </a:r>
            <a:r>
              <a:rPr lang="en-US" b="1" dirty="0"/>
              <a:t>two-sample t-test</a:t>
            </a:r>
            <a:r>
              <a:rPr lang="en-US" dirty="0"/>
              <a:t> is used to compare the means of two independent groups to determine if they are significantly different.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4543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DE1CD-0D9E-0516-F88F-90251BBC3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Example: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07D5B5-90ED-D209-3CF5-F0867F103D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6313"/>
            <a:ext cx="10515600" cy="4800649"/>
          </a:xfrm>
        </p:spPr>
        <p:txBody>
          <a:bodyPr>
            <a:normAutofit fontScale="32500" lnSpcReduction="2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4900" b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import </a:t>
            </a:r>
            <a:r>
              <a:rPr lang="en-US" sz="4900" b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numpy</a:t>
            </a:r>
            <a:r>
              <a:rPr lang="en-US" sz="4900" b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as np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4900" b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from </a:t>
            </a:r>
            <a:r>
              <a:rPr lang="en-US" sz="4900" b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scipy.stats</a:t>
            </a:r>
            <a:r>
              <a:rPr lang="en-US" sz="4900" b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import ttest_1samp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4900" b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# Sample data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4900" b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data = [49.5, 50.3, 50.3, 50.9, 50.0, 49.4, 49.2, 49.8, 50.6, 49.8]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4900" b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# Perform one-sample t-test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4900" b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t_stat</a:t>
            </a:r>
            <a:r>
              <a:rPr lang="en-US" sz="4900" b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4900" b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p_value</a:t>
            </a:r>
            <a:r>
              <a:rPr lang="en-US" sz="4900" b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= ttest_1samp(data, 50)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4900" b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# Significance level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4900" b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alpha = 0.05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4900" b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# Results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4900" b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print("t-statistic:", </a:t>
            </a:r>
            <a:r>
              <a:rPr lang="en-US" sz="4900" b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t_stat</a:t>
            </a:r>
            <a:r>
              <a:rPr lang="en-US" sz="4900" b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4900" b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print("p-value:", </a:t>
            </a:r>
            <a:r>
              <a:rPr lang="en-US" sz="4900" b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p_value</a:t>
            </a:r>
            <a:r>
              <a:rPr lang="en-US" sz="4900" b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4900" b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if </a:t>
            </a:r>
            <a:r>
              <a:rPr lang="en-US" sz="4900" b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p_value</a:t>
            </a:r>
            <a:r>
              <a:rPr lang="en-US" sz="4900" b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&lt; alpha: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4900" b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 print("Reject the null hypothesis. The mean is significantly different  from 50.")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4900" b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else: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4900" b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 print("Fail to reject the null hypothesis. No significant difference from 50.")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25595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47011-CA78-A6F2-8A26-0025BC08F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t-test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C97EBA-C7B1-CE75-C06E-DAC7FC9801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7142"/>
            <a:ext cx="10515600" cy="464982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 common type of inferential standard test used to determine if there is a significant difference between the means of two groups.</a:t>
            </a:r>
          </a:p>
          <a:p>
            <a:r>
              <a:rPr lang="en-US" dirty="0"/>
              <a:t>It is particularly useful when dealing with small size (typically less than 30)or when the population standard deviation is unknown.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Types :</a:t>
            </a:r>
          </a:p>
          <a:p>
            <a:pPr marL="514350" indent="-514350">
              <a:buAutoNum type="arabicPeriod"/>
            </a:pPr>
            <a:r>
              <a:rPr lang="en-US" dirty="0"/>
              <a:t>One sample t-test:</a:t>
            </a:r>
          </a:p>
          <a:p>
            <a:r>
              <a:rPr lang="en-US" dirty="0"/>
              <a:t>Used to compare the mean of a single sample to a known population mean or a hypothesized value.</a:t>
            </a:r>
          </a:p>
          <a:p>
            <a:pPr marL="0" indent="0">
              <a:buNone/>
            </a:pPr>
            <a:r>
              <a:rPr lang="en-US" dirty="0"/>
              <a:t>2. Two sample t-test</a:t>
            </a:r>
          </a:p>
        </p:txBody>
      </p:sp>
    </p:spTree>
    <p:extLst>
      <p:ext uri="{BB962C8B-B14F-4D97-AF65-F5344CB8AC3E}">
        <p14:creationId xmlns:p14="http://schemas.microsoft.com/office/powerpoint/2010/main" val="12574330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9326D-525F-A9BE-8518-9463108B2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Two Sample t-test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51F69F-DED1-D666-284F-472C469A48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2557"/>
            <a:ext cx="10515600" cy="4574406"/>
          </a:xfrm>
        </p:spPr>
        <p:txBody>
          <a:bodyPr>
            <a:norm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two-sample t-test (also called independent samples t-test) is a parametric hypothesis test used to determine whether the means of two independent populations are statistically significantly different.</a:t>
            </a:r>
          </a:p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Data Science, it is used to: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model performance 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testing results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before–after effects across different groups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medical treatments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45970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80B14-8113-66F4-D829-69CCB0759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0388"/>
            <a:ext cx="10515600" cy="7103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Types of Two-Sample t-Tests</a:t>
            </a:r>
            <a:br>
              <a:rPr lang="en-US" b="1" dirty="0">
                <a:solidFill>
                  <a:srgbClr val="FF0000"/>
                </a:solidFill>
              </a:rPr>
            </a:b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A6E949-253D-D6EB-C7D6-011556889D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Pooled (Equal Variance) t-Test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when: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Variances of both groups are equal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Welch’s t-Test (Unequal Variance)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when: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Variances are not equal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common in real-world data science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82475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2A4CA-566E-9931-2830-A48BDFB72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009651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Example: Two-Sample t-Test</a:t>
            </a:r>
            <a:br>
              <a:rPr lang="en-US" b="1" dirty="0">
                <a:solidFill>
                  <a:schemeClr val="accent1"/>
                </a:solidFill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BC3245-ABB1-8959-E509-699842670B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7142"/>
            <a:ext cx="10515600" cy="4649821"/>
          </a:xfrm>
        </p:spPr>
        <p:txBody>
          <a:bodyPr/>
          <a:lstStyle/>
          <a:p>
            <a:r>
              <a:rPr lang="en-US" dirty="0"/>
              <a:t>Suppose we want to test if two groups of students have significantly different average scores: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Group A: [78, 85, 88, 92, 75, 80, 89]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Group B: [72, 70, 78, 74, 68, 77, 73]</a:t>
            </a:r>
          </a:p>
          <a:p>
            <a:pPr marL="0" indent="0">
              <a:buNone/>
            </a:pPr>
            <a:r>
              <a:rPr lang="en-US" dirty="0"/>
              <a:t>Hypotheses: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H0:</a:t>
            </a:r>
            <a:r>
              <a:rPr lang="el-GR" dirty="0"/>
              <a:t>μ</a:t>
            </a:r>
            <a:r>
              <a:rPr lang="en-US" dirty="0"/>
              <a:t>A=</a:t>
            </a:r>
            <a:r>
              <a:rPr lang="el-GR" dirty="0"/>
              <a:t>μ</a:t>
            </a:r>
            <a:r>
              <a:rPr lang="en-US" dirty="0"/>
              <a:t>B (No difference in means)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H1:</a:t>
            </a:r>
            <a:r>
              <a:rPr lang="el-GR" dirty="0"/>
              <a:t>μ</a:t>
            </a:r>
            <a:r>
              <a:rPr lang="en-US" dirty="0"/>
              <a:t>A≠</a:t>
            </a:r>
            <a:r>
              <a:rPr lang="el-GR" dirty="0"/>
              <a:t>μ</a:t>
            </a:r>
            <a:r>
              <a:rPr lang="en-US" dirty="0"/>
              <a:t>B (Means are different)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67948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B3FE3-5E60-75E6-882F-88D29E4DC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E53130-B423-CC2B-33AE-D737A7ACDE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5424"/>
            <a:ext cx="10515600" cy="4621540"/>
          </a:xfrm>
        </p:spPr>
        <p:txBody>
          <a:bodyPr>
            <a:normAutofit fontScale="47500" lnSpcReduction="2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3300" b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from </a:t>
            </a:r>
            <a:r>
              <a:rPr lang="en-US" sz="3300" b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scipy.stats</a:t>
            </a:r>
            <a:r>
              <a:rPr lang="en-US" sz="3300" b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import </a:t>
            </a:r>
            <a:r>
              <a:rPr lang="en-US" sz="3300" b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ttest_ind</a:t>
            </a:r>
            <a:endParaRPr lang="en-US" sz="3300" b="0" dirty="0">
              <a:solidFill>
                <a:srgbClr val="0070C0"/>
              </a:solidFill>
              <a:effectLst/>
              <a:latin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3300" b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# Sample data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3300" b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group_a</a:t>
            </a:r>
            <a:r>
              <a:rPr lang="en-US" sz="3300" b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= [80, 85, 87, 90, 75, 79, 79]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3300" b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group_b</a:t>
            </a:r>
            <a:r>
              <a:rPr lang="en-US" sz="3300" b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= [74, 75, 78, 74, 68, 78, 73]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3300" b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# Perform two-sample t-test with Welch's correction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3300" b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t_stat</a:t>
            </a:r>
            <a:r>
              <a:rPr lang="en-US" sz="3300" b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3300" b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p_value</a:t>
            </a:r>
            <a:r>
              <a:rPr lang="en-US" sz="3300" b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sz="3300" b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ttest_ind</a:t>
            </a:r>
            <a:r>
              <a:rPr lang="en-US" sz="3300" b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3300" b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group_a</a:t>
            </a:r>
            <a:r>
              <a:rPr lang="en-US" sz="3300" b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3300" b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group_b</a:t>
            </a:r>
            <a:r>
              <a:rPr lang="en-US" sz="3300" b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3300" b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equal_var</a:t>
            </a:r>
            <a:r>
              <a:rPr lang="en-US" sz="3300" b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=False)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3300" b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# Significance level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3300" b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alpha = 0.05</a:t>
            </a:r>
            <a:endParaRPr lang="en-US" sz="3300" dirty="0">
              <a:solidFill>
                <a:srgbClr val="0070C0"/>
              </a:solidFill>
              <a:latin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3300" b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# Results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3300" b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print("t-statistic:", </a:t>
            </a:r>
            <a:r>
              <a:rPr lang="en-US" sz="3300" b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t_stat</a:t>
            </a:r>
            <a:r>
              <a:rPr lang="en-US" sz="3300" b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3300" b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print("p-value:", </a:t>
            </a:r>
            <a:r>
              <a:rPr lang="en-US" sz="3300" b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p_value</a:t>
            </a:r>
            <a:r>
              <a:rPr lang="en-US" sz="3300" b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3300" b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if </a:t>
            </a:r>
            <a:r>
              <a:rPr lang="en-US" sz="3300" b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p_value</a:t>
            </a:r>
            <a:r>
              <a:rPr lang="en-US" sz="3300" b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&lt; alpha: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3300" dirty="0">
                <a:solidFill>
                  <a:srgbClr val="0070C0"/>
                </a:solidFill>
                <a:latin typeface="Courier New" panose="02070309020205020404" pitchFamily="49" charset="0"/>
              </a:rPr>
              <a:t> </a:t>
            </a:r>
            <a:r>
              <a:rPr lang="en-US" sz="3300" b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print("Reject the null hypothesis. The means are significantly different.")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3300" b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else: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3300" dirty="0">
                <a:solidFill>
                  <a:srgbClr val="0070C0"/>
                </a:solidFill>
                <a:latin typeface="Courier New" panose="02070309020205020404" pitchFamily="49" charset="0"/>
              </a:rPr>
              <a:t> </a:t>
            </a:r>
            <a:r>
              <a:rPr lang="en-US" sz="3300" b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print("Fail to reject the null hypothesis. No significant difference between means.")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827474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612EA-9891-B99D-BBB1-397F02F8E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chemeClr val="accent1"/>
                </a:solidFill>
              </a:rPr>
              <a:t>Regression and Multivariate Analysis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369611-F2ED-0373-20DA-0DE33FD649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5167"/>
            <a:ext cx="10515600" cy="47817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 Regression Analysis</a:t>
            </a:r>
          </a:p>
          <a:p>
            <a:pPr algn="just"/>
            <a:r>
              <a:rPr lang="en-US" dirty="0"/>
              <a:t>Regression analysis is a statistical method used to model the relationship between a dependent variable and one or more independent variables. It helps in predicting values, understanding relationships, and making inferences.</a:t>
            </a:r>
          </a:p>
          <a:p>
            <a:r>
              <a:rPr lang="en-US" dirty="0"/>
              <a:t>Types of Regression</a:t>
            </a:r>
          </a:p>
          <a:p>
            <a:pPr>
              <a:buFont typeface="+mj-lt"/>
              <a:buAutoNum type="arabicPeriod"/>
            </a:pPr>
            <a:r>
              <a:rPr lang="en-US" dirty="0"/>
              <a:t>Simple Linear Regression (One independent variable)</a:t>
            </a:r>
          </a:p>
          <a:p>
            <a:pPr>
              <a:buFont typeface="+mj-lt"/>
              <a:buAutoNum type="arabicPeriod"/>
            </a:pPr>
            <a:r>
              <a:rPr lang="en-US" dirty="0"/>
              <a:t>Multiple Linear Regression (More than one independent variable)</a:t>
            </a:r>
          </a:p>
          <a:p>
            <a:pPr>
              <a:buFont typeface="+mj-lt"/>
              <a:buAutoNum type="arabicPeriod"/>
            </a:pPr>
            <a:r>
              <a:rPr lang="en-US" dirty="0"/>
              <a:t>Polynomial Regression (Non-linear relationship)</a:t>
            </a:r>
          </a:p>
          <a:p>
            <a:pPr>
              <a:buFont typeface="+mj-lt"/>
              <a:buAutoNum type="arabicPeriod"/>
            </a:pPr>
            <a:r>
              <a:rPr lang="en-US" dirty="0"/>
              <a:t>Logistic Regression (For classification problems)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80548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F3625-E50A-CD99-5909-332696708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CD9962-316E-8467-6FF8-A17477C0F8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8289"/>
            <a:ext cx="10515600" cy="4668674"/>
          </a:xfrm>
        </p:spPr>
        <p:txBody>
          <a:bodyPr/>
          <a:lstStyle/>
          <a:p>
            <a:pPr algn="just"/>
            <a:r>
              <a:rPr lang="en-US" dirty="0"/>
              <a:t>Regression analysis is widely used for prediction, forecasting, modeling time series data and inferring the casual effect relationship between the variables.</a:t>
            </a:r>
          </a:p>
          <a:p>
            <a:pPr algn="just"/>
            <a:r>
              <a:rPr lang="en-US" dirty="0"/>
              <a:t>Here, a graph that best fits the given data points is plotted.</a:t>
            </a:r>
          </a:p>
          <a:p>
            <a:pPr algn="just"/>
            <a:r>
              <a:rPr lang="en-US" dirty="0"/>
              <a:t>This graph can either have a straight line or a curve that passes through all the data points on the graph that is drawn depicting the dependent and independent variables.</a:t>
            </a:r>
          </a:p>
          <a:p>
            <a:pPr algn="just"/>
            <a:r>
              <a:rPr lang="en-US" dirty="0"/>
              <a:t>The vertical distance between the data points and the regression line should be minimum as this line indicates whether the model has captured a strong relationship or not.</a:t>
            </a:r>
          </a:p>
        </p:txBody>
      </p:sp>
    </p:spTree>
    <p:extLst>
      <p:ext uri="{BB962C8B-B14F-4D97-AF65-F5344CB8AC3E}">
        <p14:creationId xmlns:p14="http://schemas.microsoft.com/office/powerpoint/2010/main" val="379033028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9BB45-6DC0-6F8D-271C-E08ED01FE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Simple Linear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DDF68B-4789-C03B-18EB-1421341873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/>
          <a:lstStyle/>
          <a:p>
            <a:pPr algn="just"/>
            <a:r>
              <a:rPr lang="en-US" dirty="0"/>
              <a:t>Linear regression is a simple yet powerful tool for modeling relationships between variables.</a:t>
            </a:r>
          </a:p>
          <a:p>
            <a:pPr algn="just"/>
            <a:r>
              <a:rPr lang="en-US" dirty="0"/>
              <a:t> However, its assumptions must be carefully checked, and alternative methods like polynomial regression or non-linear models should be considered when the relationship is not linear.</a:t>
            </a:r>
          </a:p>
          <a:p>
            <a:r>
              <a:rPr lang="en-US" dirty="0"/>
              <a:t>The linear regression can be given as,</a:t>
            </a:r>
          </a:p>
          <a:p>
            <a:pPr marL="0" indent="0">
              <a:buNone/>
            </a:pPr>
            <a:r>
              <a:rPr lang="en-US" dirty="0"/>
              <a:t>Y=b</a:t>
            </a:r>
            <a:r>
              <a:rPr lang="en-US" sz="2000" dirty="0"/>
              <a:t>0</a:t>
            </a:r>
            <a:r>
              <a:rPr lang="en-US" dirty="0"/>
              <a:t>+bx where,</a:t>
            </a:r>
          </a:p>
          <a:p>
            <a:pPr marL="0" indent="0">
              <a:buNone/>
            </a:pPr>
            <a:r>
              <a:rPr lang="en-US" dirty="0"/>
              <a:t>b</a:t>
            </a:r>
            <a:r>
              <a:rPr lang="en-US" sz="2000" dirty="0"/>
              <a:t>0</a:t>
            </a:r>
            <a:r>
              <a:rPr lang="en-US" dirty="0"/>
              <a:t> is the intercept</a:t>
            </a:r>
          </a:p>
          <a:p>
            <a:pPr marL="0" indent="0">
              <a:buNone/>
            </a:pPr>
            <a:r>
              <a:rPr lang="en-US" dirty="0"/>
              <a:t>b is the coefficient of x</a:t>
            </a:r>
          </a:p>
        </p:txBody>
      </p:sp>
      <p:pic>
        <p:nvPicPr>
          <p:cNvPr id="5" name="Picture 4" descr="A math equations and formulas&#10;&#10;AI-generated content may be incorrect.">
            <a:extLst>
              <a:ext uri="{FF2B5EF4-FFF2-40B4-BE49-F238E27FC236}">
                <a16:creationId xmlns:a16="http://schemas.microsoft.com/office/drawing/2014/main" id="{579B30C1-BCC8-BAB2-0A71-6877D4B886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1884" y="4270342"/>
            <a:ext cx="4138368" cy="2222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05750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85EF6-03C3-CF1D-F56B-244E56916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26347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accent1"/>
                </a:solidFill>
              </a:rPr>
              <a:t>Linear Regression (from scratch)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D2AC47-518B-7560-8F39-20A34245AC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6886"/>
            <a:ext cx="10515600" cy="5241303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numpy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as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np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Data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 =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np.array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([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3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4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])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 =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np.array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([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4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4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6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])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Mean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x_mean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np.mean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(X)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y_mean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np.mean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(Y)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Slope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num =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np.</a:t>
            </a:r>
            <a:r>
              <a:rPr lang="en-US" b="0" dirty="0" err="1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sum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((X -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x_mean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 * (Y -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y_mean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))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den =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np.</a:t>
            </a:r>
            <a:r>
              <a:rPr lang="en-US" b="0" dirty="0" err="1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sum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((X -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x_mean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 ** 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b1 = num / den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Intercept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b0 =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y_mean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- b1 *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x_mean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"Intercept:"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b0)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"Slope:"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b1</a:t>
            </a:r>
          </a:p>
          <a:p>
            <a:pPr marL="0" indent="0">
              <a:buNone/>
            </a:pP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261487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B2706-026A-2465-30A9-F6982B06D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24310"/>
          </a:xfrm>
        </p:spPr>
        <p:txBody>
          <a:bodyPr/>
          <a:lstStyle/>
          <a:p>
            <a:r>
              <a:rPr lang="en-US" dirty="0"/>
              <a:t>Example using Scikit learn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DF22D9-75E6-1F85-64DE-7446496FD6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9436"/>
            <a:ext cx="10515600" cy="4687527"/>
          </a:xfrm>
        </p:spPr>
        <p:txBody>
          <a:bodyPr>
            <a:normAutofit fontScale="70000" lnSpcReduction="20000"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9723B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from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sklearn.linear_model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9723B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import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</a:p>
          <a:p>
            <a:pPr marL="228600" marR="0" lvl="0" indent="-22860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LinearRegression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9723B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import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numpy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9723B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as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np</a:t>
            </a:r>
          </a:p>
          <a:p>
            <a:pPr marL="228600" marR="0" lvl="0" indent="-22860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X =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np.array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([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11664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1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,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11664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2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,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11664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3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,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11664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4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,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11664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5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]).reshape(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11664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-1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,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11664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1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)</a:t>
            </a:r>
          </a:p>
          <a:p>
            <a:pPr marL="228600" marR="0" lvl="0" indent="-22860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Y =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np.array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([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11664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2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,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11664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4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,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11664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5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,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11664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4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,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11664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6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])</a:t>
            </a:r>
          </a:p>
          <a:p>
            <a:pPr marL="228600" marR="0" lvl="0" indent="-22860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model =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LinearRegression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()</a:t>
            </a:r>
          </a:p>
          <a:p>
            <a:pPr marL="228600" marR="0" lvl="0" indent="-22860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model.fit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(X, Y)</a:t>
            </a:r>
          </a:p>
          <a:p>
            <a:pPr marL="228600" marR="0" lvl="0" indent="-22860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6A522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print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"Intercept:"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,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model.intercept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_)</a:t>
            </a:r>
          </a:p>
          <a:p>
            <a:pPr marL="228600" marR="0" lvl="0" indent="-22860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6A522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print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"Slope:"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,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model.coef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_[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11664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0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])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033735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3BAD3-FBEC-9BDB-B767-70116AA5C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Polynomial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5032BE-B87B-3CB7-E0D5-DDB5A611F1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9436"/>
            <a:ext cx="10515600" cy="4687528"/>
          </a:xfrm>
        </p:spPr>
        <p:txBody>
          <a:bodyPr/>
          <a:lstStyle/>
          <a:p>
            <a:r>
              <a:rPr lang="en-US" dirty="0"/>
              <a:t>It is a form of linear regression in which the relationship between the independent variable x and dependent variable y is modeled as an nth degree polynomial.</a:t>
            </a:r>
          </a:p>
          <a:p>
            <a:r>
              <a:rPr lang="en-US" dirty="0"/>
              <a:t>This means that polynomial regression fits a non-linear relationship between the value of x and the corresponding conditional mean of y denoted by E (y/x).</a:t>
            </a:r>
          </a:p>
          <a:p>
            <a:r>
              <a:rPr lang="en-US" dirty="0"/>
              <a:t>It supports functionality that allows a wide range of function to fit under it.</a:t>
            </a:r>
          </a:p>
          <a:p>
            <a:r>
              <a:rPr lang="en-US" dirty="0"/>
              <a:t>It fits wide range of curvature.</a:t>
            </a:r>
          </a:p>
          <a:p>
            <a:r>
              <a:rPr lang="en-US" dirty="0"/>
              <a:t>The fitted model is more reliable.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479107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98484-7277-B285-E083-3CF53C889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chemeClr val="accent1"/>
                </a:solidFill>
              </a:rPr>
              <a:t>Multivariate Analysis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D7B0F-D737-F47F-3392-DE0B78A36E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4021"/>
            <a:ext cx="10515600" cy="476294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Multivariate analysis is used when there are multiple independent and dependent variables. It includes:</a:t>
            </a:r>
          </a:p>
          <a:p>
            <a:pPr>
              <a:buFont typeface="+mj-lt"/>
              <a:buAutoNum type="arabicPeriod"/>
            </a:pPr>
            <a:r>
              <a:rPr lang="en-US" dirty="0"/>
              <a:t>Multiple Linear Regression (Predicting one dependent variable using multiple independent variables)</a:t>
            </a:r>
          </a:p>
          <a:p>
            <a:pPr>
              <a:buFont typeface="+mj-lt"/>
              <a:buAutoNum type="arabicPeriod"/>
            </a:pPr>
            <a:r>
              <a:rPr lang="en-US" dirty="0"/>
              <a:t>Principal Component Analysis (PCA) (Dimensionality reduction)</a:t>
            </a:r>
          </a:p>
          <a:p>
            <a:pPr>
              <a:buFont typeface="+mj-lt"/>
              <a:buAutoNum type="arabicPeriod"/>
            </a:pPr>
            <a:r>
              <a:rPr lang="en-US" dirty="0"/>
              <a:t>Factor Analysis (Identifying hidden factors)</a:t>
            </a:r>
          </a:p>
          <a:p>
            <a:pPr>
              <a:buFont typeface="+mj-lt"/>
              <a:buAutoNum type="arabicPeriod"/>
            </a:pPr>
            <a:r>
              <a:rPr lang="en-US" dirty="0"/>
              <a:t>Cluster Analysis (Grouping similar data points)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596787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DB90B-A19B-0E2B-0050-9386C45BE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4372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0BE3A7-7EF8-2522-6ADA-7CFD04A638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9179"/>
            <a:ext cx="10515600" cy="4847784"/>
          </a:xfrm>
        </p:spPr>
        <p:txBody>
          <a:bodyPr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Multiple Linear Regression</a:t>
            </a:r>
          </a:p>
          <a:p>
            <a:pPr marL="0" indent="0">
              <a:buNone/>
            </a:pPr>
            <a:r>
              <a:rPr lang="en-US" dirty="0"/>
              <a:t>Mathematical equation:</a:t>
            </a:r>
          </a:p>
          <a:p>
            <a:r>
              <a:rPr lang="en-US" dirty="0"/>
              <a:t>Y=</a:t>
            </a:r>
            <a:r>
              <a:rPr lang="el-GR" dirty="0"/>
              <a:t>β0+β1</a:t>
            </a:r>
            <a:r>
              <a:rPr lang="en-US" dirty="0"/>
              <a:t>X1+</a:t>
            </a:r>
            <a:r>
              <a:rPr lang="el-GR" dirty="0"/>
              <a:t>β2</a:t>
            </a:r>
            <a:r>
              <a:rPr lang="en-US" dirty="0"/>
              <a:t>X2+...+</a:t>
            </a:r>
            <a:r>
              <a:rPr lang="el-GR" dirty="0"/>
              <a:t>β</a:t>
            </a:r>
            <a:r>
              <a:rPr lang="en-US" dirty="0" err="1"/>
              <a:t>nXn</a:t>
            </a:r>
            <a:r>
              <a:rPr lang="en-US" dirty="0"/>
              <a:t>+</a:t>
            </a:r>
            <a:r>
              <a:rPr lang="el-GR" dirty="0"/>
              <a:t>ϵ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552385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AE2B1-1330-95CC-7002-31A13B437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28384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accent1"/>
                </a:solidFill>
              </a:rPr>
              <a:t>Example: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8D687D-B8FE-0205-8BB3-02BA3BBABF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5486"/>
            <a:ext cx="10515600" cy="4951478"/>
          </a:xfrm>
        </p:spPr>
        <p:txBody>
          <a:bodyPr>
            <a:normAutofit fontScale="55000" lnSpcReduction="2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import pandas as pd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from </a:t>
            </a:r>
            <a:r>
              <a:rPr lang="en-US" dirty="0" err="1"/>
              <a:t>sklearn.model_selection</a:t>
            </a:r>
            <a:r>
              <a:rPr lang="en-US" dirty="0"/>
              <a:t> import </a:t>
            </a:r>
            <a:r>
              <a:rPr lang="en-US" dirty="0" err="1"/>
              <a:t>train_test_split</a:t>
            </a:r>
            <a:endParaRPr lang="en-US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from </a:t>
            </a:r>
            <a:r>
              <a:rPr lang="en-US" dirty="0" err="1"/>
              <a:t>sklearn.metrics</a:t>
            </a:r>
            <a:r>
              <a:rPr lang="en-US" dirty="0"/>
              <a:t> import </a:t>
            </a:r>
            <a:r>
              <a:rPr lang="en-US" dirty="0" err="1"/>
              <a:t>mean_squared_error</a:t>
            </a:r>
            <a:endParaRPr lang="en-US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# Sample Data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data = {'X1': [1, 2, 3, 4, 5], 'X2': [2, 4, 6, 8, 10], 'Y': [3, 6, 9, 12, 15]}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 err="1"/>
              <a:t>df</a:t>
            </a:r>
            <a:r>
              <a:rPr lang="en-US" dirty="0"/>
              <a:t> = </a:t>
            </a:r>
            <a:r>
              <a:rPr lang="en-US" dirty="0" err="1"/>
              <a:t>pd.DataFrame</a:t>
            </a:r>
            <a:r>
              <a:rPr lang="en-US" dirty="0"/>
              <a:t>(data)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# Independent &amp; Dependent Variables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X = </a:t>
            </a:r>
            <a:r>
              <a:rPr lang="en-US" dirty="0" err="1"/>
              <a:t>df</a:t>
            </a:r>
            <a:r>
              <a:rPr lang="en-US" dirty="0"/>
              <a:t>[['X1', 'X2']]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Y = </a:t>
            </a:r>
            <a:r>
              <a:rPr lang="en-US" dirty="0" err="1"/>
              <a:t>df</a:t>
            </a:r>
            <a:r>
              <a:rPr lang="en-US" dirty="0"/>
              <a:t>['Y']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# Train-Test Split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 err="1"/>
              <a:t>X_train</a:t>
            </a:r>
            <a:r>
              <a:rPr lang="en-US" dirty="0"/>
              <a:t>, </a:t>
            </a:r>
            <a:r>
              <a:rPr lang="en-US" dirty="0" err="1"/>
              <a:t>X_test</a:t>
            </a:r>
            <a:r>
              <a:rPr lang="en-US" dirty="0"/>
              <a:t>, </a:t>
            </a:r>
            <a:r>
              <a:rPr lang="en-US" dirty="0" err="1"/>
              <a:t>Y_train</a:t>
            </a:r>
            <a:r>
              <a:rPr lang="en-US" dirty="0"/>
              <a:t>, </a:t>
            </a:r>
            <a:r>
              <a:rPr lang="en-US" dirty="0" err="1"/>
              <a:t>Y_test</a:t>
            </a:r>
            <a:r>
              <a:rPr lang="en-US" dirty="0"/>
              <a:t> = </a:t>
            </a:r>
            <a:r>
              <a:rPr lang="en-US" dirty="0" err="1"/>
              <a:t>train_test_split</a:t>
            </a:r>
            <a:r>
              <a:rPr lang="en-US" dirty="0"/>
              <a:t>(X, Y, </a:t>
            </a:r>
            <a:r>
              <a:rPr lang="en-US" dirty="0" err="1"/>
              <a:t>test_size</a:t>
            </a:r>
            <a:r>
              <a:rPr lang="en-US" dirty="0"/>
              <a:t>=0.2, </a:t>
            </a:r>
            <a:r>
              <a:rPr lang="en-US" dirty="0" err="1"/>
              <a:t>random_state</a:t>
            </a:r>
            <a:r>
              <a:rPr lang="en-US" dirty="0"/>
              <a:t>=42)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# Model Training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model = </a:t>
            </a:r>
            <a:r>
              <a:rPr lang="en-US" dirty="0" err="1"/>
              <a:t>LinearRegression</a:t>
            </a:r>
            <a:r>
              <a:rPr lang="en-US" dirty="0"/>
              <a:t>()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 err="1"/>
              <a:t>model.fit</a:t>
            </a:r>
            <a:r>
              <a:rPr lang="en-US" dirty="0"/>
              <a:t>(</a:t>
            </a:r>
            <a:r>
              <a:rPr lang="en-US" dirty="0" err="1"/>
              <a:t>X_train</a:t>
            </a:r>
            <a:r>
              <a:rPr lang="en-US" dirty="0"/>
              <a:t>, </a:t>
            </a:r>
            <a:r>
              <a:rPr lang="en-US" dirty="0" err="1"/>
              <a:t>Y_train</a:t>
            </a:r>
            <a:r>
              <a:rPr lang="en-US" dirty="0"/>
              <a:t>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# Predictions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predictions = </a:t>
            </a:r>
            <a:r>
              <a:rPr lang="en-US" dirty="0" err="1"/>
              <a:t>model.predict</a:t>
            </a:r>
            <a:r>
              <a:rPr lang="en-US" dirty="0"/>
              <a:t>(</a:t>
            </a:r>
            <a:r>
              <a:rPr lang="en-US" dirty="0" err="1"/>
              <a:t>X_test</a:t>
            </a:r>
            <a:r>
              <a:rPr lang="en-US" dirty="0"/>
              <a:t>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# Evaluation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 err="1"/>
              <a:t>mse</a:t>
            </a:r>
            <a:r>
              <a:rPr lang="en-US" dirty="0"/>
              <a:t> = </a:t>
            </a:r>
            <a:r>
              <a:rPr lang="en-US" dirty="0" err="1"/>
              <a:t>mean_squared_error</a:t>
            </a:r>
            <a:r>
              <a:rPr lang="en-US" dirty="0"/>
              <a:t>(</a:t>
            </a:r>
            <a:r>
              <a:rPr lang="en-US" dirty="0" err="1"/>
              <a:t>Y_test</a:t>
            </a:r>
            <a:r>
              <a:rPr lang="en-US" dirty="0"/>
              <a:t>, predictions)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print(</a:t>
            </a:r>
            <a:r>
              <a:rPr lang="en-US" dirty="0" err="1"/>
              <a:t>f"Mean</a:t>
            </a:r>
            <a:r>
              <a:rPr lang="en-US" dirty="0"/>
              <a:t> Squared Error: {</a:t>
            </a:r>
            <a:r>
              <a:rPr lang="en-US" dirty="0" err="1"/>
              <a:t>mse</a:t>
            </a:r>
            <a:r>
              <a:rPr lang="en-US" dirty="0"/>
              <a:t>}")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350731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67E12-486F-A8B9-4588-D31DE625C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4372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accent1"/>
                </a:solidFill>
              </a:rPr>
              <a:t>Example: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5C09D0-8AEE-EECD-42B4-10913C4DB0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0326"/>
            <a:ext cx="10515600" cy="4866637"/>
          </a:xfrm>
        </p:spPr>
        <p:txBody>
          <a:bodyPr>
            <a:normAutofit fontScale="55000" lnSpcReduction="2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import pandas as pd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from </a:t>
            </a:r>
            <a:r>
              <a:rPr lang="en-US" dirty="0" err="1"/>
              <a:t>sklearn.model_selection</a:t>
            </a:r>
            <a:r>
              <a:rPr lang="en-US" dirty="0"/>
              <a:t> import </a:t>
            </a:r>
            <a:r>
              <a:rPr lang="en-US" dirty="0" err="1"/>
              <a:t>train_test_split</a:t>
            </a:r>
            <a:endParaRPr lang="en-US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from </a:t>
            </a:r>
            <a:r>
              <a:rPr lang="en-US" dirty="0" err="1"/>
              <a:t>sklearn.metrics</a:t>
            </a:r>
            <a:r>
              <a:rPr lang="en-US" dirty="0"/>
              <a:t> import </a:t>
            </a:r>
            <a:r>
              <a:rPr lang="en-US" dirty="0" err="1"/>
              <a:t>mean_squared_error</a:t>
            </a:r>
            <a:endParaRPr lang="en-US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# Sample Data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data = {'X1': [1, 2, 3, 4, 5], 'X2': [2, 4, 6, 8, 10], 'Y': [3, 6, 9, 12, 15]}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 err="1"/>
              <a:t>df</a:t>
            </a:r>
            <a:r>
              <a:rPr lang="en-US" dirty="0"/>
              <a:t> = </a:t>
            </a:r>
            <a:r>
              <a:rPr lang="en-US" dirty="0" err="1"/>
              <a:t>pd.DataFrame</a:t>
            </a:r>
            <a:r>
              <a:rPr lang="en-US" dirty="0"/>
              <a:t>(data)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# Independent &amp; Dependent Variables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X = </a:t>
            </a:r>
            <a:r>
              <a:rPr lang="en-US" dirty="0" err="1"/>
              <a:t>df</a:t>
            </a:r>
            <a:r>
              <a:rPr lang="en-US" dirty="0"/>
              <a:t>[['X1', 'X2']]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Y = </a:t>
            </a:r>
            <a:r>
              <a:rPr lang="en-US" dirty="0" err="1"/>
              <a:t>df</a:t>
            </a:r>
            <a:r>
              <a:rPr lang="en-US" dirty="0"/>
              <a:t>['Y']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# Train-Test Split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 err="1"/>
              <a:t>X_train</a:t>
            </a:r>
            <a:r>
              <a:rPr lang="en-US" dirty="0"/>
              <a:t>, </a:t>
            </a:r>
            <a:r>
              <a:rPr lang="en-US" dirty="0" err="1"/>
              <a:t>X_test</a:t>
            </a:r>
            <a:r>
              <a:rPr lang="en-US" dirty="0"/>
              <a:t>, </a:t>
            </a:r>
            <a:r>
              <a:rPr lang="en-US" dirty="0" err="1"/>
              <a:t>Y_train</a:t>
            </a:r>
            <a:r>
              <a:rPr lang="en-US" dirty="0"/>
              <a:t>, </a:t>
            </a:r>
            <a:r>
              <a:rPr lang="en-US" dirty="0" err="1"/>
              <a:t>Y_test</a:t>
            </a:r>
            <a:r>
              <a:rPr lang="en-US" dirty="0"/>
              <a:t> = </a:t>
            </a:r>
            <a:r>
              <a:rPr lang="en-US" dirty="0" err="1"/>
              <a:t>train_test_split</a:t>
            </a:r>
            <a:r>
              <a:rPr lang="en-US" dirty="0"/>
              <a:t>(X, Y, </a:t>
            </a:r>
            <a:r>
              <a:rPr lang="en-US" dirty="0" err="1"/>
              <a:t>test_size</a:t>
            </a:r>
            <a:r>
              <a:rPr lang="en-US" dirty="0"/>
              <a:t>=0.2, </a:t>
            </a:r>
            <a:r>
              <a:rPr lang="en-US" dirty="0" err="1"/>
              <a:t>random_state</a:t>
            </a:r>
            <a:r>
              <a:rPr lang="en-US" dirty="0"/>
              <a:t>=42)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# Model Training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model = </a:t>
            </a:r>
            <a:r>
              <a:rPr lang="en-US" dirty="0" err="1"/>
              <a:t>LinearRegression</a:t>
            </a:r>
            <a:r>
              <a:rPr lang="en-US" dirty="0"/>
              <a:t>()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 err="1"/>
              <a:t>model.fit</a:t>
            </a:r>
            <a:r>
              <a:rPr lang="en-US" dirty="0"/>
              <a:t>(</a:t>
            </a:r>
            <a:r>
              <a:rPr lang="en-US" dirty="0" err="1"/>
              <a:t>X_train</a:t>
            </a:r>
            <a:r>
              <a:rPr lang="en-US" dirty="0"/>
              <a:t>, </a:t>
            </a:r>
            <a:r>
              <a:rPr lang="en-US" dirty="0" err="1"/>
              <a:t>Y_train</a:t>
            </a:r>
            <a:r>
              <a:rPr lang="en-US" dirty="0"/>
              <a:t>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# Predictions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predictions = </a:t>
            </a:r>
            <a:r>
              <a:rPr lang="en-US" dirty="0" err="1"/>
              <a:t>model.predict</a:t>
            </a:r>
            <a:r>
              <a:rPr lang="en-US" dirty="0"/>
              <a:t>(</a:t>
            </a:r>
            <a:r>
              <a:rPr lang="en-US" dirty="0" err="1"/>
              <a:t>X_test</a:t>
            </a:r>
            <a:r>
              <a:rPr lang="en-US" dirty="0"/>
              <a:t>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# Evaluation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 err="1"/>
              <a:t>mse</a:t>
            </a:r>
            <a:r>
              <a:rPr lang="en-US" dirty="0"/>
              <a:t> = </a:t>
            </a:r>
            <a:r>
              <a:rPr lang="en-US" dirty="0" err="1"/>
              <a:t>mean_squared_error</a:t>
            </a:r>
            <a:r>
              <a:rPr lang="en-US" dirty="0"/>
              <a:t>(</a:t>
            </a:r>
            <a:r>
              <a:rPr lang="en-US" dirty="0" err="1"/>
              <a:t>Y_test</a:t>
            </a:r>
            <a:r>
              <a:rPr lang="en-US" dirty="0"/>
              <a:t>, predictions)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print(</a:t>
            </a:r>
            <a:r>
              <a:rPr lang="en-US" dirty="0" err="1"/>
              <a:t>f"Mean</a:t>
            </a:r>
            <a:r>
              <a:rPr lang="en-US" dirty="0"/>
              <a:t> Squared Error: {</a:t>
            </a:r>
            <a:r>
              <a:rPr lang="en-US" dirty="0" err="1"/>
              <a:t>mse</a:t>
            </a:r>
            <a:r>
              <a:rPr lang="en-US" dirty="0"/>
              <a:t>}")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153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31B43-8564-28A6-98A3-7B2FF740F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chemeClr val="accent1"/>
                </a:solidFill>
              </a:rPr>
              <a:t>Time Series Analysis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E2D24E-720B-B50E-4653-B5CD4B66E4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1728"/>
            <a:ext cx="10515600" cy="4725235"/>
          </a:xfrm>
        </p:spPr>
        <p:txBody>
          <a:bodyPr/>
          <a:lstStyle/>
          <a:p>
            <a:r>
              <a:rPr lang="en-US" dirty="0"/>
              <a:t>Time series analysis involves analyzing data points collected over time to detect patterns, trends, and seasonal effects.</a:t>
            </a:r>
          </a:p>
          <a:p>
            <a:pPr marL="0" indent="0">
              <a:buNone/>
            </a:pPr>
            <a:r>
              <a:rPr lang="en-US" dirty="0"/>
              <a:t>Components of Time Series</a:t>
            </a:r>
          </a:p>
          <a:p>
            <a:pPr>
              <a:buFont typeface="+mj-lt"/>
              <a:buAutoNum type="arabicPeriod"/>
            </a:pPr>
            <a:r>
              <a:rPr lang="en-US" dirty="0"/>
              <a:t>Trend (T): Long-term movement in the data</a:t>
            </a:r>
          </a:p>
          <a:p>
            <a:pPr>
              <a:buFont typeface="+mj-lt"/>
              <a:buAutoNum type="arabicPeriod"/>
            </a:pPr>
            <a:r>
              <a:rPr lang="en-US" dirty="0"/>
              <a:t>Seasonality (S): Regular, periodic fluctuations</a:t>
            </a:r>
          </a:p>
          <a:p>
            <a:pPr>
              <a:buFont typeface="+mj-lt"/>
              <a:buAutoNum type="arabicPeriod"/>
            </a:pPr>
            <a:r>
              <a:rPr lang="en-US" dirty="0"/>
              <a:t>Cyclic (C): Irregular, long-term fluctuations</a:t>
            </a:r>
          </a:p>
          <a:p>
            <a:pPr>
              <a:buFont typeface="+mj-lt"/>
              <a:buAutoNum type="arabicPeriod"/>
            </a:pPr>
            <a:r>
              <a:rPr lang="en-US" dirty="0"/>
              <a:t>Random (R): Unpredictable variations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342973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3684C-DE88-7C40-003E-F494139BF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009651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solidFill>
                  <a:schemeClr val="accent1"/>
                </a:solidFill>
              </a:rPr>
              <a:t>Time Series Forecasting Models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F5DB50-FC4E-8A91-A00E-ADC20B0670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7715"/>
            <a:ext cx="10515600" cy="4659248"/>
          </a:xfrm>
        </p:spPr>
        <p:txBody>
          <a:bodyPr/>
          <a:lstStyle/>
          <a:p>
            <a:pPr>
              <a:buFont typeface="+mj-lt"/>
              <a:buAutoNum type="arabicPeriod"/>
            </a:pPr>
            <a:r>
              <a:rPr lang="en-US" dirty="0"/>
              <a:t> Moving Average (MA)</a:t>
            </a:r>
          </a:p>
          <a:p>
            <a:pPr>
              <a:buFont typeface="+mj-lt"/>
              <a:buAutoNum type="arabicPeriod"/>
            </a:pPr>
            <a:r>
              <a:rPr lang="en-US" dirty="0"/>
              <a:t> Exponential Smoothing (ES)</a:t>
            </a:r>
          </a:p>
          <a:p>
            <a:pPr>
              <a:buFont typeface="+mj-lt"/>
              <a:buAutoNum type="arabicPeriod"/>
            </a:pPr>
            <a:r>
              <a:rPr lang="en-US" dirty="0"/>
              <a:t> ARIMA (Auto Regressive Integrated Moving Average)</a:t>
            </a:r>
          </a:p>
          <a:p>
            <a:pPr>
              <a:buFont typeface="+mj-lt"/>
              <a:buAutoNum type="arabicPeriod"/>
            </a:pPr>
            <a:r>
              <a:rPr lang="en-US" dirty="0"/>
              <a:t> LSTM (Deep Learning Model)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119990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43B0C-3F92-DDD0-968B-839962930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009651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solidFill>
                  <a:schemeClr val="accent1"/>
                </a:solidFill>
              </a:rPr>
              <a:t>Conditional Probability &amp; Bayes' Theorem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F25B94-A646-AEAD-2544-23F14CAF17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7716"/>
            <a:ext cx="10866120" cy="4659248"/>
          </a:xfrm>
        </p:spPr>
        <p:txBody>
          <a:bodyPr>
            <a:normAutofit/>
          </a:bodyPr>
          <a:lstStyle/>
          <a:p>
            <a:r>
              <a:rPr lang="en-US" dirty="0"/>
              <a:t>Conditional probability is the probability of an event occurring given that another event has already occurred. It is denoted as:</a:t>
            </a:r>
          </a:p>
          <a:p>
            <a:r>
              <a:rPr lang="en-US" dirty="0"/>
              <a:t>P(A∣B)=P(A∩B)/ P(B)where: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P(A∣B) is the probability of event A occurring given that event B has occurred.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P(A∩B)  is the probability of both A and B occurring.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P(B) is the probability of B.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607174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A61BA-47E0-D6CC-6F44-896D252DA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59980"/>
          </a:xfrm>
        </p:spPr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Bayes' Theorem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C5A19-FB0E-CFAB-296C-2CFC4F4A5F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8176"/>
            <a:ext cx="10515600" cy="4768787"/>
          </a:xfrm>
        </p:spPr>
        <p:txBody>
          <a:bodyPr/>
          <a:lstStyle/>
          <a:p>
            <a:r>
              <a:rPr lang="en-US" dirty="0"/>
              <a:t>Bayes' theorem allows us to update our beliefs based on new evidence. It is given by:</a:t>
            </a:r>
          </a:p>
          <a:p>
            <a:r>
              <a:rPr lang="en-US" dirty="0"/>
              <a:t>P(A∣B)=P(B∣A)P(A)/P(B) , ​where: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P(A∣B) is the probability of A given B.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P(B∣A) is the probability of B given 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P(A) and P(B) are the probabilities of A and B independently.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508494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DB45A-00C8-91B7-93EC-6EDA56884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5F9CB8-0934-573B-D677-2507BC5833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593130"/>
            <a:ext cx="9295614" cy="458383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1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Example of Bayes' Theorem</a:t>
            </a:r>
            <a:endParaRPr lang="en-US" sz="21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1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P_A = </a:t>
            </a:r>
            <a:r>
              <a:rPr lang="en-US" sz="21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0.02</a:t>
            </a:r>
            <a:r>
              <a:rPr lang="en-US" sz="21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 </a:t>
            </a:r>
            <a:r>
              <a:rPr lang="en-US" sz="21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Probability of disease</a:t>
            </a:r>
            <a:endParaRPr lang="en-US" sz="21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1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P_B_given_A</a:t>
            </a:r>
            <a:r>
              <a:rPr lang="en-US" sz="21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sz="21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0.9</a:t>
            </a:r>
            <a:r>
              <a:rPr lang="en-US" sz="21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 </a:t>
            </a:r>
            <a:r>
              <a:rPr lang="en-US" sz="21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Test positive given disease</a:t>
            </a:r>
            <a:endParaRPr lang="en-US" sz="21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1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P_B_given_not_A</a:t>
            </a:r>
            <a:r>
              <a:rPr lang="en-US" sz="21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sz="21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0.05</a:t>
            </a:r>
            <a:r>
              <a:rPr lang="en-US" sz="21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 </a:t>
            </a:r>
            <a:r>
              <a:rPr lang="en-US" sz="21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Test positive without disease</a:t>
            </a:r>
            <a:endParaRPr lang="en-US" sz="21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1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P_not_A</a:t>
            </a:r>
            <a:r>
              <a:rPr lang="en-US" sz="21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sz="21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sz="21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- P_A #probabiklity of not </a:t>
            </a:r>
            <a:r>
              <a:rPr lang="en-US" sz="2100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having disease</a:t>
            </a:r>
            <a:endParaRPr lang="en-US" sz="21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1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P_B = </a:t>
            </a:r>
            <a:r>
              <a:rPr lang="en-US" sz="21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P_B_given_A</a:t>
            </a:r>
            <a:r>
              <a:rPr lang="en-US" sz="21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* P_A + </a:t>
            </a:r>
            <a:r>
              <a:rPr lang="en-US" sz="21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P_B_given_not_A</a:t>
            </a:r>
            <a:r>
              <a:rPr lang="en-US" sz="21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* </a:t>
            </a:r>
            <a:r>
              <a:rPr lang="en-US" sz="21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P_not_A</a:t>
            </a:r>
            <a:endParaRPr lang="en-US" sz="21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1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P_A_given_B</a:t>
            </a:r>
            <a:r>
              <a:rPr lang="en-US" sz="21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(</a:t>
            </a:r>
            <a:r>
              <a:rPr lang="en-US" sz="21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P_B_given_A</a:t>
            </a:r>
            <a:r>
              <a:rPr lang="en-US" sz="21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* P_A) / P_B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100" b="0" dirty="0">
                <a:solidFill>
                  <a:srgbClr val="795E26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sz="21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2100" b="0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f</a:t>
            </a:r>
            <a:r>
              <a:rPr lang="en-US" sz="2100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"P</a:t>
            </a:r>
            <a:r>
              <a:rPr lang="en-US" sz="21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(A</a:t>
            </a:r>
            <a:r>
              <a:rPr lang="en-US" sz="21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|</a:t>
            </a:r>
            <a:r>
              <a:rPr lang="en-US" sz="21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B): </a:t>
            </a:r>
            <a:r>
              <a:rPr lang="en-US" sz="21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{</a:t>
            </a:r>
            <a:r>
              <a:rPr lang="en-US" sz="21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P_A_given_B</a:t>
            </a:r>
            <a:r>
              <a:rPr lang="en-US" sz="21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}</a:t>
            </a:r>
            <a:r>
              <a:rPr lang="en-US" sz="21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en-US" sz="21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486314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F2CBA-54A2-BE68-013D-799699332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6405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FD7122-7D5A-E52B-3875-1CD9B1BC6D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78351"/>
            <a:ext cx="10515600" cy="4998612"/>
          </a:xfrm>
        </p:spPr>
        <p:txBody>
          <a:bodyPr/>
          <a:lstStyle/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>
              <a:solidFill>
                <a:schemeClr val="accent1"/>
              </a:solidFill>
            </a:endParaRPr>
          </a:p>
          <a:p>
            <a:pPr marL="0" indent="0" algn="ctr">
              <a:buNone/>
            </a:pPr>
            <a:r>
              <a:rPr lang="en-US" sz="5400" dirty="0">
                <a:solidFill>
                  <a:schemeClr val="accent1"/>
                </a:solidFill>
              </a:rPr>
              <a:t>End of the Chapter</a:t>
            </a:r>
          </a:p>
        </p:txBody>
      </p:sp>
    </p:spTree>
    <p:extLst>
      <p:ext uri="{BB962C8B-B14F-4D97-AF65-F5344CB8AC3E}">
        <p14:creationId xmlns:p14="http://schemas.microsoft.com/office/powerpoint/2010/main" val="35562190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519</TotalTime>
  <Words>3173</Words>
  <Application>Microsoft Office PowerPoint</Application>
  <PresentationFormat>Widescreen</PresentationFormat>
  <Paragraphs>326</Paragraphs>
  <Slides>46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3" baseType="lpstr">
      <vt:lpstr>Arial</vt:lpstr>
      <vt:lpstr>Calibri</vt:lpstr>
      <vt:lpstr>Calibri Light</vt:lpstr>
      <vt:lpstr>Courier New</vt:lpstr>
      <vt:lpstr>Google Sans</vt:lpstr>
      <vt:lpstr>Times New Roman</vt:lpstr>
      <vt:lpstr>Office Theme</vt:lpstr>
      <vt:lpstr>Unit 4</vt:lpstr>
      <vt:lpstr>Descriptive Statistics</vt:lpstr>
      <vt:lpstr>Random Sampling and Sample Bias </vt:lpstr>
      <vt:lpstr>Population Vs Sample</vt:lpstr>
      <vt:lpstr>PowerPoint Presentation</vt:lpstr>
      <vt:lpstr>Example:</vt:lpstr>
      <vt:lpstr>PowerPoint Presentation</vt:lpstr>
      <vt:lpstr>Example</vt:lpstr>
      <vt:lpstr>PowerPoint Presentation</vt:lpstr>
      <vt:lpstr>Sample Standard deviation (s)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Hypothesis Test</vt:lpstr>
      <vt:lpstr>Steps in Hypothesis Testing </vt:lpstr>
      <vt:lpstr>Hypothesis Testing:</vt:lpstr>
      <vt:lpstr>PowerPoint Presentation</vt:lpstr>
      <vt:lpstr>Statistical Significance</vt:lpstr>
      <vt:lpstr>PowerPoint Presentation</vt:lpstr>
      <vt:lpstr>PowerPoint Presentation</vt:lpstr>
      <vt:lpstr>One Sample and two sample t-test:</vt:lpstr>
      <vt:lpstr>Example:</vt:lpstr>
      <vt:lpstr>t-test</vt:lpstr>
      <vt:lpstr>Two Sample t-test</vt:lpstr>
      <vt:lpstr>Types of Two-Sample t-Tests </vt:lpstr>
      <vt:lpstr>Example: Two-Sample t-Test </vt:lpstr>
      <vt:lpstr>Example:</vt:lpstr>
      <vt:lpstr>Regression and Multivariate Analysis </vt:lpstr>
      <vt:lpstr>PowerPoint Presentation</vt:lpstr>
      <vt:lpstr>Simple Linear Regression</vt:lpstr>
      <vt:lpstr>Linear Regression (from scratch)</vt:lpstr>
      <vt:lpstr>Example using Scikit learn</vt:lpstr>
      <vt:lpstr>Polynomial Regression</vt:lpstr>
      <vt:lpstr>Multivariate Analysis </vt:lpstr>
      <vt:lpstr>PowerPoint Presentation</vt:lpstr>
      <vt:lpstr>Example:</vt:lpstr>
      <vt:lpstr>Example:</vt:lpstr>
      <vt:lpstr>Time Series Analysis </vt:lpstr>
      <vt:lpstr>Time Series Forecasting Models </vt:lpstr>
      <vt:lpstr>Conditional Probability &amp; Bayes' Theorem </vt:lpstr>
      <vt:lpstr>Bayes' Theorem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Saroj Giri</dc:creator>
  <cp:lastModifiedBy>Saroj Giri</cp:lastModifiedBy>
  <cp:revision>55</cp:revision>
  <dcterms:created xsi:type="dcterms:W3CDTF">2025-01-23T16:13:42Z</dcterms:created>
  <dcterms:modified xsi:type="dcterms:W3CDTF">2025-12-24T06:03:00Z</dcterms:modified>
</cp:coreProperties>
</file>