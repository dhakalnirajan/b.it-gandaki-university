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36"/>
  </p:notesMasterIdLst>
  <p:handoutMasterIdLst>
    <p:handoutMasterId r:id="rId37"/>
  </p:handoutMasterIdLst>
  <p:sldIdLst>
    <p:sldId id="296" r:id="rId2"/>
    <p:sldId id="288" r:id="rId3"/>
    <p:sldId id="297" r:id="rId4"/>
    <p:sldId id="291" r:id="rId5"/>
    <p:sldId id="298" r:id="rId6"/>
    <p:sldId id="299" r:id="rId7"/>
    <p:sldId id="300" r:id="rId8"/>
    <p:sldId id="301" r:id="rId9"/>
    <p:sldId id="302" r:id="rId10"/>
    <p:sldId id="304" r:id="rId11"/>
    <p:sldId id="303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285" r:id="rId34"/>
    <p:sldId id="286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82" d="100"/>
          <a:sy n="82" d="100"/>
        </p:scale>
        <p:origin x="27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8568F6B2-D640-4A2E-9E68-196EEAC8C5B4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Introduction to DevOps | Lecture 2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C008B-DF02-4B0C-B47B-E9C708B7194A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F0B19-080D-4E65-9658-73ACA13FF800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A776-DE7C-4F01-B625-4674841508D6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A52FF-FBFB-431C-AFC2-1B82487BA82A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E4E731-4896-452F-A3D6-39614F12B9F8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F8C5BD-BA71-4EE9-9434-7580AB43A085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7203-1E05-4B73-8320-6565DA6B773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50036FA3-C983-40F2-9E5B-AD40D18C24AC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1: Introduction (3hrs)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Introduction to DevOps: Definition, Scope, Application</a:t>
            </a:r>
          </a:p>
          <a:p>
            <a:r>
              <a:rPr lang="en-US" b="1" dirty="0"/>
              <a:t>Introduction to Continuous Integration(CI) and Continuous Delivery(CD)</a:t>
            </a:r>
          </a:p>
          <a:p>
            <a:r>
              <a:rPr lang="en-US" dirty="0"/>
              <a:t>Prerequisites Info and Setup: Chocolatey (Windows), Homebrew (MacOS), AWS Setup, Linux Setup</a:t>
            </a:r>
          </a:p>
          <a:p>
            <a:r>
              <a:rPr lang="en-US" dirty="0"/>
              <a:t>Server Management in Linux</a:t>
            </a:r>
          </a:p>
          <a:p>
            <a:r>
              <a:rPr lang="en-US" dirty="0"/>
              <a:t>Basics of Networking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6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A31E0-30CA-380A-1614-D6F76C77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ED28-4008-EED8-4C85-75ECF3AD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480B-3F72-905E-D6EC-A4AFFBE55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DevOps is a combination of "</a:t>
            </a:r>
            <a:r>
              <a:rPr lang="en-US" b="1" dirty="0"/>
              <a:t>Development</a:t>
            </a:r>
            <a:r>
              <a:rPr lang="en-US" dirty="0"/>
              <a:t>" and "</a:t>
            </a:r>
            <a:r>
              <a:rPr lang="en-US" b="1" dirty="0"/>
              <a:t>Operations</a:t>
            </a:r>
            <a:r>
              <a:rPr lang="en-US" dirty="0"/>
              <a:t>," representing a culture and set of practices that bring together software development (Dev) and IT operations (Ops).</a:t>
            </a:r>
          </a:p>
          <a:p>
            <a:r>
              <a:rPr lang="en-US" dirty="0"/>
              <a:t>The primary goal is to </a:t>
            </a:r>
            <a:r>
              <a:rPr lang="en-US" dirty="0">
                <a:solidFill>
                  <a:srgbClr val="FF0000"/>
                </a:solidFill>
              </a:rPr>
              <a:t>shorten the development lifecycle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deliver high-quality software </a:t>
            </a:r>
            <a:r>
              <a:rPr lang="en-US" dirty="0"/>
              <a:t>in a faster, more reliable way.</a:t>
            </a:r>
          </a:p>
          <a:p>
            <a:r>
              <a:rPr lang="en-US" dirty="0"/>
              <a:t>DevOps integrates </a:t>
            </a:r>
            <a:r>
              <a:rPr lang="en-US" b="1" dirty="0"/>
              <a:t>continuous integration </a:t>
            </a:r>
            <a:r>
              <a:rPr lang="en-US" dirty="0"/>
              <a:t>(CI), </a:t>
            </a:r>
            <a:r>
              <a:rPr lang="en-US" b="1" dirty="0"/>
              <a:t>continuous delivery </a:t>
            </a:r>
            <a:r>
              <a:rPr lang="en-US" dirty="0"/>
              <a:t>(CD), and </a:t>
            </a:r>
            <a:r>
              <a:rPr lang="en-US" b="1" dirty="0"/>
              <a:t>automation</a:t>
            </a:r>
            <a:r>
              <a:rPr lang="en-US" dirty="0"/>
              <a:t> into development processes, creating a seamless workflow from code development to deployment.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6421-AD09-46AE-F1C3-65F9179D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F1493-1F3A-6994-6724-F4CCCF98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3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Scope of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Automation</a:t>
            </a:r>
            <a:r>
              <a:rPr lang="en-US" dirty="0"/>
              <a:t>: Automating repetitive tasks such as code testing, deployment, and infrastructure management, reducing the time and effort needed to move from code to production.</a:t>
            </a:r>
          </a:p>
          <a:p>
            <a:r>
              <a:rPr lang="en-US" b="1" dirty="0"/>
              <a:t>Collaboration</a:t>
            </a:r>
            <a:r>
              <a:rPr lang="en-US" dirty="0"/>
              <a:t>: Encourages a culture where </a:t>
            </a:r>
            <a:r>
              <a:rPr lang="en-US" dirty="0">
                <a:solidFill>
                  <a:srgbClr val="FF0000"/>
                </a:solidFill>
              </a:rPr>
              <a:t>developers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QA</a:t>
            </a:r>
            <a:r>
              <a:rPr lang="en-US" dirty="0"/>
              <a:t>, and </a:t>
            </a:r>
            <a:r>
              <a:rPr lang="en-US" dirty="0">
                <a:solidFill>
                  <a:srgbClr val="00B0F0"/>
                </a:solidFill>
              </a:rPr>
              <a:t>operations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teams</a:t>
            </a:r>
            <a:r>
              <a:rPr lang="en-US" dirty="0"/>
              <a:t> work closely, fostering better communication and more agile workflows.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9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6061A-39F7-64A7-1908-3A63E0D9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00D9-AC29-6117-15AE-63D67758A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Scope of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6AAA1-CC7D-5E72-F661-B72B78B6E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Continuous Integration and Continuous Delivery (CI/CD)</a:t>
            </a:r>
            <a:r>
              <a:rPr lang="en-US" dirty="0"/>
              <a:t>: Integrates frequent code changes, automated testing, and deployment pipelines, enabling quick releases with reduced manual intervention.</a:t>
            </a:r>
          </a:p>
          <a:p>
            <a:r>
              <a:rPr lang="en-US" b="1" dirty="0"/>
              <a:t>Monitoring and Feedback</a:t>
            </a:r>
            <a:r>
              <a:rPr lang="en-US" dirty="0"/>
              <a:t>: Continuous monitoring of applications in production to gather feedback and improve performance, reliability, and user experience.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8E63E-DBBA-1637-B52C-A6BE76341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782A1-F0EC-7A8B-73C6-380D1E14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3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405F-32F9-2365-11F1-60B48DD3F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9042-D064-2831-0212-A3E361BB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Applications of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C7BED-E518-79E9-CE4F-46E9326D0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Software Development Lifecycle (SDLC)</a:t>
            </a:r>
            <a:r>
              <a:rPr lang="en-US" dirty="0"/>
              <a:t>: DevOps improves each phase, from coding to deployment, by streamlining tasks and using tools like Git, Jenkins, and Docker.</a:t>
            </a:r>
          </a:p>
          <a:p>
            <a:r>
              <a:rPr lang="en-US" b="1" dirty="0"/>
              <a:t>Cloud Infrastructure Management</a:t>
            </a:r>
            <a:r>
              <a:rPr lang="en-US" dirty="0"/>
              <a:t>: DevOps practices are heavily used in cloud environments, especially with platforms like AWS, Azure, and Google Cloud, to automate infrastructure provisioning and manage scalable resources.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C7423-39C3-9A35-F143-5934062C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EFCD1-BD40-271E-0C74-41CA63F5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7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B3D07-EB05-D496-07AA-7045840B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7A3F-6557-87FB-A99E-C16844D4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Applications of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F778E-DB48-45E2-C4F6-15D85D0BC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Microservices and Containerization</a:t>
            </a:r>
            <a:r>
              <a:rPr lang="en-US" dirty="0"/>
              <a:t>: DevOps is integral to microservices architecture, utilizing tools like Docker for containerization and Kubernetes for orchestration, enabling applications to be broken into modular, independently deployable components.</a:t>
            </a:r>
          </a:p>
          <a:p>
            <a:r>
              <a:rPr lang="en-US" b="1" dirty="0"/>
              <a:t>Application Maintenance and Support</a:t>
            </a:r>
            <a:r>
              <a:rPr lang="en-US" dirty="0"/>
              <a:t>: With DevOps, applications are deployed more frequently and monitored and maintained more effectively. This includes managing logging, monitoring, and incident responses with tools like Prometheus and Grafana.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2267B-E896-A461-A501-889D89C6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9B74E-22BD-CDCA-2868-AB4EA971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5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81C1-6857-F3DD-A89E-04D4D97D0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BD97E-6D5C-738F-D4A9-3BCB024C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Key Principles of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F51C8-02A1-8C12-36ED-699A38748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Collaboration and Communication</a:t>
            </a:r>
            <a:r>
              <a:rPr lang="en-US" dirty="0"/>
              <a:t>: DevOps culture prioritizes breaking down silos between development, QA, and operations teams. Tools like Slack, Jira, and Confluence help teams stay aligned.</a:t>
            </a:r>
          </a:p>
          <a:p>
            <a:r>
              <a:rPr lang="en-US" b="1" dirty="0"/>
              <a:t>End-to-End Responsibility</a:t>
            </a:r>
            <a:r>
              <a:rPr lang="en-US" dirty="0"/>
              <a:t>: Teams own the entire application lifecycle, from development to deployment, monitoring, and maintenance, fostering accountability and continuous improvement.</a:t>
            </a:r>
          </a:p>
          <a:p>
            <a:r>
              <a:rPr lang="en-US" b="1" dirty="0"/>
              <a:t>Continuous Improvement</a:t>
            </a:r>
            <a:r>
              <a:rPr lang="en-US" dirty="0"/>
              <a:t>: DevOps embraces the philosophy of incremental changes and learning from failures. Teams iterate rapidly, adapting based on real-time feedback.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55CC8-1B6E-B1CE-93BC-3878747B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662A1-CC98-A559-A4C5-8608DA05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1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7CF7-AACA-AD35-76C3-C80067ACB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713C-58D1-73E0-AB74-2FC2AED5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DevOps Lifecycle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0F06F-33BB-2F51-F45C-6C6B52AE5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Plan</a:t>
            </a:r>
            <a:r>
              <a:rPr lang="en-US" dirty="0"/>
              <a:t>: Teams establish requirements and outline development and release schedules.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Code</a:t>
            </a:r>
            <a:r>
              <a:rPr lang="en-US" dirty="0"/>
              <a:t>: Developers build and review code, focusing on modularity and quality.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Build</a:t>
            </a:r>
            <a:r>
              <a:rPr lang="en-US" dirty="0"/>
              <a:t>: The code is compiled and assembled into an executable format, automated with CI tools.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Test</a:t>
            </a:r>
            <a:r>
              <a:rPr lang="en-US" dirty="0"/>
              <a:t>: Automated testing ensures code quality, identifying issues early.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Release</a:t>
            </a:r>
            <a:r>
              <a:rPr lang="en-US" dirty="0"/>
              <a:t>: Approved changes are pushed to production.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4903C-E8F5-93DE-D18D-5D77C52F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99875-D8DC-B01C-D87B-E877F9F5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18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83FF-923E-886E-160F-102B2CD7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FF89B-AC60-C45B-5AA3-8519A334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DevOps Lifecycle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148EF-C5DF-8045-746A-5C9C8899F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b="1" dirty="0"/>
              <a:t>Deploy</a:t>
            </a:r>
            <a:r>
              <a:rPr lang="en-US" dirty="0"/>
              <a:t>: Changes are deployed into a live environment, often using tools like Docker or Kubernetes for scalability.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b="1" dirty="0"/>
              <a:t>Operate</a:t>
            </a:r>
            <a:r>
              <a:rPr lang="en-US" dirty="0"/>
              <a:t>: Continuous monitoring of applications to ensure uptime, security, and performance.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b="1" dirty="0"/>
              <a:t>Monitor and Feedback</a:t>
            </a:r>
            <a:r>
              <a:rPr lang="en-US" dirty="0"/>
              <a:t>: Gathering data on application performance and user experience to inform future releases.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F53AF-88D0-A9E5-15B7-F3AF01B2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0451F-0ECF-11E8-4376-DC8CB325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32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5BB6-012C-0678-7F77-7848EBBF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723FD-25C1-FF99-7D1D-449682820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DevOps 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926D9-F76B-977C-030A-99C3B299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Version Control</a:t>
            </a:r>
            <a:r>
              <a:rPr lang="en-US" dirty="0"/>
              <a:t>: </a:t>
            </a:r>
            <a:r>
              <a:rPr lang="en-US" i="1" dirty="0"/>
              <a:t>Git</a:t>
            </a:r>
            <a:r>
              <a:rPr lang="en-US" dirty="0"/>
              <a:t>, GitHub, GitLab – for collaborative code management.</a:t>
            </a:r>
          </a:p>
          <a:p>
            <a:r>
              <a:rPr lang="en-US" b="1" dirty="0"/>
              <a:t>CI/CD</a:t>
            </a:r>
            <a:r>
              <a:rPr lang="en-US" dirty="0"/>
              <a:t>: </a:t>
            </a:r>
            <a:r>
              <a:rPr lang="en-US" i="1" dirty="0"/>
              <a:t>Jenkins</a:t>
            </a:r>
            <a:r>
              <a:rPr lang="en-US" dirty="0"/>
              <a:t>, Travis CI, GitLab CI/CD – to automate build, test, and deployment.</a:t>
            </a:r>
          </a:p>
          <a:p>
            <a:r>
              <a:rPr lang="en-US" b="1" dirty="0"/>
              <a:t>Configuration Management</a:t>
            </a:r>
            <a:r>
              <a:rPr lang="en-US" dirty="0"/>
              <a:t>: </a:t>
            </a:r>
            <a:r>
              <a:rPr lang="en-US" i="1" dirty="0"/>
              <a:t>Ansible</a:t>
            </a:r>
            <a:r>
              <a:rPr lang="en-US" dirty="0"/>
              <a:t>, Chef, Puppet – to automate infrastructure configurations.</a:t>
            </a:r>
          </a:p>
          <a:p>
            <a:r>
              <a:rPr lang="en-US" b="1" dirty="0"/>
              <a:t>Containerization</a:t>
            </a:r>
            <a:r>
              <a:rPr lang="en-US" dirty="0"/>
              <a:t>: </a:t>
            </a:r>
            <a:r>
              <a:rPr lang="en-US" i="1" dirty="0"/>
              <a:t>Docker</a:t>
            </a:r>
            <a:r>
              <a:rPr lang="en-US" dirty="0"/>
              <a:t> – for creating isolated, portable application environments.</a:t>
            </a:r>
          </a:p>
          <a:p>
            <a:r>
              <a:rPr lang="en-US" b="1" dirty="0"/>
              <a:t>Orchestration</a:t>
            </a:r>
            <a:r>
              <a:rPr lang="en-US" dirty="0"/>
              <a:t>: </a:t>
            </a:r>
            <a:r>
              <a:rPr lang="en-US" i="1" dirty="0"/>
              <a:t>Kubernetes</a:t>
            </a:r>
            <a:r>
              <a:rPr lang="en-US" dirty="0"/>
              <a:t> – to manage and scale containerized applications.</a:t>
            </a:r>
          </a:p>
          <a:p>
            <a:r>
              <a:rPr lang="en-US" b="1" dirty="0"/>
              <a:t>Monitoring and Logging</a:t>
            </a:r>
            <a:r>
              <a:rPr lang="en-US" dirty="0"/>
              <a:t>: Prometheus, Grafana, ELK Stack – to track application performance and capture logs.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0D2F8-8228-AA61-D6D4-958C4A5C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DA216-0ADB-6D56-3D2D-EEDB3C10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28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CAE6-CED1-3041-DC80-BB8F36BA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5A2E-7B9F-9766-165D-F495D5CD1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Benefits of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85F8-347B-DAC1-1580-5B7D5D66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Speed and Agility</a:t>
            </a:r>
            <a:r>
              <a:rPr lang="en-US" dirty="0"/>
              <a:t>: With streamlined processes, teams can deliver features faster, adapt to user needs, and respond to feedback promptly.</a:t>
            </a:r>
          </a:p>
          <a:p>
            <a:r>
              <a:rPr lang="en-US" b="1" dirty="0"/>
              <a:t>Reduced Failures and Faster Recovery</a:t>
            </a:r>
            <a:r>
              <a:rPr lang="en-US" dirty="0"/>
              <a:t>: Automation minimizes human error, and monitoring helps detect and address issues in real-time.</a:t>
            </a:r>
          </a:p>
          <a:p>
            <a:r>
              <a:rPr lang="en-US" b="1" dirty="0"/>
              <a:t>Improved Collaboration</a:t>
            </a:r>
            <a:r>
              <a:rPr lang="en-US" dirty="0"/>
              <a:t>: By fostering a culture of shared responsibility, teams communicate more effectively, leading to smoother development cycles.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15E36-A85D-0EF4-4CA7-FC47A3DC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B1DDD-EF56-7FFD-CE27-CF862B30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91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788CB-90F6-607B-2D1A-05D2A7F4A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CF0F-100E-D579-6166-EECB075E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DevOps Challenges and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388E-5654-86D9-86EA-9F3137FC3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Cultural Shift</a:t>
            </a:r>
            <a:r>
              <a:rPr lang="en-US" dirty="0"/>
              <a:t>: Moving to a DevOps model often requires changing organizational culture, which may involve training, adjusting roles, and overcoming resistance.</a:t>
            </a:r>
          </a:p>
          <a:p>
            <a:r>
              <a:rPr lang="en-US" b="1" dirty="0"/>
              <a:t>Tool Integration</a:t>
            </a:r>
            <a:r>
              <a:rPr lang="en-US" dirty="0"/>
              <a:t>: With many tools available, selecting and integrating them into a unified DevOps pipeline can be complex.</a:t>
            </a:r>
          </a:p>
          <a:p>
            <a:r>
              <a:rPr lang="en-US" b="1" dirty="0"/>
              <a:t>Security (</a:t>
            </a:r>
            <a:r>
              <a:rPr lang="en-US" b="1" dirty="0" err="1"/>
              <a:t>DevSecOps</a:t>
            </a:r>
            <a:r>
              <a:rPr lang="en-US" b="1" dirty="0"/>
              <a:t>)</a:t>
            </a:r>
            <a:r>
              <a:rPr lang="en-US" dirty="0"/>
              <a:t>: Integrating security practices into DevOps (</a:t>
            </a:r>
            <a:r>
              <a:rPr lang="en-US" dirty="0" err="1"/>
              <a:t>DevSecOps</a:t>
            </a:r>
            <a:r>
              <a:rPr lang="en-US" dirty="0"/>
              <a:t>) is essential to ensure that security is considered at every development stage.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889A8-F145-52EE-8303-E0CD84E6D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80B4D-17A2-D080-603E-BDD37377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6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FF6F-A38C-0C3E-5299-A3AACF8C4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8745-E553-56FA-B209-2E90FBAF7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Real-World Applications of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C2D37-DB25-2080-B754-4C1547AB1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E-commerce Platforms</a:t>
            </a:r>
            <a:r>
              <a:rPr lang="en-US" dirty="0"/>
              <a:t>: DevOps enables e-commerce platforms to deploy updates rapidly, ensuring high availability and efficient scaling during peak traffic periods.</a:t>
            </a:r>
          </a:p>
          <a:p>
            <a:r>
              <a:rPr lang="en-US" b="1" dirty="0"/>
              <a:t>Financial Services</a:t>
            </a:r>
            <a:r>
              <a:rPr lang="en-US" dirty="0"/>
              <a:t>: DevOps automation supports secure, frequent software releases in regulated environments, where stability and compliance are critical.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E3E7E-1991-12F3-3ABB-506A698DE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49E3E-64E8-6E6B-6EBB-54005F05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48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4A60-EAF2-E5DF-9396-641B38A1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1CF1-D993-351F-9168-38BB4349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Real-World Applications of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BF22-415E-725D-AEFD-3F374AC9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Healthcare and MedTech</a:t>
            </a:r>
            <a:r>
              <a:rPr lang="en-US" dirty="0"/>
              <a:t>: DevOps practices help in rapidly deploying updates while ensuring compliance with stringent healthcare regulations.</a:t>
            </a:r>
          </a:p>
          <a:p>
            <a:r>
              <a:rPr lang="en-US" b="1" dirty="0"/>
              <a:t>Media and Streaming Services</a:t>
            </a:r>
            <a:r>
              <a:rPr lang="en-US" dirty="0"/>
              <a:t>: To handle high user demand and ensure a seamless experience, streaming services rely on DevOps to manage resources efficiently and deploy updates smoothly.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36880-2A54-7F79-F844-3B0597CA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3C72-D8C1-7B86-E818-6591C333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0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EC3AD-EB04-2928-7A75-BCCAF24C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5DCE-B407-A3EB-0F1A-A5C21784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Career Opportunities in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D302C-E193-9CB0-2209-FBAF61E1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DevOps Engineer</a:t>
            </a:r>
            <a:r>
              <a:rPr lang="en-US" dirty="0"/>
              <a:t>: Specializes in building and maintaining the DevOps pipeline, from CI/CD to monitoring and logging.</a:t>
            </a:r>
          </a:p>
          <a:p>
            <a:r>
              <a:rPr lang="en-US" b="1" dirty="0"/>
              <a:t>Site Reliability Engineer (SRE)</a:t>
            </a:r>
            <a:r>
              <a:rPr lang="en-US" dirty="0"/>
              <a:t>: Focuses on system reliability and scalability, ensuring applications remain performant and resilient.</a:t>
            </a:r>
          </a:p>
          <a:p>
            <a:r>
              <a:rPr lang="en-US" b="1" dirty="0"/>
              <a:t>Cloud Architect</a:t>
            </a:r>
            <a:r>
              <a:rPr lang="en-US" dirty="0"/>
              <a:t>: Designs cloud infrastructure and integrates DevOps practices within it.</a:t>
            </a:r>
          </a:p>
          <a:p>
            <a:r>
              <a:rPr lang="en-US" b="1" dirty="0"/>
              <a:t>Automation Engineer</a:t>
            </a:r>
            <a:r>
              <a:rPr lang="en-US" dirty="0"/>
              <a:t>: Develops automated testing and deployment scripts, streamlining processes across the pipeline.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32CCA-4079-51CB-50B7-6DB53A5A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641F0-E2E8-08EC-A40B-2E7F4F12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99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24A12-70D2-3793-6E47-8F637262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4B9F-AEA7-F5DB-6D35-038E5196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41D3D-4D77-6907-A6C7-6E5EAF6E8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Continuous Integration (CI)</a:t>
            </a:r>
            <a:r>
              <a:rPr lang="en-US" dirty="0"/>
              <a:t> is the practice of frequently integrating code changes into a shared repository, where each integration is automatically verified by </a:t>
            </a:r>
            <a:r>
              <a:rPr lang="en-US" b="1" dirty="0"/>
              <a:t>automated tests</a:t>
            </a:r>
            <a:r>
              <a:rPr lang="en-US" dirty="0"/>
              <a:t>. CI ensures that code changes are reliable, bug-free, and ready to deploy.</a:t>
            </a:r>
          </a:p>
          <a:p>
            <a:r>
              <a:rPr lang="en-US" b="1" dirty="0"/>
              <a:t>Continuous Delivery (CD)</a:t>
            </a:r>
            <a:r>
              <a:rPr lang="en-US" dirty="0"/>
              <a:t> builds upon CI by automatically preparing and </a:t>
            </a:r>
            <a:r>
              <a:rPr lang="en-US" b="1" dirty="0"/>
              <a:t>packaging code </a:t>
            </a:r>
            <a:r>
              <a:rPr lang="en-US" dirty="0"/>
              <a:t>for production </a:t>
            </a:r>
            <a:r>
              <a:rPr lang="en-US" b="1" dirty="0"/>
              <a:t>release</a:t>
            </a:r>
            <a:r>
              <a:rPr lang="en-US" dirty="0"/>
              <a:t>. CD ensures that code is always ready for deployment with minimal manual intervention.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B5539-3CD1-F9D3-1403-70FAC044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B5335-7FE4-6DA5-5720-A5A23BF5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95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C2711-1901-28AB-579C-DDCDD515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AC63-CB47-D9CE-ECE7-D2C84769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9A2F9-E529-B8E5-40A9-A48B0A5B2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Code changes are pushed to a version control system like Git.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Code is compiled and transformed into an executable format, often triggered by a change in the code repository.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code undergoes unit, integration, and possibly system testing to identify issues.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Tested code is packaged as a deployable artifact and stored in an artifact repository.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Code is deployed to staging or production environments, often with the option for a final manual approval in CD workflows.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79FE5-10B4-991E-A2B6-72A1AB8A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55DBB-E23C-D4E1-3641-63E553AA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65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39CEF-2071-6CE4-A6A7-9731D022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89415-61BC-8A01-0DD3-E439B09A8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F0B60-CFAD-E5EF-35F9-5A6EB648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Implementing CI/CD involves setting up a pipeline that automates the stages of code integration, testing, and delivery. </a:t>
            </a:r>
          </a:p>
          <a:p>
            <a:r>
              <a:rPr lang="en-US" b="1" dirty="0"/>
              <a:t>Set Up a Version Control System (VCS)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a version control system like </a:t>
            </a:r>
            <a:r>
              <a:rPr lang="en-US" b="1" dirty="0"/>
              <a:t>Git</a:t>
            </a:r>
            <a:r>
              <a:rPr lang="en-US" dirty="0"/>
              <a:t> (e.g., GitHub, GitLab, Bitbucket) to manage code.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Branching Strategy</a:t>
            </a:r>
            <a:r>
              <a:rPr lang="en-US" dirty="0"/>
              <a:t>: Establish a branching strategy (e.g., feature branches, main/master branch) that aligns with your development process.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6279F-D4ED-9CF3-8464-3B0E843D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E0EF2-6D62-2DED-C282-3B90A241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87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71D0A-6319-1DDC-C4F1-D08283D2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B04B-2B68-2CB3-FE15-3FE27E60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DD228-F1B6-D51B-D418-D1A3B03F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Configure a CI/CD Tool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Choose a CI/CD tool like </a:t>
            </a:r>
            <a:r>
              <a:rPr lang="en-US" b="1" dirty="0"/>
              <a:t>Jenkins</a:t>
            </a:r>
            <a:r>
              <a:rPr lang="en-US" dirty="0"/>
              <a:t>, </a:t>
            </a:r>
            <a:r>
              <a:rPr lang="en-US" b="1" dirty="0"/>
              <a:t>GitLab CI/CD</a:t>
            </a:r>
            <a:r>
              <a:rPr lang="en-US" dirty="0"/>
              <a:t>, </a:t>
            </a:r>
            <a:r>
              <a:rPr lang="en-US" b="1" dirty="0" err="1"/>
              <a:t>CircleCI</a:t>
            </a:r>
            <a:r>
              <a:rPr lang="en-US" dirty="0"/>
              <a:t>, </a:t>
            </a:r>
            <a:r>
              <a:rPr lang="en-US" b="1" dirty="0"/>
              <a:t>Travis CI</a:t>
            </a:r>
            <a:r>
              <a:rPr lang="en-US" dirty="0"/>
              <a:t>, or </a:t>
            </a:r>
            <a:r>
              <a:rPr lang="en-US" b="1" dirty="0"/>
              <a:t>GitHub Actions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CI/CD tool will act as the orchestrator, running automated jobs whenever code changes are pushed to the repository.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DD66D-1F78-B6E1-AFAD-2341732F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5CA72-C7C8-2FC2-2864-D766D5AF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42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55436-B2CF-8020-9755-99B32684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BF877-4AE0-6AFD-7F32-A7648903C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84959-91AF-C097-C5AB-FFFA6EED0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Define a CI/CD Pipeline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pipeline represents the sequence of automated steps (build, test, and deploy).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Write a configuration file to define your pipeline (e.g., .</a:t>
            </a:r>
            <a:r>
              <a:rPr lang="en-US" dirty="0" err="1"/>
              <a:t>gitlab-ci.yml</a:t>
            </a:r>
            <a:r>
              <a:rPr lang="en-US" dirty="0"/>
              <a:t> for GitLab, .</a:t>
            </a:r>
            <a:r>
              <a:rPr lang="en-US" dirty="0" err="1"/>
              <a:t>github</a:t>
            </a:r>
            <a:r>
              <a:rPr lang="en-US" dirty="0"/>
              <a:t>/workflows/</a:t>
            </a:r>
            <a:r>
              <a:rPr lang="en-US" dirty="0" err="1"/>
              <a:t>ci.yml</a:t>
            </a:r>
            <a:r>
              <a:rPr lang="en-US" dirty="0"/>
              <a:t> for GitHub Actions).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This file contains instructions for each stage, including commands to build, test, and deploy your application.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864C2-D80D-01FF-877B-24382503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022D4-305C-88D5-19B3-55DEEF94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8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F306-2D09-6AE6-B602-CE060C29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848D-4C8D-8C3C-E3E3-558F683DE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A044-16D8-A18F-B16D-235A3CD72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Automate the Build Process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Compile and Build</a:t>
            </a:r>
            <a:r>
              <a:rPr lang="en-US" dirty="0"/>
              <a:t>: Set up the pipeline to automatically compile code when changes are pushed.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Dependencies</a:t>
            </a:r>
            <a:r>
              <a:rPr lang="en-US" dirty="0"/>
              <a:t>: Install dependencies (e.g., </a:t>
            </a:r>
            <a:r>
              <a:rPr lang="en-US" dirty="0" err="1"/>
              <a:t>npm</a:t>
            </a:r>
            <a:r>
              <a:rPr lang="en-US" dirty="0"/>
              <a:t> for JavaScript projects, Maven for Java projects).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Containerization</a:t>
            </a:r>
            <a:r>
              <a:rPr lang="en-US" dirty="0"/>
              <a:t> (optional): If you’re using Docker, create a </a:t>
            </a:r>
            <a:r>
              <a:rPr lang="en-US" dirty="0" err="1"/>
              <a:t>Dockerfile</a:t>
            </a:r>
            <a:r>
              <a:rPr lang="en-US" dirty="0"/>
              <a:t> to containerize the application. The pipeline can then build Docker images.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A7DCA-3A5A-A088-67C8-52B88C66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2EE6D-B981-E43E-B015-2FBD47EC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61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DE88-C3E4-5B61-8CED-6A90A1D1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6F3DD-E9F1-9389-35AC-931659F1C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6CA9E-0F40-272B-64A3-CB7ACB063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Set Up Automated Testing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Unit Tests</a:t>
            </a:r>
            <a:r>
              <a:rPr lang="en-US" dirty="0"/>
              <a:t>: Run unit tests to verify individual components.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Integration Tests</a:t>
            </a:r>
            <a:r>
              <a:rPr lang="en-US" dirty="0"/>
              <a:t>: Test interactions between modules.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End-to-End Tests</a:t>
            </a:r>
            <a:r>
              <a:rPr lang="en-US" dirty="0"/>
              <a:t>: Simulate real user interactions in a staging environment (often done later in the pipeline).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Test Coverage</a:t>
            </a:r>
            <a:r>
              <a:rPr lang="en-US" dirty="0"/>
              <a:t>: Many CI/CD tools support test coverage reporting to help identify areas lacking test coverage.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B343E-28C7-12F7-97EF-85F0CA91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E4F6-DBAC-9E3D-05F3-C5A041DF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03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BCABB-A456-7A3A-4AC3-7BC5E664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A633-044F-7760-3DA9-E1682D10E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7FD3F-684E-2FAF-B8F8-396E4E0F7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Package the Application (Optional)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Package the application or create deployable artifacts (e.g., .jar for Java applications, Docker images, etc.).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artifact repositories</a:t>
            </a:r>
            <a:r>
              <a:rPr lang="en-US" dirty="0"/>
              <a:t> (e.g., </a:t>
            </a:r>
            <a:r>
              <a:rPr lang="en-US" dirty="0" err="1"/>
              <a:t>JFrog</a:t>
            </a:r>
            <a:r>
              <a:rPr lang="en-US" dirty="0"/>
              <a:t> Artifactory, Nexus) to store and version these packages.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4F84E-09C7-56AD-86F1-6F45CF6A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CF6FC-41EC-8D7C-630B-1FC7A6F7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99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3AC5-2A05-5727-2824-07AE911D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70B48-7E7E-71E8-9EED-C4596C4C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F009B-3830-5227-1C6A-BAC0DB8E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Deploy to a Staging Environment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deployment tools like </a:t>
            </a:r>
            <a:r>
              <a:rPr lang="en-US" b="1" dirty="0"/>
              <a:t>Docker Compose</a:t>
            </a:r>
            <a:r>
              <a:rPr lang="en-US" dirty="0"/>
              <a:t> (for containerized apps) or </a:t>
            </a:r>
            <a:r>
              <a:rPr lang="en-US" b="1" dirty="0"/>
              <a:t>Terraform</a:t>
            </a:r>
            <a:r>
              <a:rPr lang="en-US" dirty="0"/>
              <a:t> (for infrastructure as code).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Deploying to staging enables the team to test the application in an environment similar to production.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926B4-0B38-D47E-9F31-850AB0FC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74AF2-BCF3-8288-062E-E78492A7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60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1B7F-5961-A8B7-68E8-9AF46DE9C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5CAD-2CB8-CF15-DCEB-324E1BDCB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83CB7-1928-711E-5D59-09AE998A4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Automate the Deployment Process (CD)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Continuous Deployment (Optional)</a:t>
            </a:r>
            <a:r>
              <a:rPr lang="en-US" dirty="0"/>
              <a:t>: Configure the pipeline to automatically deploy to production after successful tests. Continuous deployment pushes every change to production automatically.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Continuous Delivery</a:t>
            </a:r>
            <a:r>
              <a:rPr lang="en-US" dirty="0"/>
              <a:t>: Configure the pipeline to prepare a release artifact, but require manual approval to deploy to production.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A9BA9-EB66-AE1C-2605-01F53881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A6A28-630F-5197-79AA-F66D1F3E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48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B65E6-FEA9-58F4-B7E3-211828E9E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CAD4-117D-1952-ECDA-8CE3BAE4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85540-783F-9062-6C42-9BD686E93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Monitoring and Logging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Set up monitoring tools (e.g., </a:t>
            </a:r>
            <a:r>
              <a:rPr lang="en-US" b="1" dirty="0"/>
              <a:t>Prometheus</a:t>
            </a:r>
            <a:r>
              <a:rPr lang="en-US" dirty="0"/>
              <a:t>, </a:t>
            </a:r>
            <a:r>
              <a:rPr lang="en-US" b="1" dirty="0"/>
              <a:t>Grafana</a:t>
            </a:r>
            <a:r>
              <a:rPr lang="en-US" dirty="0"/>
              <a:t>) and logging tools (e.g., </a:t>
            </a:r>
            <a:r>
              <a:rPr lang="en-US" b="1" dirty="0"/>
              <a:t>ELK Stack</a:t>
            </a:r>
            <a:r>
              <a:rPr lang="en-U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Monitoring helps you track application performance, and logging captures errors to diagnose and resolve issues.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82BBC-10E9-E272-8736-03FAD719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8D22F-5334-82EC-229B-E3E1D62B7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96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AAFE-F2BF-06E8-0D14-21894AC2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7246-1F8B-E983-796D-ED2D3D24E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D634B-E4CC-ECF0-A31E-4EC6F78C8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Add Notifications and Alerts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Integrate alerts with tools like </a:t>
            </a:r>
            <a:r>
              <a:rPr lang="en-US" b="1" dirty="0"/>
              <a:t>Slack</a:t>
            </a:r>
            <a:r>
              <a:rPr lang="en-US" dirty="0"/>
              <a:t> or </a:t>
            </a:r>
            <a:r>
              <a:rPr lang="en-US" b="1" dirty="0"/>
              <a:t>email notifications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CI/CD tool can alert the team if a build fails, tests don’t pass, or if deployment issues arise.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FAABA-928B-08C4-EBFF-39ED9386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F4B9F-5F9B-DDA1-9552-B4CA77EE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43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A0EF-F655-B8F1-F6A1-8AA7CDA1C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CF5C-BC92-BAD7-C539-F33F9B4BD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>
            <a:normAutofit/>
          </a:bodyPr>
          <a:lstStyle/>
          <a:p>
            <a:r>
              <a:rPr lang="en-US" dirty="0"/>
              <a:t>Example .gitlab-ci.yml file for a simple Node.js application with CI/CD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3B553-79EC-6D0F-D490-8B195228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5010466" cy="466343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stages: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- build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- test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- deploy</a:t>
            </a:r>
          </a:p>
          <a:p>
            <a:pPr>
              <a:lnSpc>
                <a:spcPct val="120000"/>
              </a:lnSpc>
            </a:pPr>
            <a:endParaRPr lang="en-US" i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build: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stage: build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script: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- </a:t>
            </a:r>
            <a:r>
              <a:rPr lang="en-US" i="1" dirty="0" err="1">
                <a:solidFill>
                  <a:srgbClr val="FF0000"/>
                </a:solidFill>
              </a:rPr>
              <a:t>npm</a:t>
            </a:r>
            <a:r>
              <a:rPr lang="en-US" i="1" dirty="0">
                <a:solidFill>
                  <a:srgbClr val="FF0000"/>
                </a:solidFill>
              </a:rPr>
              <a:t> install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- </a:t>
            </a:r>
            <a:r>
              <a:rPr lang="en-US" i="1" dirty="0" err="1">
                <a:solidFill>
                  <a:srgbClr val="FF0000"/>
                </a:solidFill>
              </a:rPr>
              <a:t>npm</a:t>
            </a:r>
            <a:r>
              <a:rPr lang="en-US" i="1" dirty="0">
                <a:solidFill>
                  <a:srgbClr val="FF0000"/>
                </a:solidFill>
              </a:rPr>
              <a:t> run build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artifacts: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paths: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  - </a:t>
            </a:r>
            <a:r>
              <a:rPr lang="en-US" i="1" dirty="0" err="1">
                <a:solidFill>
                  <a:srgbClr val="FF0000"/>
                </a:solidFill>
              </a:rPr>
              <a:t>dist</a:t>
            </a:r>
            <a:r>
              <a:rPr lang="en-US" i="1" dirty="0">
                <a:solidFill>
                  <a:srgbClr val="FF0000"/>
                </a:solidFill>
              </a:rPr>
              <a:t>/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BE379-1302-DC5E-840C-AF9F345D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0A038-E5F1-FA6A-726D-61337058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656B14-F97D-65B9-36D4-A7AF04866BCA}"/>
              </a:ext>
            </a:extLst>
          </p:cNvPr>
          <p:cNvSpPr txBox="1">
            <a:spLocks/>
          </p:cNvSpPr>
          <p:nvPr/>
        </p:nvSpPr>
        <p:spPr>
          <a:xfrm>
            <a:off x="6206809" y="1828805"/>
            <a:ext cx="4461191" cy="4663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test: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stage: test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script: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- </a:t>
            </a:r>
            <a:r>
              <a:rPr lang="en-US" i="1" dirty="0" err="1">
                <a:solidFill>
                  <a:srgbClr val="FF0000"/>
                </a:solidFill>
              </a:rPr>
              <a:t>npm</a:t>
            </a:r>
            <a:r>
              <a:rPr lang="en-US" i="1" dirty="0">
                <a:solidFill>
                  <a:srgbClr val="FF0000"/>
                </a:solidFill>
              </a:rPr>
              <a:t> test</a:t>
            </a:r>
          </a:p>
          <a:p>
            <a:pPr>
              <a:lnSpc>
                <a:spcPct val="120000"/>
              </a:lnSpc>
            </a:pPr>
            <a:endParaRPr lang="en-US" i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deploy: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stage: deploy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environment: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name: production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script: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- echo "Deploying to production"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- </a:t>
            </a:r>
            <a:r>
              <a:rPr lang="en-US" i="1" dirty="0" err="1">
                <a:solidFill>
                  <a:srgbClr val="FF0000"/>
                </a:solidFill>
              </a:rPr>
              <a:t>npm</a:t>
            </a:r>
            <a:r>
              <a:rPr lang="en-US" i="1" dirty="0">
                <a:solidFill>
                  <a:srgbClr val="FF0000"/>
                </a:solidFill>
              </a:rPr>
              <a:t> run deploy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only:</a:t>
            </a: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FF0000"/>
                </a:solidFill>
              </a:rPr>
              <a:t>    - 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659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EC16C-8D52-165C-7944-B091FD74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B502-868C-76C3-73B9-73189B03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Example .gitlab-ci.yml file for a simple Node.js application with CI/CD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ADCC8-DF91-3462-6168-589CC45E0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This pipeline:</a:t>
            </a:r>
          </a:p>
          <a:p>
            <a:pPr lvl="1"/>
            <a:r>
              <a:rPr lang="en-US" dirty="0"/>
              <a:t>Builds the application and saves the build output as artifacts.</a:t>
            </a:r>
          </a:p>
          <a:p>
            <a:pPr lvl="1"/>
            <a:r>
              <a:rPr lang="en-US" dirty="0"/>
              <a:t>Tests the application using </a:t>
            </a:r>
            <a:r>
              <a:rPr lang="en-US" dirty="0" err="1"/>
              <a:t>npm</a:t>
            </a:r>
            <a:r>
              <a:rPr lang="en-US" dirty="0"/>
              <a:t> test.</a:t>
            </a:r>
          </a:p>
          <a:p>
            <a:pPr lvl="1"/>
            <a:r>
              <a:rPr lang="en-US" dirty="0"/>
              <a:t>Deploys the application when changes are merged into the main branch.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D65EE-4E4E-0061-0B4D-0B97D17D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A8BCA-F467-C812-77E6-25EA90BA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62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A0F7-7762-C26D-BEDB-37A0721B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E560-1A90-CB54-CA80-7F985EA2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60C10-D6DA-67A6-508C-C5E041CE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Refine and Maintain the CI/CD Pipeline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Pipeline Optimization</a:t>
            </a:r>
            <a:r>
              <a:rPr lang="en-US" dirty="0"/>
              <a:t>: Review the pipeline for optimization opportunities (e.g., caching dependencies to speed up builds).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Ensure the pipeline can scale as the project grows by adding resources or distributed runners.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Security</a:t>
            </a:r>
            <a:r>
              <a:rPr lang="en-US" dirty="0"/>
              <a:t>: Incorporate security scans (e.g., dependency scanning, static analysis) in the pipeline.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49294-636C-4163-6EF8-489DA525D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9169E-0D84-BCD7-1615-8D2F83CC3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98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81CC7-8FD6-C26F-ED90-9AEE4A28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4AE1-D734-FA5A-0A1E-AA3C00F4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7E541-5CF3-F2DC-B28E-599F3E746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Refine and Maintain the CI/CD Pipeline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Pipeline Optimization</a:t>
            </a:r>
            <a:r>
              <a:rPr lang="en-US" dirty="0"/>
              <a:t>: Review the pipeline for optimization opportunities (e.g., caching dependencies to speed up builds).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Ensure the pipeline can scale as the project grows by adding resources or distributed runners.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Security</a:t>
            </a:r>
            <a:r>
              <a:rPr lang="en-US" dirty="0"/>
              <a:t>: Incorporate security scans (e.g., dependency scanning, static analysis) in the pipeline.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31C6D-DA91-D940-9356-76F85E7B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48601-58C7-82AF-745F-FC55986A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15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Setup</a:t>
            </a:r>
            <a:br>
              <a:rPr lang="en-US" dirty="0"/>
            </a:br>
            <a:r>
              <a:rPr lang="en-US" dirty="0"/>
              <a:t>Server Management </a:t>
            </a:r>
            <a:r>
              <a:rPr lang="en-US"/>
              <a:t>in Linux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</TotalTime>
  <Words>2325</Words>
  <Application>Microsoft Office PowerPoint</Application>
  <PresentationFormat>Widescreen</PresentationFormat>
  <Paragraphs>227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1: Introduction (3hrs)</vt:lpstr>
      <vt:lpstr>DevOps</vt:lpstr>
      <vt:lpstr>Scope of DevOps</vt:lpstr>
      <vt:lpstr>Scope of DevOps</vt:lpstr>
      <vt:lpstr>Applications of DevOps</vt:lpstr>
      <vt:lpstr>Applications of DevOps</vt:lpstr>
      <vt:lpstr>Key Principles of DevOps</vt:lpstr>
      <vt:lpstr>DevOps Lifecycle Phases</vt:lpstr>
      <vt:lpstr>DevOps Lifecycle Phases</vt:lpstr>
      <vt:lpstr>DevOps Tools and Technologies</vt:lpstr>
      <vt:lpstr>Benefits of DevOps</vt:lpstr>
      <vt:lpstr>DevOps Challenges and Considerations</vt:lpstr>
      <vt:lpstr>Real-World Applications of DevOps</vt:lpstr>
      <vt:lpstr>Real-World Applications of DevOps</vt:lpstr>
      <vt:lpstr>Career Opportunities in DevOps</vt:lpstr>
      <vt:lpstr>CI/CD</vt:lpstr>
      <vt:lpstr>CI/CD Process</vt:lpstr>
      <vt:lpstr>CI/CD Pipeline</vt:lpstr>
      <vt:lpstr>CI/CD Pipeline</vt:lpstr>
      <vt:lpstr>CI/CD Pipeline</vt:lpstr>
      <vt:lpstr>CI/CD Pipeline</vt:lpstr>
      <vt:lpstr>CI/CD Pipeline</vt:lpstr>
      <vt:lpstr>CI/CD Pipeline</vt:lpstr>
      <vt:lpstr>CI/CD Pipeline</vt:lpstr>
      <vt:lpstr>CI/CD Pipeline</vt:lpstr>
      <vt:lpstr>CI/CD Pipeline</vt:lpstr>
      <vt:lpstr>CI/CD Pipeline</vt:lpstr>
      <vt:lpstr>Example .gitlab-ci.yml file for a simple Node.js application with CI/CD setup</vt:lpstr>
      <vt:lpstr>Example .gitlab-ci.yml file for a simple Node.js application with CI/CD setup</vt:lpstr>
      <vt:lpstr>CI/CD Pipeline</vt:lpstr>
      <vt:lpstr>CI/CD Pipeline</vt:lpstr>
      <vt:lpstr>End of Lecture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85</cp:revision>
  <dcterms:created xsi:type="dcterms:W3CDTF">2021-11-23T15:23:57Z</dcterms:created>
  <dcterms:modified xsi:type="dcterms:W3CDTF">2025-06-02T06:44:06Z</dcterms:modified>
</cp:coreProperties>
</file>