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35"/>
  </p:notesMasterIdLst>
  <p:handoutMasterIdLst>
    <p:handoutMasterId r:id="rId36"/>
  </p:handoutMasterIdLst>
  <p:sldIdLst>
    <p:sldId id="296" r:id="rId2"/>
    <p:sldId id="288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285" r:id="rId33"/>
    <p:sldId id="28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82" d="100"/>
          <a:sy n="82" d="100"/>
        </p:scale>
        <p:origin x="27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263ABD7F-F57E-4E93-B75F-4FE790857AB3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Introduction to DevOps | Lecture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66C4-F225-468E-A890-509B0FFA2130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C170-52CA-441B-BF94-6475DD62730B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21056-BD77-47A0-B164-BEB467E61EAA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350-D249-4449-8D81-5A2B5C2442F4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D08A1D0-2307-4FE3-A6CC-66D585D9FA7C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DD82B5-028D-4BCF-9E62-B5B32EE0D30B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EECDA-94C8-471E-8870-4BFC5280E8B4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AC9A52B3-FD48-4555-9564-94846480314D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1: Introduction (3hrs)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Introduction to DevOps: Definition, Scope, Application</a:t>
            </a:r>
          </a:p>
          <a:p>
            <a:r>
              <a:rPr lang="en-US" dirty="0"/>
              <a:t>Introduction to Continuous Integration(CI) and Continuous Delivery(CD)</a:t>
            </a:r>
          </a:p>
          <a:p>
            <a:r>
              <a:rPr lang="en-US" b="1" dirty="0"/>
              <a:t>Prerequisites Info and Setup: Chocolatey (Windows), Homebrew (MacOS), AWS Setup, Linux Setup</a:t>
            </a:r>
          </a:p>
          <a:p>
            <a:r>
              <a:rPr lang="en-US" b="1" dirty="0"/>
              <a:t>Server Management in Linux</a:t>
            </a:r>
          </a:p>
          <a:p>
            <a:r>
              <a:rPr lang="en-US" dirty="0"/>
              <a:t>Basics of Networking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6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31E0-30CA-380A-1614-D6F76C77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ED28-4008-EED8-4C85-75ECF3AD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480B-3F72-905E-D6EC-A4AFFBE55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For setting up your development environment for DevOps, we have the prerequisites and setup instructions for various tools and platforms like </a:t>
            </a:r>
            <a:r>
              <a:rPr lang="en-US" b="1" dirty="0"/>
              <a:t>Chocolatey</a:t>
            </a:r>
            <a:r>
              <a:rPr lang="en-US" dirty="0"/>
              <a:t> (Windows), </a:t>
            </a:r>
            <a:r>
              <a:rPr lang="en-US" b="1" dirty="0"/>
              <a:t>Homebrew</a:t>
            </a:r>
            <a:r>
              <a:rPr lang="en-US" dirty="0"/>
              <a:t> (MacOS), </a:t>
            </a:r>
            <a:r>
              <a:rPr lang="en-US" b="1" dirty="0"/>
              <a:t>AWS</a:t>
            </a:r>
            <a:r>
              <a:rPr lang="en-US" dirty="0"/>
              <a:t>, and </a:t>
            </a:r>
            <a:r>
              <a:rPr lang="en-US" b="1" dirty="0"/>
              <a:t>Linux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6421-AD09-46AE-F1C3-65F9179D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F1493-1F3A-6994-6724-F4CCCF98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3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1E58-ED84-6734-4A81-95E6898A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1316-CE2E-6A9E-863E-C00C05881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Chocolatey Setup (Windows)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89BA6-B382-C6A8-6223-1EDEC703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Chocolatey is a package manager for Windows that helps automate the installation of software.</a:t>
            </a:r>
          </a:p>
          <a:p>
            <a:r>
              <a:rPr lang="en-US" b="1" dirty="0"/>
              <a:t>Steps:</a:t>
            </a:r>
          </a:p>
          <a:p>
            <a:r>
              <a:rPr lang="en-US" b="1" dirty="0"/>
              <a:t>Install Chocolatey</a:t>
            </a:r>
            <a:r>
              <a:rPr lang="en-US" dirty="0"/>
              <a:t>:</a:t>
            </a:r>
          </a:p>
          <a:p>
            <a:pPr marL="914400" lvl="1" indent="-457200"/>
            <a:r>
              <a:rPr lang="en-US" dirty="0"/>
              <a:t>Open PowerShell as Administrator and run the following command:</a:t>
            </a:r>
            <a:br>
              <a:rPr lang="en-US" dirty="0"/>
            </a:br>
            <a:r>
              <a:rPr lang="en-US" i="1" dirty="0">
                <a:solidFill>
                  <a:srgbClr val="FF0000"/>
                </a:solidFill>
              </a:rPr>
              <a:t>Set-</a:t>
            </a:r>
            <a:r>
              <a:rPr lang="en-US" i="1" dirty="0" err="1">
                <a:solidFill>
                  <a:srgbClr val="FF0000"/>
                </a:solidFill>
              </a:rPr>
              <a:t>ExecutionPolicy</a:t>
            </a:r>
            <a:r>
              <a:rPr lang="en-US" i="1" dirty="0">
                <a:solidFill>
                  <a:srgbClr val="FF0000"/>
                </a:solidFill>
              </a:rPr>
              <a:t> Bypass -Scope Process -Force; [</a:t>
            </a:r>
            <a:r>
              <a:rPr lang="en-US" i="1" dirty="0" err="1">
                <a:solidFill>
                  <a:srgbClr val="FF0000"/>
                </a:solidFill>
              </a:rPr>
              <a:t>System.Net.ServicePointManager</a:t>
            </a:r>
            <a:r>
              <a:rPr lang="en-US" i="1" dirty="0">
                <a:solidFill>
                  <a:srgbClr val="FF0000"/>
                </a:solidFill>
              </a:rPr>
              <a:t>]::</a:t>
            </a:r>
            <a:r>
              <a:rPr lang="en-US" i="1" dirty="0" err="1">
                <a:solidFill>
                  <a:srgbClr val="FF0000"/>
                </a:solidFill>
              </a:rPr>
              <a:t>SecurityProtocol</a:t>
            </a:r>
            <a:r>
              <a:rPr lang="en-US" i="1" dirty="0">
                <a:solidFill>
                  <a:srgbClr val="FF0000"/>
                </a:solidFill>
              </a:rPr>
              <a:t> = [</a:t>
            </a:r>
            <a:r>
              <a:rPr lang="en-US" i="1" dirty="0" err="1">
                <a:solidFill>
                  <a:srgbClr val="FF0000"/>
                </a:solidFill>
              </a:rPr>
              <a:t>System.Net.SecurityProtocolType</a:t>
            </a:r>
            <a:r>
              <a:rPr lang="en-US" i="1" dirty="0">
                <a:solidFill>
                  <a:srgbClr val="FF0000"/>
                </a:solidFill>
              </a:rPr>
              <a:t>]::Tls12; </a:t>
            </a:r>
            <a:r>
              <a:rPr lang="en-US" i="1" dirty="0" err="1">
                <a:solidFill>
                  <a:srgbClr val="FF0000"/>
                </a:solidFill>
              </a:rPr>
              <a:t>iex</a:t>
            </a:r>
            <a:r>
              <a:rPr lang="en-US" i="1" dirty="0">
                <a:solidFill>
                  <a:srgbClr val="FF0000"/>
                </a:solidFill>
              </a:rPr>
              <a:t> ((New-Object </a:t>
            </a:r>
            <a:r>
              <a:rPr lang="en-US" i="1" dirty="0" err="1">
                <a:solidFill>
                  <a:srgbClr val="FF0000"/>
                </a:solidFill>
              </a:rPr>
              <a:t>System.Net.WebClient</a:t>
            </a:r>
            <a:r>
              <a:rPr lang="en-US" i="1" dirty="0">
                <a:solidFill>
                  <a:srgbClr val="FF0000"/>
                </a:solidFill>
              </a:rPr>
              <a:t>).</a:t>
            </a:r>
            <a:r>
              <a:rPr lang="en-US" i="1" dirty="0" err="1">
                <a:solidFill>
                  <a:srgbClr val="FF0000"/>
                </a:solidFill>
              </a:rPr>
              <a:t>DownloadString</a:t>
            </a:r>
            <a:r>
              <a:rPr lang="en-US" i="1" dirty="0">
                <a:solidFill>
                  <a:srgbClr val="FF0000"/>
                </a:solidFill>
              </a:rPr>
              <a:t>('https://community.chocolatey.org/install.ps1'))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010F1-4212-2786-F256-EC96E743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3F2D8-13F8-76A9-2631-9661C563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7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9088-493A-664E-ED20-771124B5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CF63-4A05-4CDA-09D3-C61D229F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Chocolatey Setup (Windows)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88C4-79FD-6EAA-7FF1-DC3495492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Verify Installation:</a:t>
            </a:r>
          </a:p>
          <a:p>
            <a:pPr lvl="1"/>
            <a:r>
              <a:rPr lang="en-US" dirty="0"/>
              <a:t>Close the PowerShell window and reopen it as Administrator.</a:t>
            </a:r>
          </a:p>
          <a:p>
            <a:pPr lvl="1"/>
            <a:r>
              <a:rPr lang="en-US" dirty="0"/>
              <a:t>Run </a:t>
            </a:r>
            <a:r>
              <a:rPr lang="en-US" i="1" dirty="0">
                <a:solidFill>
                  <a:srgbClr val="FF0000"/>
                </a:solidFill>
              </a:rPr>
              <a:t>choco</a:t>
            </a:r>
            <a:r>
              <a:rPr lang="en-US" dirty="0"/>
              <a:t> to verify that Chocolatey is installed.</a:t>
            </a:r>
          </a:p>
          <a:p>
            <a:r>
              <a:rPr lang="en-US" dirty="0"/>
              <a:t>Install Tools via Chocolatey:</a:t>
            </a:r>
          </a:p>
          <a:p>
            <a:pPr lvl="1"/>
            <a:r>
              <a:rPr lang="en-US" dirty="0"/>
              <a:t>For example, to install Git, you can use: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choco install git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E4B6D-6466-51CE-7836-3BA37EB0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984D7-0E26-DA82-2F3F-5057F387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9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618D-5FBC-FC09-EBED-016AFEAA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1BAD-D10A-8B22-EC83-AA0309D6C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Homebrew Setup (MacOS)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8F73-03FE-4B05-183C-32D70C224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Homebrew is a package manager for macOS that makes it easy to install and manage software packages.</a:t>
            </a:r>
          </a:p>
          <a:p>
            <a:r>
              <a:rPr lang="en-US" b="1" dirty="0"/>
              <a:t>Steps:</a:t>
            </a:r>
          </a:p>
          <a:p>
            <a:r>
              <a:rPr lang="en-US" b="1" dirty="0"/>
              <a:t>Install Homebrew</a:t>
            </a:r>
            <a:r>
              <a:rPr lang="en-US" dirty="0"/>
              <a:t>:</a:t>
            </a:r>
          </a:p>
          <a:p>
            <a:pPr marL="800100" lvl="1" indent="-342900"/>
            <a:r>
              <a:rPr lang="en-US" dirty="0"/>
              <a:t>Open Terminal and run the following command:</a:t>
            </a:r>
            <a:br>
              <a:rPr lang="en-US" dirty="0"/>
            </a:br>
            <a:r>
              <a:rPr lang="en-US" i="1" dirty="0">
                <a:solidFill>
                  <a:srgbClr val="FF0000"/>
                </a:solidFill>
              </a:rPr>
              <a:t>/bin/bash -c "$(curl -</a:t>
            </a:r>
            <a:r>
              <a:rPr lang="en-US" i="1" dirty="0" err="1">
                <a:solidFill>
                  <a:srgbClr val="FF0000"/>
                </a:solidFill>
              </a:rPr>
              <a:t>fsSL</a:t>
            </a:r>
            <a:r>
              <a:rPr lang="en-US" i="1" dirty="0">
                <a:solidFill>
                  <a:srgbClr val="FF0000"/>
                </a:solidFill>
              </a:rPr>
              <a:t> https://raw.githubusercontent.com/Homebrew/install/HEAD/install.sh)"</a:t>
            </a:r>
          </a:p>
          <a:p>
            <a:pPr marL="800100" lvl="1" indent="-342900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19639-E661-E85B-2B6E-E4B71443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5956E-D8DC-FA6D-420D-B7BF6BCA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7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E1A1-D211-C40D-195E-E07EE726F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9704-B703-6D84-6820-52DB3C97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Homebrew Setup (MacOS)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A70B7-F2B9-E165-E3CC-A0CB6167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Verify Installation:</a:t>
            </a:r>
          </a:p>
          <a:p>
            <a:pPr lvl="1"/>
            <a:r>
              <a:rPr lang="en-US" dirty="0"/>
              <a:t>After installation, run: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brew –version</a:t>
            </a:r>
          </a:p>
          <a:p>
            <a:pPr lvl="1"/>
            <a:r>
              <a:rPr lang="en-US" dirty="0"/>
              <a:t>This should display the version of Homebrew installed.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b="1" dirty="0"/>
              <a:t>Install Tools via Homebrew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For example, to install Git, run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brew install git</a:t>
            </a:r>
          </a:p>
          <a:p>
            <a:pPr lvl="1"/>
            <a:endParaRPr lang="en-US" i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FF181-5758-EFC1-6F74-22B40A6C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D2C74-0BB7-80C5-10F6-A5F45EC7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8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44B02-BD95-7352-FD50-ADA25B0B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D9D9-99E9-DF79-982D-6D059E51E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32AC-573A-8F50-A2E1-52179A1A2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To set up AWS for DevOps work, you need to create an AWS account and configure the AWS CLI (Command Line Interface) to interact with your AWS resources.</a:t>
            </a:r>
          </a:p>
          <a:p>
            <a:r>
              <a:rPr lang="en-US" b="1" dirty="0"/>
              <a:t>Steps:</a:t>
            </a:r>
          </a:p>
          <a:p>
            <a:r>
              <a:rPr lang="en-US" b="1" dirty="0"/>
              <a:t>Create an AWS Account</a:t>
            </a:r>
            <a:r>
              <a:rPr lang="en-US" dirty="0"/>
              <a:t>:</a:t>
            </a:r>
          </a:p>
          <a:p>
            <a:pPr marL="800100" lvl="1" indent="-342900"/>
            <a:r>
              <a:rPr lang="en-US" dirty="0"/>
              <a:t>Go to </a:t>
            </a:r>
            <a:r>
              <a:rPr lang="en-US" dirty="0">
                <a:hlinkClick r:id="rId2"/>
              </a:rPr>
              <a:t>AWS Sign Up</a:t>
            </a:r>
            <a:r>
              <a:rPr lang="en-US" dirty="0"/>
              <a:t> and create an account if you don't have one.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BD9B2-AFE5-71BC-BA88-63D0DE55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B93-33D0-38AF-1F5D-99A04BB3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34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A7C6-6C45-B134-02AD-FA3AF0E4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92AA-1370-9F80-9EDA-537D91A6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4FDC1-66A9-BB43-87AD-186D683E6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Install AWS CLI:</a:t>
            </a:r>
          </a:p>
          <a:p>
            <a:r>
              <a:rPr lang="en-US" b="1" dirty="0"/>
              <a:t>For Windows</a:t>
            </a:r>
            <a:r>
              <a:rPr lang="en-US" dirty="0"/>
              <a:t>: You can install the AWS CLI via Chocolatey: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choco install </a:t>
            </a:r>
            <a:r>
              <a:rPr lang="en-US" i="1" dirty="0" err="1">
                <a:solidFill>
                  <a:srgbClr val="FF0000"/>
                </a:solidFill>
              </a:rPr>
              <a:t>awscli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b="1" dirty="0"/>
              <a:t>For MacOS</a:t>
            </a:r>
            <a:r>
              <a:rPr lang="en-US" dirty="0"/>
              <a:t>: Use Homebrew: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brew install </a:t>
            </a:r>
            <a:r>
              <a:rPr lang="en-US" i="1" dirty="0" err="1">
                <a:solidFill>
                  <a:srgbClr val="FF0000"/>
                </a:solidFill>
              </a:rPr>
              <a:t>awscli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b="1" dirty="0"/>
              <a:t>For Linux</a:t>
            </a:r>
            <a:r>
              <a:rPr lang="en-US" dirty="0"/>
              <a:t>: You can use apt or yum depending on your distribution. For example, on Ubuntu:</a:t>
            </a:r>
          </a:p>
          <a:p>
            <a:pPr lvl="1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apt-get install </a:t>
            </a:r>
            <a:r>
              <a:rPr lang="en-US" i="1" dirty="0" err="1">
                <a:solidFill>
                  <a:srgbClr val="FF0000"/>
                </a:solidFill>
              </a:rPr>
              <a:t>awscli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C0D23-035B-C11B-B4CF-9B99A7B4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97FE3-3120-CF84-FF02-324BAC2A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0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780C9-D202-1684-FD27-E2541661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6784-EA12-06B0-28A7-BFC7A3052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AWS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9B583-446F-5AB1-0ADF-60371731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Configure AWS CLI</a:t>
            </a:r>
            <a:r>
              <a:rPr lang="en-US" dirty="0"/>
              <a:t>:</a:t>
            </a:r>
          </a:p>
          <a:p>
            <a:r>
              <a:rPr lang="en-US" dirty="0"/>
              <a:t>Run the following command to configure your AWS credentials:</a:t>
            </a:r>
          </a:p>
          <a:p>
            <a:pPr lvl="1"/>
            <a:r>
              <a:rPr lang="en-US" i="1" dirty="0" err="1">
                <a:solidFill>
                  <a:srgbClr val="FF0000"/>
                </a:solidFill>
              </a:rPr>
              <a:t>aws</a:t>
            </a:r>
            <a:r>
              <a:rPr lang="en-US" i="1" dirty="0">
                <a:solidFill>
                  <a:srgbClr val="FF0000"/>
                </a:solidFill>
              </a:rPr>
              <a:t> configure</a:t>
            </a:r>
          </a:p>
          <a:p>
            <a:r>
              <a:rPr lang="en-US" dirty="0"/>
              <a:t>Enter your AWS Access Key ID, Secret Access Key, Default region, and Default output format when prompted.</a:t>
            </a:r>
          </a:p>
          <a:p>
            <a:r>
              <a:rPr lang="en-US" dirty="0"/>
              <a:t>These keys are found in your AWS Management Console.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FE9A3-A962-375C-03B0-93C41DF8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7B30F-E8A5-9405-178F-38F0CC1C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7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826C0-808A-AEF6-D189-DCDB75EC6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278A-CBCB-E44F-B09D-A1DB39E8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Linux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AD89-285F-4311-C952-6C271B798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For DevOps, you'll need to be familiar with Linux commands and systems administration. Many DevOps tools are Linux-based or work best in Linux environments. Here’s how to get started:</a:t>
            </a:r>
          </a:p>
          <a:p>
            <a:r>
              <a:rPr lang="en-US" b="1" dirty="0"/>
              <a:t>Steps:</a:t>
            </a:r>
          </a:p>
          <a:p>
            <a:r>
              <a:rPr lang="en-US" b="1" dirty="0"/>
              <a:t>Install Linux (if not already installed)</a:t>
            </a:r>
            <a:r>
              <a:rPr lang="en-US" dirty="0"/>
              <a:t>:</a:t>
            </a:r>
          </a:p>
          <a:p>
            <a:pPr marL="800100" lvl="1" indent="-342900"/>
            <a:r>
              <a:rPr lang="en-US" dirty="0"/>
              <a:t>You can use a virtual machine (VM) or install a Linux distribution like Ubuntu, CentOS, or Debian on your system.</a:t>
            </a:r>
          </a:p>
          <a:p>
            <a:pPr marL="800100" lvl="1" indent="-342900"/>
            <a:r>
              <a:rPr lang="en-US" dirty="0"/>
              <a:t>For installing Ubuntu on a VM, use tools like VirtualBox or VMware.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8D270-0171-8965-A321-2B1179AE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20567-D65C-284D-516A-DAA2AA4C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25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34CB0-B5B4-142B-0602-204DD71E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735D-3BF0-A667-73FF-0A50E9D9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Linux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B79F8-AF6D-5D14-E4DA-F4A32303D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Set up a Linux Development Environment</a:t>
            </a:r>
            <a:r>
              <a:rPr lang="en-US" dirty="0"/>
              <a:t>:</a:t>
            </a:r>
          </a:p>
          <a:p>
            <a:r>
              <a:rPr lang="en-US" dirty="0"/>
              <a:t>Update and Upgrade System:</a:t>
            </a:r>
          </a:p>
          <a:p>
            <a:pPr lvl="1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update &amp;&amp; </a:t>
            </a:r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upgrade –y</a:t>
            </a:r>
          </a:p>
          <a:p>
            <a:r>
              <a:rPr lang="en-US" dirty="0"/>
              <a:t>Install Git, Node.js, Docker, and Other Tools:</a:t>
            </a:r>
          </a:p>
          <a:p>
            <a:pPr lvl="1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install git </a:t>
            </a:r>
            <a:r>
              <a:rPr lang="en-US" i="1" dirty="0" err="1">
                <a:solidFill>
                  <a:srgbClr val="FF0000"/>
                </a:solidFill>
              </a:rPr>
              <a:t>nodejs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npm</a:t>
            </a:r>
            <a:r>
              <a:rPr lang="en-US" i="1" dirty="0">
                <a:solidFill>
                  <a:srgbClr val="FF0000"/>
                </a:solidFill>
              </a:rPr>
              <a:t> docker.io -y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F3E08-E07A-57F6-6EA6-BA6423ED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49A87-A79E-46F5-CACE-763AD7B9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8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38CCD-3C17-EFAA-9AE5-DED04345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EFB5-89B2-51A6-DBAA-E6DC942B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Linux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C0C7-F968-957C-1CA4-1FF82F82F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Set up SSH Access (for connecting to remote servers):</a:t>
            </a:r>
          </a:p>
          <a:p>
            <a:r>
              <a:rPr lang="en-US" dirty="0"/>
              <a:t>Generate SSH keys: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ssh-keygen -t </a:t>
            </a:r>
            <a:r>
              <a:rPr lang="en-US" i="1" dirty="0" err="1">
                <a:solidFill>
                  <a:srgbClr val="FF0000"/>
                </a:solidFill>
              </a:rPr>
              <a:t>rsa</a:t>
            </a:r>
            <a:r>
              <a:rPr lang="en-US" i="1" dirty="0">
                <a:solidFill>
                  <a:srgbClr val="FF0000"/>
                </a:solidFill>
              </a:rPr>
              <a:t> -b 2048</a:t>
            </a:r>
          </a:p>
          <a:p>
            <a:r>
              <a:rPr lang="en-US" dirty="0"/>
              <a:t>Copy the public key to your server: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ssh-copy-id </a:t>
            </a:r>
            <a:r>
              <a:rPr lang="en-US" i="1" dirty="0" err="1">
                <a:solidFill>
                  <a:srgbClr val="FF0000"/>
                </a:solidFill>
              </a:rPr>
              <a:t>user@your-server-ip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617BB-3270-6C99-FCD1-941B081D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BEF50-E574-EBA1-E95C-C25B0FFC0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21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A2D3-1568-2B3D-81B5-142CA14A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7606E-9EE0-C33C-01A7-52D406A0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6253E-7A00-0BF8-55D6-192DA95C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1F5C4-A50F-20AC-3DA7-F26217CB0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Server management in Linux is an essential aspect of DevOps and system administration.</a:t>
            </a:r>
          </a:p>
          <a:p>
            <a:r>
              <a:rPr lang="en-US" dirty="0"/>
              <a:t>It involves a series of tasks and tools to ensure the smooth functioning, security, and optimization of Linux servers.</a:t>
            </a:r>
          </a:p>
          <a:p>
            <a:r>
              <a:rPr lang="en-US" dirty="0"/>
              <a:t>Server management in Linux involves a combination of monitoring, security, resource management, and automation.</a:t>
            </a:r>
          </a:p>
          <a:p>
            <a:r>
              <a:rPr lang="en-US" dirty="0"/>
              <a:t>Familiarity with tools like SSH, package management, process management, cron jobs, and system logs is essential for efficiently managing Linux servers.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0E9E9-3DCD-855B-B7D4-609CB8F3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Management in Linux</a:t>
            </a:r>
          </a:p>
        </p:txBody>
      </p:sp>
    </p:spTree>
    <p:extLst>
      <p:ext uri="{BB962C8B-B14F-4D97-AF65-F5344CB8AC3E}">
        <p14:creationId xmlns:p14="http://schemas.microsoft.com/office/powerpoint/2010/main" val="768669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41C93-82E8-914C-938A-A4F056D5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5E911-59FD-28FD-2BB5-8ED5B523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System Monitoring and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1A55-C002-316F-C4F4-94565FF5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Monitor System Resources:</a:t>
            </a:r>
          </a:p>
          <a:p>
            <a:pPr lvl="1"/>
            <a:r>
              <a:rPr lang="en-US" b="1" dirty="0"/>
              <a:t>CPU, Memory, Disk Usage</a:t>
            </a:r>
            <a:r>
              <a:rPr lang="en-US" dirty="0"/>
              <a:t>: Tools like top, </a:t>
            </a:r>
            <a:r>
              <a:rPr lang="en-US" dirty="0" err="1"/>
              <a:t>htop</a:t>
            </a:r>
            <a:r>
              <a:rPr lang="en-US" dirty="0"/>
              <a:t>, free, </a:t>
            </a:r>
            <a:r>
              <a:rPr lang="en-US" dirty="0" err="1"/>
              <a:t>df</a:t>
            </a:r>
            <a:r>
              <a:rPr lang="en-US" dirty="0"/>
              <a:t>, and </a:t>
            </a:r>
            <a:r>
              <a:rPr lang="en-US" dirty="0" err="1"/>
              <a:t>iostat</a:t>
            </a:r>
            <a:r>
              <a:rPr lang="en-US" dirty="0"/>
              <a:t> help monitor CPU, memory, disk usage, and system load.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top</a:t>
            </a:r>
            <a:r>
              <a:rPr lang="en-US" dirty="0"/>
              <a:t>      # Real-time system monitor</a:t>
            </a:r>
          </a:p>
          <a:p>
            <a:pPr lvl="1"/>
            <a:r>
              <a:rPr lang="en-US" i="1" dirty="0" err="1">
                <a:solidFill>
                  <a:srgbClr val="FF0000"/>
                </a:solidFill>
              </a:rPr>
              <a:t>htop</a:t>
            </a:r>
            <a:r>
              <a:rPr lang="en-US" dirty="0"/>
              <a:t>     # Enhanced version of top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free -h  </a:t>
            </a:r>
            <a:r>
              <a:rPr lang="en-US" dirty="0"/>
              <a:t># Memory usage</a:t>
            </a:r>
          </a:p>
          <a:p>
            <a:pPr lvl="1"/>
            <a:r>
              <a:rPr lang="en-US" i="1" dirty="0" err="1">
                <a:solidFill>
                  <a:srgbClr val="FF0000"/>
                </a:solidFill>
              </a:rPr>
              <a:t>df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-h    </a:t>
            </a:r>
            <a:r>
              <a:rPr lang="en-US" dirty="0"/>
              <a:t># Disk space usage</a:t>
            </a:r>
          </a:p>
          <a:p>
            <a:pPr lvl="1"/>
            <a:r>
              <a:rPr lang="en-US" i="1" dirty="0" err="1">
                <a:solidFill>
                  <a:srgbClr val="FF0000"/>
                </a:solidFill>
              </a:rPr>
              <a:t>iostat</a:t>
            </a:r>
            <a:r>
              <a:rPr lang="en-US" dirty="0"/>
              <a:t>   # CPU and disk I/O statistics</a:t>
            </a: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EC28C-B354-2848-332F-9DD2DFD7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218F9-439E-D0CA-C162-682298E2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3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50D6-B96D-2D15-B419-E38FF6BB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2AED-45BB-F63F-870D-9B82892C6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System Monitoring and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6191A-148C-A327-AD8C-73B0D35BE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Monitor System Resources:</a:t>
            </a:r>
          </a:p>
          <a:p>
            <a:pPr lvl="1"/>
            <a:r>
              <a:rPr lang="en-US" b="1" dirty="0"/>
              <a:t>System Logs: </a:t>
            </a:r>
            <a:r>
              <a:rPr lang="en-US" dirty="0"/>
              <a:t>Review system logs for performance or error-related issues. </a:t>
            </a:r>
          </a:p>
          <a:p>
            <a:pPr lvl="1"/>
            <a:r>
              <a:rPr lang="en-US" dirty="0"/>
              <a:t>Logs are usually located in /var/log/ and can be viewed with commands like:</a:t>
            </a:r>
          </a:p>
          <a:p>
            <a:pPr lvl="1"/>
            <a:r>
              <a:rPr lang="da-DK" i="1" dirty="0">
                <a:solidFill>
                  <a:srgbClr val="FF0000"/>
                </a:solidFill>
              </a:rPr>
              <a:t>cat /var/log/syslog</a:t>
            </a:r>
          </a:p>
          <a:p>
            <a:pPr lvl="1"/>
            <a:r>
              <a:rPr lang="da-DK" i="1" dirty="0">
                <a:solidFill>
                  <a:srgbClr val="FF0000"/>
                </a:solidFill>
              </a:rPr>
              <a:t>tail -f /var/log/syslog  </a:t>
            </a:r>
            <a:r>
              <a:rPr lang="da-DK" dirty="0"/>
              <a:t># Real-time log viewing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73CC9-B662-A9B3-B0CB-DAB262E1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CA042-5931-8776-2508-9AC2F13B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95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6863-BEF6-2802-26D9-121C28CE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DB79-290C-47AD-273B-5EE1427F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User and Group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91719-4759-0815-4126-39B5CDCD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Managing Users</a:t>
            </a:r>
            <a:r>
              <a:rPr lang="en-US" dirty="0"/>
              <a:t>:</a:t>
            </a:r>
          </a:p>
          <a:p>
            <a:pPr lvl="1"/>
            <a:r>
              <a:rPr lang="da-DK" dirty="0"/>
              <a:t>To create a new user:</a:t>
            </a:r>
          </a:p>
          <a:p>
            <a:pPr lvl="2"/>
            <a:r>
              <a:rPr lang="da-DK" i="1" dirty="0">
                <a:solidFill>
                  <a:srgbClr val="FF0000"/>
                </a:solidFill>
              </a:rPr>
              <a:t>sudo useradd &lt;username&gt;</a:t>
            </a:r>
          </a:p>
          <a:p>
            <a:pPr lvl="1"/>
            <a:r>
              <a:rPr lang="da-DK" dirty="0"/>
              <a:t>To set a password:</a:t>
            </a:r>
          </a:p>
          <a:p>
            <a:pPr lvl="2"/>
            <a:r>
              <a:rPr lang="da-DK" i="1" dirty="0">
                <a:solidFill>
                  <a:srgbClr val="FF0000"/>
                </a:solidFill>
              </a:rPr>
              <a:t>sudo passwd &lt;username&gt;</a:t>
            </a:r>
          </a:p>
          <a:p>
            <a:pPr lvl="1"/>
            <a:r>
              <a:rPr lang="da-DK" dirty="0"/>
              <a:t>To delete a user:</a:t>
            </a:r>
          </a:p>
          <a:p>
            <a:pPr lvl="2"/>
            <a:r>
              <a:rPr lang="da-DK" i="1" dirty="0">
                <a:solidFill>
                  <a:srgbClr val="FF0000"/>
                </a:solidFill>
              </a:rPr>
              <a:t>sudo userdel &lt;username&gt;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DADD3-CB9F-079C-FAE0-79CC7E89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76986-171E-D3FD-9826-B2DF8358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22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1C65-7316-36BE-44EE-373D785DC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6C86-67B1-5DEC-4A21-3454F714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User and Group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BEC8-3F9A-E723-B698-3AA34C546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Managing Groups:</a:t>
            </a:r>
          </a:p>
          <a:p>
            <a:pPr lvl="1"/>
            <a:r>
              <a:rPr lang="en-US" dirty="0"/>
              <a:t>To create a group: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groupadd</a:t>
            </a:r>
            <a:r>
              <a:rPr lang="en-US" i="1" dirty="0">
                <a:solidFill>
                  <a:srgbClr val="FF0000"/>
                </a:solidFill>
              </a:rPr>
              <a:t> &lt;</a:t>
            </a:r>
            <a:r>
              <a:rPr lang="en-US" i="1" dirty="0" err="1">
                <a:solidFill>
                  <a:srgbClr val="FF0000"/>
                </a:solidFill>
              </a:rPr>
              <a:t>groupname</a:t>
            </a:r>
            <a:r>
              <a:rPr lang="en-US" i="1" dirty="0">
                <a:solidFill>
                  <a:srgbClr val="FF0000"/>
                </a:solidFill>
              </a:rPr>
              <a:t>&gt;</a:t>
            </a:r>
          </a:p>
          <a:p>
            <a:pPr lvl="1"/>
            <a:r>
              <a:rPr lang="en-US" dirty="0"/>
              <a:t>To add a user to a group: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usermod</a:t>
            </a:r>
            <a:r>
              <a:rPr lang="en-US" i="1" dirty="0">
                <a:solidFill>
                  <a:srgbClr val="FF0000"/>
                </a:solidFill>
              </a:rPr>
              <a:t> -</a:t>
            </a:r>
            <a:r>
              <a:rPr lang="en-US" i="1" dirty="0" err="1">
                <a:solidFill>
                  <a:srgbClr val="FF0000"/>
                </a:solidFill>
              </a:rPr>
              <a:t>aG</a:t>
            </a:r>
            <a:r>
              <a:rPr lang="en-US" i="1" dirty="0">
                <a:solidFill>
                  <a:srgbClr val="FF0000"/>
                </a:solidFill>
              </a:rPr>
              <a:t> &lt;</a:t>
            </a:r>
            <a:r>
              <a:rPr lang="en-US" i="1" dirty="0" err="1">
                <a:solidFill>
                  <a:srgbClr val="FF0000"/>
                </a:solidFill>
              </a:rPr>
              <a:t>groupname</a:t>
            </a:r>
            <a:r>
              <a:rPr lang="en-US" i="1" dirty="0">
                <a:solidFill>
                  <a:srgbClr val="FF0000"/>
                </a:solidFill>
              </a:rPr>
              <a:t>&gt; &lt;username&gt;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F9F5D-5024-2F90-D86D-6F5AF947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4CA3-9D9E-1E59-B748-9FD9CAA8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1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F5FA-E720-C84E-9E24-C2344216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03BD-A2C7-0D25-6EA1-EAC2B92B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Package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AF47-A833-9DFE-B1BB-335E28755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Installing and Updating Packages:</a:t>
            </a:r>
          </a:p>
          <a:p>
            <a:pPr lvl="1"/>
            <a:r>
              <a:rPr lang="en-US" dirty="0"/>
              <a:t>Ubuntu/Debian: Uses apt for package management: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update       </a:t>
            </a:r>
            <a:r>
              <a:rPr lang="en-US" dirty="0"/>
              <a:t># Update package list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upgrade      </a:t>
            </a:r>
            <a:r>
              <a:rPr lang="en-US" dirty="0"/>
              <a:t># Upgrade all packages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install &lt;</a:t>
            </a:r>
            <a:r>
              <a:rPr lang="en-US" i="1" dirty="0" err="1">
                <a:solidFill>
                  <a:srgbClr val="FF0000"/>
                </a:solidFill>
              </a:rPr>
              <a:t>package_name</a:t>
            </a:r>
            <a:r>
              <a:rPr lang="en-US" i="1" dirty="0">
                <a:solidFill>
                  <a:srgbClr val="FF0000"/>
                </a:solidFill>
              </a:rPr>
              <a:t>&gt;  </a:t>
            </a:r>
            <a:r>
              <a:rPr lang="en-US" dirty="0"/>
              <a:t># Install package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remove &lt;</a:t>
            </a:r>
            <a:r>
              <a:rPr lang="en-US" i="1" dirty="0" err="1">
                <a:solidFill>
                  <a:srgbClr val="FF0000"/>
                </a:solidFill>
              </a:rPr>
              <a:t>package_name</a:t>
            </a:r>
            <a:r>
              <a:rPr lang="en-US" i="1" dirty="0">
                <a:solidFill>
                  <a:srgbClr val="FF0000"/>
                </a:solidFill>
              </a:rPr>
              <a:t>&gt;   </a:t>
            </a:r>
            <a:r>
              <a:rPr lang="en-US" dirty="0"/>
              <a:t># Remove package</a:t>
            </a:r>
          </a:p>
          <a:p>
            <a:pPr lvl="1"/>
            <a:r>
              <a:rPr lang="en-US" dirty="0"/>
              <a:t>CentOS/RedHat: Uses yum or </a:t>
            </a:r>
            <a:r>
              <a:rPr lang="en-US" dirty="0" err="1"/>
              <a:t>dnf</a:t>
            </a:r>
            <a:r>
              <a:rPr lang="en-US" dirty="0"/>
              <a:t> for package management: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yum update       </a:t>
            </a:r>
            <a:r>
              <a:rPr lang="en-US" dirty="0"/>
              <a:t># Update package list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yum install &lt;</a:t>
            </a:r>
            <a:r>
              <a:rPr lang="en-US" i="1" dirty="0" err="1">
                <a:solidFill>
                  <a:srgbClr val="FF0000"/>
                </a:solidFill>
              </a:rPr>
              <a:t>package_name</a:t>
            </a:r>
            <a:r>
              <a:rPr lang="en-US" i="1" dirty="0">
                <a:solidFill>
                  <a:srgbClr val="FF0000"/>
                </a:solidFill>
              </a:rPr>
              <a:t>&gt;  </a:t>
            </a:r>
            <a:r>
              <a:rPr lang="en-US" dirty="0"/>
              <a:t># Install package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yum remove &lt;</a:t>
            </a:r>
            <a:r>
              <a:rPr lang="en-US" i="1" dirty="0" err="1">
                <a:solidFill>
                  <a:srgbClr val="FF0000"/>
                </a:solidFill>
              </a:rPr>
              <a:t>package_name</a:t>
            </a:r>
            <a:r>
              <a:rPr lang="en-US" i="1" dirty="0">
                <a:solidFill>
                  <a:srgbClr val="FF0000"/>
                </a:solidFill>
              </a:rPr>
              <a:t>&gt;   </a:t>
            </a:r>
            <a:r>
              <a:rPr lang="en-US" dirty="0"/>
              <a:t># Remove package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7DFA2-82E1-5510-1E77-73DE67BCA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98B0-5227-3114-CC6A-20F04926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15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8EE8-CEBE-DD18-B4B7-41646988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3D42-CC0E-0521-5443-DF0E4851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Firewall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F0DA3-1C44-C9E1-4BE5-72D5ED95B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Configuring UFW (Uncomplicated Firewall):</a:t>
            </a:r>
          </a:p>
          <a:p>
            <a:pPr lvl="1"/>
            <a:r>
              <a:rPr lang="en-US" dirty="0"/>
              <a:t>To allow HTTP traffic: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ufw</a:t>
            </a:r>
            <a:r>
              <a:rPr lang="en-US" i="1" dirty="0">
                <a:solidFill>
                  <a:srgbClr val="FF0000"/>
                </a:solidFill>
              </a:rPr>
              <a:t> allow 80/</a:t>
            </a:r>
            <a:r>
              <a:rPr lang="en-US" i="1" dirty="0" err="1">
                <a:solidFill>
                  <a:srgbClr val="FF0000"/>
                </a:solidFill>
              </a:rPr>
              <a:t>tcp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To check the firewall status: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ufw</a:t>
            </a:r>
            <a:r>
              <a:rPr lang="en-US" i="1" dirty="0">
                <a:solidFill>
                  <a:srgbClr val="FF0000"/>
                </a:solidFill>
              </a:rPr>
              <a:t> status</a:t>
            </a:r>
          </a:p>
          <a:p>
            <a:pPr lvl="1"/>
            <a:r>
              <a:rPr lang="en-US" dirty="0"/>
              <a:t>To enable the firewall: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ufw</a:t>
            </a:r>
            <a:r>
              <a:rPr lang="en-US" i="1" dirty="0">
                <a:solidFill>
                  <a:srgbClr val="FF0000"/>
                </a:solidFill>
              </a:rPr>
              <a:t> enable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DBACA-E12F-F886-66C2-7A9FD27F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A6A3F-05FF-3D1F-7D01-1DC46D59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28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0C204-7995-7562-4BD6-22877C23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75CF9-55FA-4542-9A73-C76D42358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Firewall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3799-285C-A0FD-A10D-C59AB4F7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Configuring </a:t>
            </a:r>
            <a:r>
              <a:rPr lang="en-US" b="1" dirty="0" err="1"/>
              <a:t>FirewallD</a:t>
            </a:r>
            <a:r>
              <a:rPr lang="en-US" b="1" dirty="0"/>
              <a:t> (CentOS/RedHat):</a:t>
            </a:r>
          </a:p>
          <a:p>
            <a:pPr lvl="1"/>
            <a:r>
              <a:rPr lang="en-US" dirty="0"/>
              <a:t>Start and enable </a:t>
            </a:r>
            <a:r>
              <a:rPr lang="en-US" dirty="0" err="1"/>
              <a:t>FirewallD</a:t>
            </a:r>
            <a:r>
              <a:rPr lang="en-US" dirty="0"/>
              <a:t>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systemctl</a:t>
            </a:r>
            <a:r>
              <a:rPr lang="en-US" i="1" dirty="0">
                <a:solidFill>
                  <a:srgbClr val="FF0000"/>
                </a:solidFill>
              </a:rPr>
              <a:t> start </a:t>
            </a:r>
            <a:r>
              <a:rPr lang="en-US" i="1" dirty="0" err="1">
                <a:solidFill>
                  <a:srgbClr val="FF0000"/>
                </a:solidFill>
              </a:rPr>
              <a:t>firewalld</a:t>
            </a:r>
            <a:endParaRPr lang="en-US" i="1" dirty="0">
              <a:solidFill>
                <a:srgbClr val="FF0000"/>
              </a:solidFill>
            </a:endParaRP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systemctl</a:t>
            </a:r>
            <a:r>
              <a:rPr lang="en-US" i="1" dirty="0">
                <a:solidFill>
                  <a:srgbClr val="FF0000"/>
                </a:solidFill>
              </a:rPr>
              <a:t> enable </a:t>
            </a:r>
            <a:r>
              <a:rPr lang="en-US" i="1" dirty="0" err="1">
                <a:solidFill>
                  <a:srgbClr val="FF0000"/>
                </a:solidFill>
              </a:rPr>
              <a:t>firewalld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To allow HTTP traffic: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firewall-</a:t>
            </a:r>
            <a:r>
              <a:rPr lang="en-US" i="1" dirty="0" err="1">
                <a:solidFill>
                  <a:srgbClr val="FF0000"/>
                </a:solidFill>
              </a:rPr>
              <a:t>cmd</a:t>
            </a:r>
            <a:r>
              <a:rPr lang="en-US" i="1" dirty="0">
                <a:solidFill>
                  <a:srgbClr val="FF0000"/>
                </a:solidFill>
              </a:rPr>
              <a:t> --permanent --add-service=http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firewall-</a:t>
            </a:r>
            <a:r>
              <a:rPr lang="en-US" i="1" dirty="0" err="1">
                <a:solidFill>
                  <a:srgbClr val="FF0000"/>
                </a:solidFill>
              </a:rPr>
              <a:t>cmd</a:t>
            </a:r>
            <a:r>
              <a:rPr lang="en-US" i="1" dirty="0">
                <a:solidFill>
                  <a:srgbClr val="FF0000"/>
                </a:solidFill>
              </a:rPr>
              <a:t> --reload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389C5-BCCD-E64F-288A-9CF18741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715D3-8DF2-414A-38F3-FC341B20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29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21C5-74AA-BF4E-0512-3D1B5C14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7601-953B-CE13-FEF4-A34659A7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SSH (Secure Shell) for Remote Server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C5A00-746B-11CA-F0AA-73FDF5018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Configuring SSH:</a:t>
            </a:r>
          </a:p>
          <a:p>
            <a:pPr lvl="1"/>
            <a:r>
              <a:rPr lang="en-US" dirty="0"/>
              <a:t>Install OpenSSH server: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install </a:t>
            </a:r>
            <a:r>
              <a:rPr lang="en-US" i="1" dirty="0" err="1">
                <a:solidFill>
                  <a:srgbClr val="FF0000"/>
                </a:solidFill>
              </a:rPr>
              <a:t>openssh</a:t>
            </a:r>
            <a:r>
              <a:rPr lang="en-US" i="1" dirty="0">
                <a:solidFill>
                  <a:srgbClr val="FF0000"/>
                </a:solidFill>
              </a:rPr>
              <a:t>-server  </a:t>
            </a:r>
            <a:r>
              <a:rPr lang="en-US" dirty="0"/>
              <a:t># For Ubuntu/Debian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yum install </a:t>
            </a:r>
            <a:r>
              <a:rPr lang="en-US" i="1" dirty="0" err="1">
                <a:solidFill>
                  <a:srgbClr val="FF0000"/>
                </a:solidFill>
              </a:rPr>
              <a:t>openssh</a:t>
            </a:r>
            <a:r>
              <a:rPr lang="en-US" i="1" dirty="0">
                <a:solidFill>
                  <a:srgbClr val="FF0000"/>
                </a:solidFill>
              </a:rPr>
              <a:t>-server  </a:t>
            </a:r>
            <a:r>
              <a:rPr lang="en-US" dirty="0"/>
              <a:t># For CentOS/RedHat</a:t>
            </a:r>
          </a:p>
          <a:p>
            <a:pPr lvl="1"/>
            <a:r>
              <a:rPr lang="en-US" dirty="0"/>
              <a:t>Start and enable SSH: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systemctl</a:t>
            </a:r>
            <a:r>
              <a:rPr lang="en-US" i="1" dirty="0">
                <a:solidFill>
                  <a:srgbClr val="FF0000"/>
                </a:solidFill>
              </a:rPr>
              <a:t> start ssh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systemctl</a:t>
            </a:r>
            <a:r>
              <a:rPr lang="en-US" i="1" dirty="0">
                <a:solidFill>
                  <a:srgbClr val="FF0000"/>
                </a:solidFill>
              </a:rPr>
              <a:t> enable ssh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421A8-953A-CF91-E726-3CF41E71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C5397-3AA3-D44D-12E1-E467CB3A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17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4D55-ECE9-4CD3-FED2-677091568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F9446-E74A-2252-E005-91C0DEFA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SSH (Secure Shell) for Remote Server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58651-9023-A10E-D0F5-5FB1B823B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Configuring SSH Key-Based Authentication:</a:t>
            </a:r>
          </a:p>
          <a:p>
            <a:pPr lvl="1"/>
            <a:r>
              <a:rPr lang="en-US" dirty="0"/>
              <a:t>On the client machine, generate an SSH key pair: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ssh-keygen -t </a:t>
            </a:r>
            <a:r>
              <a:rPr lang="en-US" i="1" dirty="0" err="1">
                <a:solidFill>
                  <a:srgbClr val="FF0000"/>
                </a:solidFill>
              </a:rPr>
              <a:t>rsa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Copy the public key to the server: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ssh-copy-id </a:t>
            </a:r>
            <a:r>
              <a:rPr lang="en-US" i="1" dirty="0" err="1">
                <a:solidFill>
                  <a:srgbClr val="FF0000"/>
                </a:solidFill>
              </a:rPr>
              <a:t>user@your-server-ip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EF28D-23E9-211E-AFE7-D2DACA53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E0C30-82D2-E7EF-4012-BEB4C8A8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14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7EBB-ABF3-686C-B9F5-EC54A7BC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C2F8-C08E-4B41-0C7E-F3A16001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Disk Management and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FC203-C912-BE6D-3B54-D799D887C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Partitioning and Formatting:</a:t>
            </a:r>
          </a:p>
          <a:p>
            <a:pPr lvl="1"/>
            <a:r>
              <a:rPr lang="en-US" dirty="0"/>
              <a:t>To list available disks: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lsblk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To create a partition: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fdisk</a:t>
            </a:r>
            <a:r>
              <a:rPr lang="en-US" i="1" dirty="0">
                <a:solidFill>
                  <a:srgbClr val="FF0000"/>
                </a:solidFill>
              </a:rPr>
              <a:t> /dev/</a:t>
            </a:r>
            <a:r>
              <a:rPr lang="en-US" i="1" dirty="0" err="1">
                <a:solidFill>
                  <a:srgbClr val="FF0000"/>
                </a:solidFill>
              </a:rPr>
              <a:t>sda</a:t>
            </a:r>
            <a:endParaRPr lang="en-US" i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To format a partition: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mkfs.ext4 /dev/sda1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3F438-3D7E-B7E4-4584-AC66E0A6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6D8CF-930A-4BEA-18DE-317B55F8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13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80700-2677-0E81-7924-7DDDD1C0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0A05-2BC2-4BFC-78D5-F35EAF59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Disk Management and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277BA-58C6-0C1F-67B0-3A1EC67CE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Mounting Storage:</a:t>
            </a:r>
          </a:p>
          <a:p>
            <a:pPr lvl="1"/>
            <a:r>
              <a:rPr lang="en-US" dirty="0"/>
              <a:t>To mount a partition: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mount /dev/sda1 /</a:t>
            </a:r>
            <a:r>
              <a:rPr lang="en-US" i="1" dirty="0" err="1">
                <a:solidFill>
                  <a:srgbClr val="FF0000"/>
                </a:solidFill>
              </a:rPr>
              <a:t>mnt</a:t>
            </a:r>
            <a:r>
              <a:rPr lang="en-US" i="1" dirty="0">
                <a:solidFill>
                  <a:srgbClr val="FF0000"/>
                </a:solidFill>
              </a:rPr>
              <a:t>/data</a:t>
            </a:r>
          </a:p>
          <a:p>
            <a:pPr lvl="1"/>
            <a:r>
              <a:rPr lang="en-US" dirty="0"/>
              <a:t>To make the mount persistent: Edit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r>
              <a:rPr lang="en-US" dirty="0"/>
              <a:t> to include the new partition.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177BD-A6A0-70C0-DE33-F010D818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AD085-0083-B36C-833C-2DF1C5F2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62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FE23D-E538-E881-3B59-6734FFC2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4AE5-CD31-EC8B-F98C-BC18202B7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Backup and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096E7-4A0B-0D83-77AD-73948E558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Backup Data: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rsync</a:t>
            </a:r>
            <a:r>
              <a:rPr lang="en-US" dirty="0"/>
              <a:t> for backup: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rsync</a:t>
            </a:r>
            <a:r>
              <a:rPr lang="en-US" i="1" dirty="0">
                <a:solidFill>
                  <a:srgbClr val="FF0000"/>
                </a:solidFill>
              </a:rPr>
              <a:t> -av /source/directory /destination/directory</a:t>
            </a:r>
          </a:p>
          <a:p>
            <a:r>
              <a:rPr lang="da-DK" b="1" dirty="0"/>
              <a:t>Automating Backups:</a:t>
            </a:r>
          </a:p>
          <a:p>
            <a:pPr lvl="1"/>
            <a:r>
              <a:rPr lang="da-DK" dirty="0"/>
              <a:t>Schedule backups using cron:</a:t>
            </a:r>
          </a:p>
          <a:p>
            <a:pPr lvl="2"/>
            <a:r>
              <a:rPr lang="da-DK" i="1" dirty="0">
                <a:solidFill>
                  <a:srgbClr val="FF0000"/>
                </a:solidFill>
              </a:rPr>
              <a:t>crontab -e</a:t>
            </a:r>
            <a:br>
              <a:rPr lang="da-DK" dirty="0"/>
            </a:br>
            <a:r>
              <a:rPr lang="da-DK" dirty="0"/>
              <a:t># Add a cron job to schedule backups</a:t>
            </a:r>
            <a:br>
              <a:rPr lang="da-DK" dirty="0"/>
            </a:br>
            <a:r>
              <a:rPr lang="da-DK" i="1" dirty="0">
                <a:solidFill>
                  <a:srgbClr val="FF0000"/>
                </a:solidFill>
              </a:rPr>
              <a:t>0 2 * * * rsync -av /source/directory /destination/directory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9AADE-8A69-677F-4924-02D5E7C9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F56B1-C371-8992-032E-8C12EFEC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88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19BAB-248B-9FCB-9F70-BB83826D1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8AD5-F239-6EA9-5A07-D1D13078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Process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4E89-09F4-0C4C-2FA2-5FE5A9A5D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Monitoring Running Processes: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ps</a:t>
            </a:r>
            <a:r>
              <a:rPr lang="en-US" dirty="0"/>
              <a:t> to view running processes: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ps</a:t>
            </a:r>
            <a:r>
              <a:rPr lang="en-US" i="1" dirty="0">
                <a:solidFill>
                  <a:srgbClr val="FF0000"/>
                </a:solidFill>
              </a:rPr>
              <a:t> aux  </a:t>
            </a:r>
            <a:r>
              <a:rPr lang="en-US" dirty="0"/>
              <a:t># List all processes</a:t>
            </a:r>
          </a:p>
          <a:p>
            <a:pPr lvl="2"/>
            <a:r>
              <a:rPr lang="en-US" dirty="0"/>
              <a:t>Use top or </a:t>
            </a:r>
            <a:r>
              <a:rPr lang="en-US" dirty="0" err="1"/>
              <a:t>htop</a:t>
            </a:r>
            <a:r>
              <a:rPr lang="en-US" dirty="0"/>
              <a:t> to view real-time processes and system performance.</a:t>
            </a:r>
          </a:p>
          <a:p>
            <a:r>
              <a:rPr lang="en-US" b="1" dirty="0"/>
              <a:t>Managing Processes</a:t>
            </a:r>
          </a:p>
          <a:p>
            <a:pPr lvl="1"/>
            <a:r>
              <a:rPr lang="en-US" i="1" dirty="0"/>
              <a:t>To stop a process by PID: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kill &lt;</a:t>
            </a:r>
            <a:r>
              <a:rPr lang="en-US" i="1" dirty="0" err="1">
                <a:solidFill>
                  <a:srgbClr val="FF0000"/>
                </a:solidFill>
              </a:rPr>
              <a:t>pid</a:t>
            </a:r>
            <a:r>
              <a:rPr lang="en-US" i="1" dirty="0">
                <a:solidFill>
                  <a:srgbClr val="FF0000"/>
                </a:solidFill>
              </a:rPr>
              <a:t>&gt;</a:t>
            </a:r>
          </a:p>
          <a:p>
            <a:pPr lvl="1"/>
            <a:r>
              <a:rPr lang="en-US" i="1" dirty="0"/>
              <a:t>To terminate a process: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kill -9 &lt;</a:t>
            </a:r>
            <a:r>
              <a:rPr lang="en-US" i="1" dirty="0" err="1">
                <a:solidFill>
                  <a:srgbClr val="FF0000"/>
                </a:solidFill>
              </a:rPr>
              <a:t>pid</a:t>
            </a:r>
            <a:r>
              <a:rPr lang="en-US" i="1" dirty="0">
                <a:solidFill>
                  <a:srgbClr val="FF0000"/>
                </a:solidFill>
              </a:rPr>
              <a:t>&gt;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032A3-7847-00CC-27BA-FF635E782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13F8F-5696-1C33-A5C4-5E8CD0A2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35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0F05-F31D-CC66-E563-77A73FEB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5BB51-0350-9596-AD5C-58EAD543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Scheduling Jobs with Cron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92828-42EE-CA0E-40F9-88E35F77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Cron Jobs:</a:t>
            </a:r>
          </a:p>
          <a:p>
            <a:pPr lvl="1"/>
            <a:r>
              <a:rPr lang="en-US" dirty="0"/>
              <a:t>Cron is used to schedule tasks in Linux.</a:t>
            </a:r>
          </a:p>
          <a:p>
            <a:pPr lvl="1"/>
            <a:r>
              <a:rPr lang="en-US" dirty="0"/>
              <a:t>To schedule a job, run crontab -e to edit cron jobs.</a:t>
            </a:r>
          </a:p>
          <a:p>
            <a:pPr lvl="1"/>
            <a:r>
              <a:rPr lang="en-US" dirty="0"/>
              <a:t>Example cron entry to run a script every day at midnight:</a:t>
            </a:r>
          </a:p>
          <a:p>
            <a:pPr lvl="2"/>
            <a:r>
              <a:rPr lang="en-US" i="1" dirty="0">
                <a:solidFill>
                  <a:srgbClr val="FF0000"/>
                </a:solidFill>
              </a:rPr>
              <a:t>0 0 * * * /path/to/script.sh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AC2CB-71C9-9C19-D248-A016C37B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6A997-EC1B-1B63-CEF3-EE183B02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13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1601-96F6-C5A5-425C-67FC8381E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7C29-A4AE-4290-D6AA-FAD6A303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Log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FB211-72F8-6CF7-9265-BE646EE0B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Log Rotation: </a:t>
            </a:r>
          </a:p>
          <a:p>
            <a:pPr lvl="1"/>
            <a:r>
              <a:rPr lang="en-US" dirty="0"/>
              <a:t>Configure log rotation to prevent logs from filling up disk space. </a:t>
            </a:r>
          </a:p>
          <a:p>
            <a:pPr lvl="1"/>
            <a:r>
              <a:rPr lang="en-US" dirty="0" err="1"/>
              <a:t>Logrotate</a:t>
            </a:r>
            <a:r>
              <a:rPr lang="en-US" dirty="0"/>
              <a:t> is used for managing log files.</a:t>
            </a:r>
          </a:p>
          <a:p>
            <a:pPr lvl="2"/>
            <a:r>
              <a:rPr lang="en-US" dirty="0"/>
              <a:t>View logs in /var/log/.</a:t>
            </a:r>
          </a:p>
          <a:p>
            <a:pPr lvl="2"/>
            <a:r>
              <a:rPr lang="en-US" dirty="0"/>
              <a:t>Check log rotation configuration in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logrotate.conf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800D5-1470-2AF6-E68E-7C994D8F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6DCFB-A068-5434-1FF4-B474D193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53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A911-FEFE-78FC-3106-507BAEDF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4E318-8D05-16D5-8592-1A8D2F94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Tools and Technologies in Server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35595-940C-6B00-BC35-F0281075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Ansible</a:t>
            </a:r>
            <a:r>
              <a:rPr lang="en-US" dirty="0"/>
              <a:t>: Automates server configuration and management.</a:t>
            </a:r>
          </a:p>
          <a:p>
            <a:r>
              <a:rPr lang="en-US" b="1" dirty="0"/>
              <a:t>Docker</a:t>
            </a:r>
            <a:r>
              <a:rPr lang="en-US" dirty="0"/>
              <a:t>: Containerization technology for isolating and managing applications.</a:t>
            </a:r>
          </a:p>
          <a:p>
            <a:r>
              <a:rPr lang="en-US" b="1" dirty="0"/>
              <a:t>Kubernetes</a:t>
            </a:r>
            <a:r>
              <a:rPr lang="en-US" dirty="0"/>
              <a:t>: Orchestration platform for managing containers at scale.</a:t>
            </a:r>
          </a:p>
          <a:p>
            <a:r>
              <a:rPr lang="en-US" b="1" dirty="0"/>
              <a:t>Jenkins</a:t>
            </a:r>
            <a:r>
              <a:rPr lang="en-US" dirty="0"/>
              <a:t>: Automates the build, test, and deployment processes.</a:t>
            </a:r>
          </a:p>
          <a:p>
            <a:r>
              <a:rPr lang="en-US" b="1" dirty="0"/>
              <a:t>Nagios</a:t>
            </a:r>
            <a:r>
              <a:rPr lang="en-US" dirty="0"/>
              <a:t> or </a:t>
            </a:r>
            <a:r>
              <a:rPr lang="en-US" b="1" dirty="0"/>
              <a:t>Zabbix</a:t>
            </a:r>
            <a:r>
              <a:rPr lang="en-US" dirty="0"/>
              <a:t>: Monitoring systems for tracking the health of servers and applications.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855BC-B38D-5012-0744-078E3A8A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D1E85-7A5B-3843-F888-6FA25744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12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74E3-DD39-EA72-FDB8-D96D209A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FF66-330F-7C26-07BD-16257F5FB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Security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77A7-C1EE-8E25-6730-E8153E4EC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SSH Key Management: </a:t>
            </a:r>
          </a:p>
          <a:p>
            <a:pPr lvl="1"/>
            <a:r>
              <a:rPr lang="en-US" dirty="0"/>
              <a:t>Always use SSH key-based authentication and disable password-based login in /</a:t>
            </a:r>
            <a:r>
              <a:rPr lang="en-US" dirty="0" err="1"/>
              <a:t>etc</a:t>
            </a:r>
            <a:r>
              <a:rPr lang="en-US" dirty="0"/>
              <a:t>/ssh/</a:t>
            </a:r>
            <a:r>
              <a:rPr lang="en-US" dirty="0" err="1"/>
              <a:t>sshd_config</a:t>
            </a:r>
            <a:r>
              <a:rPr lang="en-US" dirty="0"/>
              <a:t>: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PasswordAuthentication</a:t>
            </a:r>
            <a:r>
              <a:rPr lang="en-US" i="1" dirty="0">
                <a:solidFill>
                  <a:srgbClr val="FF0000"/>
                </a:solidFill>
              </a:rPr>
              <a:t> no</a:t>
            </a:r>
          </a:p>
          <a:p>
            <a:r>
              <a:rPr lang="en-US" b="1" dirty="0"/>
              <a:t>System Updates: </a:t>
            </a:r>
          </a:p>
          <a:p>
            <a:pPr lvl="1"/>
            <a:r>
              <a:rPr lang="en-US" dirty="0"/>
              <a:t>Regularly update your system to ensure you have the latest security patches.</a:t>
            </a:r>
          </a:p>
          <a:p>
            <a:pPr lvl="2"/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update &amp;&amp; </a:t>
            </a:r>
            <a:r>
              <a:rPr lang="en-US" i="1" dirty="0" err="1">
                <a:solidFill>
                  <a:srgbClr val="FF0000"/>
                </a:solidFill>
              </a:rPr>
              <a:t>sudo</a:t>
            </a:r>
            <a:r>
              <a:rPr lang="en-US" i="1" dirty="0">
                <a:solidFill>
                  <a:srgbClr val="FF0000"/>
                </a:solidFill>
              </a:rPr>
              <a:t> apt upgrade -</a:t>
            </a:r>
            <a:r>
              <a:rPr lang="en-US" i="1" dirty="0" err="1">
                <a:solidFill>
                  <a:srgbClr val="FF0000"/>
                </a:solidFill>
              </a:rPr>
              <a:t>ysudo</a:t>
            </a:r>
            <a:r>
              <a:rPr lang="en-US" i="1" dirty="0">
                <a:solidFill>
                  <a:srgbClr val="FF0000"/>
                </a:solidFill>
              </a:rPr>
              <a:t> yum update -y</a:t>
            </a:r>
            <a:endParaRPr lang="da-DK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B4BA7-ABEA-8F5B-9A5A-753E8649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5E9F1-96D3-AC18-F7F8-608FEB23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07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Basics of Networking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DevOps | Lecture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1837</Words>
  <Application>Microsoft Office PowerPoint</Application>
  <PresentationFormat>Widescreen</PresentationFormat>
  <Paragraphs>266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1: Introduction (3hrs)</vt:lpstr>
      <vt:lpstr>Prerequisites</vt:lpstr>
      <vt:lpstr>Chocolatey Setup (Windows)</vt:lpstr>
      <vt:lpstr>Chocolatey Setup (Windows)</vt:lpstr>
      <vt:lpstr>Homebrew Setup (MacOS)</vt:lpstr>
      <vt:lpstr>Homebrew Setup (MacOS)</vt:lpstr>
      <vt:lpstr>AWS Setup</vt:lpstr>
      <vt:lpstr>AWS Setup</vt:lpstr>
      <vt:lpstr>AWS Setup</vt:lpstr>
      <vt:lpstr>Linux Setup</vt:lpstr>
      <vt:lpstr>Linux Setup</vt:lpstr>
      <vt:lpstr>Linux Setup</vt:lpstr>
      <vt:lpstr>Server Management in Linux</vt:lpstr>
      <vt:lpstr>System Monitoring and Maintenance</vt:lpstr>
      <vt:lpstr>System Monitoring and Maintenance</vt:lpstr>
      <vt:lpstr>User and Group Management</vt:lpstr>
      <vt:lpstr>User and Group Management</vt:lpstr>
      <vt:lpstr>Package Management</vt:lpstr>
      <vt:lpstr>Firewall Configuration</vt:lpstr>
      <vt:lpstr>Firewall Configuration</vt:lpstr>
      <vt:lpstr>SSH (Secure Shell) for Remote Server Access</vt:lpstr>
      <vt:lpstr>SSH (Secure Shell) for Remote Server Access</vt:lpstr>
      <vt:lpstr>Disk Management and Storage</vt:lpstr>
      <vt:lpstr>Disk Management and Storage</vt:lpstr>
      <vt:lpstr>Backup and Recovery</vt:lpstr>
      <vt:lpstr>Process Management</vt:lpstr>
      <vt:lpstr>Scheduling Jobs with Cron</vt:lpstr>
      <vt:lpstr>Log Management</vt:lpstr>
      <vt:lpstr>Tools and Technologies in Server Management</vt:lpstr>
      <vt:lpstr>Security Considerations</vt:lpstr>
      <vt:lpstr>End of Lecture 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91</cp:revision>
  <dcterms:created xsi:type="dcterms:W3CDTF">2021-11-23T15:23:57Z</dcterms:created>
  <dcterms:modified xsi:type="dcterms:W3CDTF">2025-06-02T06:43:55Z</dcterms:modified>
</cp:coreProperties>
</file>