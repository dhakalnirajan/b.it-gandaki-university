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14"/>
  </p:notesMasterIdLst>
  <p:handoutMasterIdLst>
    <p:handoutMasterId r:id="rId15"/>
  </p:handoutMasterIdLst>
  <p:sldIdLst>
    <p:sldId id="296" r:id="rId2"/>
    <p:sldId id="288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285" r:id="rId12"/>
    <p:sldId id="28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3969" autoAdjust="0"/>
  </p:normalViewPr>
  <p:slideViewPr>
    <p:cSldViewPr>
      <p:cViewPr varScale="1">
        <p:scale>
          <a:sx n="82" d="100"/>
          <a:sy n="82" d="100"/>
        </p:scale>
        <p:origin x="276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96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85BD65-9D91-7DFC-53E1-8BF243DCEC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F2D22-E7AC-06AB-426E-E65713B850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8692-3B52-472B-A27C-0D21D13EB902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CE5EB-28FA-61BC-7A31-808FF0DFF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E243D-0898-4319-31D8-7F9CA9078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52B39-A1FA-438D-A2A1-97F4EC1F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29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1F557-E2B4-4866-84E9-3A03F70F82EF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254-F383-4531-8078-930439348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4D63A80-F8C6-CA7A-5944-D04C4A793A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14" y="0"/>
            <a:ext cx="121811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1BCC3220-B748-48FE-9229-E78B1A528F80}" type="datetime1">
              <a:rPr lang="en-US" smtClean="0"/>
              <a:t>6/2/2025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Introduction to DevOps | Lecture 4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038DB-111F-FA38-FE8F-D77C73697FD2}"/>
              </a:ext>
            </a:extLst>
          </p:cNvPr>
          <p:cNvSpPr txBox="1"/>
          <p:nvPr userDrawn="1"/>
        </p:nvSpPr>
        <p:spPr>
          <a:xfrm>
            <a:off x="1261872" y="554183"/>
            <a:ext cx="9418320" cy="415498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Software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Development &amp;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Operations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(DevOps)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3262-3052-AECD-5F8E-C91BF4B8F021}"/>
              </a:ext>
            </a:extLst>
          </p:cNvPr>
          <p:cNvSpPr txBox="1"/>
          <p:nvPr userDrawn="1"/>
        </p:nvSpPr>
        <p:spPr>
          <a:xfrm>
            <a:off x="1261872" y="5156541"/>
            <a:ext cx="94183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latin typeface="Nunito" pitchFamily="2" charset="0"/>
              </a:rPr>
              <a:t>Er. Shiva Kunwar</a:t>
            </a:r>
          </a:p>
          <a:p>
            <a:r>
              <a:rPr lang="en-US" sz="2000" dirty="0">
                <a:latin typeface="Nunito" pitchFamily="2" charset="0"/>
              </a:rPr>
              <a:t>Lecturer</a:t>
            </a:r>
          </a:p>
          <a:p>
            <a:r>
              <a:rPr lang="en-US" sz="2000" dirty="0">
                <a:latin typeface="Nunito" pitchFamily="2" charset="0"/>
              </a:rPr>
              <a:t>Gandaki University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A367200-0314-B11E-6A5A-163495D7B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74427"/>
            <a:ext cx="17716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88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B6580-0CA4-4E5C-A89B-A230D4BB3AF6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E223-7902-4AC5-AE1C-A422A9B26380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521BE1-5CE3-05CF-232A-5D29123BF52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7912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920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3543D8F-399D-6DF8-DE86-76C3FD2D8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9749"/>
            <a:ext cx="12191999" cy="4267200"/>
            <a:chOff x="7467600" y="0"/>
            <a:chExt cx="4724400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17F1944-3532-0024-BA7E-7D1E45E78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63463AE-09F4-6357-D5D1-E78C1CBFD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BB7FBAC-7B68-830D-1EA5-32DE32721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9C7C-063F-4671-8730-B325C52B20CB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0D67507-A4B1-3C41-5B9A-FA01D257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0500043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D1CD890-A10F-8D93-4D3F-349A90E7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483735"/>
            <a:ext cx="10271441" cy="10427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" name="Table Placeholder 4">
            <a:extLst>
              <a:ext uri="{FF2B5EF4-FFF2-40B4-BE49-F238E27FC236}">
                <a16:creationId xmlns:a16="http://schemas.microsoft.com/office/drawing/2014/main" id="{AD49D11B-7BF8-7119-747E-673152D1DCD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85800" y="1663021"/>
            <a:ext cx="10271441" cy="455680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1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25706-688A-45E5-93E2-C6C0C8F9F0A2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44A146-5A21-714C-4148-9B75C4D15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276" y="365757"/>
            <a:ext cx="6688349" cy="61264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63D1E3-CA84-C4BA-1C88-EF714A56C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93E526-3EF6-897C-D064-1128F72E7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C96C1C-AD28-8189-3789-8E7159CBC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FEAD847-82C9-9DA1-0634-152DE5F8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6415FC-6975-9499-950F-56CE60A5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38DA2C-54B4-789F-C3D3-F0747913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74" y="365756"/>
            <a:ext cx="3206326" cy="3624504"/>
          </a:xfrm>
        </p:spPr>
        <p:txBody>
          <a:bodyPr anchor="b"/>
          <a:lstStyle>
            <a:lvl1pPr algn="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645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54B254-511A-6515-8705-1D0D3406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ABD7EF-2A2D-B804-3B1E-B408D2D5B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1081C-CE25-B752-8AAC-0457A91D4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AA02E-86E8-D1C1-AD64-8C15047A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147875C-0AD0-479B-BB95-11C801ADE1BF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FC2281F-1654-0C11-471A-B274D452D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144"/>
            <a:ext cx="10515600" cy="4433819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AAD270F-67BD-E509-0A2E-A3B9C1D1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65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2F3501-C5BE-DCD4-3BD1-B507D9905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52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41E4C10-80E2-9528-D06C-844994E73F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5E89E31-BE12-40D4-B8E7-157B4662B543}" type="datetime1">
              <a:rPr lang="en-US" smtClean="0"/>
              <a:t>6/2/2025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26CC335-6CDD-0FF3-AEE1-EF5D8A5EAA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Introduction to DevOps | Lecture 4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B22EDF1-4FF3-208C-0E13-2DE282F059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293C9641-88F7-FC3E-DC98-14026910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33" y="694282"/>
            <a:ext cx="6301740" cy="2444401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0BA8A-DB8F-5584-7EA4-49FB667D63C5}"/>
              </a:ext>
            </a:extLst>
          </p:cNvPr>
          <p:cNvSpPr txBox="1"/>
          <p:nvPr userDrawn="1"/>
        </p:nvSpPr>
        <p:spPr>
          <a:xfrm>
            <a:off x="4520553" y="4114800"/>
            <a:ext cx="630174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</p:spTree>
    <p:extLst>
      <p:ext uri="{BB962C8B-B14F-4D97-AF65-F5344CB8AC3E}">
        <p14:creationId xmlns:p14="http://schemas.microsoft.com/office/powerpoint/2010/main" val="304267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81200" y="1752600"/>
            <a:ext cx="8823960" cy="3352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5F478-2C4F-4095-84E7-CD04D7D9BBB8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98743D-1F23-BB62-C246-CD2EC3D767DE}"/>
              </a:ext>
            </a:extLst>
          </p:cNvPr>
          <p:cNvSpPr txBox="1">
            <a:spLocks/>
          </p:cNvSpPr>
          <p:nvPr userDrawn="1"/>
        </p:nvSpPr>
        <p:spPr>
          <a:xfrm>
            <a:off x="1981200" y="417727"/>
            <a:ext cx="9372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PREVIEW FOR NEXT LECTURE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728C91-D586-79A1-E0BB-9D8A46CCD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6997" y="2666995"/>
            <a:ext cx="6858000" cy="1524009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1F0A4-9C8A-1861-8B9C-5AF948AC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0" y="2677132"/>
            <a:ext cx="6857999" cy="152401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5F4F22-2928-48B3-6F55-1BB688BCF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88993" y="4844999"/>
            <a:ext cx="2501979" cy="152401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85817F0-3E71-F53B-A83E-0DB732029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454256" y="1305931"/>
            <a:ext cx="147212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64781E-F74C-69A3-86EC-66CE155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7" y="2656855"/>
            <a:ext cx="6858003" cy="15240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0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24260" y="0"/>
            <a:ext cx="975360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828805"/>
            <a:ext cx="10340023" cy="466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59445" y="998540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1"/>
                </a:solidFill>
              </a:defRPr>
            </a:lvl1pPr>
          </a:lstStyle>
          <a:p>
            <a:fld id="{E6C87A58-069F-455E-A9FC-5FFD387C22D0}" type="datetime1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21240" y="4046540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DevOps | Lecture 4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6C3CA-BFE1-3007-0D60-E69A73AE4945}"/>
              </a:ext>
            </a:extLst>
          </p:cNvPr>
          <p:cNvSpPr/>
          <p:nvPr userDrawn="1"/>
        </p:nvSpPr>
        <p:spPr>
          <a:xfrm>
            <a:off x="11394452" y="6172200"/>
            <a:ext cx="634976" cy="6349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4740" y="6172206"/>
            <a:ext cx="9144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 descr="Modern DevOps Certifications">
            <a:extLst>
              <a:ext uri="{FF2B5EF4-FFF2-40B4-BE49-F238E27FC236}">
                <a16:creationId xmlns:a16="http://schemas.microsoft.com/office/drawing/2014/main" id="{B2AEC855-8EAB-F2F2-74ED-5A557BFDB3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0"/>
            <a:ext cx="120142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01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3" r:id="rId3"/>
    <p:sldLayoutId id="2147483687" r:id="rId4"/>
    <p:sldLayoutId id="2147483686" r:id="rId5"/>
    <p:sldLayoutId id="2147483688" r:id="rId6"/>
    <p:sldLayoutId id="2147483684" r:id="rId7"/>
    <p:sldLayoutId id="214748368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pitchFamily="34" charset="0"/>
        <a:buChar char="•"/>
        <a:defRPr sz="2400" kern="1200" spc="10" baseline="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3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40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Unit 1: Introduction (3hrs)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Introduction to DevOps: Definition, Scope, Application</a:t>
            </a:r>
          </a:p>
          <a:p>
            <a:r>
              <a:rPr lang="en-US" dirty="0"/>
              <a:t>Introduction to Continuous Integration(CI) and Continuous Delivery(CD)</a:t>
            </a:r>
          </a:p>
          <a:p>
            <a:r>
              <a:rPr lang="en-US" dirty="0"/>
              <a:t>Prerequisites Info and Setup: Chocolatey (Windows), Homebrew (MacOS), AWS Setup, Linux Setup</a:t>
            </a:r>
          </a:p>
          <a:p>
            <a:r>
              <a:rPr lang="en-US" dirty="0"/>
              <a:t>Server Management in Linux</a:t>
            </a:r>
          </a:p>
          <a:p>
            <a:r>
              <a:rPr lang="en-US" b="1" dirty="0"/>
              <a:t>Basics of Networking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B8562-561F-CEA4-A309-D1167EE3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68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A31E0-30CA-380A-1614-D6F76C77A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ED28-4008-EED8-4C85-75ECF3AD6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D480B-3F72-905E-D6EC-A4AFFBE55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Networking is a fundamental concept in computer systems, enabling devices to </a:t>
            </a:r>
            <a:r>
              <a:rPr lang="en-US" b="1" dirty="0"/>
              <a:t>communicate</a:t>
            </a:r>
            <a:r>
              <a:rPr lang="en-US" dirty="0"/>
              <a:t> with each other, </a:t>
            </a:r>
            <a:r>
              <a:rPr lang="en-US" b="1" dirty="0"/>
              <a:t>share resources</a:t>
            </a:r>
            <a:r>
              <a:rPr lang="en-US" dirty="0"/>
              <a:t>, and access information over local and wide area </a:t>
            </a:r>
            <a:r>
              <a:rPr lang="en-US" b="1" dirty="0"/>
              <a:t>networks</a:t>
            </a:r>
            <a:r>
              <a:rPr lang="en-US" dirty="0"/>
              <a:t> (LANs and WANs).</a:t>
            </a:r>
          </a:p>
          <a:p>
            <a:r>
              <a:rPr lang="en-US" dirty="0"/>
              <a:t>In the context of DevOps, networking is crucial for ensuring that applications, </a:t>
            </a:r>
            <a:r>
              <a:rPr lang="en-US" b="1" dirty="0"/>
              <a:t>servers, and containers can communicate </a:t>
            </a:r>
            <a:r>
              <a:rPr lang="en-US" dirty="0"/>
              <a:t>with each other seamlessly.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C6421-AD09-46AE-F1C3-65F9179D4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F1493-1F3A-6994-6724-F4CCCF98D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37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14754-79E9-8022-FE1A-46C026D7B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EE33-94D8-6E9C-30A6-6F48C7E62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F1220-C4F9-3CE5-0490-E7D083FF9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Networking refers to the practice of connecting computers and other devices to share resources, information, and services.</a:t>
            </a:r>
          </a:p>
          <a:p>
            <a:r>
              <a:rPr lang="en-US" dirty="0"/>
              <a:t>This involves both hardware (routers, switches, cables) and software (protocols, services) to enable communication.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D2C16-899F-8C1E-8E9B-6878CA66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015A6-EBC0-2313-63A9-A4049CA3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19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7F740-837F-6DB0-65A8-2586C9751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61155-F387-B644-4975-88E974BBD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IP Addressing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0CADC-4725-3172-2400-7722F298A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An IP (Internet Protocol) address is a unique identifier for devices on a network. It allows devices to locate each other and communicate.</a:t>
            </a:r>
          </a:p>
          <a:p>
            <a:r>
              <a:rPr lang="en-US" b="1" dirty="0"/>
              <a:t>IPv4</a:t>
            </a:r>
            <a:r>
              <a:rPr lang="en-US" dirty="0"/>
              <a:t>: The most widely used version of the Internet Protocol. It uses a 32-bit address format, e.g., 192.168.1.1.</a:t>
            </a:r>
          </a:p>
          <a:p>
            <a:r>
              <a:rPr lang="en-US" b="1" dirty="0"/>
              <a:t>IPv6</a:t>
            </a:r>
            <a:r>
              <a:rPr lang="en-US" dirty="0"/>
              <a:t>: A newer version of IP that uses a 128-bit address format, providing a larger address space, e.g., fe80::d4a8:6435:8d8f:6e4f.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C0BF9-DF2B-000F-81CD-2A7B38881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62679-9959-308F-1A28-F6636386A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972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03BC0-291B-9642-E118-52651E3EA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45449-FF46-8E6E-B0B2-2D68A2D87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IP Addressing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0DAB5-F63F-DD7A-0AEF-ACAF4C3B8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There are two types of IP addresses:</a:t>
            </a:r>
          </a:p>
          <a:p>
            <a:r>
              <a:rPr lang="en-US" b="1" dirty="0"/>
              <a:t>Public IP Address</a:t>
            </a:r>
            <a:r>
              <a:rPr lang="en-US" dirty="0"/>
              <a:t>: A globally unique address assigned to a device connected to the internet.</a:t>
            </a:r>
          </a:p>
          <a:p>
            <a:r>
              <a:rPr lang="en-US" b="1" dirty="0"/>
              <a:t>Private IP Address</a:t>
            </a:r>
            <a:r>
              <a:rPr lang="en-US" dirty="0"/>
              <a:t>: Used within local networks and not routable on the internet. Common private address ranges are:</a:t>
            </a:r>
          </a:p>
          <a:p>
            <a:r>
              <a:rPr lang="en-US" dirty="0"/>
              <a:t>10.0.0.0 - 10.255.255.255</a:t>
            </a:r>
          </a:p>
          <a:p>
            <a:r>
              <a:rPr lang="en-US" dirty="0"/>
              <a:t>172.16.0.0 - 172.31.255.255</a:t>
            </a:r>
          </a:p>
          <a:p>
            <a:r>
              <a:rPr lang="en-US" dirty="0"/>
              <a:t>192.168.0.0 - 192.168.255.255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0D62D-D2DE-6609-1AF6-1229B6C3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A2718-B905-2887-58EB-15FFE9B48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119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2FD35-E9A1-F294-9632-5C4FD6A10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EE69F-1385-8A80-8DB3-96F22B362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Subnetting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1C84-2B9A-1F1A-E51C-A91E230A9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Subnetting is the practice of dividing a larger IP network into smaller, more manageable sub-networks (subnets).</a:t>
            </a:r>
          </a:p>
          <a:p>
            <a:r>
              <a:rPr lang="en-US" dirty="0"/>
              <a:t>This helps optimize network performance and security.</a:t>
            </a:r>
          </a:p>
          <a:p>
            <a:r>
              <a:rPr lang="en-US" dirty="0"/>
              <a:t>A subnet mask, such as 255.255.255.0, is used to specify the division between the network and host portions of an IP address.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F7F1B-15C5-2A95-A6C0-923D1CCA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E1D7C-FDC6-B0A3-A685-55ECD190D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05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125C6-8E4C-862D-5774-88686ABD5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923C1-9E55-9A91-4349-85809BAB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NAT (Network Address Translation)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2EA2A-EB44-4A1C-CF47-DF2E377D9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NAT allows multiple devices in a local network to share a single public IP address when accessing the internet.</a:t>
            </a:r>
          </a:p>
          <a:p>
            <a:r>
              <a:rPr lang="en-US" dirty="0"/>
              <a:t>It translates private IP addresses to a public address and vice versa.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5345D-5917-3CB1-B11E-09C3E0190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94A41-3942-6521-3034-36B76B7B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97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58486-B3BF-C1CD-3FD4-EDA9EF32B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FF37E-1A3B-CDB9-87ED-E6D1A4C6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VLAN (Virtual Local Area Network)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4D9BC-A6B5-DF2A-563E-EACA6B8BC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A VLAN is a logical partition within a physical LAN that segments a network for improved management and security.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235E1-9E23-3D29-DA1D-2868385B7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F2862-1595-3397-45EF-E4B66EBE6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36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7C299-94AA-6D67-EFAE-7375004DA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C790-0CD6-3DCE-0AB8-5BA785456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Troubleshoot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1893-8B8A-CEF6-35EC-03D8E8843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ping: Check if a device is reachable on the network.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ping &lt;hostname or IP&gt;</a:t>
            </a:r>
          </a:p>
          <a:p>
            <a:r>
              <a:rPr lang="en-US" dirty="0"/>
              <a:t>traceroute: Trace the route packets take to a destination.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traceroute &lt;hostname or IP&gt;</a:t>
            </a:r>
          </a:p>
          <a:p>
            <a:r>
              <a:rPr lang="en-US" dirty="0"/>
              <a:t>netstat: View active network connections and open ports.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netstat –</a:t>
            </a:r>
            <a:r>
              <a:rPr lang="en-US" dirty="0" err="1">
                <a:solidFill>
                  <a:srgbClr val="FF0000"/>
                </a:solidFill>
              </a:rPr>
              <a:t>tuln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/>
              <a:t>ifconfig</a:t>
            </a:r>
            <a:r>
              <a:rPr lang="en-US" dirty="0"/>
              <a:t>/</a:t>
            </a:r>
            <a:r>
              <a:rPr lang="en-US" dirty="0" err="1"/>
              <a:t>ip</a:t>
            </a:r>
            <a:r>
              <a:rPr lang="en-US" dirty="0"/>
              <a:t>: Check and configure network interfaces.</a:t>
            </a:r>
          </a:p>
          <a:p>
            <a:pPr marL="274320" lvl="1" indent="0">
              <a:buNone/>
            </a:pPr>
            <a:r>
              <a:rPr lang="en-US" dirty="0" err="1">
                <a:solidFill>
                  <a:srgbClr val="FF0000"/>
                </a:solidFill>
              </a:rPr>
              <a:t>ifconfig</a:t>
            </a:r>
            <a:r>
              <a:rPr lang="en-US" dirty="0">
                <a:solidFill>
                  <a:srgbClr val="FF0000"/>
                </a:solidFill>
              </a:rPr>
              <a:t>  # Older systems</a:t>
            </a:r>
          </a:p>
          <a:p>
            <a:pPr marL="274320" lvl="1" indent="0">
              <a:buNone/>
            </a:pPr>
            <a:r>
              <a:rPr lang="en-US" dirty="0" err="1">
                <a:solidFill>
                  <a:srgbClr val="FF0000"/>
                </a:solidFill>
              </a:rPr>
              <a:t>ip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addr</a:t>
            </a:r>
            <a:r>
              <a:rPr lang="en-US" dirty="0">
                <a:solidFill>
                  <a:srgbClr val="FF0000"/>
                </a:solidFill>
              </a:rPr>
              <a:t>   # Newer systems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B58F1-3F8C-4DD6-5FAE-259F2AE92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D8F41-198D-2942-1DA0-F51267032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48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E0869-A220-07A1-DD99-6DF41BE502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Introduction to DevOps | Lecture 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E93EF0-C6A1-D794-6D90-9A4B4EF8B6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7A19DD-42F6-B2F5-0131-413CAEF1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</a:t>
            </a:r>
            <a:br>
              <a:rPr lang="en-US" dirty="0"/>
            </a:br>
            <a:r>
              <a:rPr lang="en-US" dirty="0"/>
              <a:t>Lecture 4</a:t>
            </a:r>
          </a:p>
        </p:txBody>
      </p:sp>
    </p:spTree>
    <p:extLst>
      <p:ext uri="{BB962C8B-B14F-4D97-AF65-F5344CB8AC3E}">
        <p14:creationId xmlns:p14="http://schemas.microsoft.com/office/powerpoint/2010/main" val="663198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A128-C4D8-E305-85C9-B03DF2031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Virtualization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0B853-FF2A-5B00-B111-DEB0FB5D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041C-86CD-85A4-36FE-8ED62F85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1476"/>
      </p:ext>
    </p:extLst>
  </p:cSld>
  <p:clrMapOvr>
    <a:masterClrMapping/>
  </p:clrMapOvr>
</p:sld>
</file>

<file path=ppt/theme/theme1.xml><?xml version="1.0" encoding="utf-8"?>
<a:theme xmlns:a="http://schemas.openxmlformats.org/drawingml/2006/main" name="1_View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631</TotalTime>
  <Words>568</Words>
  <Application>Microsoft Office PowerPoint</Application>
  <PresentationFormat>Widescreen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Century Schoolbook</vt:lpstr>
      <vt:lpstr>Nunito</vt:lpstr>
      <vt:lpstr>Roboto</vt:lpstr>
      <vt:lpstr>Wingdings 2</vt:lpstr>
      <vt:lpstr>1_View</vt:lpstr>
      <vt:lpstr>PowerPoint Presentation</vt:lpstr>
      <vt:lpstr>Unit 1: Introduction (3hrs)</vt:lpstr>
      <vt:lpstr>Networking</vt:lpstr>
      <vt:lpstr>Networking</vt:lpstr>
      <vt:lpstr>IP Addressing</vt:lpstr>
      <vt:lpstr>IP Addressing</vt:lpstr>
      <vt:lpstr>Subnetting</vt:lpstr>
      <vt:lpstr>NAT (Network Address Translation)</vt:lpstr>
      <vt:lpstr>VLAN (Virtual Local Area Network)</vt:lpstr>
      <vt:lpstr>Troubleshoot</vt:lpstr>
      <vt:lpstr>End of Lecture 4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>Shiva Kunwar</dc:creator>
  <cp:lastModifiedBy>Shiva Kunwar</cp:lastModifiedBy>
  <cp:revision>95</cp:revision>
  <dcterms:created xsi:type="dcterms:W3CDTF">2021-11-23T15:23:57Z</dcterms:created>
  <dcterms:modified xsi:type="dcterms:W3CDTF">2025-06-02T06:43:41Z</dcterms:modified>
</cp:coreProperties>
</file>