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42"/>
  </p:notesMasterIdLst>
  <p:handoutMasterIdLst>
    <p:handoutMasterId r:id="rId43"/>
  </p:handoutMasterIdLst>
  <p:sldIdLst>
    <p:sldId id="296" r:id="rId2"/>
    <p:sldId id="289" r:id="rId3"/>
    <p:sldId id="291" r:id="rId4"/>
    <p:sldId id="297" r:id="rId5"/>
    <p:sldId id="330" r:id="rId6"/>
    <p:sldId id="331" r:id="rId7"/>
    <p:sldId id="329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2" r:id="rId22"/>
    <p:sldId id="311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285" r:id="rId40"/>
    <p:sldId id="28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60"/>
      </p:cViewPr>
      <p:guideLst/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6546" y="-15528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47619094-B4DD-411B-9727-81726193D42C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DevOps Basics with Virtualization | Lecture 5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3B2A-7451-47FD-9F17-50CA2FF1A6AC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132832" cy="4892044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23E1-5CF1-4352-AC54-62E5E7EA42CE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600201"/>
            <a:ext cx="5132832" cy="4892044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1999" cy="4257451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748"/>
            <a:ext cx="12192000" cy="4257451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2252-74ED-4104-9926-188E321CBBFA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500043" cy="64007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2" descr="Modern DevOps Certifications">
            <a:extLst>
              <a:ext uri="{FF2B5EF4-FFF2-40B4-BE49-F238E27FC236}">
                <a16:creationId xmlns:a16="http://schemas.microsoft.com/office/drawing/2014/main" id="{4A27BB8C-65DC-4269-27E2-B894E27289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EB0F66-2EE4-34E0-F963-D82C7194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344912" cy="16002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FAB6BF0A-1248-A3F5-C7BA-C1A80B8358C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600" y="1600200"/>
            <a:ext cx="10347325" cy="48926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D283-6714-44DB-98E5-5E98115B1350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9DF9134-C163-4D27-8FF2-4483CF773019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8B0B-E52C-FB61-BA2D-848A459BB9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2" y="1590741"/>
            <a:ext cx="10340023" cy="49015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C69429-BC97-6E4E-0AE7-2A10C174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344912" cy="1590741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82A7C5-5980-4C5D-AB4C-C0BD2EFDD8D6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07E3-527E-4701-A43F-0D32A588807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344912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340023" cy="4892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4C9AD7B0-D162-46C1-9C5A-929BCE2D8C72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Unit 2: DevOps Basics with Virtualization (5hrs)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Basics of Virtualization: Definition, Types, and Hierarchy of Virtualizations</a:t>
            </a:r>
          </a:p>
          <a:p>
            <a:r>
              <a:rPr lang="en-US" b="1" dirty="0"/>
              <a:t>Learn Virtualization: Manual and Automatic. OS Environments: Linux, MacOS, and Windows</a:t>
            </a:r>
          </a:p>
          <a:p>
            <a:r>
              <a:rPr lang="en-US" dirty="0"/>
              <a:t>Bash Scripting. Basics of Scripting</a:t>
            </a:r>
          </a:p>
          <a:p>
            <a:r>
              <a:rPr lang="en-US" dirty="0"/>
              <a:t>Variables, Conditions, Loops, etc.</a:t>
            </a:r>
          </a:p>
          <a:p>
            <a:r>
              <a:rPr lang="en-US" dirty="0"/>
              <a:t>Automating day-to-day Admin Tasks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4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Virtualization is creating a virtual version of something rather than a physical one. </a:t>
            </a:r>
          </a:p>
          <a:p>
            <a:r>
              <a:rPr lang="en-US" dirty="0"/>
              <a:t>In computing, </a:t>
            </a:r>
            <a:r>
              <a:rPr lang="en-US" b="1" dirty="0"/>
              <a:t>software simulates hardware functionality</a:t>
            </a:r>
            <a:r>
              <a:rPr lang="en-US" dirty="0"/>
              <a:t>, allowing multiple operating systems or applications to run on a single physical machine simultaneously. </a:t>
            </a:r>
          </a:p>
          <a:p>
            <a:r>
              <a:rPr lang="en-US" dirty="0"/>
              <a:t>Virtualization is foundational in DevOps and cloud computing because it enables efficient resource use, isolation, scalability, and automation.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This practice maximizes a physical machine’s capacity by distributing its resources between multiple users and environments.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A353-3B39-6E3A-58CB-F77F4017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A2BC-7DB0-AEA5-B4A2-DC380ABC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1768-ADDB-7A59-240D-7FB70C944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Virtualization is a technology that creates a virtual (software-based) version of computing resources, such as servers, storage, networks, and desktops.</a:t>
            </a:r>
          </a:p>
          <a:p>
            <a:r>
              <a:rPr lang="en-US"/>
              <a:t>It abstracts physical hardware resources into virtual resources that can be easily managed, modified, or scaled according to application needs.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E66B7-CD74-75B9-A616-D7DD49BE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74C77-C874-6EAA-179C-ED040FF3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6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7A4-9299-9C02-2678-EE5BC3CB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786A-6493-1E12-9A78-5D941492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FB38-9D4B-AE3A-1627-957EE52BA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Roboto" panose="02000000000000000000" pitchFamily="2" charset="0"/>
              </a:rPr>
              <a:t>Each VM has an operating system and acts as an independent computer even though it runs on a portion of the physical device.</a:t>
            </a:r>
          </a:p>
          <a:p>
            <a:pPr algn="l"/>
            <a:r>
              <a:rPr lang="en-US" b="0" i="0" dirty="0">
                <a:effectLst/>
                <a:latin typeface="Roboto" panose="02000000000000000000" pitchFamily="2" charset="0"/>
              </a:rPr>
              <a:t>A virtual machine mimics all components of a computer, including: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CPU.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RAM.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Storage.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Networks.</a:t>
            </a:r>
          </a:p>
          <a:p>
            <a:pPr algn="l"/>
            <a:r>
              <a:rPr lang="en-US" b="0" i="0" dirty="0">
                <a:effectLst/>
                <a:latin typeface="Roboto" panose="02000000000000000000" pitchFamily="2" charset="0"/>
              </a:rPr>
              <a:t>With virtualization, a piece of hardware can host numerous VM configurations simultaneously without performance issues.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68E79-3E42-AF3C-232F-C5796492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1B57C-05E2-E6E5-3AA8-C685B392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8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8B5B-5DD6-0D83-0E62-34378408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7F82-6EB6-B223-1B12-9DD02502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60A1B-022B-57D3-AA2E-F0635F78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A73B6-B7AF-2260-C997-BD9960A7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Hardware vs virtualized servers">
            <a:extLst>
              <a:ext uri="{FF2B5EF4-FFF2-40B4-BE49-F238E27FC236}">
                <a16:creationId xmlns:a16="http://schemas.microsoft.com/office/drawing/2014/main" id="{8357B795-8477-7204-FB74-90921BA5BA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899" y="1371600"/>
            <a:ext cx="8880790" cy="534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4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994A-9D35-4ACC-2C75-C39768C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77A5-04AD-E3D3-540D-1D7EFB36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D0C25-4387-C7EE-360D-E28EC816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67A2B-B774-601B-B81F-E3020C70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Virtualization in Cloud Computing and Types - GeeksforGeeks">
            <a:extLst>
              <a:ext uri="{FF2B5EF4-FFF2-40B4-BE49-F238E27FC236}">
                <a16:creationId xmlns:a16="http://schemas.microsoft.com/office/drawing/2014/main" id="{D0A7DCFB-8D2B-50CF-A6CC-45AA4AEC84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07" y="1600200"/>
            <a:ext cx="7815774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23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AA43-3510-B263-4CD8-45A493AA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4AA1-C9B6-0902-6CE7-9909DB8E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E4EC-8738-67AD-0273-BFF57EB3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Resource Efficiency</a:t>
            </a:r>
            <a:r>
              <a:rPr lang="en-US"/>
              <a:t>: Maximizes resource utilization by allowing multiple virtual machines (VMs) to run on a single hardware system.</a:t>
            </a:r>
          </a:p>
          <a:p>
            <a:r>
              <a:rPr lang="en-US" b="1"/>
              <a:t>Isolation</a:t>
            </a:r>
            <a:r>
              <a:rPr lang="en-US"/>
              <a:t>: Each VM operates independently, improving security and stability and minimizing risks of conflicts.</a:t>
            </a:r>
          </a:p>
          <a:p>
            <a:r>
              <a:rPr lang="en-US" b="1"/>
              <a:t>Scalability</a:t>
            </a:r>
            <a:r>
              <a:rPr lang="en-US"/>
              <a:t>: Quickly scales resources up or down based on demand.</a:t>
            </a:r>
          </a:p>
          <a:p>
            <a:r>
              <a:rPr lang="en-US" b="1"/>
              <a:t>Flexibility</a:t>
            </a:r>
            <a:r>
              <a:rPr lang="en-US"/>
              <a:t>: Enables quick provisioning and deployment of applications and environments.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E5DD4-4A4F-E7F4-EA77-BF553A1F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2FFC2-9BD4-980F-25D0-99E3BE47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9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D6870-3DCF-62FD-89BA-21F78D64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79D82-E2C3-1F85-7B54-42E6597E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A2D69-585D-BCD1-2938-23574964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7F5A-EE11-0E6A-A6E7-B3A9712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comes in various types, each serving a different purpose within IT and DevOps environments:</a:t>
            </a:r>
          </a:p>
          <a:p>
            <a:pPr lvl="1"/>
            <a:r>
              <a:rPr lang="en-US" b="1" dirty="0"/>
              <a:t>Server Virtualization</a:t>
            </a:r>
          </a:p>
          <a:p>
            <a:pPr lvl="1"/>
            <a:r>
              <a:rPr lang="en-US" b="1" dirty="0"/>
              <a:t>Desktop Virtualization</a:t>
            </a:r>
          </a:p>
          <a:p>
            <a:pPr lvl="1"/>
            <a:r>
              <a:rPr lang="en-US" b="1" dirty="0"/>
              <a:t>Application Virtualization</a:t>
            </a:r>
          </a:p>
          <a:p>
            <a:pPr lvl="1"/>
            <a:r>
              <a:rPr lang="en-US" b="1" dirty="0"/>
              <a:t>Network Virtualization</a:t>
            </a:r>
          </a:p>
          <a:p>
            <a:pPr lvl="1"/>
            <a:r>
              <a:rPr lang="en-US" b="1" dirty="0"/>
              <a:t>Storage Virtualization</a:t>
            </a:r>
          </a:p>
          <a:p>
            <a:pPr lvl="1"/>
            <a:r>
              <a:rPr lang="en-US" b="1" dirty="0"/>
              <a:t>Data Virtualization</a:t>
            </a:r>
          </a:p>
          <a:p>
            <a:pPr lvl="1"/>
            <a:r>
              <a:rPr lang="en-US" b="1" dirty="0"/>
              <a:t>OS Virtualization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D02D8-B891-1E35-663E-3071CFC5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97" y="365756"/>
            <a:ext cx="3436303" cy="3624504"/>
          </a:xfrm>
        </p:spPr>
        <p:txBody>
          <a:bodyPr/>
          <a:lstStyle/>
          <a:p>
            <a:r>
              <a:rPr lang="en-US" dirty="0"/>
              <a:t>Types of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17732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30D3-58AC-1F69-897B-B8B993D6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65C7-CFEC-8288-D747-F22B717A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2F2B-4DD0-A431-0A26-C19573449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Server virtualization divides a physical server into multiple isolated virtual servers, known as Virtual Machines (VMs).</a:t>
            </a:r>
          </a:p>
          <a:p>
            <a:r>
              <a:rPr lang="en-US" b="1" dirty="0"/>
              <a:t>Use Cases</a:t>
            </a:r>
            <a:r>
              <a:rPr lang="en-US" dirty="0"/>
              <a:t>: Commonly used to optimize physical server usage, reduce costs, and run different operating systems and applications on a single physical machine.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VMware, Hyper-V, KVM.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A7C4F-610E-601B-6F85-8123529B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F559B-772A-8329-B87D-56500960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0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F214-58CE-3918-F28B-D032C670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434F-8F38-D4F1-13D4-90C9D224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337E2-15DD-CFC0-A7FC-071CBE6D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Desktop virtualization allows the creation of virtual desktops that users can access remotely on any device.</a:t>
            </a:r>
          </a:p>
          <a:p>
            <a:r>
              <a:rPr lang="en-US" b="1" dirty="0"/>
              <a:t>Use Cases</a:t>
            </a:r>
            <a:r>
              <a:rPr lang="en-US" dirty="0"/>
              <a:t>: Provides secure and flexible desktop access, especially useful for remote work and IT troubleshooting.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 Horizon, Citrix Virtual Apps and Desktops.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06C88-A976-5976-4FDB-E009D8CC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AB135-C8DB-CB0C-3FA3-3D2D5F1E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1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CE6A-B436-B2A2-28A3-E6178CDB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565-5239-A6BB-054F-09FCCDEF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B2EA-C5CC-EC05-A0A7-1EBCC95B5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Application virtualization separates an application from the underlying OS, allowing it to run in an isolated environment.</a:t>
            </a:r>
          </a:p>
          <a:p>
            <a:r>
              <a:rPr lang="en-US" b="1" dirty="0"/>
              <a:t>Use Cases</a:t>
            </a:r>
            <a:r>
              <a:rPr lang="en-US" dirty="0"/>
              <a:t>: Helps avoid compatibility issues by packaging applications for use on different OS versions or configurations.</a:t>
            </a:r>
          </a:p>
          <a:p>
            <a:r>
              <a:rPr lang="en-US" b="1" dirty="0"/>
              <a:t>Examples of Tools</a:t>
            </a:r>
            <a:r>
              <a:rPr lang="en-US" dirty="0"/>
              <a:t>: Citrix XenApp, Microsoft App-V.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52843-127B-F0B4-7EE5-E5B63D06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EA1EA-59E4-430A-A28E-A29B04C0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6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045A-4123-1E2C-06A9-0BD65428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1EBA-EBBB-6411-7FB0-7CFC7F10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0BF52-3E09-7DCC-6647-5244B04A5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Network virtualization abstracts network resources like switches, routers, and firewalls into virtual network components.</a:t>
            </a:r>
          </a:p>
          <a:p>
            <a:r>
              <a:rPr lang="en-US" b="1" dirty="0"/>
              <a:t>Use Cases</a:t>
            </a:r>
            <a:r>
              <a:rPr lang="en-US" dirty="0"/>
              <a:t>: Enhances network flexibility, security, and scalability in cloud and data center environments.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 NSX, Cisco ACI, Open </a:t>
            </a:r>
            <a:r>
              <a:rPr lang="en-US" dirty="0" err="1"/>
              <a:t>vSwitch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E6619-BF13-A5BC-7198-D792B5D9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BF8DA-97D4-62FA-B267-2BABB525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77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0974-D9DE-2264-DAD2-03FEA5E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FE82-6C00-FE5F-0F4F-B088792D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FC4F-6FC9-3449-CBF7-8D1037E1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Storage virtualization pools physical storage from multiple devices into a single virtual storage unit.</a:t>
            </a:r>
          </a:p>
          <a:p>
            <a:r>
              <a:rPr lang="en-US" b="1" dirty="0"/>
              <a:t>Use Cases</a:t>
            </a:r>
            <a:r>
              <a:rPr lang="en-US" dirty="0"/>
              <a:t>: Simplifies storage management, improves scalability, and optimizes performance.</a:t>
            </a:r>
          </a:p>
          <a:p>
            <a:r>
              <a:rPr lang="en-US" b="1" dirty="0"/>
              <a:t>Examples of Tools</a:t>
            </a:r>
            <a:r>
              <a:rPr lang="en-US" dirty="0"/>
              <a:t>: IBM Spectrum Virtualize, NetApp ONTAP.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6E63E-790D-E147-8790-C6FF9650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4FD29-4439-2818-7AAD-38E169E3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4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08CC-450A-3A37-5F6E-7FF0130EC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C09C-2190-D621-2C10-1A7092D6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4E1A4-06BA-1B0D-91F9-9E5F717E6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Data virtualization aggregates data from different sources without physically moving it.</a:t>
            </a:r>
          </a:p>
          <a:p>
            <a:r>
              <a:rPr lang="en-US" b="1" dirty="0"/>
              <a:t>Use Cases</a:t>
            </a:r>
            <a:r>
              <a:rPr lang="en-US" dirty="0"/>
              <a:t>: Enables real-time data access and analysis across different storage systems or databases.</a:t>
            </a:r>
          </a:p>
          <a:p>
            <a:r>
              <a:rPr lang="en-US" b="1" dirty="0"/>
              <a:t>Examples of Tools</a:t>
            </a:r>
            <a:r>
              <a:rPr lang="en-US" dirty="0"/>
              <a:t>: Denodo, Red Hat Data Virtualization.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90F34-4344-3636-244D-1820A9F7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DE3A8-133B-77E3-6389-8144A59F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88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579F-BFFB-B08D-82A8-897FC1DC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F217-9E55-F3D7-5347-CB8A3B17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Virtualization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DCF9-2D34-26BD-5E01-0EC90E888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OS virtualization creates isolated user-space instances called containers that run on a single OS kernel.</a:t>
            </a:r>
          </a:p>
          <a:p>
            <a:r>
              <a:rPr lang="en-US" b="1" dirty="0"/>
              <a:t>Use Cases</a:t>
            </a:r>
            <a:r>
              <a:rPr lang="en-US" dirty="0"/>
              <a:t>: Used in DevOps for lightweight, efficient deployment of applications without the need for full VMs.</a:t>
            </a:r>
          </a:p>
          <a:p>
            <a:r>
              <a:rPr lang="en-US" b="1" dirty="0"/>
              <a:t>Examples of Tools</a:t>
            </a:r>
            <a:r>
              <a:rPr lang="en-US" dirty="0"/>
              <a:t>: Docker, LXC, Kubernetes (for orchestrating containers).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8E491-93CE-16A1-E9A2-6971CD81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D151-FE11-C8DB-1365-652E318A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2373-6CB0-F3C5-7155-D012FFB9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A049-BE71-5B13-252B-5BE714F0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23035-C612-2AAF-003A-435847A0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266C-1449-3CDE-7969-33C10E6D413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 of virtualization refers to the different layers or levels at which virtualization can occur in an IT infrastructure. Here is a breakdown of the virtualization hierarchy:</a:t>
            </a:r>
          </a:p>
          <a:p>
            <a:pPr lvl="1"/>
            <a:r>
              <a:rPr lang="en-US" b="1" dirty="0"/>
              <a:t>Hardware-Level Virtualization</a:t>
            </a:r>
          </a:p>
          <a:p>
            <a:pPr lvl="1"/>
            <a:r>
              <a:rPr lang="en-US" b="1" dirty="0"/>
              <a:t>OS-Level Virtualization</a:t>
            </a:r>
          </a:p>
          <a:p>
            <a:pPr lvl="1"/>
            <a:r>
              <a:rPr lang="en-US" b="1" dirty="0"/>
              <a:t>Application-Level Virtualization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B483B-D5D2-553F-3AAE-E4277924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Virtualizations</a:t>
            </a:r>
          </a:p>
        </p:txBody>
      </p:sp>
    </p:spTree>
    <p:extLst>
      <p:ext uri="{BB962C8B-B14F-4D97-AF65-F5344CB8AC3E}">
        <p14:creationId xmlns:p14="http://schemas.microsoft.com/office/powerpoint/2010/main" val="3719189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7EF5-1DCB-41A1-3582-869158C1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866B-9057-503C-F42E-6C0041D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Hardware-Level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ED23-4247-1334-F056-C640FE5D4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starts at the hardware level, where physical resources like CPU, memory, and storage are virtualized.</a:t>
            </a:r>
          </a:p>
          <a:p>
            <a:r>
              <a:rPr lang="en-US" dirty="0"/>
              <a:t>Hardware-level virtualization allows multiple virtual instances (VMs) to share hardware resources effectively.</a:t>
            </a:r>
          </a:p>
          <a:p>
            <a:r>
              <a:rPr lang="en-US" b="1" dirty="0"/>
              <a:t>Example Technologies</a:t>
            </a:r>
            <a:r>
              <a:rPr lang="en-US" dirty="0"/>
              <a:t>: Intel VT-x, AMD-V, Virtual Machine Monitor (VMM).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EAB9E-7F98-441A-FE09-4FA51A28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E303A-D856-448D-6AE4-1D6C602F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09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323-8088-3618-9074-BDC75D67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11EA-AA43-12CD-BEC1-9E9B2A23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OS-Level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939E-C390-E1E7-3B21-2227B834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OS-level virtualization allows multiple isolated user-space instances (containers) to run on the same OS kernel.</a:t>
            </a:r>
          </a:p>
          <a:p>
            <a:r>
              <a:rPr lang="en-US" dirty="0"/>
              <a:t>It’s more lightweight than full hardware virtualization because containers share the host OS kernel, making it efficient for applications with lower resource needs.</a:t>
            </a:r>
          </a:p>
          <a:p>
            <a:r>
              <a:rPr lang="en-US" b="1" dirty="0"/>
              <a:t>Example Technologies</a:t>
            </a:r>
            <a:r>
              <a:rPr lang="en-US" dirty="0"/>
              <a:t>: Docker, LXC.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8A4E4-081C-A31B-7047-2A6486A9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08980-3D2D-4BE8-BE79-C5A9C907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6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846C-912C-470C-50B4-74676912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FFAF-99C1-FD48-4C55-4CFFBF6F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Application-Level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B0AA-393F-49C5-10BD-C7EDCA1EB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application level, virtualization isolates applications from the underlying OS and other applications, creating a virtual environment specifically for the application.</a:t>
            </a:r>
          </a:p>
          <a:p>
            <a:r>
              <a:rPr lang="en-US" dirty="0"/>
              <a:t>This type of virtualization is often used to avoid compatibility issues and ensure applications run consistently across environments.</a:t>
            </a:r>
          </a:p>
          <a:p>
            <a:r>
              <a:rPr lang="en-US" b="1" dirty="0"/>
              <a:t>Example Technologies</a:t>
            </a:r>
            <a:r>
              <a:rPr lang="en-US" dirty="0"/>
              <a:t>: Citrix XenApp, Microsoft App-V.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2AB1E-AD46-1D81-7D71-C36F8163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C4F3-DE9A-87B0-E9BA-A01E7542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83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18B6-D8FD-E0B7-FFE6-11D524A5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FADB-D20F-E4C3-FA79-CD611759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 in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D540-4A3D-10BF-D512-F7905148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hypervisor, also known as a Virtual Machine Monitor (VMM), is software that </a:t>
            </a:r>
            <a:r>
              <a:rPr lang="en-US" b="1" dirty="0"/>
              <a:t>creates and manages VMs </a:t>
            </a:r>
            <a:r>
              <a:rPr lang="en-US" dirty="0"/>
              <a:t>on a host machine. </a:t>
            </a:r>
          </a:p>
          <a:p>
            <a:r>
              <a:rPr lang="en-US" dirty="0"/>
              <a:t>There are two types of hypervisors:</a:t>
            </a:r>
          </a:p>
          <a:p>
            <a:r>
              <a:rPr lang="en-US" b="1" dirty="0"/>
              <a:t>Type 1 (Bare-Metal Hypervisor)</a:t>
            </a:r>
          </a:p>
          <a:p>
            <a:r>
              <a:rPr lang="en-US" b="1" dirty="0"/>
              <a:t>Type 2 (Hosted Hypervisor)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A106B-4B9C-7F1A-A008-1942D7B8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66EE5-63D4-1750-C2EB-076F1295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5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A34C-A5DD-2165-F782-71571B78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67DE-7DCE-F69F-76CB-29B6C404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 in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E4D3-5EC9-08C5-58C4-D97B0DC0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 1 (Bare-Metal Hypervisor)</a:t>
            </a:r>
            <a:r>
              <a:rPr lang="en-US" dirty="0"/>
              <a:t>: Runs directly on the physical hardware, offering high performance and direct hardware access.</a:t>
            </a:r>
          </a:p>
          <a:p>
            <a:pPr lvl="1"/>
            <a:r>
              <a:rPr lang="en-US" dirty="0"/>
              <a:t>Examples: VMware </a:t>
            </a:r>
            <a:r>
              <a:rPr lang="en-US" dirty="0" err="1"/>
              <a:t>ESXi</a:t>
            </a:r>
            <a:r>
              <a:rPr lang="en-US" dirty="0"/>
              <a:t>, Microsoft Hyper-V, KVM.</a:t>
            </a:r>
          </a:p>
          <a:p>
            <a:r>
              <a:rPr lang="en-US" b="1" dirty="0"/>
              <a:t>Type 2 (Hosted Hypervisor)</a:t>
            </a:r>
            <a:r>
              <a:rPr lang="en-US" dirty="0"/>
              <a:t>: Runs on an operating system as an application, making it less performant but more flexible for development environments.</a:t>
            </a:r>
          </a:p>
          <a:p>
            <a:pPr lvl="1"/>
            <a:r>
              <a:rPr lang="en-US" dirty="0"/>
              <a:t>Examples: VMware Workstation, VirtualBox.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561F6-3560-9610-A7CF-7E5B5D90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E2EC-0726-0CFA-FE04-F13BB46F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4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EAC1-CE0F-253F-01EE-5A4AD5EE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53405-3A80-E075-5C46-D1875C4F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5E6A8-CECA-C493-7C29-AB64990E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C8E4-0E50-BC46-ACD7-A10B7A649D1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developers and IT professionals to simulate multiple computing environments on a single physical machine.</a:t>
            </a:r>
          </a:p>
          <a:p>
            <a:r>
              <a:rPr lang="en-US" dirty="0"/>
              <a:t>There are two main methods of virtualization setup</a:t>
            </a:r>
          </a:p>
          <a:p>
            <a:pPr lvl="1"/>
            <a:r>
              <a:rPr lang="en-US" b="1" dirty="0"/>
              <a:t>Manual</a:t>
            </a:r>
          </a:p>
          <a:p>
            <a:pPr lvl="1"/>
            <a:r>
              <a:rPr lang="en-US" b="1" dirty="0"/>
              <a:t>Automatic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2F244-FD39-7E56-D2C6-7333068C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132005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FA984-053B-CEFA-EF36-6B46620B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61DF-26D5-5E57-9078-358907EB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77D5-B274-E6F9-701D-3D37A036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Manual virtualization involves creating virtual machines (VMs) or containers by </a:t>
            </a:r>
            <a:r>
              <a:rPr lang="en-US" b="1" dirty="0"/>
              <a:t>configuring settings individually </a:t>
            </a:r>
            <a:r>
              <a:rPr lang="en-US" dirty="0"/>
              <a:t>for each environment. </a:t>
            </a:r>
          </a:p>
          <a:p>
            <a:r>
              <a:rPr lang="en-US" dirty="0"/>
              <a:t>This approach is more hands-on and gives </a:t>
            </a:r>
            <a:r>
              <a:rPr lang="en-US" b="1" dirty="0"/>
              <a:t>full control over configuration</a:t>
            </a:r>
            <a:r>
              <a:rPr lang="en-US" dirty="0"/>
              <a:t> but requires </a:t>
            </a:r>
            <a:r>
              <a:rPr lang="en-US" b="1" dirty="0"/>
              <a:t>detailed knowledge </a:t>
            </a:r>
            <a:r>
              <a:rPr lang="en-US" dirty="0"/>
              <a:t>of the virtualization platform.</a:t>
            </a:r>
          </a:p>
          <a:p>
            <a:r>
              <a:rPr lang="en-US" dirty="0"/>
              <a:t>This is more time-consuming.</a:t>
            </a:r>
            <a:endParaRPr lang="en-US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57E0B-A163-ED2C-1979-27AC7D45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310F8-CA90-7F98-1053-A7FD811C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85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BDB3-3E06-4DDF-19F9-FF9E719B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CA59-7850-3136-3C40-ED408A36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A3F1-C1D1-8EB2-5663-4514FB96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Steps for Manual Virtualization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Install Hypervisor</a:t>
            </a:r>
            <a:r>
              <a:rPr lang="en-US" dirty="0"/>
              <a:t>: Start by installing a hypervisor, such as VMware, VirtualBox, or KVM.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Create a Virtual Machine</a:t>
            </a:r>
            <a:r>
              <a:rPr lang="en-US" dirty="0"/>
              <a:t>: Define parameters like CPU allocation, RAM, disk space, and network settings.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Install Guest OS</a:t>
            </a:r>
            <a:r>
              <a:rPr lang="en-US" dirty="0"/>
              <a:t>: Manually install the OS on each virtual machine.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Customize Environment</a:t>
            </a:r>
            <a:r>
              <a:rPr lang="en-US" dirty="0"/>
              <a:t>: Set up applications, dependencies, and configurations manually.</a:t>
            </a:r>
            <a:endParaRPr lang="en-US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6B656-2230-26E8-A620-C190183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2D396-BAA7-81A2-71BE-00E5919E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23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C860-D4F1-7D4B-8C58-58F0813A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42E-167B-4188-DCAA-4AFECD1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9166C-57E9-31CF-C6A8-0914CB3B3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Manual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control over every aspect of the virtual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learning and experimenting with detailed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deep understanding of VM setup and resource allocation.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A33BA-38CD-5B48-5434-D992B5B4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BD887-4D2C-A33F-7B28-0355FB63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20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B289-E281-955E-2F96-BE44F17D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9745-36A2-2EF1-D5E4-176D4EB7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BA3A-1A46-9A10-E279-45D7C9895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Disadvantages of Manual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Time-consuming, especially when creating multiple VMs.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Prone to human error, which can affect configuration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efficient for large-scale environments where quick provisioning is required.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00D8-40ED-1775-0D91-0956A8BA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1D013-54A0-D3F7-6962-97812EF4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82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54DC-EF98-4087-E2D5-7610D3CE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CC-8C90-9FEF-D926-1B6FA054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3200-A2E7-FD0D-9BF1-8FB964F0A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virtualization uses </a:t>
            </a:r>
            <a:r>
              <a:rPr lang="en-US" b="1" dirty="0"/>
              <a:t>scripts and automation tools to create </a:t>
            </a:r>
            <a:r>
              <a:rPr lang="en-US" dirty="0"/>
              <a:t>and manage </a:t>
            </a:r>
            <a:r>
              <a:rPr lang="en-US" b="1" dirty="0"/>
              <a:t>virtual environments</a:t>
            </a:r>
            <a:r>
              <a:rPr lang="en-US" dirty="0"/>
              <a:t>.</a:t>
            </a:r>
          </a:p>
          <a:p>
            <a:r>
              <a:rPr lang="en-US" dirty="0"/>
              <a:t>With automation, environments can be provisioned quickly and consistently, making it ideal for large-scale setups and environments requiring frequent updates.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47F1F-3116-3316-8BFB-BBFBF724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8CCEA-419C-7F3D-AD1D-B90BA85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39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36F9B-02DE-39BF-7364-6A2AB362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EB81-E7F6-D9F1-FADF-5669F2C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61586-F682-6896-D12A-C4305D517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Automation Tools for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Vagrant</a:t>
            </a:r>
            <a:r>
              <a:rPr lang="en-US" dirty="0"/>
              <a:t>: Used to automate VM creation using predefined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Ansible, Puppet, Chef</a:t>
            </a:r>
            <a:r>
              <a:rPr lang="en-US" dirty="0"/>
              <a:t>: Automate configuration management and provisioning of VMs and containers.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 Compose</a:t>
            </a:r>
            <a:r>
              <a:rPr lang="en-US" dirty="0"/>
              <a:t>: Automates the setup of containerized applications using Docker.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7BCCB-D9A0-8E04-8B1D-6673083F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3D03D-25F6-5F4D-F4DA-A4EDD657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7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5F4D-476B-7C79-F231-E5EAE409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8D2C-68E4-4722-EE16-D6B75BFE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EC8E7-0144-1173-C2CF-5D044B24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Steps for Automatic Virtualization</a:t>
            </a:r>
          </a:p>
          <a:p>
            <a:pPr lvl="1"/>
            <a:r>
              <a:rPr lang="en-US" b="1" dirty="0"/>
              <a:t>Define Configuration</a:t>
            </a:r>
            <a:r>
              <a:rPr lang="en-US" dirty="0"/>
              <a:t>: Create a configuration file specifying parameters like OS, CPU, memory, and storage (e.g., a </a:t>
            </a:r>
            <a:r>
              <a:rPr lang="en-US" dirty="0" err="1"/>
              <a:t>Vagrantfile</a:t>
            </a:r>
            <a:r>
              <a:rPr lang="en-US" dirty="0"/>
              <a:t> for Vagrant or a </a:t>
            </a:r>
            <a:r>
              <a:rPr lang="en-US" dirty="0" err="1"/>
              <a:t>Dockerfile</a:t>
            </a:r>
            <a:r>
              <a:rPr lang="en-US" dirty="0"/>
              <a:t> for Docker).</a:t>
            </a:r>
            <a:endParaRPr lang="en-US" b="1" dirty="0"/>
          </a:p>
          <a:p>
            <a:pPr lvl="1"/>
            <a:r>
              <a:rPr lang="en-US" b="1" dirty="0"/>
              <a:t>Run Automation Command</a:t>
            </a:r>
            <a:r>
              <a:rPr lang="en-US" dirty="0"/>
              <a:t>: Use a command to initiate VM or container creation, which automatically follows the specified configurations.</a:t>
            </a:r>
            <a:endParaRPr lang="en-US" b="1" dirty="0"/>
          </a:p>
          <a:p>
            <a:pPr lvl="1"/>
            <a:r>
              <a:rPr lang="en-US" b="1" dirty="0"/>
              <a:t>Provision Environment</a:t>
            </a:r>
            <a:r>
              <a:rPr lang="en-US" dirty="0"/>
              <a:t>: Apply scripts for installing applications, dependencies, and network settings.</a:t>
            </a:r>
            <a:endParaRPr lang="en-US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BC443-DE1C-F7B1-B628-C7D1B40B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ABD2C-23B1-94C0-B8E4-AA0B6641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8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BF64-E71C-C291-E4EB-BA495885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E251-2E8F-8DC5-87CA-FC998024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E4F0-C264-9129-3C2F-CD952D9E3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Automatic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and consistent environment setup.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time and effort in configuration for large deployments.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Easily replicable, making it ideal for testing and scaling.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42A00-4856-B2E4-44F3-D989837F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07C77-8B92-B3DB-010D-E51BBD6D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61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BDDE9-5638-E862-6E9A-03B2271F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C882-0C24-5F0A-EF6F-67140490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E474-3ABC-6071-A5FF-A310A1D50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Disadvantages of Automatic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control over specific details compared to manual setup.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knowledge of automation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setup of automation scripts can be complex for beginners.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C0819-4983-FFDC-CE58-5681DF84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E1BE4-F3E8-A228-1019-713261E6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14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7F3D-4053-ABE0-A72D-525CD6E9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AB633-6A55-666D-8FF7-7A3AC4CE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65D91-2B58-1A92-0F47-682E7FA0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B7E9-2A96-F7A6-3D01-3BC4A44540F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is widely supported across </a:t>
            </a:r>
            <a:r>
              <a:rPr lang="en-US" b="1" dirty="0"/>
              <a:t>Linux</a:t>
            </a:r>
            <a:r>
              <a:rPr lang="en-US" dirty="0"/>
              <a:t>, </a:t>
            </a:r>
            <a:r>
              <a:rPr lang="en-US" b="1" dirty="0"/>
              <a:t>macOS</a:t>
            </a:r>
            <a:r>
              <a:rPr lang="en-US" dirty="0"/>
              <a:t>, and </a:t>
            </a:r>
            <a:r>
              <a:rPr lang="en-US" b="1" dirty="0"/>
              <a:t>Windows</a:t>
            </a:r>
            <a:r>
              <a:rPr lang="en-US" dirty="0"/>
              <a:t> operating systems, each with specific tools and configurations.</a:t>
            </a:r>
          </a:p>
          <a:p>
            <a:r>
              <a:rPr lang="en-US" dirty="0"/>
              <a:t>Each OS (Linux, macOS, Windows) has tailored virtualization tools, ensuring flexibility across development, testing, and production environments.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47663-AF66-A329-2B51-24017DD6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4716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4AE69-39AE-9227-F3A2-2E689271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9D06-1405-0BF8-3002-EF4B495B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6C47-801A-8ACA-66BD-48F4532E0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Popular Tools</a:t>
            </a:r>
            <a:r>
              <a:rPr lang="en-US"/>
              <a:t>: KVM (Kernel-based Virtual Machine), Docker, LXC, VirtualBox.</a:t>
            </a:r>
          </a:p>
          <a:p>
            <a:r>
              <a:rPr lang="en-US" b="1"/>
              <a:t>Strengths</a:t>
            </a:r>
            <a:r>
              <a:rPr lang="en-US"/>
              <a:t>: Linux offers native support for KVM, enabling highly efficient virtualization. Docker containers are also widely used for lightweight, isolated environments.</a:t>
            </a:r>
          </a:p>
          <a:p>
            <a:r>
              <a:rPr lang="en-US" b="1"/>
              <a:t>Common Use Cases</a:t>
            </a:r>
            <a:r>
              <a:rPr lang="en-US"/>
              <a:t>: Server virtualization, containerized microservices, DevOps CI/CD pipelines.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E4FCE-EDF4-2768-424D-333081FB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66236-F96C-0E3A-16C4-8FBF8DB0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7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5827-C4B9-42CC-243C-45C20362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A10B-8F29-CE70-F013-5B217689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macOS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C3A4F-3DC6-5A9E-C039-55CDCA248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Popular Tools</a:t>
            </a:r>
            <a:r>
              <a:rPr lang="en-US" dirty="0"/>
              <a:t>: VMware Fusion, Parallels Desktop, Docker (for macOS).</a:t>
            </a:r>
          </a:p>
          <a:p>
            <a:r>
              <a:rPr lang="en-US" b="1" dirty="0"/>
              <a:t>Strengths</a:t>
            </a:r>
            <a:r>
              <a:rPr lang="en-US" dirty="0"/>
              <a:t>: macOS supports virtualization for testing macOS applications, with Docker being widely used for containerized environments.</a:t>
            </a:r>
          </a:p>
          <a:p>
            <a:r>
              <a:rPr lang="en-US" b="1" dirty="0"/>
              <a:t>Common Use Cases</a:t>
            </a:r>
            <a:r>
              <a:rPr lang="en-US" dirty="0"/>
              <a:t>: Development environments for cross-platform applications, testing iOS and macOS software, lightweight containerized development setups.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C120F-86DE-B2BA-425D-85C0F7E9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3E5B4-BE24-192E-19D1-18027078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07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17C1-7C02-1516-5B2B-5D50272A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D520-8FDF-481A-32A4-B3EF27A1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C8A7-3AEA-30BE-9A1D-AB2A62DFE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Popular Tools</a:t>
            </a:r>
            <a:r>
              <a:rPr lang="en-US" dirty="0"/>
              <a:t>: Hyper-V, VMware Workstation, VirtualBox, Docker for Windows.</a:t>
            </a:r>
          </a:p>
          <a:p>
            <a:r>
              <a:rPr lang="en-US" b="1" dirty="0"/>
              <a:t>Strengths</a:t>
            </a:r>
            <a:r>
              <a:rPr lang="en-US" dirty="0"/>
              <a:t>: Windows provides native support for Hyper-V, enabling easy VM creation for various Windows environments. Docker for Windows allows containerized applications.</a:t>
            </a:r>
          </a:p>
          <a:p>
            <a:r>
              <a:rPr lang="en-US" b="1" dirty="0"/>
              <a:t>Common Use Cases</a:t>
            </a:r>
            <a:r>
              <a:rPr lang="en-US" dirty="0"/>
              <a:t>: Enterprise applications, testing Windows Server configurations, DevOps automation with PowerShell, and </a:t>
            </a:r>
            <a:r>
              <a:rPr lang="en-US" dirty="0" err="1"/>
              <a:t>Dockerized</a:t>
            </a:r>
            <a:r>
              <a:rPr lang="en-US" dirty="0"/>
              <a:t> environments.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65C88-7714-43CB-B86A-CB5A561B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0F7DF-652C-A4A3-A488-986B14DC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43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5C6D-CF70-6529-0216-B9B5158C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C0AFD-147F-A8C0-46E2-B3013176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8B78-8C46-338D-ECBC-2774597D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ED08B-B18A-88F3-0017-C945E497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OS Environments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D063898-B37D-41F2-4F03-5B06E9C6E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2086528"/>
              </p:ext>
            </p:extLst>
          </p:nvPr>
        </p:nvGraphicFramePr>
        <p:xfrm>
          <a:off x="838200" y="1663700"/>
          <a:ext cx="9830616" cy="4572509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783896">
                  <a:extLst>
                    <a:ext uri="{9D8B030D-6E8A-4147-A177-3AD203B41FA5}">
                      <a16:colId xmlns:a16="http://schemas.microsoft.com/office/drawing/2014/main" val="429254239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903206067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750458121"/>
                    </a:ext>
                  </a:extLst>
                </a:gridCol>
              </a:tblGrid>
              <a:tr h="457709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Feature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Manual Virtualization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Automatic Virtualization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23251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Setup Time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Longer setup, more detailed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Fast, especially for multiple environments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60371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Consistency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Prone to configuration inconsistencies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Highly consistent across multiple setups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1365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Control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High control over every setting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Limited to pre-defined configurations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60188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Scaling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Challenging to scale quickly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Quick, easily repeatable for scaling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80535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Best For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Small projects, learning environments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Large projects, CI/CD pipelines, test automation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63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621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C961-FBB1-2F21-42D4-1C25027C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2A3F-12E4-E6E2-BEA7-796DB97F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238F-F0FD-C6DE-5CCD-241CF0EAD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Choosing between manual and automatic virtualization depends on project requirements, scale, and the level of control needed.</a:t>
            </a:r>
          </a:p>
          <a:p>
            <a:r>
              <a:rPr lang="en-US" dirty="0"/>
              <a:t>Manual virtualization provides greater control, ideal for learning or small projects, while automatic virtualization ensures consistency and speed, making it suitable for large-scale and automated deployments.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8C050-FD8B-A3E1-F052-6D174939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E4C38-D6F6-F4B9-F1A9-BAD4692C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43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BASH SCRIPTING</a:t>
            </a:r>
          </a:p>
          <a:p>
            <a:r>
              <a:rPr lang="en-US" dirty="0"/>
              <a:t>BASICS OF SCRIPTING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</TotalTime>
  <Words>2125</Words>
  <Application>Microsoft Office PowerPoint</Application>
  <PresentationFormat>Widescreen</PresentationFormat>
  <Paragraphs>259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2: DevOps Basics with Virtualization (5hrs)</vt:lpstr>
      <vt:lpstr>Virtualization</vt:lpstr>
      <vt:lpstr>Virtualization</vt:lpstr>
      <vt:lpstr>Virtualization</vt:lpstr>
      <vt:lpstr>Virtualization</vt:lpstr>
      <vt:lpstr>Virtualization</vt:lpstr>
      <vt:lpstr>Benefits of Virtualization</vt:lpstr>
      <vt:lpstr>Types of Virtualization</vt:lpstr>
      <vt:lpstr>Server Virtualization</vt:lpstr>
      <vt:lpstr>Desktop Virtualization</vt:lpstr>
      <vt:lpstr>Application Virtualization</vt:lpstr>
      <vt:lpstr>Network Virtualization</vt:lpstr>
      <vt:lpstr>Storage Virtualization</vt:lpstr>
      <vt:lpstr>Data Virtualization</vt:lpstr>
      <vt:lpstr>OS Virtualization </vt:lpstr>
      <vt:lpstr>Hierarchy of Virtualizations</vt:lpstr>
      <vt:lpstr>Hardware-Level Virtualization</vt:lpstr>
      <vt:lpstr>OS-Level Virtualization</vt:lpstr>
      <vt:lpstr>Application-Level Virtualization</vt:lpstr>
      <vt:lpstr>Hypervisors in Virtualization</vt:lpstr>
      <vt:lpstr>Hypervisors in Virtualization</vt:lpstr>
      <vt:lpstr>Learn Virtualization</vt:lpstr>
      <vt:lpstr>Manual Virtualization</vt:lpstr>
      <vt:lpstr>Manual Virtualization</vt:lpstr>
      <vt:lpstr>Manual Virtualization</vt:lpstr>
      <vt:lpstr>Manual Virtualization</vt:lpstr>
      <vt:lpstr>Automatic Virtualization</vt:lpstr>
      <vt:lpstr>Automatic Virtualization</vt:lpstr>
      <vt:lpstr>Automatic Virtualization</vt:lpstr>
      <vt:lpstr>Automatic Virtualization</vt:lpstr>
      <vt:lpstr>Automatic Virtualization</vt:lpstr>
      <vt:lpstr>OS Environments</vt:lpstr>
      <vt:lpstr>Linux Virtualization</vt:lpstr>
      <vt:lpstr>macOS Virtualization</vt:lpstr>
      <vt:lpstr>Windows Virtualization</vt:lpstr>
      <vt:lpstr>Comparison of OS Environments</vt:lpstr>
      <vt:lpstr>Virtualization</vt:lpstr>
      <vt:lpstr>End of Lecture 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93</cp:revision>
  <dcterms:created xsi:type="dcterms:W3CDTF">2021-11-23T15:23:57Z</dcterms:created>
  <dcterms:modified xsi:type="dcterms:W3CDTF">2025-06-02T06:43:28Z</dcterms:modified>
</cp:coreProperties>
</file>