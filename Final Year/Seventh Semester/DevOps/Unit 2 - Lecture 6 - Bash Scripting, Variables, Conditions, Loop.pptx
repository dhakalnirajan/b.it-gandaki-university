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</p:sldMasterIdLst>
  <p:notesMasterIdLst>
    <p:notesMasterId r:id="rId49"/>
  </p:notesMasterIdLst>
  <p:handoutMasterIdLst>
    <p:handoutMasterId r:id="rId50"/>
  </p:handoutMasterIdLst>
  <p:sldIdLst>
    <p:sldId id="296" r:id="rId2"/>
    <p:sldId id="289" r:id="rId3"/>
    <p:sldId id="291" r:id="rId4"/>
    <p:sldId id="297" r:id="rId5"/>
    <p:sldId id="298" r:id="rId6"/>
    <p:sldId id="328" r:id="rId7"/>
    <p:sldId id="329" r:id="rId8"/>
    <p:sldId id="330" r:id="rId9"/>
    <p:sldId id="331" r:id="rId10"/>
    <p:sldId id="332" r:id="rId11"/>
    <p:sldId id="333" r:id="rId12"/>
    <p:sldId id="339" r:id="rId13"/>
    <p:sldId id="334" r:id="rId14"/>
    <p:sldId id="335" r:id="rId15"/>
    <p:sldId id="336" r:id="rId16"/>
    <p:sldId id="337" r:id="rId17"/>
    <p:sldId id="363" r:id="rId18"/>
    <p:sldId id="327" r:id="rId19"/>
    <p:sldId id="357" r:id="rId20"/>
    <p:sldId id="340" r:id="rId21"/>
    <p:sldId id="358" r:id="rId22"/>
    <p:sldId id="341" r:id="rId23"/>
    <p:sldId id="359" r:id="rId24"/>
    <p:sldId id="360" r:id="rId25"/>
    <p:sldId id="361" r:id="rId26"/>
    <p:sldId id="362" r:id="rId27"/>
    <p:sldId id="338" r:id="rId28"/>
    <p:sldId id="342" r:id="rId29"/>
    <p:sldId id="343" r:id="rId30"/>
    <p:sldId id="364" r:id="rId31"/>
    <p:sldId id="344" r:id="rId32"/>
    <p:sldId id="345" r:id="rId33"/>
    <p:sldId id="346" r:id="rId34"/>
    <p:sldId id="347" r:id="rId35"/>
    <p:sldId id="348" r:id="rId36"/>
    <p:sldId id="352" r:id="rId37"/>
    <p:sldId id="353" r:id="rId38"/>
    <p:sldId id="354" r:id="rId39"/>
    <p:sldId id="355" r:id="rId40"/>
    <p:sldId id="356" r:id="rId41"/>
    <p:sldId id="365" r:id="rId42"/>
    <p:sldId id="366" r:id="rId43"/>
    <p:sldId id="351" r:id="rId44"/>
    <p:sldId id="349" r:id="rId45"/>
    <p:sldId id="350" r:id="rId46"/>
    <p:sldId id="285" r:id="rId47"/>
    <p:sldId id="286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93969" autoAdjust="0"/>
  </p:normalViewPr>
  <p:slideViewPr>
    <p:cSldViewPr>
      <p:cViewPr varScale="1">
        <p:scale>
          <a:sx n="42" d="100"/>
          <a:sy n="42" d="100"/>
        </p:scale>
        <p:origin x="72" y="6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962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0" d="100"/>
          <a:sy n="50" d="100"/>
        </p:scale>
        <p:origin x="2886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85BD65-9D91-7DFC-53E1-8BF243DCEC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4F2D22-E7AC-06AB-426E-E65713B850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78692-3B52-472B-A27C-0D21D13EB902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2CE5EB-28FA-61BC-7A31-808FF0DFF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E243D-0898-4319-31D8-7F9CA9078C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C52B39-A1FA-438D-A2A1-97F4EC1FF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29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01F557-E2B4-4866-84E9-3A03F70F82EF}" type="datetimeFigureOut">
              <a:rPr lang="en-US" smtClean="0"/>
              <a:pPr/>
              <a:t>6/14/2025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254-F383-4531-8078-930439348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mailto:shiva.kunwar@hotmail.com" TargetMode="External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4D63A80-F8C6-CA7A-5944-D04C4A793A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414" y="0"/>
            <a:ext cx="1218117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6285FAD9-6053-4231-825B-F5FBC185D5DE}" type="datetime1">
              <a:rPr lang="en-US" smtClean="0"/>
              <a:t>6/14/2025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DevOps Basics with Virtualization | Lecture 6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038DB-111F-FA38-FE8F-D77C73697FD2}"/>
              </a:ext>
            </a:extLst>
          </p:cNvPr>
          <p:cNvSpPr txBox="1"/>
          <p:nvPr userDrawn="1"/>
        </p:nvSpPr>
        <p:spPr>
          <a:xfrm>
            <a:off x="1261872" y="554183"/>
            <a:ext cx="9418320" cy="415498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Software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Development &amp;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Operations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(DevOps)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93262-3052-AECD-5F8E-C91BF4B8F021}"/>
              </a:ext>
            </a:extLst>
          </p:cNvPr>
          <p:cNvSpPr txBox="1"/>
          <p:nvPr userDrawn="1"/>
        </p:nvSpPr>
        <p:spPr>
          <a:xfrm>
            <a:off x="1261872" y="5156541"/>
            <a:ext cx="941832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>
                <a:latin typeface="Nunito" pitchFamily="2" charset="0"/>
              </a:rPr>
              <a:t>Er. Shiva Kunwar</a:t>
            </a:r>
          </a:p>
          <a:p>
            <a:r>
              <a:rPr lang="en-US" sz="2000" dirty="0">
                <a:latin typeface="Nunito" pitchFamily="2" charset="0"/>
              </a:rPr>
              <a:t>Lecturer</a:t>
            </a:r>
          </a:p>
          <a:p>
            <a:r>
              <a:rPr lang="en-US" sz="2000" dirty="0">
                <a:latin typeface="Nunito" pitchFamily="2" charset="0"/>
              </a:rPr>
              <a:t>Gandaki University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7A367200-0314-B11E-6A5A-163495D7B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74427"/>
            <a:ext cx="177165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8881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156C-4F75-42DE-AD48-E3C802292182}" type="datetime1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73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828805"/>
            <a:ext cx="5132832" cy="4663439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5740-E951-4F5D-9F1B-49E8B2637006}" type="datetime1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521BE1-5CE3-05CF-232A-5D29123BF52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791200" y="1828805"/>
            <a:ext cx="5132832" cy="4663439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9209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73543D8F-399D-6DF8-DE86-76C3FD2D8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9749"/>
            <a:ext cx="12191999" cy="4267200"/>
            <a:chOff x="7467600" y="0"/>
            <a:chExt cx="4724400" cy="685800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17F1944-3532-0024-BA7E-7D1E45E78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63463AE-09F4-6357-D5D1-E78C1CBFD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7BB7FBAC-7B68-830D-1EA5-32DE32721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DD452-5E7E-4ACB-B7A1-31CD75ADD52E}" type="datetime1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0D67507-A4B1-3C41-5B9A-FA01D257F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0500043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D1CD890-A10F-8D93-4D3F-349A90E7C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8" y="483735"/>
            <a:ext cx="10271441" cy="10427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1" name="Table Placeholder 4">
            <a:extLst>
              <a:ext uri="{FF2B5EF4-FFF2-40B4-BE49-F238E27FC236}">
                <a16:creationId xmlns:a16="http://schemas.microsoft.com/office/drawing/2014/main" id="{AD49D11B-7BF8-7119-747E-673152D1DCD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85800" y="1663021"/>
            <a:ext cx="10271441" cy="455680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" name="Picture 2" descr="Modern DevOps Certifications">
            <a:extLst>
              <a:ext uri="{FF2B5EF4-FFF2-40B4-BE49-F238E27FC236}">
                <a16:creationId xmlns:a16="http://schemas.microsoft.com/office/drawing/2014/main" id="{4A27BB8C-65DC-4269-27E2-B894E27289B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0"/>
            <a:ext cx="120142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2319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CB61-53D0-4A1B-A744-25BDC858627F}" type="datetime1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144A146-5A21-714C-4148-9B75C4D15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1276" y="365757"/>
            <a:ext cx="6688349" cy="61264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63D1E3-CA84-C4BA-1C88-EF714A56C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93E526-3EF6-897C-D064-1128F72E7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C96C1C-AD28-8189-3789-8E7159CBC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FEAD847-82C9-9DA1-0634-152DE5F8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6415FC-6975-9499-950F-56CE60A5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38DA2C-54B4-789F-C3D3-F07479138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74" y="365756"/>
            <a:ext cx="3206326" cy="3624504"/>
          </a:xfrm>
        </p:spPr>
        <p:txBody>
          <a:bodyPr anchor="b"/>
          <a:lstStyle>
            <a:lvl1pPr algn="r"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6456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254B254-511A-6515-8705-1D0D3406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ABD7EF-2A2D-B804-3B1E-B408D2D5B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41081C-CE25-B752-8AAC-0457A91D4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EAA02E-86E8-D1C1-AD64-8C15047A0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54B9597-1B97-4F1E-B8CA-5977DB6E117F}" type="datetime1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FC2281F-1654-0C11-471A-B274D452D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3144"/>
            <a:ext cx="10515600" cy="4433819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AAD270F-67BD-E509-0A2E-A3B9C1D13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27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6651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92F3501-C5BE-DCD4-3BD1-B507D99055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520553" cy="685800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B41E4C10-80E2-9528-D06C-844994E73F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067B5F-0EA3-438C-AC54-0D87D9BA3285}" type="datetime1">
              <a:rPr lang="en-US" smtClean="0"/>
              <a:t>6/14/2025</a:t>
            </a:fld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E26CC335-6CDD-0FF3-AEE1-EF5D8A5EAAA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B22EDF1-4FF3-208C-0E13-2DE282F059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293C9641-88F7-FC3E-DC98-140269105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533" y="694282"/>
            <a:ext cx="6301740" cy="2444401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0BA8A-DB8F-5584-7EA4-49FB667D63C5}"/>
              </a:ext>
            </a:extLst>
          </p:cNvPr>
          <p:cNvSpPr txBox="1"/>
          <p:nvPr userDrawn="1"/>
        </p:nvSpPr>
        <p:spPr>
          <a:xfrm>
            <a:off x="4520553" y="4114800"/>
            <a:ext cx="630174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dirty="0">
                <a:latin typeface="Nunito" pitchFamily="2" charset="0"/>
                <a:hlinkClick r:id="rId3"/>
              </a:rPr>
              <a:t>shiva.kunwar@hotmail.com</a:t>
            </a:r>
            <a:br>
              <a:rPr lang="en-US" sz="3000" dirty="0">
                <a:latin typeface="Nunito" pitchFamily="2" charset="0"/>
              </a:rPr>
            </a:br>
            <a:r>
              <a:rPr lang="en-US" sz="3000" dirty="0">
                <a:latin typeface="Nunito" pitchFamily="2" charset="0"/>
              </a:rPr>
              <a:t>+977-9819123654</a:t>
            </a:r>
          </a:p>
        </p:txBody>
      </p:sp>
    </p:spTree>
    <p:extLst>
      <p:ext uri="{BB962C8B-B14F-4D97-AF65-F5344CB8AC3E}">
        <p14:creationId xmlns:p14="http://schemas.microsoft.com/office/powerpoint/2010/main" val="304267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81200" y="1752600"/>
            <a:ext cx="8823960" cy="3352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FA34B-EEEA-44C5-8EA9-2755B8F5EFAE}" type="datetime1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98743D-1F23-BB62-C246-CD2EC3D767DE}"/>
              </a:ext>
            </a:extLst>
          </p:cNvPr>
          <p:cNvSpPr txBox="1">
            <a:spLocks/>
          </p:cNvSpPr>
          <p:nvPr userDrawn="1"/>
        </p:nvSpPr>
        <p:spPr>
          <a:xfrm>
            <a:off x="1981200" y="417727"/>
            <a:ext cx="9372600" cy="1042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PREVIEW FOR NEXT LECTURE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728C91-D586-79A1-E0BB-9D8A46CCD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6997" y="2666995"/>
            <a:ext cx="6858000" cy="1524009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F1F0A4-9C8A-1861-8B9C-5AF948ACF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7000" y="2677132"/>
            <a:ext cx="6857999" cy="152401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5F4F22-2928-48B3-6F55-1BB688BCF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88993" y="4844999"/>
            <a:ext cx="2501979" cy="152401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85817F0-3E71-F53B-A83E-0DB732029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454256" y="1305931"/>
            <a:ext cx="147212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564781E-F74C-69A3-86EC-66CE155C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7007" y="2656855"/>
            <a:ext cx="6858003" cy="15240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10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24260" y="0"/>
            <a:ext cx="975360" cy="6858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828805"/>
            <a:ext cx="10340023" cy="4663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59445" y="998540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>
                <a:solidFill>
                  <a:schemeClr val="tx1"/>
                </a:solidFill>
              </a:defRPr>
            </a:lvl1pPr>
          </a:lstStyle>
          <a:p>
            <a:fld id="{42D0D6D4-E381-438F-9C83-3EB906A8A6CC}" type="datetime1">
              <a:rPr lang="en-US" smtClean="0"/>
              <a:t>6/14/2025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21240" y="4046540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DevOps Basics with Virtualization | Lecture 6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F6C3CA-BFE1-3007-0D60-E69A73AE4945}"/>
              </a:ext>
            </a:extLst>
          </p:cNvPr>
          <p:cNvSpPr/>
          <p:nvPr userDrawn="1"/>
        </p:nvSpPr>
        <p:spPr>
          <a:xfrm>
            <a:off x="11394452" y="6172200"/>
            <a:ext cx="634976" cy="6349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4740" y="6172206"/>
            <a:ext cx="9144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D7BCAC6-6F2C-433A-BE87-D0A9451C880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 descr="Modern DevOps Certifications">
            <a:extLst>
              <a:ext uri="{FF2B5EF4-FFF2-40B4-BE49-F238E27FC236}">
                <a16:creationId xmlns:a16="http://schemas.microsoft.com/office/drawing/2014/main" id="{B2AEC855-8EAB-F2F2-74ED-5A557BFDB3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0"/>
            <a:ext cx="120142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01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3" r:id="rId3"/>
    <p:sldLayoutId id="2147483687" r:id="rId4"/>
    <p:sldLayoutId id="2147483686" r:id="rId5"/>
    <p:sldLayoutId id="2147483688" r:id="rId6"/>
    <p:sldLayoutId id="2147483684" r:id="rId7"/>
    <p:sldLayoutId id="2147483685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Arial" pitchFamily="34" charset="0"/>
        <a:buChar char="•"/>
        <a:defRPr sz="2400" kern="1200" spc="10" baseline="0">
          <a:solidFill>
            <a:schemeClr val="tx1"/>
          </a:solidFill>
          <a:latin typeface="Nunito" pitchFamily="2" charset="0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3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1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mailto:admin@example.com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408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>
            <a:normAutofit/>
          </a:bodyPr>
          <a:lstStyle/>
          <a:p>
            <a:r>
              <a:rPr lang="en-US" sz="4000" dirty="0"/>
              <a:t>Unit 2: DevOps Basics with Virtualization (5hrs)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Basics of Virtualization: Definition, Types, and Hierarchy of Virtualizations</a:t>
            </a:r>
          </a:p>
          <a:p>
            <a:r>
              <a:rPr lang="en-US" dirty="0"/>
              <a:t>Learn Virtualization: Manual and Automatic. OS Environments: Linux, MacOS, and Windows</a:t>
            </a:r>
          </a:p>
          <a:p>
            <a:r>
              <a:rPr lang="en-US" b="1" dirty="0"/>
              <a:t>Bash Scripting. Basics of Scripting</a:t>
            </a:r>
          </a:p>
          <a:p>
            <a:r>
              <a:rPr lang="en-US" b="1" dirty="0"/>
              <a:t>Variables, Conditions, Loops, etc.</a:t>
            </a:r>
          </a:p>
          <a:p>
            <a:r>
              <a:rPr lang="en-US" b="1" dirty="0"/>
              <a:t>Automating day-to-day Admin Tasks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B8562-561F-CEA4-A309-D1167EE3A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Basics with Virtualization | Lecture 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545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B8562-561F-CEA4-A309-D1167EE3A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Bash scripting is a powerful tool for automating tasks in Unix-based systems.</a:t>
            </a:r>
          </a:p>
          <a:p>
            <a:r>
              <a:rPr lang="en-US" dirty="0"/>
              <a:t>Bash, which stands for Bourne Again Shell, is a </a:t>
            </a:r>
            <a:r>
              <a:rPr lang="en-US" b="1" dirty="0"/>
              <a:t>command-line interpreter </a:t>
            </a:r>
            <a:r>
              <a:rPr lang="en-US" dirty="0"/>
              <a:t>that executes commands read from input or files.</a:t>
            </a:r>
          </a:p>
          <a:p>
            <a:r>
              <a:rPr lang="en-US" dirty="0"/>
              <a:t>A Bash script is essentially a text file containing a series of commands that the shell can execute sequentially.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Bash Scripting</a:t>
            </a:r>
          </a:p>
        </p:txBody>
      </p:sp>
    </p:spTree>
    <p:extLst>
      <p:ext uri="{BB962C8B-B14F-4D97-AF65-F5344CB8AC3E}">
        <p14:creationId xmlns:p14="http://schemas.microsoft.com/office/powerpoint/2010/main" val="2924491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4A353-3B39-6E3A-58CB-F77F4017E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AA2BC-7DB0-AEA5-B4A2-DC380ABC3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Why Use Bash Scripting?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1768-ADDB-7A59-240D-7FB70C944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Automation</a:t>
            </a:r>
            <a:r>
              <a:rPr lang="en-US" dirty="0"/>
              <a:t>: Simplifies repetitive tasks like backups, file manipulations, or system monitoring.</a:t>
            </a:r>
          </a:p>
          <a:p>
            <a:r>
              <a:rPr lang="en-US" b="1" dirty="0"/>
              <a:t>Efficiency</a:t>
            </a:r>
            <a:r>
              <a:rPr lang="en-US" dirty="0"/>
              <a:t>: Executes commands faster than manual input.</a:t>
            </a:r>
          </a:p>
          <a:p>
            <a:r>
              <a:rPr lang="en-US" b="1" dirty="0"/>
              <a:t>Customization</a:t>
            </a:r>
            <a:r>
              <a:rPr lang="en-US" dirty="0"/>
              <a:t>: Allows the creation of personalized workflows and tools.</a:t>
            </a:r>
          </a:p>
          <a:p>
            <a:r>
              <a:rPr lang="en-US" b="1" dirty="0"/>
              <a:t>Integration</a:t>
            </a:r>
            <a:r>
              <a:rPr lang="en-US" dirty="0"/>
              <a:t>: Works seamlessly with other Unix utilities and commands.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E66B7-CD74-75B9-A616-D7DD49BE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Basics with Virtualization | Lecture 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74C77-C874-6EAA-179C-ED040FF32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60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1AA43-3510-B263-4CD8-45A493AA5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3E5DD4-4A4F-E7F4-EA77-BF553A1F9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2FFC2-9BD4-980F-25D0-99E3BE477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CE4EC-8738-67AD-0273-BFF57EB3C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Structure of a Bash Script</a:t>
            </a:r>
          </a:p>
          <a:p>
            <a:pPr lvl="1"/>
            <a:r>
              <a:rPr lang="en-US" dirty="0"/>
              <a:t>Start the script with a "shebang" (#!) to specify the interpreter.</a:t>
            </a:r>
          </a:p>
          <a:p>
            <a:pPr lvl="1"/>
            <a:r>
              <a:rPr lang="en-US" dirty="0"/>
              <a:t>Write commands line-by-line, as you would in the terminal.</a:t>
            </a:r>
          </a:p>
          <a:p>
            <a:pPr marL="274320" lvl="1" indent="0">
              <a:buNone/>
            </a:pPr>
            <a:r>
              <a:rPr lang="en-US" i="1" dirty="0">
                <a:solidFill>
                  <a:srgbClr val="FF0000"/>
                </a:solidFill>
              </a:rPr>
              <a:t>#!/bin/bash</a:t>
            </a:r>
          </a:p>
          <a:p>
            <a:pPr marL="274320" lvl="1" indent="0">
              <a:buNone/>
            </a:pPr>
            <a:r>
              <a:rPr lang="en-US" i="1" dirty="0">
                <a:solidFill>
                  <a:srgbClr val="FF0000"/>
                </a:solidFill>
              </a:rPr>
              <a:t># This is a comment</a:t>
            </a:r>
          </a:p>
          <a:p>
            <a:pPr marL="274320" lvl="1" indent="0">
              <a:buNone/>
            </a:pPr>
            <a:r>
              <a:rPr lang="en-US" i="1" dirty="0">
                <a:solidFill>
                  <a:srgbClr val="FF0000"/>
                </a:solidFill>
              </a:rPr>
              <a:t>echo "Hello, World!"</a:t>
            </a:r>
          </a:p>
          <a:p>
            <a:pPr lvl="1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EB4AA1-C9B6-0902-6CE7-9909DB8EE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Basics of Bash Scripting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190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B3A69-7DD2-BF67-D94F-335649D55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2F9FA-5686-3850-52B3-FBA0A6E1F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Basics of Bash Scripting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D6031-4465-0D76-6ECA-F761EF347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Making the Script Executable</a:t>
            </a:r>
          </a:p>
          <a:p>
            <a:pPr lvl="1"/>
            <a:r>
              <a:rPr lang="en-US" dirty="0"/>
              <a:t>Save the script with a .</a:t>
            </a:r>
            <a:r>
              <a:rPr lang="en-US" dirty="0" err="1"/>
              <a:t>sh</a:t>
            </a:r>
            <a:r>
              <a:rPr lang="en-US" dirty="0"/>
              <a:t> extension (e.g., script.sh).</a:t>
            </a:r>
          </a:p>
          <a:p>
            <a:pPr lvl="1"/>
            <a:r>
              <a:rPr lang="en-US" dirty="0"/>
              <a:t>Make it executable.</a:t>
            </a:r>
          </a:p>
          <a:p>
            <a:pPr marL="274320" lvl="1" indent="0">
              <a:buNone/>
            </a:pPr>
            <a:r>
              <a:rPr lang="en-US" i="1" dirty="0" err="1">
                <a:solidFill>
                  <a:srgbClr val="FF0000"/>
                </a:solidFill>
              </a:rPr>
              <a:t>chmod</a:t>
            </a:r>
            <a:r>
              <a:rPr lang="en-US" i="1" dirty="0">
                <a:solidFill>
                  <a:srgbClr val="FF0000"/>
                </a:solidFill>
              </a:rPr>
              <a:t> +x script.sh</a:t>
            </a:r>
          </a:p>
          <a:p>
            <a:pPr lvl="1"/>
            <a:r>
              <a:rPr lang="en-US" dirty="0"/>
              <a:t>Run the script.</a:t>
            </a:r>
            <a:endParaRPr lang="en-US" i="1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i="1" dirty="0">
                <a:solidFill>
                  <a:srgbClr val="FF0000"/>
                </a:solidFill>
              </a:rPr>
              <a:t>./script.sh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4FF8F-8E43-9AF4-54CA-BE48FAC80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Basics with Virtualization | Lecture 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34B31-3B79-E037-9BF7-3EE189B75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17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796EE-946B-D7F7-C760-95E2E4DD6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9BA4A-30CC-7C35-C4CB-B8D06C108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Bash Scripting: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0AFF7-BB6D-0ABB-2550-C6AC47263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Variables store data that can be reused in the script.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#!/bin/bash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name="Shiva"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echo "Hello, $name!“</a:t>
            </a:r>
          </a:p>
          <a:p>
            <a:r>
              <a:rPr lang="en-US" dirty="0"/>
              <a:t>Variables are defined without spaces around the = sign.</a:t>
            </a:r>
          </a:p>
          <a:p>
            <a:r>
              <a:rPr lang="en-US" dirty="0"/>
              <a:t>Access them using $.</a:t>
            </a:r>
          </a:p>
          <a:p>
            <a:pPr lvl="1"/>
            <a:endParaRPr lang="en-US" dirty="0"/>
          </a:p>
          <a:p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6B208-1CBC-C7D3-AEEA-234F6EC99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Basics with Virtualization | Lecture 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8C28E-BC65-7987-CDFB-DF6D9FF5F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95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D10E9-504D-FFC9-2DF7-99D614B9A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EFF5C-DD30-6911-A4A9-54DC98A43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Bash Scripting: 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3F8D3-DBB2-1FA7-2BD5-A0B1AA847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Bash supports if statements for decision-making.</a:t>
            </a:r>
          </a:p>
          <a:p>
            <a:r>
              <a:rPr lang="en-US" dirty="0"/>
              <a:t>Use [ ] for conditions.</a:t>
            </a:r>
          </a:p>
          <a:p>
            <a:r>
              <a:rPr lang="en-US" dirty="0"/>
              <a:t>Common operators:</a:t>
            </a:r>
          </a:p>
          <a:p>
            <a:pPr lvl="1"/>
            <a:r>
              <a:rPr lang="en-US" dirty="0"/>
              <a:t>-eq: Equal to</a:t>
            </a:r>
          </a:p>
          <a:p>
            <a:pPr lvl="1"/>
            <a:r>
              <a:rPr lang="en-US" dirty="0"/>
              <a:t>-ne: Not equal to</a:t>
            </a:r>
          </a:p>
          <a:p>
            <a:pPr lvl="1"/>
            <a:r>
              <a:rPr lang="en-US" dirty="0"/>
              <a:t>-</a:t>
            </a:r>
            <a:r>
              <a:rPr lang="en-US" dirty="0" err="1"/>
              <a:t>gt</a:t>
            </a:r>
            <a:r>
              <a:rPr lang="en-US" dirty="0"/>
              <a:t>: Greater than</a:t>
            </a:r>
          </a:p>
          <a:p>
            <a:pPr lvl="1"/>
            <a:r>
              <a:rPr lang="en-US" dirty="0"/>
              <a:t>-</a:t>
            </a:r>
            <a:r>
              <a:rPr lang="en-US" dirty="0" err="1"/>
              <a:t>lt</a:t>
            </a:r>
            <a:r>
              <a:rPr lang="en-US" dirty="0"/>
              <a:t>: Less than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5B0FF-D56D-6512-02DB-6AE551B39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Basics with Virtualization | Lecture 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6B97D-CCC8-7338-2795-8A7AB789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988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0EBE9-1306-6F97-477B-9E02F729B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C31A6-3472-8F26-0849-C3FCD9BE0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Bash Scripting: 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A6CA8-5B1B-25DE-4E32-0CFCE2A37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#!/bin/bash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num=10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if [ $num -</a:t>
            </a:r>
            <a:r>
              <a:rPr lang="en-US" dirty="0" err="1">
                <a:solidFill>
                  <a:srgbClr val="FF0000"/>
                </a:solidFill>
              </a:rPr>
              <a:t>gt</a:t>
            </a:r>
            <a:r>
              <a:rPr lang="en-US" dirty="0">
                <a:solidFill>
                  <a:srgbClr val="FF0000"/>
                </a:solidFill>
              </a:rPr>
              <a:t> 5 ]; then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echo "$num is greater than 5"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else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echo "$num is less than or equal to 5"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fi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8AD91-7122-2428-8D01-DA1DD3ED3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DevOps Basics with Virtualization | Lecture 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3ABE8-1303-8EB2-9730-04220CB71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558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1031D-6A66-C268-40EF-DC45EF663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2284E-0E58-B0E9-7CDB-C6AD6CA7B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Bash Scripting: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B4CB8-64CB-424C-5490-32F1BEF2F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438402"/>
            <a:ext cx="5132832" cy="4053842"/>
          </a:xfrm>
        </p:spPr>
        <p:txBody>
          <a:bodyPr>
            <a:normAutofit/>
          </a:bodyPr>
          <a:lstStyle/>
          <a:p>
            <a:r>
              <a:rPr lang="en-US" sz="2400" b="1" dirty="0"/>
              <a:t>For loop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#!/bin/bash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for </a:t>
            </a:r>
            <a:r>
              <a:rPr lang="en-US" sz="2400" dirty="0" err="1">
                <a:solidFill>
                  <a:srgbClr val="FF0000"/>
                </a:solidFill>
              </a:rPr>
              <a:t>i</a:t>
            </a:r>
            <a:r>
              <a:rPr lang="en-US" sz="2400" dirty="0">
                <a:solidFill>
                  <a:srgbClr val="FF0000"/>
                </a:solidFill>
              </a:rPr>
              <a:t> in 1 2 3 4 5; do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  echo "Number: $</a:t>
            </a:r>
            <a:r>
              <a:rPr lang="en-US" sz="2400" dirty="0" err="1">
                <a:solidFill>
                  <a:srgbClr val="FF0000"/>
                </a:solidFill>
              </a:rPr>
              <a:t>i</a:t>
            </a:r>
            <a:r>
              <a:rPr lang="en-US" sz="2400" dirty="0">
                <a:solidFill>
                  <a:srgbClr val="FF0000"/>
                </a:solidFill>
              </a:rPr>
              <a:t>"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done</a:t>
            </a:r>
            <a:endParaRPr lang="en-US" sz="24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41A4A-E4C7-8ADF-5F61-92E418102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EF5E3-A1A3-DBC9-D630-E2B777A13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DA9F78-5CDE-D1A0-07DC-C19D6A5D24A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791200" y="2438402"/>
            <a:ext cx="5132832" cy="4053842"/>
          </a:xfrm>
        </p:spPr>
        <p:txBody>
          <a:bodyPr>
            <a:normAutofit/>
          </a:bodyPr>
          <a:lstStyle/>
          <a:p>
            <a:r>
              <a:rPr lang="en-US" sz="2400" b="1" dirty="0"/>
              <a:t>While loop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#!/bin/bash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count=1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while [ $count -le 5 ]; do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  echo "Count: $count"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  ((count++))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done</a:t>
            </a:r>
            <a:endParaRPr lang="en-US" sz="24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A0FB6EC-2A01-F228-A532-F298DBD2D1A2}"/>
              </a:ext>
            </a:extLst>
          </p:cNvPr>
          <p:cNvSpPr txBox="1">
            <a:spLocks/>
          </p:cNvSpPr>
          <p:nvPr/>
        </p:nvSpPr>
        <p:spPr>
          <a:xfrm>
            <a:off x="609600" y="1666743"/>
            <a:ext cx="10314432" cy="771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2200" kern="1200" spc="10" baseline="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1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19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Loops help in iterating over a set of values.</a:t>
            </a:r>
          </a:p>
        </p:txBody>
      </p:sp>
    </p:spTree>
    <p:extLst>
      <p:ext uri="{BB962C8B-B14F-4D97-AF65-F5344CB8AC3E}">
        <p14:creationId xmlns:p14="http://schemas.microsoft.com/office/powerpoint/2010/main" val="3442638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A73FD57-8CBF-34B2-2FB5-517EA5A6F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Bash Scripting: Functions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09BF8E9-4B48-E985-CD9F-DA9911D04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 encapsulate reusable blocks of code.</a:t>
            </a:r>
          </a:p>
          <a:p>
            <a:r>
              <a:rPr lang="en-US" dirty="0"/>
              <a:t>$1 is a positional parameter for passing arguments to the function.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#!/bin/bash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greet()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echo "Hello, $1!"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greet "Shiva"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073235-51B7-2F31-655C-30119ED1D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DAEE5F-882C-4F70-8FF4-C6A2F93E9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810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856EC-878E-4E80-E6A1-F37F571B1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90DB8D3-E2B0-C353-ECA2-765A946F9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Bash Scripting: Input/Output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965F6F2-6249-6DB5-6C5F-55E74AA04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input from the user.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echo "Enter your name:"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read name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echo "Hello, $name!"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6526F-B4D2-6137-0819-0EC5C28E1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F660F6-5B62-D63D-0BE0-7EA5E94F4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50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8DA3F-5126-AE95-0445-57E7FA0ED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A2D2F33-FD77-29EB-C5B5-138589568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Use Case of Bash Scripting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40F4F2C-EA3E-A6BF-5D75-32FF9C85F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File Management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Rename files in a directory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for file in *.txt; do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mv "$file" "</a:t>
            </a:r>
            <a:r>
              <a:rPr lang="en-US" dirty="0" err="1">
                <a:solidFill>
                  <a:srgbClr val="FF0000"/>
                </a:solidFill>
              </a:rPr>
              <a:t>new_$file</a:t>
            </a:r>
            <a:r>
              <a:rPr lang="en-US" dirty="0">
                <a:solidFill>
                  <a:srgbClr val="FF0000"/>
                </a:solidFill>
              </a:rPr>
              <a:t>"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done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5E225E-CDF7-5D35-D570-BB7BC4110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1D3334-DF58-CFC1-0C4F-8BF180F4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814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8D479-7587-1FF1-999E-96BDE4AD8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D0ED1E8-BBA0-260E-DB4F-4B140817B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Use Case of Bash Scripting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1F0C5D-517F-45BA-BE8E-42FEE7EF3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Backup Automation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Create a tar archive of a directory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tar -</a:t>
            </a:r>
            <a:r>
              <a:rPr lang="en-US" dirty="0" err="1">
                <a:solidFill>
                  <a:srgbClr val="FF0000"/>
                </a:solidFill>
              </a:rPr>
              <a:t>czf</a:t>
            </a:r>
            <a:r>
              <a:rPr lang="en-US" dirty="0">
                <a:solidFill>
                  <a:srgbClr val="FF0000"/>
                </a:solidFill>
              </a:rPr>
              <a:t> backup.tar.gz /path/to/directory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8160A-FFD4-67F1-465A-9831B5BBA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F109B-504D-D0BC-0F11-C4957B3CC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5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EEE5D-9C24-A7C6-91D8-BA65C1AFD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D8EAFA2-7D12-C14F-316D-C8A76C870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Use Case of Bash Scripting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3F0358-E695-A11B-AF69-796BAE0EE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System Monitoring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Check disk usage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df</a:t>
            </a:r>
            <a:r>
              <a:rPr lang="en-US" dirty="0">
                <a:solidFill>
                  <a:srgbClr val="FF0000"/>
                </a:solidFill>
              </a:rPr>
              <a:t> -h | grep "/dev/</a:t>
            </a:r>
            <a:r>
              <a:rPr lang="en-US" dirty="0" err="1">
                <a:solidFill>
                  <a:srgbClr val="FF0000"/>
                </a:solidFill>
              </a:rPr>
              <a:t>sda</a:t>
            </a:r>
            <a:r>
              <a:rPr lang="en-US" dirty="0">
                <a:solidFill>
                  <a:srgbClr val="FF0000"/>
                </a:solidFill>
              </a:rPr>
              <a:t>“</a:t>
            </a:r>
          </a:p>
          <a:p>
            <a:r>
              <a:rPr lang="en-US" dirty="0" err="1"/>
              <a:t>df</a:t>
            </a:r>
            <a:r>
              <a:rPr lang="en-US" dirty="0"/>
              <a:t> –h lists all the processes running in device in human-readable format(-h)</a:t>
            </a:r>
          </a:p>
          <a:p>
            <a:r>
              <a:rPr lang="en-US" dirty="0"/>
              <a:t>grep “/dev/</a:t>
            </a:r>
            <a:r>
              <a:rPr lang="en-US" dirty="0" err="1"/>
              <a:t>sda</a:t>
            </a:r>
            <a:r>
              <a:rPr lang="en-US" dirty="0"/>
              <a:t>” lists the processes that match the term “/dev/</a:t>
            </a:r>
            <a:r>
              <a:rPr lang="en-US" dirty="0" err="1"/>
              <a:t>sda</a:t>
            </a:r>
            <a:r>
              <a:rPr lang="en-US" dirty="0"/>
              <a:t>”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8A036-E6B4-A012-BBE9-AFC34F66E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BC889-2C2A-0D26-24E1-76D9E5076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350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05797-F265-D3AB-920B-BFACC78F8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DFB81B7-40F2-357D-3BB1-20BF9F476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Use Case of Bash Scripting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AA0260-7933-F5E9-6FA2-A657C398D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User Management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Add a new user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useradd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newuser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6B804E-979A-ED9A-6706-632BA03D7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346B58-FB04-D0B3-B881-DCA94A5E8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54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A559C-4C1D-231E-3EB6-442A7ECA0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3BA3B3B-5922-BD9A-0BF4-0CAC8A41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Use Case of Bash Scripting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28245FD-F36E-DD56-5553-14CFFBF5C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Checking if the file exists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 Check if the file exists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if [ -f "$filename" ]; then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echo "The file '$filename' exists.“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else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echo "The file '$filename' does not exist.“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2F05F7-2395-3538-9B68-05A7D630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4C965D-6366-8807-C719-A31B7A464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14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F5C6D-CF70-6529-0216-B9B5158C8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C0AFD-147F-A8C0-46E2-B30131761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B8B78-8C46-338D-ECBC-2774597D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4ED08B-B18A-88F3-0017-C945E4971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and Directory Commands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ED063898-B37D-41F2-4F03-5B06E9C6E1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3756981"/>
              </p:ext>
            </p:extLst>
          </p:nvPr>
        </p:nvGraphicFramePr>
        <p:xfrm>
          <a:off x="838200" y="1663700"/>
          <a:ext cx="9601200" cy="4534315"/>
        </p:xfrm>
        <a:graphic>
          <a:graphicData uri="http://schemas.openxmlformats.org/drawingml/2006/table">
            <a:tbl>
              <a:tblPr firstRow="1">
                <a:tableStyleId>{5A111915-BE36-4E01-A7E5-04B1672EAD32}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429254239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903206067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3750458121"/>
                    </a:ext>
                  </a:extLst>
                </a:gridCol>
              </a:tblGrid>
              <a:tr h="457709"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Command</a:t>
                      </a:r>
                      <a:endParaRPr lang="en-US" sz="2200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Description</a:t>
                      </a:r>
                      <a:endParaRPr lang="en-US" sz="2200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Example</a:t>
                      </a:r>
                      <a:endParaRPr lang="en-US" sz="2200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8232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ls</a:t>
                      </a:r>
                      <a:endParaRPr lang="en-US" sz="2200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List files and directories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Ls –l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4603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 b="1" dirty="0" err="1">
                          <a:latin typeface="Nunito" pitchFamily="2" charset="0"/>
                        </a:rPr>
                        <a:t>pwd</a:t>
                      </a:r>
                      <a:endParaRPr lang="en-US" sz="2200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Print the current working directory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 err="1">
                          <a:latin typeface="Nunito" pitchFamily="2" charset="0"/>
                        </a:rPr>
                        <a:t>pwd</a:t>
                      </a:r>
                      <a:endParaRPr lang="en-US" sz="2200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3713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cd</a:t>
                      </a:r>
                      <a:endParaRPr lang="en-US" sz="2200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Change the directory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cd /home/user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2601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 b="1" dirty="0" err="1">
                          <a:latin typeface="Nunito" pitchFamily="2" charset="0"/>
                        </a:rPr>
                        <a:t>mkdir</a:t>
                      </a:r>
                      <a:endParaRPr lang="en-US" sz="2200" b="1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Create a new directory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 err="1">
                          <a:latin typeface="Nunito" pitchFamily="2" charset="0"/>
                        </a:rPr>
                        <a:t>mkdir</a:t>
                      </a:r>
                      <a:r>
                        <a:rPr lang="en-US" sz="2200" dirty="0">
                          <a:latin typeface="Nunito" pitchFamily="2" charset="0"/>
                        </a:rPr>
                        <a:t> </a:t>
                      </a:r>
                      <a:r>
                        <a:rPr lang="en-US" sz="2200" dirty="0" err="1">
                          <a:latin typeface="Nunito" pitchFamily="2" charset="0"/>
                        </a:rPr>
                        <a:t>mydir</a:t>
                      </a:r>
                      <a:endParaRPr lang="en-US" sz="2200" dirty="0">
                        <a:latin typeface="Nunito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805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rm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Remove files or directories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2200" dirty="0">
                          <a:latin typeface="Nunito" pitchFamily="2" charset="0"/>
                        </a:rPr>
                        <a:t>rm file.txt, rm -r mydir</a:t>
                      </a:r>
                      <a:endParaRPr lang="en-US" sz="2200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863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cp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Copy files or directories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cp file1.txt file2.txt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6121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mv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Move or rename files/directories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mv oldname.txt newname.txt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113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 b="1">
                          <a:latin typeface="Nunito" pitchFamily="2" charset="0"/>
                        </a:rPr>
                        <a:t>touch</a:t>
                      </a:r>
                      <a:endParaRPr lang="en-US" sz="2200" b="1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Nunito" pitchFamily="2" charset="0"/>
                        </a:rPr>
                        <a:t>Create a new file</a:t>
                      </a:r>
                      <a:endParaRPr lang="en-US" sz="2200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touch file1.txt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5492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8621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8B49A-8687-868F-49F0-775ED9907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86309-95AB-8084-A04E-0B433E3B4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A926BD-19AF-B684-CEC8-B5CE855C5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and Directory Commands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F0879-D946-BFAA-2D70-4D4F195B3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0E6502-F66C-64E1-3F08-D2F5FB76D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95400"/>
            <a:ext cx="9372798" cy="496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776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18AC3-7F4A-C3F1-C232-032D695CB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5DF34-22A3-5BD1-4BBA-6FD379ADB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B29C6-FF3F-AE4A-3516-1D156A124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0514EE-9F04-F5C3-79EB-549AA91C9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Manipulation Commands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61A8011B-24C4-8A22-DC75-B08C78DFDA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0491429"/>
              </p:ext>
            </p:extLst>
          </p:nvPr>
        </p:nvGraphicFramePr>
        <p:xfrm>
          <a:off x="838200" y="1663700"/>
          <a:ext cx="9784080" cy="3347290"/>
        </p:xfrm>
        <a:graphic>
          <a:graphicData uri="http://schemas.openxmlformats.org/drawingml/2006/table">
            <a:tbl>
              <a:tblPr firstRow="1">
                <a:tableStyleId>{5A111915-BE36-4E01-A7E5-04B1672EAD32}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429254239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903206067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375045812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Command</a:t>
                      </a:r>
                      <a:endParaRPr lang="en-US" sz="2200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Description</a:t>
                      </a:r>
                      <a:endParaRPr lang="en-US" sz="2200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Example</a:t>
                      </a:r>
                      <a:endParaRPr lang="en-US" sz="2200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8232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echo</a:t>
                      </a:r>
                      <a:endParaRPr lang="en-US" sz="2200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Print text to the terminal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echo "Hello, World!"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4603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cat</a:t>
                      </a:r>
                      <a:endParaRPr lang="en-US" sz="2200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Display file contents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cat file.txt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3713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less</a:t>
                      </a:r>
                      <a:endParaRPr lang="en-US" sz="2200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View file contents one screen at a time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less file.txt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2601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head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Display the first few lines of a file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head -n 5 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805355"/>
                  </a:ext>
                </a:extLst>
              </a:tr>
              <a:tr h="139621"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tail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Display the last few lines of a file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tail -n 5 file.txt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863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 b="1" dirty="0" err="1">
                          <a:latin typeface="Nunito" pitchFamily="2" charset="0"/>
                        </a:rPr>
                        <a:t>wc</a:t>
                      </a:r>
                      <a:endParaRPr lang="en-US" sz="2200" b="1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Count words, lines, or characters in a file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 err="1">
                          <a:latin typeface="Nunito" pitchFamily="2" charset="0"/>
                        </a:rPr>
                        <a:t>wc</a:t>
                      </a:r>
                      <a:r>
                        <a:rPr lang="en-US" sz="2200" dirty="0">
                          <a:latin typeface="Nunito" pitchFamily="2" charset="0"/>
                        </a:rPr>
                        <a:t> -l file.txt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6121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365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D62AA-B7E8-8462-4BA6-A59FD1553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CE9424-B2EE-8212-F6EE-E45A7C97A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429D8-135A-91CC-E7C8-7014AFB2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B1F5D8-C6E7-DAA2-06C1-E80974E52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Manipulation Commands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ECCD38-CED9-C266-800F-BF654600E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219200"/>
            <a:ext cx="9143998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077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7A508-5EFE-B0D3-768D-B6F2207FC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E98B5-8CCD-2980-CA21-CC8113D9B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9BB49-E9B6-FF6C-9164-B823290D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316B1D-37EC-1944-DD09-D78530BEE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Management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A143E316-F3F9-8499-1113-A8CD260447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7965710"/>
              </p:ext>
            </p:extLst>
          </p:nvPr>
        </p:nvGraphicFramePr>
        <p:xfrm>
          <a:off x="838200" y="1663700"/>
          <a:ext cx="9601200" cy="2587494"/>
        </p:xfrm>
        <a:graphic>
          <a:graphicData uri="http://schemas.openxmlformats.org/drawingml/2006/table">
            <a:tbl>
              <a:tblPr firstRow="1">
                <a:tableStyleId>{5A111915-BE36-4E01-A7E5-04B1672EAD32}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4292542391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903206067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375045812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Command</a:t>
                      </a:r>
                      <a:endParaRPr lang="en-US" sz="2200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Description</a:t>
                      </a:r>
                      <a:endParaRPr lang="en-US" sz="2200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Example</a:t>
                      </a:r>
                      <a:endParaRPr lang="en-US" sz="2200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8232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 b="1" dirty="0" err="1">
                          <a:latin typeface="Nunito" pitchFamily="2" charset="0"/>
                        </a:rPr>
                        <a:t>ps</a:t>
                      </a:r>
                      <a:endParaRPr lang="en-US" sz="2200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Display current processes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 err="1">
                          <a:latin typeface="Nunito" pitchFamily="2" charset="0"/>
                        </a:rPr>
                        <a:t>ps</a:t>
                      </a:r>
                      <a:r>
                        <a:rPr lang="en-US" sz="2200" dirty="0">
                          <a:latin typeface="Nunito" pitchFamily="2" charset="0"/>
                        </a:rPr>
                        <a:t> -aux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4603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top</a:t>
                      </a:r>
                      <a:endParaRPr lang="en-US" sz="2200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Monitor system resources and processes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top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3713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Nunito" pitchFamily="2" charset="0"/>
                        </a:rPr>
                        <a:t>kill</a:t>
                      </a:r>
                      <a:endParaRPr lang="en-US" sz="2200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Terminate a process by PID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kill 1234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2601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 b="1" dirty="0" err="1">
                          <a:latin typeface="Nunito" pitchFamily="2" charset="0"/>
                        </a:rPr>
                        <a:t>bg</a:t>
                      </a:r>
                      <a:endParaRPr lang="en-US" sz="2200" b="1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Resume a process in the background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 err="1">
                          <a:latin typeface="Nunito" pitchFamily="2" charset="0"/>
                        </a:rPr>
                        <a:t>bg</a:t>
                      </a:r>
                      <a:r>
                        <a:rPr lang="en-US" sz="2200" dirty="0">
                          <a:latin typeface="Nunito" pitchFamily="2" charset="0"/>
                        </a:rPr>
                        <a:t> %1</a:t>
                      </a:r>
                      <a:endParaRPr lang="en-US" sz="2200" b="1" dirty="0">
                        <a:latin typeface="Nunito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805355"/>
                  </a:ext>
                </a:extLst>
              </a:tr>
              <a:tr h="139621">
                <a:tc>
                  <a:txBody>
                    <a:bodyPr/>
                    <a:lstStyle/>
                    <a:p>
                      <a:r>
                        <a:rPr lang="en-US" sz="2200" b="1" dirty="0" err="1">
                          <a:latin typeface="Nunito" pitchFamily="2" charset="0"/>
                        </a:rPr>
                        <a:t>fg</a:t>
                      </a:r>
                      <a:endParaRPr lang="en-US" sz="2200" b="1" dirty="0">
                        <a:latin typeface="Nunito" pitchFamily="2" charset="0"/>
                      </a:endParaRP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Nunito" pitchFamily="2" charset="0"/>
                        </a:rPr>
                        <a:t>Bring a background process to the foreground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 err="1">
                          <a:latin typeface="Nunito" pitchFamily="2" charset="0"/>
                        </a:rPr>
                        <a:t>fg</a:t>
                      </a:r>
                      <a:r>
                        <a:rPr lang="en-US" sz="2200" dirty="0">
                          <a:latin typeface="Nunito" pitchFamily="2" charset="0"/>
                        </a:rPr>
                        <a:t> %1</a:t>
                      </a:r>
                    </a:p>
                  </a:txBody>
                  <a:tcPr marL="90337" marR="90337" marT="45169" marB="451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863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87811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CA880-EEFB-093B-E246-C1BE267F1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B3EA8-506A-E61D-2F6D-B6C484952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40AA-D198-D386-7E97-4F7C88342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E449D-62BF-7C94-2F81-5E578DA4F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Disk and System Usage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58D049-7675-8771-A2CB-41E81F6EE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81200"/>
            <a:ext cx="929337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57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D504A-50BA-6F77-12D2-34EC2DB7F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43DAF-CB77-7B80-23FD-029C1C178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A1A2B-CD42-55DF-4CD1-8F58B3482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73D386-3D3B-91BD-351C-3C98F7780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Testing Operators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6C8A29-8365-85D3-6D06-7622D81FBE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215"/>
          <a:stretch/>
        </p:blipFill>
        <p:spPr>
          <a:xfrm>
            <a:off x="1143000" y="1447800"/>
            <a:ext cx="8637639" cy="396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1955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4AF4D-2B6C-F3BE-A172-C2F083F26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0FE7F-41B5-41BD-1CCA-ECC8B5003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C4FDB-5521-7214-C75A-23CC28C37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556F12-5E55-8D69-1585-3F4F2D909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Networking and System Info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758BCF-E7D2-8006-5D58-EC874B5DD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52600"/>
            <a:ext cx="9766994" cy="326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2812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012D3-A13E-1377-A795-562E342B8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8BE84A-14D7-20A4-6347-7454F88AE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609DA-EB50-539A-0AD5-D201A8747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AC6F3A-9E44-8E6D-A076-9A7C19EF1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Miscellaneous Commands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FC2EDB-9CFC-2C82-66E3-9223C01C1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447800"/>
            <a:ext cx="9224306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0044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7C438-626C-89F5-4873-748913104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000612E-23D4-430C-4712-AC22871D9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for Writing Effective Bash Scripts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601E65-24DE-C7DA-2212-F1FE7958E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Comment Your Code</a:t>
            </a:r>
            <a:r>
              <a:rPr lang="en-US" dirty="0"/>
              <a:t>: Use # to explain the purpose of commands.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Error Handling</a:t>
            </a:r>
            <a:r>
              <a:rPr lang="en-US" dirty="0"/>
              <a:t>: Use || for fallback commands.</a:t>
            </a:r>
            <a:br>
              <a:rPr lang="en-US" dirty="0"/>
            </a:br>
            <a:r>
              <a:rPr lang="en-US" dirty="0" err="1">
                <a:solidFill>
                  <a:srgbClr val="FF0000"/>
                </a:solidFill>
              </a:rPr>
              <a:t>mkdir</a:t>
            </a:r>
            <a:r>
              <a:rPr lang="en-US" dirty="0">
                <a:solidFill>
                  <a:srgbClr val="FF0000"/>
                </a:solidFill>
              </a:rPr>
              <a:t> /test || echo "Failed to create directory"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Debugging</a:t>
            </a:r>
            <a:r>
              <a:rPr lang="en-US" dirty="0"/>
              <a:t>: Run the script with bash -x to debug line-by-line.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Portability</a:t>
            </a:r>
            <a:r>
              <a:rPr lang="en-US" dirty="0"/>
              <a:t>: Write scripts that work across different Unix-based systems.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Log Messages</a:t>
            </a:r>
            <a:r>
              <a:rPr lang="en-US" dirty="0"/>
              <a:t>: Add log statements for clarity.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A6CC14-8486-B099-7B8B-BEB27AFF2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B3D903-EC70-27EC-7BC9-5380FB5C4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3125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074E2-49D8-C4EE-0A29-F01224FCD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101F23-54A9-44EA-AD6E-42E0C4346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9095B-FE03-A3D4-2E7B-806074AD2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3FE5B1E-3628-39FE-9538-8784CB2B5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Automating routine administrative tasks can significantly improve productivity, reduce manual errors, and simplify system management.</a:t>
            </a:r>
          </a:p>
          <a:p>
            <a:r>
              <a:rPr lang="en-US" dirty="0"/>
              <a:t>It helps to efficiently manage repetitive tasks.</a:t>
            </a:r>
          </a:p>
          <a:p>
            <a:r>
              <a:rPr lang="en-US" dirty="0"/>
              <a:t>Here are a few examples of automated tasks and their solutions: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5446B4-452F-9E76-F5E6-F048B67CF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Automating day-to-day Admin Tasks</a:t>
            </a:r>
          </a:p>
        </p:txBody>
      </p:sp>
    </p:spTree>
    <p:extLst>
      <p:ext uri="{BB962C8B-B14F-4D97-AF65-F5344CB8AC3E}">
        <p14:creationId xmlns:p14="http://schemas.microsoft.com/office/powerpoint/2010/main" val="262089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8E141-9FBC-8537-5AA8-775F949FD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5F374E7-2581-E007-E610-6B9D9C340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Updates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8D566-7EDF-5897-6AC8-CD13CF285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Automate System Updates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#!/bin/bash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echo "Starting system update..."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apt update &amp;&amp; </a:t>
            </a: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apt upgrade -y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echo "Update completed on $(date)" &gt;&gt; /var/log/sysupdate.log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A01CF-13A1-465E-C029-E134F03FD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0659E6-8661-4A9E-6480-B5F088380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3196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F69B9-82E1-6BBF-9DD6-5A237FFA5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456F09C-4946-25CC-FC71-677FD516B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Management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858D5B-A636-BE56-9EC7-F1268AF1A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Add Multiple Users from a File</a:t>
            </a:r>
          </a:p>
          <a:p>
            <a:r>
              <a:rPr lang="en-US" dirty="0"/>
              <a:t>Script to read usernames from a file and create users: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#!/bin/bash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while IFS= read -r user; do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</a:t>
            </a: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useradd</a:t>
            </a:r>
            <a:r>
              <a:rPr lang="en-US" dirty="0">
                <a:solidFill>
                  <a:srgbClr val="FF0000"/>
                </a:solidFill>
              </a:rPr>
              <a:t> "$user"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echo "User $user created."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done &lt; users.txt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808332-66D5-A0E3-2DF7-0592021A7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F75873-F423-CCFA-D208-3A34105B2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0487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F865C-AF5B-9027-4B05-A775DD942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36DE994-27C8-C2AF-B5EE-1CDA4D26C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 Files and Directories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B807CEB-887B-129B-592C-003D12354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Daily Backup with Timestamp</a:t>
            </a:r>
          </a:p>
          <a:p>
            <a:r>
              <a:rPr lang="en-US" dirty="0"/>
              <a:t>Automatically backup a directory with a timestamp.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#!/bin/bash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backup_dir</a:t>
            </a:r>
            <a:r>
              <a:rPr lang="en-US" dirty="0">
                <a:solidFill>
                  <a:srgbClr val="FF0000"/>
                </a:solidFill>
              </a:rPr>
              <a:t>="/home/shiva/backup"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src_dir</a:t>
            </a:r>
            <a:r>
              <a:rPr lang="en-US" dirty="0">
                <a:solidFill>
                  <a:srgbClr val="FF0000"/>
                </a:solidFill>
              </a:rPr>
              <a:t>="/var/www/html"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timestamp=$(date +"%</a:t>
            </a:r>
            <a:r>
              <a:rPr lang="en-US" dirty="0" err="1">
                <a:solidFill>
                  <a:srgbClr val="FF0000"/>
                </a:solidFill>
              </a:rPr>
              <a:t>Y%m%d%H%M</a:t>
            </a:r>
            <a:r>
              <a:rPr lang="en-US" dirty="0">
                <a:solidFill>
                  <a:srgbClr val="FF0000"/>
                </a:solidFill>
              </a:rPr>
              <a:t>")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mkdir</a:t>
            </a:r>
            <a:r>
              <a:rPr lang="en-US" dirty="0">
                <a:solidFill>
                  <a:srgbClr val="FF0000"/>
                </a:solidFill>
              </a:rPr>
              <a:t> -p "$</a:t>
            </a:r>
            <a:r>
              <a:rPr lang="en-US" dirty="0" err="1">
                <a:solidFill>
                  <a:srgbClr val="FF0000"/>
                </a:solidFill>
              </a:rPr>
              <a:t>backup_dir</a:t>
            </a:r>
            <a:r>
              <a:rPr lang="en-US" dirty="0">
                <a:solidFill>
                  <a:srgbClr val="FF0000"/>
                </a:solidFill>
              </a:rPr>
              <a:t>"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tar -</a:t>
            </a:r>
            <a:r>
              <a:rPr lang="en-US" dirty="0" err="1">
                <a:solidFill>
                  <a:srgbClr val="FF0000"/>
                </a:solidFill>
              </a:rPr>
              <a:t>czf</a:t>
            </a:r>
            <a:r>
              <a:rPr lang="en-US" dirty="0">
                <a:solidFill>
                  <a:srgbClr val="FF0000"/>
                </a:solidFill>
              </a:rPr>
              <a:t> "$</a:t>
            </a:r>
            <a:r>
              <a:rPr lang="en-US" dirty="0" err="1">
                <a:solidFill>
                  <a:srgbClr val="FF0000"/>
                </a:solidFill>
              </a:rPr>
              <a:t>backup_dir</a:t>
            </a:r>
            <a:r>
              <a:rPr lang="en-US" dirty="0">
                <a:solidFill>
                  <a:srgbClr val="FF0000"/>
                </a:solidFill>
              </a:rPr>
              <a:t>/backup_$timestamp.tar.gz" "$</a:t>
            </a:r>
            <a:r>
              <a:rPr lang="en-US" dirty="0" err="1">
                <a:solidFill>
                  <a:srgbClr val="FF0000"/>
                </a:solidFill>
              </a:rPr>
              <a:t>src_dir</a:t>
            </a:r>
            <a:r>
              <a:rPr lang="en-US" dirty="0">
                <a:solidFill>
                  <a:srgbClr val="FF0000"/>
                </a:solidFill>
              </a:rPr>
              <a:t>"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echo "Backup completed: $</a:t>
            </a:r>
            <a:r>
              <a:rPr lang="en-US" dirty="0" err="1">
                <a:solidFill>
                  <a:srgbClr val="FF0000"/>
                </a:solidFill>
              </a:rPr>
              <a:t>backup_dir</a:t>
            </a:r>
            <a:r>
              <a:rPr lang="en-US" dirty="0">
                <a:solidFill>
                  <a:srgbClr val="FF0000"/>
                </a:solidFill>
              </a:rPr>
              <a:t>/backup_$timestamp.tar.gz"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613C13-0949-F5AB-F98E-836A3599A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F3E8ED-0C51-C8A3-5FAF-2427206E4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84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A6485-3D57-C08D-32F2-76D23FE7E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89DA78C-D17A-0B4E-EBB3-1F0C9D986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Disk Usage Monitoring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6134A2-4DB3-939F-4875-92C43ABCF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Send Alerts for Low Disk Space</a:t>
            </a:r>
          </a:p>
          <a:p>
            <a:r>
              <a:rPr lang="en-US" dirty="0"/>
              <a:t>Automatically check disk usage and alert if usage exceeds a threshold.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#!/bin/bash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threshold=80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usage=$(</a:t>
            </a:r>
            <a:r>
              <a:rPr lang="en-US" dirty="0" err="1">
                <a:solidFill>
                  <a:srgbClr val="FF0000"/>
                </a:solidFill>
              </a:rPr>
              <a:t>df</a:t>
            </a:r>
            <a:r>
              <a:rPr lang="en-US" dirty="0">
                <a:solidFill>
                  <a:srgbClr val="FF0000"/>
                </a:solidFill>
              </a:rPr>
              <a:t> / | grep '/' | awk '{print $5}' | sed 's/%//')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if [ "$usage" -</a:t>
            </a:r>
            <a:r>
              <a:rPr lang="en-US" dirty="0" err="1">
                <a:solidFill>
                  <a:srgbClr val="FF0000"/>
                </a:solidFill>
              </a:rPr>
              <a:t>gt</a:t>
            </a:r>
            <a:r>
              <a:rPr lang="en-US" dirty="0">
                <a:solidFill>
                  <a:srgbClr val="FF0000"/>
                </a:solidFill>
              </a:rPr>
              <a:t> "$threshold" ]; then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echo "Disk space usage is above $threshold%. Current usage: $usage%" | mail -s "Disk Space Alert" admin@example.com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D807FC-9732-2554-438E-066DCFE26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99436-B3EF-BC84-317C-6030E135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358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1DC7A-E47A-8BE1-696E-8EA296C1C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90FEE1-905B-E5A7-23FF-45AEF9C5F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Monitoring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2976F3C-1775-C4F1-9F61-433E46EE0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Track Unauthorized Login Attempts</a:t>
            </a:r>
          </a:p>
          <a:p>
            <a:r>
              <a:rPr lang="en-US" dirty="0"/>
              <a:t>Monitor /var/log/auth.log for unauthorized login attempts.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#!/bin/bash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log_file</a:t>
            </a:r>
            <a:r>
              <a:rPr lang="en-US" dirty="0">
                <a:solidFill>
                  <a:srgbClr val="FF0000"/>
                </a:solidFill>
              </a:rPr>
              <a:t>="/var/log/auth.log"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grep "Failed password" "$</a:t>
            </a:r>
            <a:r>
              <a:rPr lang="en-US" dirty="0" err="1">
                <a:solidFill>
                  <a:srgbClr val="FF0000"/>
                </a:solidFill>
              </a:rPr>
              <a:t>log_file</a:t>
            </a:r>
            <a:r>
              <a:rPr lang="en-US" dirty="0">
                <a:solidFill>
                  <a:srgbClr val="FF0000"/>
                </a:solidFill>
              </a:rPr>
              <a:t>" | awk '{print $1, $2, $3, $11}' &gt; failed_attempts.txt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echo "Unauthorized login attempts logged in failed_attempts.txt"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754822-E5C0-7E93-25D7-E112123D0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186E43-48A4-9F92-CFBD-A912658EA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417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462B5-87CD-C7A0-7B25-B12FA7F15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2522061-5988-3060-4E44-855D612C8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Updates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0E6ACC0-F80C-336B-04FE-0F2C4BC35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Automatic Package Updates</a:t>
            </a:r>
          </a:p>
          <a:p>
            <a:r>
              <a:rPr lang="en-US" dirty="0"/>
              <a:t>Update system packages and log the output.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#!/bin/bash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log_file</a:t>
            </a:r>
            <a:r>
              <a:rPr lang="en-US" dirty="0">
                <a:solidFill>
                  <a:srgbClr val="FF0000"/>
                </a:solidFill>
              </a:rPr>
              <a:t>="/var/log/update_log.txt"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apt-get update &amp;&amp; </a:t>
            </a: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apt-get upgrade -y &gt; "$</a:t>
            </a:r>
            <a:r>
              <a:rPr lang="en-US" dirty="0" err="1">
                <a:solidFill>
                  <a:srgbClr val="FF0000"/>
                </a:solidFill>
              </a:rPr>
              <a:t>log_file</a:t>
            </a:r>
            <a:r>
              <a:rPr lang="en-US" dirty="0">
                <a:solidFill>
                  <a:srgbClr val="FF0000"/>
                </a:solidFill>
              </a:rPr>
              <a:t>" 2&gt;&amp;1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echo "System updated. Log saved to $</a:t>
            </a:r>
            <a:r>
              <a:rPr lang="en-US" dirty="0" err="1">
                <a:solidFill>
                  <a:srgbClr val="FF0000"/>
                </a:solidFill>
              </a:rPr>
              <a:t>log_file</a:t>
            </a:r>
            <a:r>
              <a:rPr lang="en-US" dirty="0">
                <a:solidFill>
                  <a:srgbClr val="FF0000"/>
                </a:solidFill>
              </a:rPr>
              <a:t>."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A55903-2D3B-D2C0-535F-8A0F66DC8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D4E767-E953-B361-F71D-ED518F3B3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513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26C8A-0181-8970-468B-D87B3426A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7E494F5-A564-0C10-C710-FF312A7D8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Monitoring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FFDEF91-CEFA-9C4D-226F-C984E8D57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Ping Test for Critical Services</a:t>
            </a:r>
          </a:p>
          <a:p>
            <a:r>
              <a:rPr lang="en-US" dirty="0"/>
              <a:t>Check if critical services are reachable and log results.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#!/bin/bash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servers=("google.com" "github.com" "example.com")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for server in "${servers[@]}"; do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if ping -c 1 "$server" &amp;&gt;/dev/null; then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echo "$server is reachable"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else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echo "$server is not reachable" &gt;&gt; unreachable.log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fi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done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5D72B7-45FA-CE86-4D8B-9EC4FF9F7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6444C5-CBBF-3E51-390F-C4C72F9D1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6697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89835-89D4-C5F4-F32C-C7D3CB3F1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D3DE3D5-F494-4B01-BD06-7E720E2D1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Process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380639-B974-3D7F-5BD1-27204CC6CD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828805"/>
            <a:ext cx="3810000" cy="4663439"/>
          </a:xfrm>
        </p:spPr>
        <p:txBody>
          <a:bodyPr>
            <a:normAutofit fontScale="92500"/>
          </a:bodyPr>
          <a:lstStyle/>
          <a:p>
            <a:r>
              <a:rPr lang="en-US" sz="2400" b="1" dirty="0"/>
              <a:t>Step 1: Save the Script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sz="2400" dirty="0"/>
              <a:t>Create a shell script file.</a:t>
            </a:r>
          </a:p>
          <a:p>
            <a:pPr lvl="2"/>
            <a:r>
              <a:rPr lang="en-US" sz="2400" dirty="0"/>
              <a:t>nano ping_monitor.sh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sz="2400" dirty="0"/>
              <a:t>Copy and paste the ping test script into the file.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sz="2400" dirty="0"/>
              <a:t>Save and exit the file.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32E8B0-6F5A-B272-BB43-68E328566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4573F-3DEE-74C8-158D-3DE69421B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7A9C1-819B-BDCD-F6FF-22C1F573A2B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419600" y="1828805"/>
            <a:ext cx="6504432" cy="4663439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0000"/>
                </a:solidFill>
              </a:rPr>
              <a:t>#!/bin/bash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0000"/>
                </a:solidFill>
              </a:rPr>
              <a:t># List of servers to monitor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0000"/>
                </a:solidFill>
              </a:rPr>
              <a:t>servers=("google.com" "github.com" "example.com")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0000"/>
                </a:solidFill>
              </a:rPr>
              <a:t># Log file to store results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 err="1">
                <a:solidFill>
                  <a:srgbClr val="FF0000"/>
                </a:solidFill>
              </a:rPr>
              <a:t>log_file</a:t>
            </a:r>
            <a:r>
              <a:rPr lang="en-US" sz="2000" dirty="0">
                <a:solidFill>
                  <a:srgbClr val="FF0000"/>
                </a:solidFill>
              </a:rPr>
              <a:t>="/var/log/ping_monitor.log"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0000"/>
                </a:solidFill>
              </a:rPr>
              <a:t># Check each server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0000"/>
                </a:solidFill>
              </a:rPr>
              <a:t>for server in "${servers[@]}"; do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0000"/>
                </a:solidFill>
              </a:rPr>
              <a:t>  if ping -c 1 "$server" &amp;&gt;/dev/null; then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0000"/>
                </a:solidFill>
              </a:rPr>
              <a:t>    echo "$(date): $server is reachable" &gt;&gt; "$</a:t>
            </a:r>
            <a:r>
              <a:rPr lang="en-US" sz="2000" dirty="0" err="1">
                <a:solidFill>
                  <a:srgbClr val="FF0000"/>
                </a:solidFill>
              </a:rPr>
              <a:t>log_file</a:t>
            </a:r>
            <a:r>
              <a:rPr lang="en-US" sz="2000" dirty="0">
                <a:solidFill>
                  <a:srgbClr val="FF0000"/>
                </a:solidFill>
              </a:rPr>
              <a:t>"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0000"/>
                </a:solidFill>
              </a:rPr>
              <a:t>  else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0000"/>
                </a:solidFill>
              </a:rPr>
              <a:t>    echo "$(date): $server is NOT reachable" &gt;&gt; "$</a:t>
            </a:r>
            <a:r>
              <a:rPr lang="en-US" sz="2000" dirty="0" err="1">
                <a:solidFill>
                  <a:srgbClr val="FF0000"/>
                </a:solidFill>
              </a:rPr>
              <a:t>log_file</a:t>
            </a:r>
            <a:r>
              <a:rPr lang="en-US" sz="2000" dirty="0">
                <a:solidFill>
                  <a:srgbClr val="FF0000"/>
                </a:solidFill>
              </a:rPr>
              <a:t>"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0000"/>
                </a:solidFill>
              </a:rPr>
              <a:t>  fi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0000"/>
                </a:solidFill>
              </a:rPr>
              <a:t>done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4765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50051-94AA-4052-34BA-F29058D6E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ACC38F4-8D47-B50D-0143-80D5E3BE1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Process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F7F245-24A5-A31B-1213-22FC4CCAB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 2: Make the script executable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/>
              <a:t>Change the permission to make the file executable.</a:t>
            </a:r>
          </a:p>
          <a:p>
            <a:pPr marL="548640" lvl="2" indent="0">
              <a:buNone/>
            </a:pPr>
            <a:r>
              <a:rPr lang="en-US" dirty="0" err="1">
                <a:solidFill>
                  <a:srgbClr val="FF0000"/>
                </a:solidFill>
              </a:rPr>
              <a:t>chmod</a:t>
            </a:r>
            <a:r>
              <a:rPr lang="en-US" dirty="0">
                <a:solidFill>
                  <a:srgbClr val="FF0000"/>
                </a:solidFill>
              </a:rPr>
              <a:t> +x ping_monitor.sh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39D6A-D5DF-05B1-6762-FE3B17E1A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0C78EE-65C1-1DBA-1419-BFC432FA8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048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CEDAF-9BEE-43A7-9591-9DE67728D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3A7A7FC-7F32-877F-CDD1-CC9E9ADF7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Process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EC38126-7012-A6F2-0983-F25508025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Step 3: Schedule the Script with Cron</a:t>
            </a:r>
          </a:p>
          <a:p>
            <a:r>
              <a:rPr lang="en-US" dirty="0"/>
              <a:t>To automate the script and run it at regular intervals, use </a:t>
            </a:r>
            <a:r>
              <a:rPr lang="en-US" b="1" dirty="0"/>
              <a:t>cron jobs: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/>
              <a:t>Open the cron editor:</a:t>
            </a:r>
          </a:p>
          <a:p>
            <a:pPr marL="548640" lvl="2" indent="0">
              <a:buNone/>
            </a:pPr>
            <a:r>
              <a:rPr lang="en-US" dirty="0">
                <a:solidFill>
                  <a:srgbClr val="FF0000"/>
                </a:solidFill>
              </a:rPr>
              <a:t>crontab –e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/>
              <a:t>Add a line to schedule the script. For example:</a:t>
            </a:r>
          </a:p>
          <a:p>
            <a:pPr lvl="2"/>
            <a:r>
              <a:rPr lang="en-US" dirty="0"/>
              <a:t>Run the script every 10 minutes:</a:t>
            </a:r>
          </a:p>
          <a:p>
            <a:pPr marL="822960" lvl="3" indent="0">
              <a:buNone/>
            </a:pPr>
            <a:r>
              <a:rPr lang="en-US" dirty="0">
                <a:solidFill>
                  <a:srgbClr val="FF0000"/>
                </a:solidFill>
              </a:rPr>
              <a:t>*/10 * * * * /path/to/ping_monitor.sh</a:t>
            </a:r>
          </a:p>
          <a:p>
            <a:pPr lvl="2"/>
            <a:r>
              <a:rPr lang="en-US" dirty="0"/>
              <a:t>Run it every hour:</a:t>
            </a:r>
          </a:p>
          <a:p>
            <a:pPr marL="822960" lvl="3" indent="0">
              <a:buNone/>
            </a:pPr>
            <a:r>
              <a:rPr lang="en-US" dirty="0">
                <a:solidFill>
                  <a:srgbClr val="FF0000"/>
                </a:solidFill>
              </a:rPr>
              <a:t>0 * * * * /path/to/ping_monitor.sh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/>
              <a:t>Save and exit.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7B7845-E745-9B79-E6BF-CDC55BB39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F94DFC-651A-F0EE-7EF3-B565AC411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3907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1AE5F-BA52-385A-773D-244814DD1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11F8222-3BEC-6040-3FF2-C1D1B92BC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Process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CABCFE-DD1F-66C4-6FD6-E7F10CAA7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 4: Verify Automation</a:t>
            </a:r>
          </a:p>
          <a:p>
            <a:r>
              <a:rPr lang="en-US" dirty="0"/>
              <a:t>Check if the cron job is running: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grep CRON /var/log/syslog</a:t>
            </a:r>
          </a:p>
          <a:p>
            <a:r>
              <a:rPr lang="en-US" dirty="0"/>
              <a:t>Open the log file to view results:</a:t>
            </a:r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cat /var/log/ping_monitor.log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B1B714-3EA4-DDC6-C8EE-C6DFB75E4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03028A-DDB3-CF60-AAAC-1B22D8770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896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4DFAB-7181-BE47-D8F6-5E0ECB6BC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2B4F557-6B9E-B03E-79B2-F07A52CD7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Process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BE27D5-6DB9-5C87-862C-16230B58A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Step 5: Notification Options</a:t>
            </a:r>
          </a:p>
          <a:p>
            <a:r>
              <a:rPr lang="en-US" dirty="0"/>
              <a:t>Send Alerts for Downtime:</a:t>
            </a:r>
          </a:p>
          <a:p>
            <a:pPr lvl="1"/>
            <a:r>
              <a:rPr lang="en-US" dirty="0"/>
              <a:t>Integrate an email or messaging system to send alerts for unreachable servers. Add this line inside the else block: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echo "$(date): $server is NOT reachable" | mail -s "Ping Alert: $server Down" </a:t>
            </a:r>
            <a:r>
              <a:rPr lang="en-US" dirty="0">
                <a:solidFill>
                  <a:srgbClr val="FF0000"/>
                </a:solidFill>
                <a:hlinkClick r:id="rId2"/>
              </a:rPr>
              <a:t>admin@example.com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Customizing the Script:</a:t>
            </a:r>
          </a:p>
          <a:p>
            <a:pPr lvl="1"/>
            <a:r>
              <a:rPr lang="en-US" dirty="0"/>
              <a:t>Add more advanced logic, like retrying the ping or using curl to check specific ports.</a:t>
            </a:r>
          </a:p>
          <a:p>
            <a:pPr lvl="2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5723D7-81E9-B9AB-02AF-FB8ADBE8B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1257C1-7A49-3193-B293-CEC0BB236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8157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B995A-D9D9-5F3E-A274-5842DBA10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690B8D8-F8FB-9002-E1AC-E0471AE5B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Tasks with Cron Jobs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8B49152-0E3E-994C-FB17-AB35759C6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Cron</a:t>
            </a:r>
            <a:r>
              <a:rPr lang="en-US" dirty="0"/>
              <a:t> is a time-based job scheduler in Unix-like systems.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* * * * * /path/to/script.sh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│ │ │ │ │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│ │ │ │ └─ Day of the week (0 - 6) (Sunday = 0)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│ │ │ └──── Month (1 - 12)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│ │ └────── Day of month (1 - 31)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│ └──────── Hour (0 - 23)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└────────── Minute (0 - 59)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2AA352-5499-4CA4-9026-C0FAD1E0A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4E5CFD-625A-625B-169F-68C42EBC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2720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4B930-0896-82D3-1E46-367D3772E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FBC4322-C79F-E5E2-485E-2E17C090B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Tasks with Cron Jobs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F9B04E0-687F-E0DA-A46F-F5AEE4E6F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Examples</a:t>
            </a:r>
            <a:r>
              <a:rPr lang="en-US" dirty="0"/>
              <a:t>:</a:t>
            </a:r>
          </a:p>
          <a:p>
            <a:r>
              <a:rPr lang="en-US" dirty="0"/>
              <a:t>Run backup daily at 1AM</a:t>
            </a:r>
          </a:p>
          <a:p>
            <a:pPr lvl="1"/>
            <a:r>
              <a:rPr lang="en-US" dirty="0"/>
              <a:t>0 1 * * * /home/user/backup.sh</a:t>
            </a:r>
          </a:p>
          <a:p>
            <a:r>
              <a:rPr lang="en-US" dirty="0"/>
              <a:t>Reboot system every Sunday at 3AM</a:t>
            </a:r>
          </a:p>
          <a:p>
            <a:pPr lvl="1"/>
            <a:r>
              <a:rPr lang="en-US" dirty="0"/>
              <a:t>0 3 * * 0 /</a:t>
            </a:r>
            <a:r>
              <a:rPr lang="en-US" dirty="0" err="1"/>
              <a:t>sbin</a:t>
            </a:r>
            <a:r>
              <a:rPr lang="en-US" dirty="0"/>
              <a:t>/reboot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F2470-760E-3B49-478F-4391E0FED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8D6F1F-2882-3AE6-2A96-7553AC33D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5772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397DF-5BCB-5DF7-CDB9-BD9AE029D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2A65DAB-6E0C-AE7A-81E0-34035E02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Cron Jobs for Automation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E97D4B4-6883-EA21-9BA6-A2E283CF1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Schedule scripts to run automatically using cron jobs</a:t>
            </a:r>
            <a:r>
              <a:rPr lang="en-US" dirty="0"/>
              <a:t>.</a:t>
            </a:r>
          </a:p>
          <a:p>
            <a:r>
              <a:rPr lang="en-US" dirty="0"/>
              <a:t>Example: Run a backup script daily at 2 AM.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0 2 * * * /home/shiva/backup_script.sh</a:t>
            </a:r>
          </a:p>
          <a:p>
            <a:r>
              <a:rPr lang="en-US" dirty="0"/>
              <a:t>Add this line to the crontab: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crontab -e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82E1E8-C7E7-5C3D-292E-CCF3B784B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A0950B-446B-D3B3-A25D-A7A190F50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506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9E110-34EC-A635-926A-7D1FCE8FF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7BA7719-25DE-40BA-77BD-9AB793637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Scheduled Cleanup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48906BB-864E-3E9B-5701-65F20F729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Delete Old Files</a:t>
            </a:r>
          </a:p>
          <a:p>
            <a:r>
              <a:rPr lang="en-US" dirty="0"/>
              <a:t>Remove files older than 7 days in a directory.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#!/bin/bash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find /path/to/directory -type f -</a:t>
            </a:r>
            <a:r>
              <a:rPr lang="en-US" dirty="0" err="1">
                <a:solidFill>
                  <a:srgbClr val="FF0000"/>
                </a:solidFill>
              </a:rPr>
              <a:t>mtime</a:t>
            </a:r>
            <a:r>
              <a:rPr lang="en-US" dirty="0">
                <a:solidFill>
                  <a:srgbClr val="FF0000"/>
                </a:solidFill>
              </a:rPr>
              <a:t> +7 -exec rm -f {} \;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echo "Old files deleted."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79A08B-3570-CC98-0478-09546F52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D39219-FAD1-5375-B64E-9A7043DAB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7561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E710E-7E7B-6590-1DEC-6D31965FF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F6D79C-841D-24F0-6C4C-DB5F83EAF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Backup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CE454D-F681-1009-6799-7C51B34D8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Automated MySQL Database Backup</a:t>
            </a:r>
          </a:p>
          <a:p>
            <a:r>
              <a:rPr lang="en-US" dirty="0"/>
              <a:t>Backup a MySQL database and compress it.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#!/bin/bash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db_name</a:t>
            </a:r>
            <a:r>
              <a:rPr lang="en-US" dirty="0">
                <a:solidFill>
                  <a:srgbClr val="FF0000"/>
                </a:solidFill>
              </a:rPr>
              <a:t>="</a:t>
            </a:r>
            <a:r>
              <a:rPr lang="en-US" dirty="0" err="1">
                <a:solidFill>
                  <a:srgbClr val="FF0000"/>
                </a:solidFill>
              </a:rPr>
              <a:t>my_database</a:t>
            </a:r>
            <a:r>
              <a:rPr lang="en-US" dirty="0">
                <a:solidFill>
                  <a:srgbClr val="FF0000"/>
                </a:solidFill>
              </a:rPr>
              <a:t>"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backup_dir</a:t>
            </a:r>
            <a:r>
              <a:rPr lang="en-US" dirty="0">
                <a:solidFill>
                  <a:srgbClr val="FF0000"/>
                </a:solidFill>
              </a:rPr>
              <a:t>="/home/shiva/</a:t>
            </a:r>
            <a:r>
              <a:rPr lang="en-US" dirty="0" err="1">
                <a:solidFill>
                  <a:srgbClr val="FF0000"/>
                </a:solidFill>
              </a:rPr>
              <a:t>db_backup</a:t>
            </a:r>
            <a:r>
              <a:rPr lang="en-US" dirty="0">
                <a:solidFill>
                  <a:srgbClr val="FF0000"/>
                </a:solidFill>
              </a:rPr>
              <a:t>"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timestamp=$(date +"%</a:t>
            </a:r>
            <a:r>
              <a:rPr lang="en-US" dirty="0" err="1">
                <a:solidFill>
                  <a:srgbClr val="FF0000"/>
                </a:solidFill>
              </a:rPr>
              <a:t>Y%m%d</a:t>
            </a:r>
            <a:r>
              <a:rPr lang="en-US" dirty="0">
                <a:solidFill>
                  <a:srgbClr val="FF0000"/>
                </a:solidFill>
              </a:rPr>
              <a:t>")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mkdir</a:t>
            </a:r>
            <a:r>
              <a:rPr lang="en-US" dirty="0">
                <a:solidFill>
                  <a:srgbClr val="FF0000"/>
                </a:solidFill>
              </a:rPr>
              <a:t> -p "$</a:t>
            </a:r>
            <a:r>
              <a:rPr lang="en-US" dirty="0" err="1">
                <a:solidFill>
                  <a:srgbClr val="FF0000"/>
                </a:solidFill>
              </a:rPr>
              <a:t>backup_dir</a:t>
            </a:r>
            <a:r>
              <a:rPr lang="en-US" dirty="0">
                <a:solidFill>
                  <a:srgbClr val="FF0000"/>
                </a:solidFill>
              </a:rPr>
              <a:t>"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mysqldump</a:t>
            </a:r>
            <a:r>
              <a:rPr lang="en-US" dirty="0">
                <a:solidFill>
                  <a:srgbClr val="FF0000"/>
                </a:solidFill>
              </a:rPr>
              <a:t> -u root -p "$</a:t>
            </a:r>
            <a:r>
              <a:rPr lang="en-US" dirty="0" err="1">
                <a:solidFill>
                  <a:srgbClr val="FF0000"/>
                </a:solidFill>
              </a:rPr>
              <a:t>db_name</a:t>
            </a:r>
            <a:r>
              <a:rPr lang="en-US" dirty="0">
                <a:solidFill>
                  <a:srgbClr val="FF0000"/>
                </a:solidFill>
              </a:rPr>
              <a:t>" &gt; "$</a:t>
            </a:r>
            <a:r>
              <a:rPr lang="en-US" dirty="0" err="1">
                <a:solidFill>
                  <a:srgbClr val="FF0000"/>
                </a:solidFill>
              </a:rPr>
              <a:t>backup_dir</a:t>
            </a:r>
            <a:r>
              <a:rPr lang="en-US" dirty="0">
                <a:solidFill>
                  <a:srgbClr val="FF0000"/>
                </a:solidFill>
              </a:rPr>
              <a:t>/db_backup_$</a:t>
            </a:r>
            <a:r>
              <a:rPr lang="en-US" dirty="0" err="1">
                <a:solidFill>
                  <a:srgbClr val="FF0000"/>
                </a:solidFill>
              </a:rPr>
              <a:t>timestamp.sql</a:t>
            </a:r>
            <a:r>
              <a:rPr lang="en-US" dirty="0">
                <a:solidFill>
                  <a:srgbClr val="FF0000"/>
                </a:solidFill>
              </a:rPr>
              <a:t>"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gzip</a:t>
            </a:r>
            <a:r>
              <a:rPr lang="en-US" dirty="0">
                <a:solidFill>
                  <a:srgbClr val="FF0000"/>
                </a:solidFill>
              </a:rPr>
              <a:t> "$</a:t>
            </a:r>
            <a:r>
              <a:rPr lang="en-US" dirty="0" err="1">
                <a:solidFill>
                  <a:srgbClr val="FF0000"/>
                </a:solidFill>
              </a:rPr>
              <a:t>backup_dir</a:t>
            </a:r>
            <a:r>
              <a:rPr lang="en-US" dirty="0">
                <a:solidFill>
                  <a:srgbClr val="FF0000"/>
                </a:solidFill>
              </a:rPr>
              <a:t>/db_backup_$</a:t>
            </a:r>
            <a:r>
              <a:rPr lang="en-US" dirty="0" err="1">
                <a:solidFill>
                  <a:srgbClr val="FF0000"/>
                </a:solidFill>
              </a:rPr>
              <a:t>timestamp.sql</a:t>
            </a:r>
            <a:r>
              <a:rPr lang="en-US" dirty="0">
                <a:solidFill>
                  <a:srgbClr val="FF0000"/>
                </a:solidFill>
              </a:rPr>
              <a:t>"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echo "Database backup completed: $</a:t>
            </a:r>
            <a:r>
              <a:rPr lang="en-US" dirty="0" err="1">
                <a:solidFill>
                  <a:srgbClr val="FF0000"/>
                </a:solidFill>
              </a:rPr>
              <a:t>backup_dir</a:t>
            </a:r>
            <a:r>
              <a:rPr lang="en-US" dirty="0">
                <a:solidFill>
                  <a:srgbClr val="FF0000"/>
                </a:solidFill>
              </a:rPr>
              <a:t>/db_backup_$timestamp.sql.gz"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66A1F3-EEE3-3E4C-C827-00E1A9B67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B4516B-F302-5C13-F349-6E942E544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4191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3E0869-A220-07A1-DD99-6DF41BE502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E93EF0-C6A1-D794-6D90-9A4B4EF8B6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7A19DD-42F6-B2F5-0131-413CAEF1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</a:t>
            </a:r>
            <a:br>
              <a:rPr lang="en-US" dirty="0"/>
            </a:br>
            <a:r>
              <a:rPr lang="en-US" dirty="0"/>
              <a:t>Lecture 6</a:t>
            </a:r>
          </a:p>
        </p:txBody>
      </p:sp>
    </p:spTree>
    <p:extLst>
      <p:ext uri="{BB962C8B-B14F-4D97-AF65-F5344CB8AC3E}">
        <p14:creationId xmlns:p14="http://schemas.microsoft.com/office/powerpoint/2010/main" val="6631980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3FA128-C4D8-E305-85C9-B03DF2031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DEVOPS ON CLOUD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B0B853-FF2A-5B00-B111-DEB0FB5D6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DevOps Basics with Virtualization | Lecture 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9041C-86CD-85A4-36FE-8ED62F85F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21476"/>
      </p:ext>
    </p:extLst>
  </p:cSld>
  <p:clrMapOvr>
    <a:masterClrMapping/>
  </p:clrMapOvr>
</p:sld>
</file>

<file path=ppt/theme/theme1.xml><?xml version="1.0" encoding="utf-8"?>
<a:theme xmlns:a="http://schemas.openxmlformats.org/drawingml/2006/main" name="1_View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749</TotalTime>
  <Words>2680</Words>
  <Application>Microsoft Office PowerPoint</Application>
  <PresentationFormat>Widescreen</PresentationFormat>
  <Paragraphs>430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Arial</vt:lpstr>
      <vt:lpstr>Calibri</vt:lpstr>
      <vt:lpstr>Century Schoolbook</vt:lpstr>
      <vt:lpstr>Nunito</vt:lpstr>
      <vt:lpstr>Roboto</vt:lpstr>
      <vt:lpstr>Wingdings 2</vt:lpstr>
      <vt:lpstr>1_View</vt:lpstr>
      <vt:lpstr>PowerPoint Presentation</vt:lpstr>
      <vt:lpstr>Unit 2: DevOps Basics with Virtualization (5hrs)</vt:lpstr>
      <vt:lpstr>Bash Scripting</vt:lpstr>
      <vt:lpstr>Why Use Bash Scripting?</vt:lpstr>
      <vt:lpstr>Basics of Bash Scripting</vt:lpstr>
      <vt:lpstr>Basics of Bash Scripting</vt:lpstr>
      <vt:lpstr>Bash Scripting: Variables</vt:lpstr>
      <vt:lpstr>Bash Scripting: Conditional Statements</vt:lpstr>
      <vt:lpstr>Bash Scripting: Conditional Statements</vt:lpstr>
      <vt:lpstr>Bash Scripting: Loops</vt:lpstr>
      <vt:lpstr>Bash Scripting: Functions</vt:lpstr>
      <vt:lpstr>Bash Scripting: Input/Output</vt:lpstr>
      <vt:lpstr>Common Use Case of Bash Scripting</vt:lpstr>
      <vt:lpstr>Common Use Case of Bash Scripting</vt:lpstr>
      <vt:lpstr>Common Use Case of Bash Scripting</vt:lpstr>
      <vt:lpstr>Common Use Case of Bash Scripting</vt:lpstr>
      <vt:lpstr>Common Use Case of Bash Scripting</vt:lpstr>
      <vt:lpstr>File and Directory Commands</vt:lpstr>
      <vt:lpstr>File and Directory Commands</vt:lpstr>
      <vt:lpstr>Text Manipulation Commands</vt:lpstr>
      <vt:lpstr>Text Manipulation Commands</vt:lpstr>
      <vt:lpstr>Process Management</vt:lpstr>
      <vt:lpstr>Disk and System Usage</vt:lpstr>
      <vt:lpstr>File Testing Operators</vt:lpstr>
      <vt:lpstr>Networking and System Info</vt:lpstr>
      <vt:lpstr>Miscellaneous Commands</vt:lpstr>
      <vt:lpstr>Tips for Writing Effective Bash Scripts</vt:lpstr>
      <vt:lpstr>Automating day-to-day Admin Tasks</vt:lpstr>
      <vt:lpstr>System Updates</vt:lpstr>
      <vt:lpstr>User Management</vt:lpstr>
      <vt:lpstr>Backup Files and Directories</vt:lpstr>
      <vt:lpstr>Disk Usage Monitoring</vt:lpstr>
      <vt:lpstr>Log Monitoring</vt:lpstr>
      <vt:lpstr>System Updates</vt:lpstr>
      <vt:lpstr>Network Monitoring</vt:lpstr>
      <vt:lpstr>Automation Process</vt:lpstr>
      <vt:lpstr>Automation Process</vt:lpstr>
      <vt:lpstr>Automation Process</vt:lpstr>
      <vt:lpstr>Automation Process</vt:lpstr>
      <vt:lpstr>Automation Process</vt:lpstr>
      <vt:lpstr>Scheduling Tasks with Cron Jobs</vt:lpstr>
      <vt:lpstr>Scheduling Tasks with Cron Jobs</vt:lpstr>
      <vt:lpstr>Cron Jobs for Automation</vt:lpstr>
      <vt:lpstr>Scheduled Cleanup</vt:lpstr>
      <vt:lpstr>Database Backup</vt:lpstr>
      <vt:lpstr>End of Lecture 6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</dc:title>
  <dc:creator>Shiva Kunwar</dc:creator>
  <cp:lastModifiedBy>Shiva Kunwar</cp:lastModifiedBy>
  <cp:revision>99</cp:revision>
  <dcterms:created xsi:type="dcterms:W3CDTF">2021-11-23T15:23:57Z</dcterms:created>
  <dcterms:modified xsi:type="dcterms:W3CDTF">2025-06-14T07:02:58Z</dcterms:modified>
</cp:coreProperties>
</file>