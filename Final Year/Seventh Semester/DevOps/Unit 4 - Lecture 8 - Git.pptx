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19"/>
  </p:notesMasterIdLst>
  <p:handoutMasterIdLst>
    <p:handoutMasterId r:id="rId20"/>
  </p:handoutMasterIdLst>
  <p:sldIdLst>
    <p:sldId id="296" r:id="rId2"/>
    <p:sldId id="297" r:id="rId3"/>
    <p:sldId id="291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16FCAE89-5A17-4B88-828A-53DF1CBB4229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GIT- A Version Controlling Tool | Lecture 8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0293-EC1D-4267-A37F-40905078B17B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D5ACE-C99D-4941-B0FD-6226CAA93788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43422-D0B1-4C4B-AE46-EDAB1072C5C5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78A6-EEB1-4C1A-9ADB-F5ABDD28D464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78EC897-5CE6-4DC1-AA21-00A7A111F875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D5FFE-AA50-4E38-82AB-2930EB3EFE3C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EEC4-8648-4AC1-BBAC-A023C42A6CE9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0333F2A9-C381-4D27-8DB4-3D62CF542D55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7D0F-D930-65E4-E76B-7FCFB33C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A711-2D6D-9591-6AE0-A018C582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4: GIT Version Controlling Tool (6hrs)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B0E8-B48F-AFAD-75EF-3584B1075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Introduction to Version Control</a:t>
            </a:r>
          </a:p>
          <a:p>
            <a:r>
              <a:rPr lang="en-US" dirty="0"/>
              <a:t>Git - A CLI, Essentials of GIT in industry</a:t>
            </a:r>
          </a:p>
          <a:p>
            <a:r>
              <a:rPr lang="en-US" dirty="0"/>
              <a:t>Practice with GIT: Tracking, Monitoring, Ignoring, Staging, Merging, etc.</a:t>
            </a:r>
          </a:p>
          <a:p>
            <a:r>
              <a:rPr lang="en-US" dirty="0"/>
              <a:t>Working with Remotes</a:t>
            </a:r>
          </a:p>
          <a:p>
            <a:r>
              <a:rPr lang="en-US" dirty="0"/>
              <a:t>GIT Workflows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5F0EA-86E0-473B-8B9F-CDB18C01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B36C3-A2F9-7813-0DFA-5FF80BBF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Once upon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 a bustling software company, </a:t>
            </a:r>
            <a:r>
              <a:rPr lang="en-US" b="1" dirty="0" err="1"/>
              <a:t>InnovateTechNepal</a:t>
            </a:r>
            <a:r>
              <a:rPr lang="en-US" dirty="0"/>
              <a:t>, a team of developers worked on a revolutionary new application.</a:t>
            </a:r>
          </a:p>
          <a:p>
            <a:r>
              <a:rPr lang="en-US" dirty="0"/>
              <a:t>The team, full of brilliant minds, each had their own ideas for features, bug fixes, and improvements. But they had one big problem: </a:t>
            </a:r>
            <a:r>
              <a:rPr lang="en-US" b="1" dirty="0">
                <a:solidFill>
                  <a:srgbClr val="FF0000"/>
                </a:solidFill>
              </a:rPr>
              <a:t>coordination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BFF3-D5D8-A746-865A-EA587799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25BF-E275-D437-343E-FBEDA511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CHAOS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99809-57CB-C330-6C42-DE28A5756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Every developer worked on their local machines, and they </a:t>
            </a:r>
            <a:r>
              <a:rPr lang="en-US" b="1" dirty="0">
                <a:solidFill>
                  <a:srgbClr val="FF0000"/>
                </a:solidFill>
              </a:rPr>
              <a:t>shared files through email or USB drives</a:t>
            </a:r>
            <a:r>
              <a:rPr lang="en-US" dirty="0"/>
              <a:t>. Every day brought new confusion:</a:t>
            </a:r>
          </a:p>
          <a:p>
            <a:r>
              <a:rPr lang="en-US" b="1" dirty="0"/>
              <a:t>Duplicate Files</a:t>
            </a:r>
            <a:r>
              <a:rPr lang="en-US" dirty="0"/>
              <a:t>: Files were named like </a:t>
            </a:r>
            <a:r>
              <a:rPr lang="en-US" b="1" i="1" dirty="0">
                <a:solidFill>
                  <a:srgbClr val="00B050"/>
                </a:solidFill>
              </a:rPr>
              <a:t>project_final_v2</a:t>
            </a:r>
            <a:r>
              <a:rPr lang="en-US" dirty="0"/>
              <a:t>, </a:t>
            </a:r>
            <a:r>
              <a:rPr lang="en-US" b="1" i="1" dirty="0">
                <a:solidFill>
                  <a:srgbClr val="00B0F0"/>
                </a:solidFill>
              </a:rPr>
              <a:t>project_final_v2_FINAL</a:t>
            </a:r>
            <a:r>
              <a:rPr lang="en-US" dirty="0"/>
              <a:t>, and </a:t>
            </a:r>
            <a:r>
              <a:rPr lang="en-US" b="1" i="1" dirty="0">
                <a:solidFill>
                  <a:srgbClr val="7030A0"/>
                </a:solidFill>
              </a:rPr>
              <a:t>project_final_v2_REALLYFINAL</a:t>
            </a:r>
            <a:r>
              <a:rPr lang="en-US" dirty="0"/>
              <a:t>. No one knew which was the latest version.</a:t>
            </a:r>
          </a:p>
          <a:p>
            <a:r>
              <a:rPr lang="en-US" b="1" dirty="0"/>
              <a:t>Overwritten Work</a:t>
            </a:r>
            <a:r>
              <a:rPr lang="en-US" dirty="0"/>
              <a:t>: When two developers, Ram and Gita, worked on the same file, Gita’s work often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overwrote</a:t>
            </a:r>
            <a:r>
              <a:rPr lang="en-US" dirty="0"/>
              <a:t> Ram’s changes or vice versa. Frustrations grew.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317B-5D5E-42BA-F155-92D5E762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8975-6B6C-DE51-7023-AD004209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3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22C-0183-BE54-54A5-AC4367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B326-0695-0C16-8787-4928A0AB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3116-BA3D-2846-FA46-3349AA2DF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Lost Progress</a:t>
            </a:r>
            <a:r>
              <a:rPr lang="en-US" dirty="0"/>
              <a:t>: Hari, the team lead, </a:t>
            </a:r>
            <a:r>
              <a:rPr lang="en-US" b="1" i="1" dirty="0">
                <a:solidFill>
                  <a:srgbClr val="FFC000"/>
                </a:solidFill>
              </a:rPr>
              <a:t>accidentally deleted a file</a:t>
            </a:r>
            <a:r>
              <a:rPr lang="en-US" dirty="0"/>
              <a:t>. Without a backup, two weeks of hard work vanished into thin air.</a:t>
            </a:r>
          </a:p>
          <a:p>
            <a:r>
              <a:rPr lang="en-US" b="1" dirty="0"/>
              <a:t>Endless Meetings</a:t>
            </a:r>
            <a:r>
              <a:rPr lang="en-US" dirty="0"/>
              <a:t>: The team spent hours trying to settle </a:t>
            </a:r>
            <a:r>
              <a:rPr lang="en-US" b="1" i="1" dirty="0">
                <a:solidFill>
                  <a:srgbClr val="C00000"/>
                </a:solidFill>
              </a:rPr>
              <a:t>whose changes to keep and whose to discard</a:t>
            </a:r>
            <a:r>
              <a:rPr lang="en-US" dirty="0"/>
              <a:t>. Productivity dropped.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854F-1D64-628E-E5A4-6BC558FA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ECB5-FFA1-ECA5-12F4-B3BB65ED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99D5-699A-68ED-3D9A-2D37A42C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D5B1-079C-82CB-D11A-73F22DFA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Enter Version Control : THE SAVIOR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7E7A-BB95-8096-0344-616EF34C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One day, an experienced developer named Dammar joined the team. Dammar listened to their miseries and smiled knowingly. "Have you heard of </a:t>
            </a:r>
            <a:r>
              <a:rPr lang="en-US" b="1" dirty="0">
                <a:solidFill>
                  <a:srgbClr val="00B050"/>
                </a:solidFill>
              </a:rPr>
              <a:t>VERSION CONTROL SYSTEMS</a:t>
            </a:r>
            <a:r>
              <a:rPr lang="en-US" dirty="0"/>
              <a:t>?" he asked.</a:t>
            </a:r>
          </a:p>
          <a:p>
            <a:r>
              <a:rPr lang="en-US" dirty="0"/>
              <a:t>The team stared blankly. Dammar explained: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5BFF5-7189-F59E-94BD-31FBD460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5AD96-CDF3-FF4B-74F4-7F018AAE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1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360E-E734-94FD-6257-AFDE46F0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51A4-5961-24C3-9BBC-0D392C8F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Enter Version Control : THE SAVIOR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FC42-169B-D575-7F8E-DB5F4E57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"Version control is like a </a:t>
            </a:r>
            <a:r>
              <a:rPr lang="en-US" b="1" dirty="0"/>
              <a:t>time machine</a:t>
            </a:r>
            <a:r>
              <a:rPr lang="en-US" dirty="0"/>
              <a:t> for your project. It lets us: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Track every change made to our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Work on the same files without overwriting each other's progress.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Roll back to an earlier version if we mess up.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Collaborate seamlessly as a team.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5FD40-57A8-CB07-5CB5-2560D18B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5E21-F273-8772-1216-84360E7B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1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B04F-7745-16DE-0419-6140996E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0160-7959-820D-603A-40CB5F78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8EAE-E856-8CEF-0C98-AFD40514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dirty="0"/>
              <a:t>Dammar set up a </a:t>
            </a:r>
            <a:r>
              <a:rPr lang="en-US" b="1" dirty="0"/>
              <a:t>repository</a:t>
            </a:r>
            <a:r>
              <a:rPr lang="en-US" dirty="0"/>
              <a:t>, a central place to store the project's files. He showed the team how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Commit changes</a:t>
            </a:r>
            <a:r>
              <a:rPr lang="en-US" dirty="0"/>
              <a:t> to save their progress with meaningful messages like "Fixed login bug" or "Added new feature to dashboard."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Branch off</a:t>
            </a:r>
            <a:r>
              <a:rPr lang="en-US" dirty="0"/>
              <a:t> for individual tasks, like Emma working on a new feature while Jane fixed bugs.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Merge changes</a:t>
            </a:r>
            <a:r>
              <a:rPr lang="en-US" dirty="0"/>
              <a:t> to combine everyone’s contributions into a single, cohesive project.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Resolve conflicts</a:t>
            </a:r>
            <a:r>
              <a:rPr lang="en-US" dirty="0"/>
              <a:t> gracefully when two people modified the same file.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73A6F-8DDC-5859-D98A-3B4E97BF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A426-D4F0-C160-7A6A-C575C39B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6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HAPPY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Soon, the chaos faded away:</a:t>
            </a:r>
          </a:p>
          <a:p>
            <a:r>
              <a:rPr lang="en-US" dirty="0"/>
              <a:t>Everyone </a:t>
            </a:r>
            <a:r>
              <a:rPr lang="en-US" b="1" dirty="0">
                <a:solidFill>
                  <a:srgbClr val="00B050"/>
                </a:solidFill>
              </a:rPr>
              <a:t>always had the latest version </a:t>
            </a:r>
            <a:r>
              <a:rPr lang="en-US" dirty="0"/>
              <a:t>of the project.</a:t>
            </a:r>
          </a:p>
          <a:p>
            <a:r>
              <a:rPr lang="en-US" dirty="0"/>
              <a:t>No more accidental overwrites.</a:t>
            </a:r>
          </a:p>
          <a:p>
            <a:r>
              <a:rPr lang="en-US" dirty="0"/>
              <a:t>No more lost work—because the repository remembered every version ever committed.</a:t>
            </a:r>
          </a:p>
          <a:p>
            <a:r>
              <a:rPr lang="en-US" dirty="0"/>
              <a:t>Productivity skyrocketed as the team worked together seamlessly.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C438-9A9F-F682-FF02-0829B80F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2F07-DB39-667D-8968-24FF9352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571B-301E-DEFC-E150-649F291E5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Version control is a system that records changes to files or a set of files over time so you can recall specific versions later.</a:t>
            </a:r>
          </a:p>
          <a:p>
            <a:r>
              <a:rPr lang="en-US" dirty="0"/>
              <a:t>It allows teams to manage changes to source code, documents, and other data collaboratively and systematically.</a:t>
            </a:r>
          </a:p>
          <a:p>
            <a:r>
              <a:rPr lang="en-US" dirty="0"/>
              <a:t>Version control is crucial in software development and other collaborative projects, where tracking changes and managing multiple contributors is essential.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92176-4D92-261D-F914-88D2BA24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262CF-F481-0AB3-73C5-5F354625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13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0922-6A5D-7526-DEBB-701A6C3A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0EC6-1B81-2D32-BEC4-005EE46C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0A6CD-2DB2-CE19-5F9E-B4A80EEA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Collaboration</a:t>
            </a:r>
            <a:r>
              <a:rPr lang="en-US" dirty="0"/>
              <a:t>: In team environments, multiple developers work on the same codebase. Without a system to manage changes, coordinating efforts and avoiding conflicts is challenging.</a:t>
            </a:r>
          </a:p>
          <a:p>
            <a:endParaRPr lang="en-US" dirty="0"/>
          </a:p>
          <a:p>
            <a:r>
              <a:rPr lang="en-US" b="1" dirty="0"/>
              <a:t>Change Tracking</a:t>
            </a:r>
            <a:r>
              <a:rPr lang="en-US" dirty="0"/>
              <a:t>: It is important to know who made changes, what changes were made, and why they were made to maintain accountability and traceability.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1CA2A-4A8B-8499-5CF1-84B9434D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24991-A9A5-14F2-D071-A141C947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0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13AE-9AFA-E9A3-0182-54D880847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2E2E-0480-53DD-AD2D-D67E0C2E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101F-5D1F-5102-E0A1-F1B5793FB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Backup and Recovery: </a:t>
            </a:r>
            <a:r>
              <a:rPr lang="en-US" dirty="0"/>
              <a:t>Mistakes happen. Version control provides a way to recover previous versions of files or entire projects.</a:t>
            </a:r>
          </a:p>
          <a:p>
            <a:endParaRPr lang="en-US" b="1" dirty="0"/>
          </a:p>
          <a:p>
            <a:r>
              <a:rPr lang="en-US" b="1" dirty="0"/>
              <a:t>Parallel Development: </a:t>
            </a:r>
            <a:r>
              <a:rPr lang="en-US" dirty="0"/>
              <a:t>Teams often work on new features, bug fixes, or experiments simultaneously. Version control allows this parallel development without overwriting each other's work.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12069-3D5A-DE68-921E-97542E63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C379A-8328-C163-F5DC-74B673C3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3D034-E06C-0540-041E-1A886F18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E26C-14E4-397C-8190-02C5AB77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434F3-1E0F-872C-B495-92EBFDC43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Audit and Compliance: </a:t>
            </a:r>
            <a:r>
              <a:rPr lang="en-US" dirty="0"/>
              <a:t>In professional environments, documenting changes is necessary for compliance with industry regulations or standards.</a:t>
            </a:r>
          </a:p>
          <a:p>
            <a:endParaRPr lang="en-US" b="1" dirty="0"/>
          </a:p>
          <a:p>
            <a:r>
              <a:rPr lang="en-US" b="1" dirty="0"/>
              <a:t>Improving Productivity: </a:t>
            </a:r>
            <a:r>
              <a:rPr lang="en-US" dirty="0"/>
              <a:t>By automating tasks like merging code and identifying conflicts, version control saves time and effort.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FECDD-C285-C53D-82D7-A1A599B8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3AEC-9ABB-C9FC-3A76-AE26EBE2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0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632EA-8EF5-9AA1-C9E5-BACD8998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FB24-FD35-D2AE-A7D7-57305A3C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0957-ED9F-1B2A-E487-078B4C0A3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Local Version Control:</a:t>
            </a:r>
            <a:r>
              <a:rPr lang="en-US" dirty="0"/>
              <a:t> Changes are stored on the developer’s machine.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Revision control tools like RCS.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Centralized Version Control Systems (CVCS):</a:t>
            </a:r>
            <a:r>
              <a:rPr lang="en-US" dirty="0"/>
              <a:t> The central server stores all versioned files, and clients access 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Example: Subversion (SVN).</a:t>
            </a:r>
          </a:p>
          <a:p>
            <a:r>
              <a:rPr lang="en-US" b="1" dirty="0"/>
              <a:t>Distributed Version Control Systems (DVCS):</a:t>
            </a:r>
            <a:r>
              <a:rPr lang="en-US" dirty="0"/>
              <a:t> Each user has a full copy of the repository, allowing offline work.</a:t>
            </a:r>
          </a:p>
          <a:p>
            <a:pPr lvl="1"/>
            <a:r>
              <a:rPr lang="en-US" dirty="0"/>
              <a:t>Example: Git, Mercurial.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82D82-E083-EE48-DEAA-5A8B5B96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22490-76F6-7BBB-2552-576BA81C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1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3079-6D49-2F7E-9831-24ECB2CF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CAC7-9F0E-42CF-087A-C60DAA56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497C-6FEA-8026-0E1D-6FF8275F3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5B73E-4B89-CAA4-A5AA-D61631B0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C4662-2126-2875-3076-F2FF584B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60" name="Picture 12" descr="Introduction To Version Control System - OSTechNix">
            <a:extLst>
              <a:ext uri="{FF2B5EF4-FFF2-40B4-BE49-F238E27FC236}">
                <a16:creationId xmlns:a16="http://schemas.microsoft.com/office/drawing/2014/main" id="{A0A51B9D-DDDF-C166-AB67-1D6AC29B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" y="2286000"/>
            <a:ext cx="50292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ersion Control Systems - GeeksforGeeks">
            <a:extLst>
              <a:ext uri="{FF2B5EF4-FFF2-40B4-BE49-F238E27FC236}">
                <a16:creationId xmlns:a16="http://schemas.microsoft.com/office/drawing/2014/main" id="{F2E3E4BC-BB84-B824-2571-167AC73D1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600200"/>
            <a:ext cx="5714999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591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WITH GIT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</TotalTime>
  <Words>946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4: GIT Version Controlling Tool (6hrs)</vt:lpstr>
      <vt:lpstr>Once upon a time</vt:lpstr>
      <vt:lpstr>The CHAOS</vt:lpstr>
      <vt:lpstr>The PROBLEM</vt:lpstr>
      <vt:lpstr>Enter Version Control : THE SAVIOR</vt:lpstr>
      <vt:lpstr>Enter Version Control : THE SAVIOR</vt:lpstr>
      <vt:lpstr>The Transformation</vt:lpstr>
      <vt:lpstr>The HAPPY ENDING</vt:lpstr>
      <vt:lpstr>Version Control</vt:lpstr>
      <vt:lpstr>Why Version Control</vt:lpstr>
      <vt:lpstr>Why Version Control</vt:lpstr>
      <vt:lpstr>Why Version Control</vt:lpstr>
      <vt:lpstr>Types of Version Control</vt:lpstr>
      <vt:lpstr>Types of Version Control</vt:lpstr>
      <vt:lpstr>End of Lecture 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93</cp:revision>
  <dcterms:created xsi:type="dcterms:W3CDTF">2021-11-23T15:23:57Z</dcterms:created>
  <dcterms:modified xsi:type="dcterms:W3CDTF">2025-06-02T06:50:02Z</dcterms:modified>
</cp:coreProperties>
</file>