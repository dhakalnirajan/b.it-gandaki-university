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</p:sldMasterIdLst>
  <p:notesMasterIdLst>
    <p:notesMasterId r:id="rId50"/>
  </p:notesMasterIdLst>
  <p:handoutMasterIdLst>
    <p:handoutMasterId r:id="rId51"/>
  </p:handoutMasterIdLst>
  <p:sldIdLst>
    <p:sldId id="296" r:id="rId2"/>
    <p:sldId id="297" r:id="rId3"/>
    <p:sldId id="303" r:id="rId4"/>
    <p:sldId id="304" r:id="rId5"/>
    <p:sldId id="318" r:id="rId6"/>
    <p:sldId id="319" r:id="rId7"/>
    <p:sldId id="320" r:id="rId8"/>
    <p:sldId id="321" r:id="rId9"/>
    <p:sldId id="305" r:id="rId10"/>
    <p:sldId id="306" r:id="rId11"/>
    <p:sldId id="308" r:id="rId12"/>
    <p:sldId id="309" r:id="rId13"/>
    <p:sldId id="332" r:id="rId14"/>
    <p:sldId id="333" r:id="rId15"/>
    <p:sldId id="334" r:id="rId16"/>
    <p:sldId id="335" r:id="rId17"/>
    <p:sldId id="336" r:id="rId18"/>
    <p:sldId id="337" r:id="rId19"/>
    <p:sldId id="311" r:id="rId20"/>
    <p:sldId id="312" r:id="rId21"/>
    <p:sldId id="313" r:id="rId22"/>
    <p:sldId id="323" r:id="rId23"/>
    <p:sldId id="324" r:id="rId24"/>
    <p:sldId id="322" r:id="rId25"/>
    <p:sldId id="340" r:id="rId26"/>
    <p:sldId id="342" r:id="rId27"/>
    <p:sldId id="341" r:id="rId28"/>
    <p:sldId id="338" r:id="rId29"/>
    <p:sldId id="343" r:id="rId30"/>
    <p:sldId id="344" r:id="rId31"/>
    <p:sldId id="345" r:id="rId32"/>
    <p:sldId id="346" r:id="rId33"/>
    <p:sldId id="347" r:id="rId34"/>
    <p:sldId id="314" r:id="rId35"/>
    <p:sldId id="315" r:id="rId36"/>
    <p:sldId id="317" r:id="rId37"/>
    <p:sldId id="348" r:id="rId38"/>
    <p:sldId id="349" r:id="rId39"/>
    <p:sldId id="316" r:id="rId40"/>
    <p:sldId id="325" r:id="rId41"/>
    <p:sldId id="326" r:id="rId42"/>
    <p:sldId id="327" r:id="rId43"/>
    <p:sldId id="328" r:id="rId44"/>
    <p:sldId id="329" r:id="rId45"/>
    <p:sldId id="330" r:id="rId46"/>
    <p:sldId id="331" r:id="rId47"/>
    <p:sldId id="285" r:id="rId48"/>
    <p:sldId id="286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8" autoAdjust="0"/>
    <p:restoredTop sz="93969" autoAdjust="0"/>
  </p:normalViewPr>
  <p:slideViewPr>
    <p:cSldViewPr>
      <p:cViewPr varScale="1">
        <p:scale>
          <a:sx n="82" d="100"/>
          <a:sy n="82" d="100"/>
        </p:scale>
        <p:origin x="276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962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0" d="100"/>
          <a:sy n="50" d="100"/>
        </p:scale>
        <p:origin x="2886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F85BD65-9D91-7DFC-53E1-8BF243DCEC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4F2D22-E7AC-06AB-426E-E65713B8508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78692-3B52-472B-A27C-0D21D13EB902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2CE5EB-28FA-61BC-7A31-808FF0DFF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E243D-0898-4319-31D8-7F9CA9078C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C52B39-A1FA-438D-A2A1-97F4EC1FF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829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01F557-E2B4-4866-84E9-3A03F70F82EF}" type="datetimeFigureOut">
              <a:rPr lang="en-US" smtClean="0"/>
              <a:pPr/>
              <a:t>6/2/2025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254-F383-4531-8078-930439348C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mailto:shiva.kunwar@hotmail.com" TargetMode="External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4D63A80-F8C6-CA7A-5944-D04C4A793A4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414" y="0"/>
            <a:ext cx="1218117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E121230A-082F-4693-8387-CEA591A8CC1C}" type="datetime1">
              <a:rPr lang="en-US" smtClean="0"/>
              <a:t>6/2/2025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GIT- A Version Controlling Tool | Lecture 9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E038DB-111F-FA38-FE8F-D77C73697FD2}"/>
              </a:ext>
            </a:extLst>
          </p:cNvPr>
          <p:cNvSpPr txBox="1"/>
          <p:nvPr userDrawn="1"/>
        </p:nvSpPr>
        <p:spPr>
          <a:xfrm>
            <a:off x="1261872" y="554183"/>
            <a:ext cx="9418320" cy="415498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Software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Development &amp;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Operations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(DevOps)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693262-3052-AECD-5F8E-C91BF4B8F021}"/>
              </a:ext>
            </a:extLst>
          </p:cNvPr>
          <p:cNvSpPr txBox="1"/>
          <p:nvPr userDrawn="1"/>
        </p:nvSpPr>
        <p:spPr>
          <a:xfrm>
            <a:off x="1261872" y="5156541"/>
            <a:ext cx="941832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000" dirty="0">
                <a:latin typeface="Nunito" pitchFamily="2" charset="0"/>
              </a:rPr>
              <a:t>Er. Shiva Kunwar</a:t>
            </a:r>
          </a:p>
          <a:p>
            <a:r>
              <a:rPr lang="en-US" sz="2000" dirty="0">
                <a:latin typeface="Nunito" pitchFamily="2" charset="0"/>
              </a:rPr>
              <a:t>Lecturer</a:t>
            </a:r>
          </a:p>
          <a:p>
            <a:r>
              <a:rPr lang="en-US" sz="2000" dirty="0">
                <a:latin typeface="Nunito" pitchFamily="2" charset="0"/>
              </a:rPr>
              <a:t>Gandaki University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7A367200-0314-B11E-6A5A-163495D7B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74427"/>
            <a:ext cx="1771650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88819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503A6-C6D2-49B9-B749-EA66DE600956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73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828805"/>
            <a:ext cx="5132832" cy="4663439"/>
          </a:xfrm>
        </p:spPr>
        <p:txBody>
          <a:bodyPr/>
          <a:lstStyle>
            <a:lvl1pPr>
              <a:defRPr sz="2200"/>
            </a:lvl1pPr>
            <a:lvl2pPr>
              <a:defRPr sz="2100"/>
            </a:lvl2pPr>
            <a:lvl3pPr>
              <a:defRPr sz="2000"/>
            </a:lvl3pPr>
            <a:lvl4pPr>
              <a:defRPr sz="1900"/>
            </a:lvl4pPr>
            <a:lvl5pPr>
              <a:defRPr sz="18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C72AC-F033-4281-B0BD-4C0A5E3A2A99}" type="datetime1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GIT- A Version Controlling Tool | Lecture 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6521BE1-5CE3-05CF-232A-5D29123BF52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791200" y="1828805"/>
            <a:ext cx="5132832" cy="4663439"/>
          </a:xfrm>
        </p:spPr>
        <p:txBody>
          <a:bodyPr/>
          <a:lstStyle>
            <a:lvl1pPr>
              <a:defRPr sz="2200"/>
            </a:lvl1pPr>
            <a:lvl2pPr>
              <a:defRPr sz="2100"/>
            </a:lvl2pPr>
            <a:lvl3pPr>
              <a:defRPr sz="2000"/>
            </a:lvl3pPr>
            <a:lvl4pPr>
              <a:defRPr sz="1900"/>
            </a:lvl4pPr>
            <a:lvl5pPr>
              <a:defRPr sz="18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9209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73543D8F-399D-6DF8-DE86-76C3FD2D8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9749"/>
            <a:ext cx="12191999" cy="4267200"/>
            <a:chOff x="7467600" y="0"/>
            <a:chExt cx="4724400" cy="685800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17F1944-3532-0024-BA7E-7D1E45E78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63463AE-09F4-6357-D5D1-E78C1CBFD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7BB7FBAC-7B68-830D-1EA5-32DE32721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80314-47CE-44FD-9267-B1FCDC060BF3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GIT- A Version Controlling Tool | Lecture 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0D67507-A4B1-3C41-5B9A-FA01D257F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0500043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6D1CD890-A10F-8D93-4D3F-349A90E7C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8" y="483735"/>
            <a:ext cx="10271441" cy="10427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1" name="Table Placeholder 4">
            <a:extLst>
              <a:ext uri="{FF2B5EF4-FFF2-40B4-BE49-F238E27FC236}">
                <a16:creationId xmlns:a16="http://schemas.microsoft.com/office/drawing/2014/main" id="{AD49D11B-7BF8-7119-747E-673152D1DCD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85800" y="1663021"/>
            <a:ext cx="10271441" cy="455680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319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Hea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A66B1-36EF-41BA-8C5B-AB9A2FB254A7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GIT- A Version Controlling Tool | Lecture 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144A146-5A21-714C-4148-9B75C4D15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1276" y="365757"/>
            <a:ext cx="6688349" cy="61264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63D1E3-CA84-C4BA-1C88-EF714A56C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93E526-3EF6-897C-D064-1128F72E7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C96C1C-AD28-8189-3789-8E7159CBC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FEAD847-82C9-9DA1-0634-152DE5F83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6415FC-6975-9499-950F-56CE60A5A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38DA2C-54B4-789F-C3D3-F07479138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74" y="365756"/>
            <a:ext cx="3206326" cy="3624504"/>
          </a:xfrm>
        </p:spPr>
        <p:txBody>
          <a:bodyPr anchor="b"/>
          <a:lstStyle>
            <a:lvl1pPr algn="r"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6456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ea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254B254-511A-6515-8705-1D0D3406C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ABD7EF-2A2D-B804-3B1E-B408D2D5B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41081C-CE25-B752-8AAC-0457A91D4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EAA02E-86E8-D1C1-AD64-8C15047A0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08441D7-0BF7-4BCC-B357-91792CF0B225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GIT- A Version Controlling Tool | Lecture 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FC2281F-1654-0C11-471A-B274D452D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3144"/>
            <a:ext cx="10515600" cy="4433819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AAD270F-67BD-E509-0A2E-A3B9C1D13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276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6651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92F3501-C5BE-DCD4-3BD1-B507D99055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520553" cy="6858000"/>
          </a:xfrm>
          <a:custGeom>
            <a:avLst/>
            <a:gdLst/>
            <a:ahLst/>
            <a:cxnLst/>
            <a:rect l="l" t="t" r="r" b="b"/>
            <a:pathLst>
              <a:path w="4481964" h="6858000">
                <a:moveTo>
                  <a:pt x="0" y="0"/>
                </a:moveTo>
                <a:lnTo>
                  <a:pt x="3137249" y="0"/>
                </a:ln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B41E4C10-80E2-9528-D06C-844994E73F9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F974B87-31A0-439E-93AA-5CED129F6B6C}" type="datetime1">
              <a:rPr lang="en-US" smtClean="0"/>
              <a:t>6/2/2025</a:t>
            </a:fld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E26CC335-6CDD-0FF3-AEE1-EF5D8A5EAAA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EB22EDF1-4FF3-208C-0E13-2DE282F059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293C9641-88F7-FC3E-DC98-140269105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533" y="694282"/>
            <a:ext cx="6301740" cy="2444401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F0BA8A-DB8F-5584-7EA4-49FB667D63C5}"/>
              </a:ext>
            </a:extLst>
          </p:cNvPr>
          <p:cNvSpPr txBox="1"/>
          <p:nvPr userDrawn="1"/>
        </p:nvSpPr>
        <p:spPr>
          <a:xfrm>
            <a:off x="4520553" y="4114800"/>
            <a:ext cx="630174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000" dirty="0">
                <a:latin typeface="Nunito" pitchFamily="2" charset="0"/>
                <a:hlinkClick r:id="rId3"/>
              </a:rPr>
              <a:t>shiva.kunwar@hotmail.com</a:t>
            </a:r>
            <a:br>
              <a:rPr lang="en-US" sz="3000" dirty="0">
                <a:latin typeface="Nunito" pitchFamily="2" charset="0"/>
              </a:rPr>
            </a:br>
            <a:r>
              <a:rPr lang="en-US" sz="3000" dirty="0">
                <a:latin typeface="Nunito" pitchFamily="2" charset="0"/>
              </a:rPr>
              <a:t>+977-9819123654</a:t>
            </a:r>
          </a:p>
        </p:txBody>
      </p:sp>
    </p:spTree>
    <p:extLst>
      <p:ext uri="{BB962C8B-B14F-4D97-AF65-F5344CB8AC3E}">
        <p14:creationId xmlns:p14="http://schemas.microsoft.com/office/powerpoint/2010/main" val="3042676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981200" y="1752600"/>
            <a:ext cx="8823960" cy="3352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4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3D649-9458-45C7-A1A6-09F9A7D548E8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D98743D-1F23-BB62-C246-CD2EC3D767DE}"/>
              </a:ext>
            </a:extLst>
          </p:cNvPr>
          <p:cNvSpPr txBox="1">
            <a:spLocks/>
          </p:cNvSpPr>
          <p:nvPr userDrawn="1"/>
        </p:nvSpPr>
        <p:spPr>
          <a:xfrm>
            <a:off x="1981200" y="417727"/>
            <a:ext cx="9372600" cy="1042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PREVIEW FOR NEXT LECTURE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728C91-D586-79A1-E0BB-9D8A46CCD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6997" y="2666995"/>
            <a:ext cx="6858000" cy="1524009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EF1F0A4-9C8A-1861-8B9C-5AF948ACF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7000" y="2677132"/>
            <a:ext cx="6857999" cy="152401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5F4F22-2928-48B3-6F55-1BB688BCF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88993" y="4844999"/>
            <a:ext cx="2501979" cy="152401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85817F0-3E71-F53B-A83E-0DB732029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454256" y="1305931"/>
            <a:ext cx="1472120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564781E-F74C-69A3-86EC-66CE155C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7007" y="2656855"/>
            <a:ext cx="6858003" cy="15240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101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24260" y="0"/>
            <a:ext cx="975360" cy="6858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828805"/>
            <a:ext cx="10340023" cy="4663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59445" y="998540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>
                <a:solidFill>
                  <a:schemeClr val="tx1"/>
                </a:solidFill>
              </a:defRPr>
            </a:lvl1pPr>
          </a:lstStyle>
          <a:p>
            <a:fld id="{F165A565-40D1-4267-9B2D-1B1C2D06E94B}" type="datetime1">
              <a:rPr lang="en-US" smtClean="0"/>
              <a:t>6/2/2025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21240" y="4046540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AF6C3CA-BFE1-3007-0D60-E69A73AE4945}"/>
              </a:ext>
            </a:extLst>
          </p:cNvPr>
          <p:cNvSpPr/>
          <p:nvPr userDrawn="1"/>
        </p:nvSpPr>
        <p:spPr>
          <a:xfrm>
            <a:off x="11394452" y="6172200"/>
            <a:ext cx="634976" cy="63497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4740" y="6172206"/>
            <a:ext cx="9144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D7BCAC6-6F2C-433A-BE87-D0A9451C880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2" descr="Modern DevOps Certifications">
            <a:extLst>
              <a:ext uri="{FF2B5EF4-FFF2-40B4-BE49-F238E27FC236}">
                <a16:creationId xmlns:a16="http://schemas.microsoft.com/office/drawing/2014/main" id="{B2AEC855-8EAB-F2F2-74ED-5A557BFDB3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0"/>
            <a:ext cx="120142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501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3" r:id="rId3"/>
    <p:sldLayoutId id="2147483687" r:id="rId4"/>
    <p:sldLayoutId id="2147483686" r:id="rId5"/>
    <p:sldLayoutId id="2147483688" r:id="rId6"/>
    <p:sldLayoutId id="2147483684" r:id="rId7"/>
    <p:sldLayoutId id="2147483685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Arial" pitchFamily="34" charset="0"/>
        <a:buChar char="•"/>
        <a:defRPr sz="2400" kern="1200" spc="10" baseline="0">
          <a:solidFill>
            <a:schemeClr val="tx1"/>
          </a:solidFill>
          <a:latin typeface="Nunito" pitchFamily="2" charset="0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3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1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it-scm.com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eam/project.git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6408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07D0F-D930-65E4-E76B-7FCFB33C3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DA711-2D6D-9591-6AE0-A018C5825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Unit 4: GIT Version Controlling Tool (6hrs)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6B0E8-B48F-AFAD-75EF-3584B1075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Introduction to Version Control</a:t>
            </a:r>
          </a:p>
          <a:p>
            <a:r>
              <a:rPr lang="en-US" b="1" dirty="0"/>
              <a:t>Git - A CLI, Essentials of GIT in industry</a:t>
            </a:r>
          </a:p>
          <a:p>
            <a:r>
              <a:rPr lang="en-US" b="1" dirty="0"/>
              <a:t>Practice with GIT: Tracking, Monitoring, Ignoring, Staging, Merging, etc.</a:t>
            </a:r>
          </a:p>
          <a:p>
            <a:r>
              <a:rPr lang="en-US" b="1" dirty="0"/>
              <a:t>Working with Remotes</a:t>
            </a:r>
          </a:p>
          <a:p>
            <a:r>
              <a:rPr lang="en-US" b="1" dirty="0"/>
              <a:t>GIT Workflows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5F0EA-86E0-473B-8B9F-CDB18C010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B36C3-A2F9-7813-0DFA-5FF80BBFE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841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9528A-9D0D-0266-DAA0-21741D271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17AFE-3CB2-B795-D11B-F2DACFD3D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F7634-9E70-1A12-7441-686195A07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Git is a </a:t>
            </a:r>
            <a:r>
              <a:rPr lang="en-US" b="1" dirty="0"/>
              <a:t>distributed version control system</a:t>
            </a:r>
            <a:r>
              <a:rPr lang="en-US" dirty="0"/>
              <a:t> that allows developers to manage their projects efficiently.</a:t>
            </a:r>
          </a:p>
          <a:p>
            <a:r>
              <a:rPr lang="en-US" dirty="0"/>
              <a:t>It tracks changes, manages source code, and supports collaboration in software development.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B031C5-3E7F-C9E3-DE85-DCB55211B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2646A-2B8A-4C53-B46C-786262B7A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474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4D49F-D523-66EB-2128-135A0D6B8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33F9F-7671-703C-D847-A568DC078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Essentials of 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3475C-1261-F092-2F44-A43C24C58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Distributed Nature</a:t>
            </a:r>
            <a:r>
              <a:rPr lang="en-US" dirty="0"/>
              <a:t>: Every user has a full copy of the repository.</a:t>
            </a:r>
          </a:p>
          <a:p>
            <a:r>
              <a:rPr lang="en-US" b="1" dirty="0"/>
              <a:t>Speed</a:t>
            </a:r>
            <a:r>
              <a:rPr lang="en-US" dirty="0"/>
              <a:t>: Fast operations for branching, merging, and history tracking.</a:t>
            </a:r>
          </a:p>
          <a:p>
            <a:r>
              <a:rPr lang="en-US" b="1" dirty="0"/>
              <a:t>Reliability</a:t>
            </a:r>
            <a:r>
              <a:rPr lang="en-US" dirty="0"/>
              <a:t>: Uses SHA-1 hashing for integrity.</a:t>
            </a:r>
          </a:p>
          <a:p>
            <a:r>
              <a:rPr lang="en-US" b="1" dirty="0"/>
              <a:t>Flexibility</a:t>
            </a:r>
            <a:r>
              <a:rPr lang="en-US" dirty="0"/>
              <a:t>: Supports non-linear workflows.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4E12FB-B763-35BB-8EBD-8F51A2E26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CC267-6E00-E6C0-8E89-EC7A098CE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549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27917-E9A2-36DB-BDB1-0CC5A3C8C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46BF9-FE73-790B-4E2C-5CEE46C9D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What does GIT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D0504-8457-5DF5-47C2-851C02637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Manage projects with </a:t>
            </a:r>
            <a:r>
              <a:rPr lang="en-US" b="1" i="0" dirty="0">
                <a:solidFill>
                  <a:srgbClr val="000000"/>
                </a:solidFill>
                <a:effectLst/>
              </a:rPr>
              <a:t>Repositories</a:t>
            </a:r>
            <a:endParaRPr lang="en-US" b="0" i="0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</a:rPr>
              <a:t>Clone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a project to work on a local copy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Control and track changes with </a:t>
            </a:r>
            <a:r>
              <a:rPr lang="en-US" b="1" i="0" dirty="0">
                <a:solidFill>
                  <a:srgbClr val="000000"/>
                </a:solidFill>
                <a:effectLst/>
              </a:rPr>
              <a:t>Staging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and </a:t>
            </a:r>
            <a:r>
              <a:rPr lang="en-US" b="1" i="0" dirty="0">
                <a:solidFill>
                  <a:srgbClr val="000000"/>
                </a:solidFill>
                <a:effectLst/>
              </a:rPr>
              <a:t>Committing</a:t>
            </a:r>
            <a:endParaRPr lang="en-US" b="0" i="0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</a:rPr>
              <a:t>Branch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and </a:t>
            </a:r>
            <a:r>
              <a:rPr lang="en-US" b="1" i="0" dirty="0">
                <a:solidFill>
                  <a:srgbClr val="000000"/>
                </a:solidFill>
                <a:effectLst/>
              </a:rPr>
              <a:t>Merge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to allow for work on different parts and versions of a project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</a:rPr>
              <a:t>Pull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the latest version of the project to a local copy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</a:rPr>
              <a:t>Push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local updates to the main project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6FFE28-4766-1520-663E-C1A22B972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7390A-9E76-4F88-1696-88073515C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16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F4E1D-5E3B-CED9-E100-960B397D2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2CE5D-3084-B4B8-CA1B-E564F9EA4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pPr algn="l">
              <a:spcBef>
                <a:spcPts val="750"/>
              </a:spcBef>
              <a:spcAft>
                <a:spcPts val="750"/>
              </a:spcAft>
            </a:pPr>
            <a:r>
              <a:rPr lang="en-US" b="0" i="0" dirty="0">
                <a:solidFill>
                  <a:srgbClr val="000000"/>
                </a:solidFill>
                <a:effectLst/>
              </a:rPr>
              <a:t>Working with 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B5BEE-D972-9332-BF8C-20A585F9F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3" y="1828805"/>
            <a:ext cx="10058398" cy="4663439"/>
          </a:xfrm>
        </p:spPr>
        <p:txBody>
          <a:bodyPr>
            <a:normAutofit fontScale="92500" lnSpcReduction="20000"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</a:rPr>
              <a:t>Initialize Git on a folder, making it a </a:t>
            </a:r>
            <a:r>
              <a:rPr lang="en-US" b="1" i="0" dirty="0">
                <a:solidFill>
                  <a:srgbClr val="000000"/>
                </a:solidFill>
                <a:effectLst/>
              </a:rPr>
              <a:t>Repository</a:t>
            </a:r>
            <a:endParaRPr lang="en-US" b="0" i="0" dirty="0">
              <a:solidFill>
                <a:srgbClr val="000000"/>
              </a:solidFill>
              <a:effectLst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</a:rPr>
              <a:t>Git now creates a hidden folder to keep track of changes in that folder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</a:rPr>
              <a:t>When a file is changed, added, or deleted, it is considered </a:t>
            </a:r>
            <a:r>
              <a:rPr lang="en-US" b="1" i="0" dirty="0">
                <a:solidFill>
                  <a:srgbClr val="000000"/>
                </a:solidFill>
                <a:effectLst/>
              </a:rPr>
              <a:t>modified</a:t>
            </a:r>
            <a:endParaRPr lang="en-US" b="0" i="0" dirty="0">
              <a:solidFill>
                <a:srgbClr val="000000"/>
              </a:solidFill>
              <a:effectLst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</a:rPr>
              <a:t>You select the modified files you want to </a:t>
            </a:r>
            <a:r>
              <a:rPr lang="en-US" b="1" i="0" dirty="0">
                <a:solidFill>
                  <a:srgbClr val="000000"/>
                </a:solidFill>
                <a:effectLst/>
              </a:rPr>
              <a:t>Stage</a:t>
            </a:r>
            <a:endParaRPr lang="en-US" b="0" i="0" dirty="0">
              <a:solidFill>
                <a:srgbClr val="000000"/>
              </a:solidFill>
              <a:effectLst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</a:rPr>
              <a:t>The </a:t>
            </a:r>
            <a:r>
              <a:rPr lang="en-US" b="1" i="0" dirty="0">
                <a:solidFill>
                  <a:srgbClr val="000000"/>
                </a:solidFill>
                <a:effectLst/>
              </a:rPr>
              <a:t>Staged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files are </a:t>
            </a:r>
            <a:r>
              <a:rPr lang="en-US" b="1" i="0" dirty="0">
                <a:solidFill>
                  <a:srgbClr val="000000"/>
                </a:solidFill>
                <a:effectLst/>
              </a:rPr>
              <a:t>Committed</a:t>
            </a:r>
            <a:r>
              <a:rPr lang="en-US" b="0" i="0" dirty="0">
                <a:solidFill>
                  <a:srgbClr val="000000"/>
                </a:solidFill>
                <a:effectLst/>
              </a:rPr>
              <a:t>, which prompts Git to store a </a:t>
            </a:r>
            <a:r>
              <a:rPr lang="en-US" b="1" i="0" dirty="0">
                <a:solidFill>
                  <a:srgbClr val="000000"/>
                </a:solidFill>
                <a:effectLst/>
              </a:rPr>
              <a:t>permanent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snapshot of the files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</a:rPr>
              <a:t>Git allows you to see the full history of every commit.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</a:rPr>
              <a:t>You can revert back to any previous commit.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</a:rPr>
              <a:t>Git does not store a separate copy of every file in every commit, but keeps track of changes made in each commit!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7C9C0E-2D78-C025-D225-30DFE0AAA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87ACD-2709-E12C-C2A9-762407974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850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82CFC-7E9E-CE95-716A-94CB17627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B687B-6B27-271B-F000-0EFB2FC9C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pPr algn="l">
              <a:spcBef>
                <a:spcPts val="750"/>
              </a:spcBef>
              <a:spcAft>
                <a:spcPts val="750"/>
              </a:spcAft>
            </a:pPr>
            <a:r>
              <a:rPr lang="en-US" b="0" i="0" dirty="0">
                <a:solidFill>
                  <a:srgbClr val="000000"/>
                </a:solidFill>
                <a:effectLst/>
              </a:rPr>
              <a:t>Using Git with Command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8FFD1-C3BA-ED92-4944-3660969FF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3" y="1828805"/>
            <a:ext cx="10058398" cy="4663439"/>
          </a:xfrm>
        </p:spPr>
        <p:txBody>
          <a:bodyPr>
            <a:norm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</a:rPr>
              <a:t>Download Git for free from the website: </a:t>
            </a:r>
            <a:r>
              <a:rPr lang="en-US" b="0" i="0" dirty="0">
                <a:solidFill>
                  <a:srgbClr val="000000"/>
                </a:solidFill>
                <a:effectLst/>
                <a:hlinkClick r:id="rId2"/>
              </a:rPr>
              <a:t>https://www.git-scm.com/</a:t>
            </a:r>
            <a:endParaRPr lang="en-US" b="0" i="0" dirty="0">
              <a:solidFill>
                <a:srgbClr val="000000"/>
              </a:solidFill>
              <a:effectLst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</a:rPr>
              <a:t>To start using Git, open Command shell.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</a:rPr>
              <a:t>For Windows, use Git bash, which comes included in Git for Windows. For Mac and Linux</a:t>
            </a:r>
            <a:r>
              <a:rPr lang="en-US" dirty="0">
                <a:solidFill>
                  <a:srgbClr val="000000"/>
                </a:solidFill>
              </a:rPr>
              <a:t>, </a:t>
            </a:r>
            <a:r>
              <a:rPr lang="en-US" b="0" i="0" dirty="0">
                <a:solidFill>
                  <a:srgbClr val="000000"/>
                </a:solidFill>
                <a:effectLst/>
              </a:rPr>
              <a:t>use the built-in terminal.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</a:rPr>
              <a:t>The first thing to do is to check if Git is properly installed: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FF0000"/>
                </a:solidFill>
                <a:effectLst/>
              </a:rPr>
              <a:t>git --version</a:t>
            </a:r>
          </a:p>
          <a:p>
            <a:r>
              <a:rPr lang="en-US" b="0" dirty="0">
                <a:effectLst/>
              </a:rPr>
              <a:t>If Git is installed, it should show something like git version X.Y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7B516-3B62-9F9B-9E97-157A55122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42174-D0AA-F443-6F10-04F251D08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561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A61C6-1300-120F-833E-C3C929603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EBED9-0EF3-FA63-282C-EEB636C4F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pPr algn="l">
              <a:spcBef>
                <a:spcPts val="750"/>
              </a:spcBef>
              <a:spcAft>
                <a:spcPts val="750"/>
              </a:spcAft>
            </a:pPr>
            <a:r>
              <a:rPr lang="en-US" b="0" i="0" dirty="0">
                <a:solidFill>
                  <a:srgbClr val="000000"/>
                </a:solidFill>
                <a:effectLst/>
              </a:rPr>
              <a:t>Using Git with Command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6D0D5-82BA-4EF0-8223-4F3D69688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3" y="1828805"/>
            <a:ext cx="10058398" cy="4663439"/>
          </a:xfrm>
        </p:spPr>
        <p:txBody>
          <a:bodyPr>
            <a:norm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</a:rPr>
              <a:t>To configure Git, let Git know who you are. This is important for version control systems, as each Git commit uses this information: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FF0000"/>
                </a:solidFill>
                <a:effectLst/>
              </a:rPr>
              <a:t>git config --global user.name “GU User 1"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FF0000"/>
                </a:solidFill>
                <a:effectLst/>
              </a:rPr>
              <a:t>git config --global </a:t>
            </a:r>
            <a:r>
              <a:rPr lang="en-US" b="0" i="1" dirty="0" err="1">
                <a:solidFill>
                  <a:srgbClr val="FF0000"/>
                </a:solidFill>
                <a:effectLst/>
              </a:rPr>
              <a:t>user.email</a:t>
            </a:r>
            <a:r>
              <a:rPr lang="en-US" b="0" i="1" dirty="0">
                <a:solidFill>
                  <a:srgbClr val="FF0000"/>
                </a:solidFill>
                <a:effectLst/>
              </a:rPr>
              <a:t> user1@gandakiuniversity.edu.np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</a:rPr>
              <a:t>Change the user-name and e-mail address to your own. You will probably also want to use this when registering to GitHub later on.</a:t>
            </a:r>
            <a:endParaRPr lang="en-US" b="0" i="1" dirty="0">
              <a:solidFill>
                <a:srgbClr val="FF0000"/>
              </a:solidFill>
              <a:effectLst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10F68-570F-38BB-4E8B-AFE879559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46FDA-4F8A-5AA7-50E2-4F1A3F2FE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897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9B9D6-322B-3405-3780-9B5EE7351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08016-92E3-62D0-2EB8-9D9AF1484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Key Git Commands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24664-A0E0-0CFB-DF12-BC861A55E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fontScale="92500"/>
          </a:bodyPr>
          <a:lstStyle/>
          <a:p>
            <a:r>
              <a:rPr lang="en-US" dirty="0"/>
              <a:t>git </a:t>
            </a:r>
            <a:r>
              <a:rPr lang="en-US" dirty="0" err="1"/>
              <a:t>init</a:t>
            </a:r>
            <a:r>
              <a:rPr lang="en-US" dirty="0"/>
              <a:t>: Initialize a new Git repository.</a:t>
            </a:r>
          </a:p>
          <a:p>
            <a:r>
              <a:rPr lang="en-US" dirty="0"/>
              <a:t>git clone “</a:t>
            </a:r>
            <a:r>
              <a:rPr lang="en-US" dirty="0" err="1"/>
              <a:t>url</a:t>
            </a:r>
            <a:r>
              <a:rPr lang="en-US" dirty="0"/>
              <a:t>”: Clone an existing repository.</a:t>
            </a:r>
          </a:p>
          <a:p>
            <a:r>
              <a:rPr lang="en-US" dirty="0"/>
              <a:t>git add --all: Add files to the staging area.</a:t>
            </a:r>
          </a:p>
          <a:p>
            <a:r>
              <a:rPr lang="en-US" dirty="0"/>
              <a:t>git commit –m “commit-message”: Commit changes to the repository.</a:t>
            </a:r>
          </a:p>
          <a:p>
            <a:r>
              <a:rPr lang="en-US" dirty="0"/>
              <a:t>git status: Show the status of the working directory.</a:t>
            </a:r>
          </a:p>
          <a:p>
            <a:r>
              <a:rPr lang="en-US" dirty="0"/>
              <a:t>git log: View commit history.</a:t>
            </a:r>
          </a:p>
          <a:p>
            <a:r>
              <a:rPr lang="en-US" b="1" dirty="0"/>
              <a:t>Tracked - files that Git knows about and are added to the repository</a:t>
            </a:r>
          </a:p>
          <a:p>
            <a:r>
              <a:rPr lang="en-US" b="1" dirty="0"/>
              <a:t>Untracked - files that are in your working directory, but not added to the repository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72AA0-B85C-5EE3-5CC9-4B1D67E95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DCCDD-DC72-EC1C-4EC0-3F79A8FC2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753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5F080-BCBE-4AA2-CF38-BE9ABDDAF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702E2-1A62-1E95-DE3D-8022FE174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Key Git Operations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5339E-8180-58C6-7970-A03C7CF05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Tracking Files:</a:t>
            </a:r>
          </a:p>
          <a:p>
            <a:r>
              <a:rPr lang="en-US" dirty="0"/>
              <a:t>git add &lt;file&gt;: Adds a file to be tracked.</a:t>
            </a:r>
          </a:p>
          <a:p>
            <a:r>
              <a:rPr lang="en-US" dirty="0"/>
              <a:t>git rm --cached &lt;file&gt;: Stops tracking a file.</a:t>
            </a:r>
          </a:p>
          <a:p>
            <a:endParaRPr lang="en-US" b="1" dirty="0"/>
          </a:p>
          <a:p>
            <a:r>
              <a:rPr lang="en-US" b="1" dirty="0"/>
              <a:t>Monitoring Changes:</a:t>
            </a:r>
          </a:p>
          <a:p>
            <a:r>
              <a:rPr lang="en-US" dirty="0"/>
              <a:t>git diff: Shows changes between commits or working directory.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C1D06-7C92-7C87-B6EC-F8C9CB3C7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DDD76-0E99-EF5F-2D0F-D984E8CEF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147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3063D-480A-AD11-B41F-9B7BBDF93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0ED1D-C660-1C4E-F974-87872CAAB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Key Git Operations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F2C88-A581-6B07-7364-16C7059E9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Ignoring Files:</a:t>
            </a:r>
          </a:p>
          <a:p>
            <a:r>
              <a:rPr lang="en-US" dirty="0"/>
              <a:t>Create a .</a:t>
            </a:r>
            <a:r>
              <a:rPr lang="en-US" dirty="0" err="1"/>
              <a:t>gitignore</a:t>
            </a:r>
            <a:r>
              <a:rPr lang="en-US" dirty="0"/>
              <a:t> file to exclude specific files from version control.</a:t>
            </a:r>
          </a:p>
          <a:p>
            <a:r>
              <a:rPr lang="en-US" dirty="0"/>
              <a:t>Example .</a:t>
            </a:r>
            <a:r>
              <a:rPr lang="en-US" dirty="0" err="1"/>
              <a:t>gitignore</a:t>
            </a:r>
            <a:endParaRPr lang="en-US" dirty="0"/>
          </a:p>
          <a:p>
            <a:pPr lvl="1"/>
            <a:r>
              <a:rPr lang="en-US" dirty="0"/>
              <a:t>*.log</a:t>
            </a:r>
          </a:p>
          <a:p>
            <a:pPr lvl="1"/>
            <a:r>
              <a:rPr lang="en-US" dirty="0"/>
              <a:t>/</a:t>
            </a:r>
            <a:r>
              <a:rPr lang="en-US" dirty="0" err="1"/>
              <a:t>node_modules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E1E445-A746-FAF1-91B4-D62956E7A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E9EF9A-A368-D20A-B83D-AA15A8D9C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7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ED395-37AE-2FDA-6F32-6D8EFB38B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FDA8B-E4F9-28D5-A97B-8420A93BA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Key Git Operations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EA0CA-BD1C-3C9C-F96A-B7AB1CB7F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Staging Files:</a:t>
            </a:r>
          </a:p>
          <a:p>
            <a:r>
              <a:rPr lang="en-US" dirty="0"/>
              <a:t>Staging is the intermediate step before committing changes.</a:t>
            </a:r>
          </a:p>
          <a:p>
            <a:r>
              <a:rPr lang="en-US" dirty="0"/>
              <a:t>git add &lt;file&gt;: Moves files to the staging area.</a:t>
            </a:r>
          </a:p>
          <a:p>
            <a:r>
              <a:rPr lang="en-US" dirty="0"/>
              <a:t>git reset &lt;file&gt;: Removes files from the staging area.</a:t>
            </a:r>
          </a:p>
          <a:p>
            <a:endParaRPr lang="en-US" dirty="0"/>
          </a:p>
          <a:p>
            <a:r>
              <a:rPr lang="en-US" b="1" dirty="0"/>
              <a:t>Merging Changes:</a:t>
            </a:r>
          </a:p>
          <a:p>
            <a:r>
              <a:rPr lang="en-US" dirty="0"/>
              <a:t>git merge &lt;branch&gt;: Combines changes from one branch into another.</a:t>
            </a:r>
          </a:p>
          <a:p>
            <a:r>
              <a:rPr lang="en-US" dirty="0"/>
              <a:t>git rebase &lt;branch&gt;: Moves a branch to the tip of another.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7C0668-D676-B09B-0CE7-08A0964A9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9F212-ECA7-223D-74F6-6FFCA9E70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7170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010FD-55CE-ACB3-CEC2-08DE010A5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06407-F2B2-87F0-8BA3-BD7342B31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Git Commit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3E458-B754-D275-681C-D3CFEC72B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In Git, a commit refers to the state of your code at one specific point in time.</a:t>
            </a:r>
          </a:p>
          <a:p>
            <a:r>
              <a:rPr lang="en-US" dirty="0"/>
              <a:t>Commits with the metadata (author, timestamp, commit message, etc.). </a:t>
            </a:r>
          </a:p>
          <a:p>
            <a:r>
              <a:rPr lang="en-US" dirty="0"/>
              <a:t>Commits save progression, state changes, and merge developed pieces with others’ work.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402C8B-557B-6AAE-98C2-CC7EA2518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F99F9-8F86-72BB-6476-A51142FD1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562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C58F9-9762-A14D-021E-CFD13E386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D8227-4040-4AF7-3E1A-AE1B2BF45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Characteristics of a </a:t>
            </a:r>
            <a:r>
              <a:rPr lang="en-US" dirty="0">
                <a:solidFill>
                  <a:srgbClr val="00B050"/>
                </a:solidFill>
              </a:rPr>
              <a:t>Good Commit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38FB6-5223-4939-DAD7-3A577BC60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Atomic and focused: </a:t>
            </a:r>
          </a:p>
          <a:p>
            <a:r>
              <a:rPr lang="en-US" dirty="0"/>
              <a:t>A commit should be atomic - it must represent only one logical change.</a:t>
            </a:r>
          </a:p>
          <a:p>
            <a:r>
              <a:rPr lang="en-US" dirty="0"/>
              <a:t>Do not mix several independent changes in one commit.</a:t>
            </a:r>
          </a:p>
          <a:p>
            <a:r>
              <a:rPr lang="en-US" dirty="0"/>
              <a:t># Good commit</a:t>
            </a:r>
          </a:p>
          <a:p>
            <a:pPr marL="0" indent="0">
              <a:buNone/>
            </a:pPr>
            <a:r>
              <a:rPr lang="en-US" i="1" dirty="0">
                <a:solidFill>
                  <a:srgbClr val="FF0000"/>
                </a:solidFill>
              </a:rPr>
              <a:t>git commit -m "Add user authentication"</a:t>
            </a:r>
          </a:p>
          <a:p>
            <a:r>
              <a:rPr lang="en-US" dirty="0"/>
              <a:t># Bad commit</a:t>
            </a:r>
          </a:p>
          <a:p>
            <a:pPr marL="0" indent="0">
              <a:buNone/>
            </a:pPr>
            <a:r>
              <a:rPr lang="en-US" i="1" dirty="0">
                <a:solidFill>
                  <a:srgbClr val="FF0000"/>
                </a:solidFill>
              </a:rPr>
              <a:t>git commit -m "Add user authentication and update UI styles"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9D62E-3135-DC0C-3CF4-2313B0178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DD745-3665-7D8A-CF8D-61F3BA54F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718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3A732-55A4-6009-AB5E-44A49DD1C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1A15C-4F0E-C6E2-C2D8-5F790903D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Characteristics of a </a:t>
            </a:r>
            <a:r>
              <a:rPr lang="en-US" dirty="0">
                <a:solidFill>
                  <a:srgbClr val="00B050"/>
                </a:solidFill>
              </a:rPr>
              <a:t>Good Commit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0D60A-D4EA-5D0A-8193-7C439C9F7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Descriptive Commit Message: </a:t>
            </a:r>
          </a:p>
          <a:p>
            <a:r>
              <a:rPr lang="en-US" dirty="0"/>
              <a:t>A descriptive commit message clearly explains what the commit does and why the change was made.</a:t>
            </a:r>
          </a:p>
          <a:p>
            <a:r>
              <a:rPr lang="en-US" dirty="0"/>
              <a:t>It should provide enough context for others (and your future self) to understand the change without reading the code.</a:t>
            </a:r>
          </a:p>
          <a:p>
            <a:r>
              <a:rPr lang="en-US" dirty="0"/>
              <a:t># Good commit message</a:t>
            </a:r>
          </a:p>
          <a:p>
            <a:pPr marL="0" indent="0">
              <a:buNone/>
            </a:pPr>
            <a:r>
              <a:rPr lang="en-US" i="1" dirty="0">
                <a:solidFill>
                  <a:srgbClr val="FF0000"/>
                </a:solidFill>
              </a:rPr>
              <a:t>git commit -m "Fix Correct null pointer exception in user login"</a:t>
            </a:r>
          </a:p>
          <a:p>
            <a:r>
              <a:rPr lang="en-US" dirty="0"/>
              <a:t># Bad commit message</a:t>
            </a:r>
          </a:p>
          <a:p>
            <a:pPr marL="0" indent="0">
              <a:buNone/>
            </a:pPr>
            <a:r>
              <a:rPr lang="en-US" i="1" dirty="0">
                <a:solidFill>
                  <a:srgbClr val="FF0000"/>
                </a:solidFill>
              </a:rPr>
              <a:t>git commit -m "Fix bug"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FFB48B-4360-00B7-B431-29162F7C1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38206-FE97-5B19-F373-0A328CCCF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803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E5D20-5B92-754D-B19E-686A5787C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D00D4-8A84-08B6-0146-A332BD0AA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Characteristics of a </a:t>
            </a:r>
            <a:r>
              <a:rPr lang="en-US" dirty="0">
                <a:solidFill>
                  <a:srgbClr val="00B050"/>
                </a:solidFill>
              </a:rPr>
              <a:t>Good Commit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D8327-1556-01EF-4FB5-BDC056637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Properly Scoped:</a:t>
            </a:r>
          </a:p>
          <a:p>
            <a:r>
              <a:rPr lang="en-US" dirty="0"/>
              <a:t>Scope your commits appropriately.</a:t>
            </a:r>
          </a:p>
          <a:p>
            <a:r>
              <a:rPr lang="en-US" dirty="0"/>
              <a:t>For instance, if you’re working on a specific feature or fixing a bug, ensure that all changes related to that task are included in a single commit.</a:t>
            </a:r>
          </a:p>
          <a:p>
            <a:r>
              <a:rPr lang="en-US" dirty="0"/>
              <a:t>Avoid partial changes that might leave the codebase in an inconsistent state.</a:t>
            </a:r>
          </a:p>
          <a:p>
            <a:r>
              <a:rPr lang="en-US" dirty="0"/>
              <a:t># Good commit with proper scope</a:t>
            </a:r>
          </a:p>
          <a:p>
            <a:pPr marL="0" indent="0">
              <a:buNone/>
            </a:pPr>
            <a:r>
              <a:rPr lang="en-US" i="1" dirty="0">
                <a:solidFill>
                  <a:srgbClr val="FF0000"/>
                </a:solidFill>
              </a:rPr>
              <a:t>git commit -m "refactor(auth): split auth logic into separate module"</a:t>
            </a:r>
          </a:p>
          <a:p>
            <a:r>
              <a:rPr lang="en-US" dirty="0"/>
              <a:t># Bad commit with mixed scope</a:t>
            </a:r>
          </a:p>
          <a:p>
            <a:pPr marL="0" indent="0">
              <a:buNone/>
            </a:pPr>
            <a:r>
              <a:rPr lang="en-US" i="1" dirty="0">
                <a:solidFill>
                  <a:srgbClr val="FF0000"/>
                </a:solidFill>
              </a:rPr>
              <a:t>git commit -m "refactor and minor fixes"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78A41-DEE1-0193-42AA-98277419E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44535-9C75-36E1-F721-89722D9FC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781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3A686-CE6F-C98B-863D-AE52B7792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724A2-42DC-3421-40D4-DB6A8F2C2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Characteristics of a </a:t>
            </a:r>
            <a:r>
              <a:rPr lang="en-US" dirty="0">
                <a:solidFill>
                  <a:srgbClr val="FF0000"/>
                </a:solidFill>
              </a:rPr>
              <a:t>Bad Commit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72DC0-4205-FC47-6CC6-E831843FB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Vague or Misleading Messages: </a:t>
            </a:r>
          </a:p>
          <a:p>
            <a:r>
              <a:rPr lang="en-US" dirty="0"/>
              <a:t>Commit messages that are vague, or misleading do not provide useful information about the changes.</a:t>
            </a:r>
          </a:p>
          <a:p>
            <a:r>
              <a:rPr lang="en-US" dirty="0"/>
              <a:t>This lack of detail can confuse and make it hard to track the history of changes.</a:t>
            </a:r>
          </a:p>
          <a:p>
            <a:r>
              <a:rPr lang="en-US" dirty="0"/>
              <a:t># Bad commit message</a:t>
            </a:r>
          </a:p>
          <a:p>
            <a:pPr marL="0" indent="0">
              <a:buNone/>
            </a:pPr>
            <a:r>
              <a:rPr lang="en-US" i="1" dirty="0">
                <a:solidFill>
                  <a:srgbClr val="FF0000"/>
                </a:solidFill>
              </a:rPr>
              <a:t>git commit -m "Stuff"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7E0938-BE5E-8AE6-983A-11A305C6D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49A09-1874-7734-F7D3-7F9E2D992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3783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66F7F-2C8C-9932-646E-6C961912B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137FE-1605-859E-470B-4B35AA456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Characteristics of a </a:t>
            </a:r>
            <a:r>
              <a:rPr lang="en-US" dirty="0">
                <a:solidFill>
                  <a:srgbClr val="FF0000"/>
                </a:solidFill>
              </a:rPr>
              <a:t>Bad Commit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B01A5-D713-958E-9E87-8C4B4B5DF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Unrelated Changes: </a:t>
            </a:r>
          </a:p>
          <a:p>
            <a:r>
              <a:rPr lang="en-US" dirty="0"/>
              <a:t>Combining unrelated changes into a single commit makes it difficult to isolate specific changes, potentially introducing bugs and complicating the review process.</a:t>
            </a:r>
          </a:p>
          <a:p>
            <a:r>
              <a:rPr lang="en-US" dirty="0"/>
              <a:t># Bad commit</a:t>
            </a:r>
          </a:p>
          <a:p>
            <a:pPr marL="0" indent="0">
              <a:buNone/>
            </a:pPr>
            <a:r>
              <a:rPr lang="en-US" i="1" dirty="0">
                <a:solidFill>
                  <a:srgbClr val="FF0000"/>
                </a:solidFill>
              </a:rPr>
              <a:t>git commit -m "Update readme and fix login issue"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A55B1-5CE8-2DAE-694D-56E6424F5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B742D-9DCE-92BE-CFC7-5021DEDE6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01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9E43B-84E7-1B04-5260-53EE7AF2C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3FF810-90D0-5904-3E6B-3BFBBC93A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6A443-437D-0942-A90E-542C2235B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3B262-BF10-0A7E-8ED0-D2290D781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Remotes are versions of your repository hosted on the internet or a network.</a:t>
            </a:r>
          </a:p>
          <a:p>
            <a:r>
              <a:rPr lang="en-US" dirty="0"/>
              <a:t>Normally </a:t>
            </a:r>
            <a:r>
              <a:rPr lang="en-US" b="1" dirty="0"/>
              <a:t>remotes store a working copy </a:t>
            </a:r>
            <a:r>
              <a:rPr lang="en-US" dirty="0"/>
              <a:t>of the project.</a:t>
            </a:r>
          </a:p>
          <a:p>
            <a:r>
              <a:rPr lang="en-US" dirty="0"/>
              <a:t>Remotes can be shared among developers to make changes in the code.</a:t>
            </a:r>
          </a:p>
          <a:p>
            <a:r>
              <a:rPr lang="en-US" dirty="0"/>
              <a:t>Remotes are provided by platforms like GitHub, GitLab, Bitbucket, etc.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3A922-CAC9-5506-F071-9C6D89DA1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Remotes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551014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EC0E9-A17A-F4A2-D782-0023F285A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A580B-09B7-5F07-2D3E-F3F925E6F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Common Git Remote Operations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D6F91-1897-8AE5-A03F-31803DED4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git remote add &lt;name&gt; &lt;</a:t>
            </a:r>
            <a:r>
              <a:rPr lang="en-US" dirty="0" err="1"/>
              <a:t>url</a:t>
            </a:r>
            <a:r>
              <a:rPr lang="en-US" dirty="0"/>
              <a:t>&gt;: Adds a remote repository.</a:t>
            </a:r>
          </a:p>
          <a:p>
            <a:r>
              <a:rPr lang="en-US" dirty="0"/>
              <a:t>git fetch: Fetches changes from a remote without merging.</a:t>
            </a:r>
          </a:p>
          <a:p>
            <a:r>
              <a:rPr lang="en-US" dirty="0"/>
              <a:t>git pull: Fetches and merges changes from a remote.</a:t>
            </a:r>
          </a:p>
          <a:p>
            <a:r>
              <a:rPr lang="en-US" dirty="0"/>
              <a:t>git push: Uploads local commits to a remote.</a:t>
            </a:r>
          </a:p>
          <a:p>
            <a:endParaRPr lang="en-US" dirty="0"/>
          </a:p>
          <a:p>
            <a:r>
              <a:rPr lang="en-US" dirty="0"/>
              <a:t>git remote add origin https://github.com/user/repo.git</a:t>
            </a:r>
          </a:p>
          <a:p>
            <a:r>
              <a:rPr lang="en-US" dirty="0"/>
              <a:t>git push -u origin main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47F9AD-528A-1CE6-58AD-665A03455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9531E7-250B-F450-201B-4E985C45B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9512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7552B-0D67-830B-962F-E03280CA6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95BE3-89AE-C9E7-2DFC-2440CE196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Working with Git branches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3FB70-B309-D521-7F64-862977EA1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In Git, a branch is a </a:t>
            </a:r>
            <a:r>
              <a:rPr lang="en-US" b="1" dirty="0"/>
              <a:t>new/separate version of the main repository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rgbClr val="FF0000"/>
                </a:solidFill>
              </a:rPr>
              <a:t>Branches allow working on different project parts without impacting the main branch.</a:t>
            </a:r>
          </a:p>
          <a:p>
            <a:r>
              <a:rPr lang="en-US" dirty="0"/>
              <a:t>When the work is complete, a branch can be </a:t>
            </a:r>
            <a:r>
              <a:rPr lang="en-US" b="1" dirty="0"/>
              <a:t>merged</a:t>
            </a:r>
            <a:r>
              <a:rPr lang="en-US" dirty="0"/>
              <a:t> with the main project.</a:t>
            </a:r>
          </a:p>
          <a:p>
            <a:r>
              <a:rPr lang="en-US" dirty="0"/>
              <a:t>Even switching between branches and working on different projects without interfering with each other is also possible.</a:t>
            </a:r>
          </a:p>
          <a:p>
            <a:r>
              <a:rPr lang="en-US" dirty="0"/>
              <a:t>Branching in Git is very lightweight and fast!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989F1A-A50F-8EEF-7557-CC5EAEEF6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C88EE7-3A35-F737-A03B-FCE5F37AA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476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7AEDF-37B3-61F4-694D-47AD9E5F4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794A9-8B11-DC8B-C997-5E9066918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Working with Git branches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8EA52-F069-41D4-8CB1-C165C27E0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Create a new branch:</a:t>
            </a:r>
          </a:p>
          <a:p>
            <a:pPr marL="0" indent="0">
              <a:buNone/>
            </a:pPr>
            <a:r>
              <a:rPr lang="en-US" i="1" dirty="0">
                <a:solidFill>
                  <a:srgbClr val="FF0000"/>
                </a:solidFill>
              </a:rPr>
              <a:t>git branch &lt;</a:t>
            </a:r>
            <a:r>
              <a:rPr lang="en-US" b="0" i="1" dirty="0">
                <a:solidFill>
                  <a:srgbClr val="FF0000"/>
                </a:solidFill>
                <a:effectLst/>
              </a:rPr>
              <a:t>newly-created-branch </a:t>
            </a:r>
            <a:r>
              <a:rPr lang="en-US" i="1" dirty="0">
                <a:solidFill>
                  <a:srgbClr val="FF0000"/>
                </a:solidFill>
              </a:rPr>
              <a:t>&gt;</a:t>
            </a:r>
          </a:p>
          <a:p>
            <a:r>
              <a:rPr lang="en-US" dirty="0"/>
              <a:t>Confirm if the new branch is created.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FF0000"/>
                </a:solidFill>
                <a:effectLst/>
              </a:rPr>
              <a:t>git branch</a:t>
            </a:r>
          </a:p>
          <a:p>
            <a:r>
              <a:rPr lang="en-US" dirty="0"/>
              <a:t>Moving to another branch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FF0000"/>
                </a:solidFill>
                <a:effectLst/>
              </a:rPr>
              <a:t>git checkout &lt;newly-created-branch&gt;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5FBCFB-7584-CCDE-BAC2-467B33E41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F5749-E236-88CA-A9EC-B31D06100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0218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5FFAF-3FE6-3F8D-C238-4FCCD45F3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309D9-8A1F-42D9-3732-C7AFBD983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Working with Git branches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7E394-A6EE-FC0F-7800-D3030B52D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Switching to the main branch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FF0000"/>
                </a:solidFill>
                <a:effectLst/>
              </a:rPr>
              <a:t>git checkout master</a:t>
            </a:r>
          </a:p>
          <a:p>
            <a:r>
              <a:rPr lang="en-US" dirty="0"/>
              <a:t>Merging &lt;newly-created-branch&gt; to the current (main) branch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FF0000"/>
                </a:solidFill>
                <a:effectLst/>
              </a:rPr>
              <a:t>git merge &lt;newly-created-branch&gt;</a:t>
            </a:r>
            <a:endParaRPr lang="en-US" i="1" dirty="0">
              <a:solidFill>
                <a:srgbClr val="FF0000"/>
              </a:solidFill>
            </a:endParaRPr>
          </a:p>
          <a:p>
            <a:r>
              <a:rPr lang="en-US" dirty="0"/>
              <a:t>Deleting the &lt;newly-created-branch&gt;</a:t>
            </a:r>
          </a:p>
          <a:p>
            <a:pPr marL="0" indent="0">
              <a:buNone/>
            </a:pPr>
            <a:r>
              <a:rPr lang="en-US" b="0" i="1" dirty="0">
                <a:solidFill>
                  <a:srgbClr val="FF0000"/>
                </a:solidFill>
                <a:effectLst/>
              </a:rPr>
              <a:t>git branch -d hello-world-images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A10E3-8D2F-A005-B292-EC7BB9161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9E8DC-D403-0E3B-4DE0-83259477A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4028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E12D2-8B37-A85F-689B-D4381B88B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8A047-EEFE-01C1-90B5-3E33DBAFD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Ignoring Files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9550D-636D-0DA1-5208-B3310457C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Create a .</a:t>
            </a:r>
            <a:r>
              <a:rPr lang="en-US" dirty="0" err="1"/>
              <a:t>gitignore</a:t>
            </a:r>
            <a:r>
              <a:rPr lang="en-US" dirty="0"/>
              <a:t> file to exclude specific files from version control.</a:t>
            </a:r>
          </a:p>
          <a:p>
            <a:r>
              <a:rPr lang="en-US" dirty="0"/>
              <a:t>Example .</a:t>
            </a:r>
            <a:r>
              <a:rPr lang="en-US" dirty="0" err="1"/>
              <a:t>gitignore</a:t>
            </a:r>
            <a:endParaRPr lang="en-US" dirty="0"/>
          </a:p>
          <a:p>
            <a:pPr marL="0" indent="0">
              <a:buNone/>
            </a:pPr>
            <a:r>
              <a:rPr lang="en-US" i="1" dirty="0">
                <a:solidFill>
                  <a:srgbClr val="FF0000"/>
                </a:solidFill>
              </a:rPr>
              <a:t>*.log</a:t>
            </a:r>
          </a:p>
          <a:p>
            <a:pPr marL="0" indent="0">
              <a:buNone/>
            </a:pPr>
            <a:r>
              <a:rPr lang="en-US" i="1" dirty="0">
                <a:solidFill>
                  <a:srgbClr val="FF0000"/>
                </a:solidFill>
              </a:rPr>
              <a:t>/</a:t>
            </a:r>
            <a:r>
              <a:rPr lang="en-US" i="1" dirty="0" err="1">
                <a:solidFill>
                  <a:srgbClr val="FF0000"/>
                </a:solidFill>
              </a:rPr>
              <a:t>node_modules</a:t>
            </a:r>
            <a:endParaRPr lang="en-US" i="1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3CE06F-0854-8F87-EE2D-60F811588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1B3E27-2771-CE97-10D0-2365E4DEB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217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C1146-9942-B7F1-02D7-F50C6D01F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654A2-7713-14FC-0EB1-94D93957F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Collaboration with Remotes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3B3E7-6F13-0A1E-E15D-60511941D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When working in a collaborative environment, Git allows developers to interact with remote repositories to share, fetch, and synchronize code.</a:t>
            </a:r>
          </a:p>
          <a:p>
            <a:r>
              <a:rPr lang="en-US" dirty="0"/>
              <a:t>A </a:t>
            </a:r>
            <a:r>
              <a:rPr lang="en-US" b="1" dirty="0"/>
              <a:t>remote repository </a:t>
            </a:r>
            <a:r>
              <a:rPr lang="en-US" dirty="0"/>
              <a:t>is a version of the project hosted on a server or a cloud platform like GitHub, GitLab, Bitbucket, or AWS </a:t>
            </a:r>
            <a:r>
              <a:rPr lang="en-US" dirty="0" err="1"/>
              <a:t>CodeCommit</a:t>
            </a:r>
            <a:r>
              <a:rPr lang="en-US" dirty="0"/>
              <a:t>.</a:t>
            </a:r>
          </a:p>
          <a:p>
            <a:r>
              <a:rPr lang="en-US" dirty="0"/>
              <a:t>Developers connect their local repositories to these remote repositories for collaboration.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5959A9-C565-8CFE-18E8-6096EFA97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B4175-0CA4-1F22-6041-39459A552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5376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609C5-7434-A5C9-22F1-3F8E556A2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6F77F-B9E1-3527-4D9D-4476A85D1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Remote Collaboration Process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351C7-2D97-DB2E-516A-AE115114D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Clone a repository:</a:t>
            </a:r>
          </a:p>
          <a:p>
            <a:pPr marL="274320" lvl="1" indent="0">
              <a:buNone/>
            </a:pPr>
            <a:r>
              <a:rPr lang="en-US" i="1" dirty="0">
                <a:solidFill>
                  <a:srgbClr val="FF0000"/>
                </a:solidFill>
              </a:rPr>
              <a:t>git clone </a:t>
            </a:r>
            <a:r>
              <a:rPr lang="en-US" i="1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https://github.com/team/project.git</a:t>
            </a:r>
            <a:endParaRPr lang="en-US" i="1" dirty="0">
              <a:solidFill>
                <a:srgbClr val="FF0000"/>
              </a:solidFill>
            </a:endParaRPr>
          </a:p>
          <a:p>
            <a:r>
              <a:rPr lang="en-US" b="1" dirty="0"/>
              <a:t>Create a New Branch for the Feature:</a:t>
            </a:r>
          </a:p>
          <a:p>
            <a:pPr marL="274320" lvl="1" indent="0">
              <a:buNone/>
            </a:pPr>
            <a:r>
              <a:rPr lang="en-US" i="1" dirty="0">
                <a:solidFill>
                  <a:srgbClr val="FF0000"/>
                </a:solidFill>
              </a:rPr>
              <a:t>git checkout -b feature/new-login-page</a:t>
            </a:r>
          </a:p>
          <a:p>
            <a:r>
              <a:rPr lang="en-US" b="1" dirty="0"/>
              <a:t>Develop the Feature and Commit Changes:</a:t>
            </a:r>
          </a:p>
          <a:p>
            <a:pPr marL="274320" lvl="1" indent="0">
              <a:lnSpc>
                <a:spcPct val="100000"/>
              </a:lnSpc>
              <a:buNone/>
            </a:pPr>
            <a:r>
              <a:rPr lang="en-US" dirty="0">
                <a:solidFill>
                  <a:srgbClr val="FF0000"/>
                </a:solidFill>
              </a:rPr>
              <a:t>git add .</a:t>
            </a:r>
          </a:p>
          <a:p>
            <a:pPr marL="274320" lvl="1" indent="0">
              <a:lnSpc>
                <a:spcPct val="100000"/>
              </a:lnSpc>
              <a:buNone/>
            </a:pPr>
            <a:r>
              <a:rPr lang="en-US" dirty="0">
                <a:solidFill>
                  <a:srgbClr val="FF0000"/>
                </a:solidFill>
              </a:rPr>
              <a:t>git commit -m "Add login page UI"</a:t>
            </a:r>
          </a:p>
          <a:p>
            <a:r>
              <a:rPr lang="en-US" b="1" dirty="0"/>
              <a:t>Push Feature Branch to Remote:</a:t>
            </a:r>
          </a:p>
          <a:p>
            <a:pPr marL="274320" lvl="1" indent="0">
              <a:buNone/>
            </a:pPr>
            <a:r>
              <a:rPr lang="en-US" i="1" dirty="0">
                <a:solidFill>
                  <a:srgbClr val="FF0000"/>
                </a:solidFill>
              </a:rPr>
              <a:t>git push origin feature/new-login-page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042039-B220-C395-937C-880A70098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7DF057-F3EF-DFBA-5343-A1FFA74B3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6487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8EED4-E4AB-9FD4-9F2D-A3EC35F1C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BCC02-C65A-C7A4-87FC-89D2EE87C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Remote Collaboration Process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B42B6-962F-157B-33DC-A7D43C1F3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Submit a Pull Request (PR):</a:t>
            </a:r>
          </a:p>
          <a:p>
            <a:pPr lvl="1"/>
            <a:r>
              <a:rPr lang="en-US" dirty="0"/>
              <a:t>On GitHub, create a pull request to merge the feature/new-login-page into the main.</a:t>
            </a:r>
          </a:p>
          <a:p>
            <a:r>
              <a:rPr lang="en-US" b="1" dirty="0"/>
              <a:t>Team Review:</a:t>
            </a:r>
          </a:p>
          <a:p>
            <a:pPr lvl="1"/>
            <a:r>
              <a:rPr lang="en-US" dirty="0"/>
              <a:t>Other team members review the pull request, suggest changes, or approve it.</a:t>
            </a:r>
          </a:p>
          <a:p>
            <a:r>
              <a:rPr lang="en-US" b="1" dirty="0"/>
              <a:t>Merge and Deploy:</a:t>
            </a:r>
          </a:p>
          <a:p>
            <a:pPr lvl="1"/>
            <a:r>
              <a:rPr lang="en-US" dirty="0"/>
              <a:t>Once approved, merge the branch and deploy the updated project.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16CC3B-F337-FF07-06F0-FBE23D29C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B6EBAB-9FFC-6BB5-36E4-586A1DC89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245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A6F98-9AD6-B562-E8CF-A8530C661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C707A-C576-FFD0-A00A-8F414F0E0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Merge Conflicts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CB2A2-516C-F8D4-ECA5-99143A09B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Conflict happens when Git </a:t>
            </a:r>
            <a:r>
              <a:rPr lang="en-US" b="1" dirty="0"/>
              <a:t>cannot automatically resolve changes</a:t>
            </a:r>
            <a:r>
              <a:rPr lang="en-US" dirty="0"/>
              <a:t> between two commits.</a:t>
            </a:r>
          </a:p>
          <a:p>
            <a:r>
              <a:rPr lang="en-US" dirty="0"/>
              <a:t>This typically occurs when: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dirty="0"/>
              <a:t>Two branches modify the same file in overlapping areas.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dirty="0"/>
              <a:t>A file modified in one branch is deleted in another.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dirty="0"/>
              <a:t>Conflicts arise in a rebase or cherry-pick operation.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DC612A-8F01-2EB1-5C11-974F18616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A6ADA-EF84-73B4-B235-086C0DD26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1359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BF42E-F349-ABB2-7CCF-880C62BE6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41E8D-3C34-7CAC-D8F5-E7D5318E6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Identifying a Merge Conflicts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376E9-C78B-20A9-A656-2A8105E8A1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When you try to merge branches and conflicts occur, Git will notify you:</a:t>
            </a:r>
          </a:p>
          <a:p>
            <a:pPr marL="274320" lvl="1" indent="0">
              <a:buNone/>
            </a:pPr>
            <a:r>
              <a:rPr lang="en-US" i="1" dirty="0">
                <a:solidFill>
                  <a:srgbClr val="FF0000"/>
                </a:solidFill>
              </a:rPr>
              <a:t>git merge &lt;branch-name&gt;</a:t>
            </a:r>
          </a:p>
          <a:p>
            <a:pPr lvl="1"/>
            <a:r>
              <a:rPr lang="en-US" b="1" dirty="0"/>
              <a:t>Output</a:t>
            </a:r>
          </a:p>
          <a:p>
            <a:pPr marL="548640" lvl="2" indent="0">
              <a:lnSpc>
                <a:spcPct val="10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Auto-merging file.txt</a:t>
            </a:r>
          </a:p>
          <a:p>
            <a:pPr marL="548640" lvl="2" indent="0">
              <a:lnSpc>
                <a:spcPct val="10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CONFLICT (content): Merge conflict in file.txt</a:t>
            </a:r>
          </a:p>
          <a:p>
            <a:pPr marL="548640" lvl="2" indent="0">
              <a:lnSpc>
                <a:spcPct val="10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Automatic merge failed; fix conflicts and then commit the result.</a:t>
            </a:r>
          </a:p>
          <a:p>
            <a:r>
              <a:rPr lang="en-US" dirty="0"/>
              <a:t>Git pauses the merge process, leaving the repository in a </a:t>
            </a:r>
            <a:r>
              <a:rPr lang="en-US" b="1" dirty="0"/>
              <a:t>conflicted state</a:t>
            </a:r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1EDDB7-0620-EF27-F870-E2724A139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6B2C8-8675-109F-2B40-9B5E09EEA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7741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3B70E-7CE6-7E03-0828-78679B345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B6496-747B-BAAD-63E2-65AD434FA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Steps to Resolve a Merge Conflict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E9510-CE62-B63A-66A3-AB2B0A5072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Check the Status:</a:t>
            </a:r>
          </a:p>
          <a:p>
            <a:pPr lvl="1"/>
            <a:r>
              <a:rPr lang="en-US" dirty="0"/>
              <a:t>Use git status to see the files with conflicts.</a:t>
            </a:r>
          </a:p>
          <a:p>
            <a:pPr marL="274320" lvl="1" indent="0">
              <a:buNone/>
            </a:pPr>
            <a:r>
              <a:rPr lang="en-US" i="1" dirty="0">
                <a:solidFill>
                  <a:srgbClr val="FF0000"/>
                </a:solidFill>
              </a:rPr>
              <a:t>git status</a:t>
            </a:r>
          </a:p>
          <a:p>
            <a:pPr lvl="1"/>
            <a:r>
              <a:rPr lang="en-US" b="1" dirty="0"/>
              <a:t>Output</a:t>
            </a:r>
            <a:r>
              <a:rPr lang="en-US" dirty="0"/>
              <a:t>:</a:t>
            </a:r>
          </a:p>
          <a:p>
            <a:pPr marL="274320" lvl="1" indent="0">
              <a:buNone/>
            </a:pPr>
            <a:r>
              <a:rPr lang="en-US" i="1" dirty="0">
                <a:solidFill>
                  <a:srgbClr val="FF0000"/>
                </a:solidFill>
              </a:rPr>
              <a:t>Unmerged paths:</a:t>
            </a:r>
          </a:p>
          <a:p>
            <a:pPr marL="274320" lvl="1" indent="0">
              <a:buNone/>
            </a:pPr>
            <a:r>
              <a:rPr lang="en-US" i="1" dirty="0">
                <a:solidFill>
                  <a:srgbClr val="FF0000"/>
                </a:solidFill>
              </a:rPr>
              <a:t>  (both modified): file.txt</a:t>
            </a:r>
          </a:p>
          <a:p>
            <a:pPr lvl="1"/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241952-AA15-355C-A018-7B016ECB9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5DEC8-E8ED-BEA3-AB25-0852C2F56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6517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7C558-5CFE-1827-E776-15083AB56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670B1-24DC-0A35-9414-5479BC7E2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Steps to Resolve a Merge Conflict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0EFE0-1B8B-DE59-2F27-382EE54860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b="1" dirty="0"/>
              <a:t>Open the Conflicted File:</a:t>
            </a:r>
          </a:p>
          <a:p>
            <a:pPr lvl="1"/>
            <a:r>
              <a:rPr lang="en-US" dirty="0"/>
              <a:t>Git marks the conflicting sections in the file with special markers:</a:t>
            </a:r>
          </a:p>
          <a:p>
            <a:pPr marL="274320" lvl="1" indent="0">
              <a:lnSpc>
                <a:spcPct val="10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&lt;&lt;&lt;&lt;&lt;&lt;&lt; HEAD</a:t>
            </a:r>
          </a:p>
          <a:p>
            <a:pPr marL="274320" lvl="1" indent="0">
              <a:lnSpc>
                <a:spcPct val="10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This is the current change in the branch you're merging into (e.g., main).</a:t>
            </a:r>
          </a:p>
          <a:p>
            <a:pPr marL="274320" lvl="1" indent="0">
              <a:lnSpc>
                <a:spcPct val="10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=======</a:t>
            </a:r>
          </a:p>
          <a:p>
            <a:pPr marL="274320" lvl="1" indent="0">
              <a:lnSpc>
                <a:spcPct val="10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This is the change from the branch being merged (e.g., feature-branch).</a:t>
            </a:r>
          </a:p>
          <a:p>
            <a:pPr marL="274320" lvl="1" indent="0">
              <a:lnSpc>
                <a:spcPct val="100000"/>
              </a:lnSpc>
              <a:buNone/>
            </a:pPr>
            <a:r>
              <a:rPr lang="en-US" i="1" dirty="0">
                <a:solidFill>
                  <a:srgbClr val="FF0000"/>
                </a:solidFill>
              </a:rPr>
              <a:t>&gt;&gt;&gt;&gt;&gt;&gt;&gt; feature-branch</a:t>
            </a:r>
          </a:p>
          <a:p>
            <a:pPr lvl="1"/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568EF-D4AE-BBED-EA2B-BE9D66C84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30E7C-898B-EC51-88C8-626381378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5767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5E0E8-EBF9-8890-0C8D-2960E4363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950B7-4762-02CE-DC81-F875D0FF2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Steps to Resolve a Merge Conflict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16204-8997-C0EE-3867-67856C22E4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b="1" dirty="0"/>
              <a:t>Manually Resolve the Conflict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Edit the file to remove the conflict markers (&lt;&lt;&lt;&lt;&lt;&lt;&lt;, =======, &gt;&gt;&gt;&gt;&gt;&gt;&gt;).</a:t>
            </a:r>
          </a:p>
          <a:p>
            <a:pPr lvl="1"/>
            <a:r>
              <a:rPr lang="en-US" dirty="0"/>
              <a:t>Decide which changes to keep or combine both changes.</a:t>
            </a:r>
          </a:p>
          <a:p>
            <a:pPr marL="274320" lvl="1" indent="0">
              <a:buNone/>
            </a:pPr>
            <a:r>
              <a:rPr lang="en-US" i="1" dirty="0">
                <a:solidFill>
                  <a:srgbClr val="FF0000"/>
                </a:solidFill>
              </a:rPr>
              <a:t>This is the combined change that resolves the conflict.</a:t>
            </a:r>
          </a:p>
          <a:p>
            <a:pPr lvl="1"/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9AECE9-BEDD-3CB3-C64C-E3EBA7641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26D27-148D-479B-FD77-B3481D941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103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1AC75-6156-6DE3-1F78-B4791F9D0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10D75-49E9-C6E1-D416-8BF579D27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Steps to Resolve a Merge Conflict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1CE11-7E6B-71AF-48EC-1F7CF8D63E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b="1" dirty="0"/>
              <a:t>Mark the Conflict as Resolved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After fixing the file, mark it as resolved using git add.</a:t>
            </a:r>
          </a:p>
          <a:p>
            <a:pPr marL="274320" lvl="1" indent="0">
              <a:buNone/>
            </a:pPr>
            <a:r>
              <a:rPr lang="en-US" i="1" dirty="0">
                <a:solidFill>
                  <a:srgbClr val="FF0000"/>
                </a:solidFill>
              </a:rPr>
              <a:t>git add file.txt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b="1" dirty="0"/>
              <a:t>Commit the Resolved Changes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Complete the merge by committing the changes.</a:t>
            </a:r>
          </a:p>
          <a:p>
            <a:pPr marL="274320" lvl="1" indent="0">
              <a:buNone/>
            </a:pPr>
            <a:r>
              <a:rPr lang="en-US" i="1" dirty="0">
                <a:solidFill>
                  <a:srgbClr val="FF0000"/>
                </a:solidFill>
              </a:rPr>
              <a:t>git commit -m "Resolve merge conflict in file.txt"</a:t>
            </a:r>
            <a:endParaRPr lang="en-US" dirty="0"/>
          </a:p>
          <a:p>
            <a:pPr marL="457200" indent="-457200">
              <a:buFont typeface="+mj-lt"/>
              <a:buAutoNum type="arabicPeriod" startAt="3"/>
            </a:pPr>
            <a:r>
              <a:rPr lang="en-US" b="1" dirty="0"/>
              <a:t>Verify the Merge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Use git log or git diff to ensure the merge is successful.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A5853F-8F27-81A6-8021-A8D83F924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113EC-3CF0-2F56-B00B-152D73CDA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6103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48621-E80C-1070-768A-2118AF340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1C092-ECB5-608A-EC41-357EE3442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Git Workflows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6664B-651B-D770-E427-FC1ED56D1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Git workflows are strategies to manage collaboration and versioning in a project.</a:t>
            </a:r>
          </a:p>
          <a:p>
            <a:r>
              <a:rPr lang="en-US" dirty="0"/>
              <a:t>It commands </a:t>
            </a:r>
            <a:r>
              <a:rPr lang="en-US" b="1" dirty="0"/>
              <a:t>how branches are created, used, and merged</a:t>
            </a:r>
            <a:r>
              <a:rPr lang="en-US" dirty="0"/>
              <a:t> during development.</a:t>
            </a:r>
          </a:p>
          <a:p>
            <a:r>
              <a:rPr lang="en-US" b="1" dirty="0"/>
              <a:t>Centralized Workflow:</a:t>
            </a:r>
          </a:p>
          <a:p>
            <a:r>
              <a:rPr lang="en-US" dirty="0"/>
              <a:t>All changes are committed to a single branch, usually </a:t>
            </a:r>
            <a:r>
              <a:rPr lang="en-US" i="1" dirty="0">
                <a:solidFill>
                  <a:srgbClr val="FF0000"/>
                </a:solidFill>
              </a:rPr>
              <a:t>main/master</a:t>
            </a:r>
            <a:r>
              <a:rPr lang="en-US" dirty="0"/>
              <a:t>.</a:t>
            </a:r>
          </a:p>
          <a:p>
            <a:r>
              <a:rPr lang="en-US" dirty="0"/>
              <a:t>Simple but lacks flexibility for large teams.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545CAC-D9F9-8B81-CD48-08BFC5DBB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0EE03-7C7C-387C-158D-0C10200FA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3338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1DAB0-F0FE-1714-0F6F-B0CC9D6B5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DF7CE-12C4-4D67-3ED1-E2C06C9D1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Git Workflows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5B207-A15A-E96D-9B27-1B780BD19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Feature Branch Workflow:</a:t>
            </a:r>
          </a:p>
          <a:p>
            <a:pPr lvl="1"/>
            <a:r>
              <a:rPr lang="en-US" dirty="0"/>
              <a:t>Each feature or bug fix is developed in its own branch.</a:t>
            </a:r>
          </a:p>
          <a:p>
            <a:pPr lvl="1"/>
            <a:r>
              <a:rPr lang="en-US" dirty="0"/>
              <a:t>Merged into </a:t>
            </a:r>
            <a:r>
              <a:rPr lang="en-US" i="1" dirty="0">
                <a:solidFill>
                  <a:srgbClr val="FF0000"/>
                </a:solidFill>
              </a:rPr>
              <a:t>main/master</a:t>
            </a:r>
            <a:r>
              <a:rPr lang="en-US" dirty="0"/>
              <a:t> once complete and reviewed.</a:t>
            </a:r>
          </a:p>
          <a:p>
            <a:pPr lvl="1"/>
            <a:r>
              <a:rPr lang="en-US" dirty="0"/>
              <a:t>Reduces conflicts and keeps the main branch stable.</a:t>
            </a:r>
          </a:p>
          <a:p>
            <a:r>
              <a:rPr lang="en-US" b="1" dirty="0"/>
              <a:t>Forking Workflow:</a:t>
            </a:r>
          </a:p>
          <a:p>
            <a:pPr lvl="1"/>
            <a:r>
              <a:rPr lang="en-US" dirty="0"/>
              <a:t>Often used in open-source projects.</a:t>
            </a:r>
          </a:p>
          <a:p>
            <a:pPr lvl="1"/>
            <a:r>
              <a:rPr lang="en-US" dirty="0"/>
              <a:t>Developers fork a repository, work on their copy, and then create pull requests for changes.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7F3C55-767C-56AF-3DE5-0B221FE95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B2E7A-3A64-6A6C-07A7-8408DC98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544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D6ADC-E24A-6BE4-D97E-2BDF6BC5A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C72C1-CCDF-A8EC-5AE6-05FC9DEB9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Git Workflows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92C59-8680-7CB5-3ED5-9DDC9D052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Gitflow Workflow:</a:t>
            </a:r>
          </a:p>
          <a:p>
            <a:pPr lvl="1"/>
            <a:r>
              <a:rPr lang="en-US" dirty="0"/>
              <a:t>Separates branches for development, features, and releases.</a:t>
            </a:r>
            <a:endParaRPr lang="en-US" b="1" dirty="0"/>
          </a:p>
          <a:p>
            <a:pPr lvl="1"/>
            <a:r>
              <a:rPr lang="en-US" dirty="0"/>
              <a:t>Structured branching model with:</a:t>
            </a:r>
          </a:p>
          <a:p>
            <a:pPr lvl="1"/>
            <a:r>
              <a:rPr lang="en-US" i="1" dirty="0">
                <a:solidFill>
                  <a:srgbClr val="FF0000"/>
                </a:solidFill>
              </a:rPr>
              <a:t>Main/master</a:t>
            </a:r>
            <a:r>
              <a:rPr lang="en-US" dirty="0"/>
              <a:t> for production-ready code.</a:t>
            </a:r>
          </a:p>
          <a:p>
            <a:pPr lvl="1"/>
            <a:r>
              <a:rPr lang="en-US" i="1" dirty="0">
                <a:solidFill>
                  <a:srgbClr val="FF0000"/>
                </a:solidFill>
              </a:rPr>
              <a:t>develop</a:t>
            </a:r>
            <a:r>
              <a:rPr lang="en-US" dirty="0"/>
              <a:t> for ongoing development.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Feature/*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release/*</a:t>
            </a:r>
            <a:r>
              <a:rPr lang="en-US" dirty="0"/>
              <a:t>, and </a:t>
            </a:r>
            <a:r>
              <a:rPr lang="en-US" dirty="0">
                <a:solidFill>
                  <a:srgbClr val="FF0000"/>
                </a:solidFill>
              </a:rPr>
              <a:t>hotfix/*</a:t>
            </a:r>
            <a:r>
              <a:rPr lang="en-US" dirty="0"/>
              <a:t> branches.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DB5DE8-789E-3B7D-6E63-070BF2BDE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E8AB5-8547-4F32-6FB7-2DE39FF88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3805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0DC7C-E15C-09A8-DC55-1D8987E9C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78CDE9-53BE-FD4E-C2DE-C37245ABC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7C4B8-5CFB-E9CA-A4EF-A2839DDE4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57B7E4D-F68A-B42B-B474-91DC6B64E0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1600" y="19665"/>
            <a:ext cx="4997948" cy="6735384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94256D-63DB-773F-8DC0-2E9578E10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Git Workflows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093351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B6BD0-03C4-5C53-DA26-AFA542886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964C0-1B69-F96E-632E-9933D9366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Git Workflows</a:t>
            </a:r>
            <a:endParaRPr lang="en-US" b="1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F17975-AD17-D33A-6D30-B625EFAB7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B13C4-3BFF-1B57-33D4-3531EAA46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9B85AA-ABA5-64B2-AF7C-442EA61F1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</a:t>
            </a:r>
            <a:r>
              <a:rPr lang="en-US" b="1" dirty="0"/>
              <a:t>master</a:t>
            </a:r>
            <a:r>
              <a:rPr lang="en-US" dirty="0"/>
              <a:t> branch only contains finished work. All commits are tagged since they represent releases. All releases happen from </a:t>
            </a:r>
            <a:r>
              <a:rPr lang="en-US" b="1" dirty="0"/>
              <a:t>master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/>
              <a:t>develop</a:t>
            </a:r>
            <a:r>
              <a:rPr lang="en-US" dirty="0"/>
              <a:t> branch is where work on the next release happens. When work is finished here, </a:t>
            </a:r>
            <a:r>
              <a:rPr lang="en-US" b="1" dirty="0"/>
              <a:t>develop</a:t>
            </a:r>
            <a:r>
              <a:rPr lang="en-US" dirty="0"/>
              <a:t> is merged to </a:t>
            </a:r>
            <a:r>
              <a:rPr lang="en-US" b="1" dirty="0"/>
              <a:t>master</a:t>
            </a:r>
            <a:r>
              <a:rPr lang="en-US" dirty="0"/>
              <a:t>.</a:t>
            </a:r>
          </a:p>
          <a:p>
            <a:r>
              <a:rPr lang="en-US" dirty="0"/>
              <a:t>We use separate </a:t>
            </a:r>
            <a:r>
              <a:rPr lang="en-US" b="1" dirty="0"/>
              <a:t>feature branches </a:t>
            </a:r>
            <a:r>
              <a:rPr lang="en-US" dirty="0"/>
              <a:t>for all new features. </a:t>
            </a:r>
            <a:r>
              <a:rPr lang="en-US" b="1" dirty="0"/>
              <a:t>Feature branches </a:t>
            </a:r>
            <a:r>
              <a:rPr lang="en-US" dirty="0"/>
              <a:t>are merged to </a:t>
            </a:r>
            <a:r>
              <a:rPr lang="en-US" b="1" dirty="0"/>
              <a:t>develop</a:t>
            </a:r>
            <a:r>
              <a:rPr lang="en-US" dirty="0"/>
              <a:t>.</a:t>
            </a:r>
          </a:p>
          <a:p>
            <a:r>
              <a:rPr lang="en-US" dirty="0"/>
              <a:t>When a devastating bug is revealed in production, a </a:t>
            </a:r>
            <a:r>
              <a:rPr lang="en-US" b="1" dirty="0"/>
              <a:t>hotfix</a:t>
            </a:r>
            <a:r>
              <a:rPr lang="en-US" dirty="0"/>
              <a:t> branch is made where a bug fix is created. The </a:t>
            </a:r>
            <a:r>
              <a:rPr lang="en-US" b="1" dirty="0"/>
              <a:t>hotfix</a:t>
            </a:r>
            <a:r>
              <a:rPr lang="en-US" dirty="0"/>
              <a:t> branch is then merged to </a:t>
            </a:r>
            <a:r>
              <a:rPr lang="en-US" b="1" dirty="0"/>
              <a:t>master</a:t>
            </a:r>
            <a:r>
              <a:rPr lang="en-US" dirty="0"/>
              <a:t>, and a new release for production is made.</a:t>
            </a:r>
          </a:p>
        </p:txBody>
      </p:sp>
    </p:spTree>
    <p:extLst>
      <p:ext uri="{BB962C8B-B14F-4D97-AF65-F5344CB8AC3E}">
        <p14:creationId xmlns:p14="http://schemas.microsoft.com/office/powerpoint/2010/main" val="17764779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93ED3-38C5-30DF-41C6-6E0D383E9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DAA53-5C82-62FF-6732-B31C7A3F0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Example Git Workflow in Practice: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1DF18-8CBA-2EB7-7316-970026BD1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Clone the repository:</a:t>
            </a:r>
          </a:p>
          <a:p>
            <a:pPr lvl="1"/>
            <a:r>
              <a:rPr lang="en-US" dirty="0"/>
              <a:t>git clone https://github.com/user/repo.git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Create a feature branch:</a:t>
            </a:r>
          </a:p>
          <a:p>
            <a:pPr lvl="1"/>
            <a:r>
              <a:rPr lang="en-US" dirty="0"/>
              <a:t>git checkout -b feature/new-feature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Make changes and commit:</a:t>
            </a:r>
          </a:p>
          <a:p>
            <a:pPr lvl="1"/>
            <a:r>
              <a:rPr lang="en-US" dirty="0"/>
              <a:t>git add .</a:t>
            </a:r>
          </a:p>
          <a:p>
            <a:pPr lvl="1"/>
            <a:r>
              <a:rPr lang="en-US" dirty="0"/>
              <a:t>git commit -m "Add new feature"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Push to remote:</a:t>
            </a:r>
          </a:p>
          <a:p>
            <a:pPr lvl="1"/>
            <a:r>
              <a:rPr lang="en-US" dirty="0"/>
              <a:t>git push origin feature/new-feature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Create a pull request and merge.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FB8B1C-50A3-123B-EB68-67CCCE84E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39323-28D7-7783-9D64-9210C8193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9751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AF2BE-D4D9-2D27-A99C-D19EAE47B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B3EC1-04D1-5415-4D28-64C2AC528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GitHub Pages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4A0C2-FCDE-0E65-2033-01D8D2B19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GitHub Pages</a:t>
            </a:r>
            <a:r>
              <a:rPr lang="en-US" dirty="0"/>
              <a:t> is a static site hosting service provided by GitHub.</a:t>
            </a:r>
          </a:p>
          <a:p>
            <a:r>
              <a:rPr lang="en-US" dirty="0"/>
              <a:t>It hosts HTML, CSS, and JavaScript files directly from a GitHub repository, making it ideal for personal projects, documentation, portfolios, or other static websites.</a:t>
            </a:r>
          </a:p>
          <a:p>
            <a:r>
              <a:rPr lang="en-US" dirty="0"/>
              <a:t>GitHub pages work free as part of GitHub’s services.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8A42C5-EC0B-553D-D8BD-92208902E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09018F-3CC2-1FBB-C98B-B7750FEEE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8886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94887-7DC1-F50E-FAE2-8A15A9F82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39483-ABF7-CE94-B749-2D9DA4B60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GitHub Pages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39977-F364-A63F-C2B6-F615E24CC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It supports a custom domain name or the default &lt;username&gt;.github.io domain.</a:t>
            </a:r>
          </a:p>
          <a:p>
            <a:r>
              <a:rPr lang="en-US" dirty="0"/>
              <a:t>GitHub Pages can serve files from specific branches, typically:</a:t>
            </a:r>
          </a:p>
          <a:p>
            <a:pPr lvl="1"/>
            <a:r>
              <a:rPr lang="en-US" dirty="0" err="1"/>
              <a:t>gh</a:t>
            </a:r>
            <a:r>
              <a:rPr lang="en-US" dirty="0"/>
              <a:t>-pages branch.</a:t>
            </a:r>
          </a:p>
          <a:p>
            <a:pPr lvl="1"/>
            <a:r>
              <a:rPr lang="en-US" dirty="0"/>
              <a:t>main branch (with /docs folder). </a:t>
            </a:r>
          </a:p>
          <a:p>
            <a:r>
              <a:rPr lang="en-US" dirty="0"/>
              <a:t>Secure HTTPS connection is provided for all GitHub Pages sites.</a:t>
            </a:r>
          </a:p>
          <a:p>
            <a:r>
              <a:rPr lang="en-US" dirty="0"/>
              <a:t>Any changes pushed to the repository are reflected on the site automatically.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8D8BDF-39C4-CC98-07BB-CB3A74035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B5CFB-6A69-A35A-FBAB-F1942A817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9965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FD90F-FAF3-0BA8-D10D-76E5E2855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69AC4-E714-38C6-D55C-D0F1D0586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GitHub Pages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9385D-E843-905A-BA1C-F2FD796EB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Limitations</a:t>
            </a:r>
          </a:p>
          <a:p>
            <a:pPr lvl="1"/>
            <a:r>
              <a:rPr lang="en-US" dirty="0"/>
              <a:t>Only supports static content—no back-end code like PHP or Node.js.</a:t>
            </a:r>
          </a:p>
          <a:p>
            <a:pPr lvl="1"/>
            <a:r>
              <a:rPr lang="en-US" dirty="0"/>
              <a:t>Limited to 1 GB storage and 100 GB bandwidth per month.</a:t>
            </a:r>
          </a:p>
          <a:p>
            <a:pPr lvl="1"/>
            <a:r>
              <a:rPr lang="en-US" dirty="0"/>
              <a:t>Custom build processes (e.g., pipelines) may require manual configuration or external tools.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C63288-1156-8EAE-96E5-CF5C8639C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5B91B4-6873-E7D8-6D1C-0BF3CC83A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4988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26BAD-8085-4567-0F61-0C2891A83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A858E-5E82-279C-885C-C5EE60E2D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GitHub Pages Setup Guide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4A354-608B-9E67-71B6-99AA53723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Create a GitHub Repository</a:t>
            </a:r>
          </a:p>
          <a:p>
            <a:pPr lvl="1"/>
            <a:r>
              <a:rPr lang="en-US" dirty="0"/>
              <a:t>Log in to your GitHub account.</a:t>
            </a:r>
          </a:p>
          <a:p>
            <a:pPr lvl="1"/>
            <a:r>
              <a:rPr lang="en-US" dirty="0"/>
              <a:t>Click </a:t>
            </a:r>
            <a:r>
              <a:rPr lang="en-US" i="1" dirty="0"/>
              <a:t>New Repository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Fill in the repository name (e.g., my-website) and ensure it is public (required for free GitHub Pages hosting).</a:t>
            </a:r>
          </a:p>
          <a:p>
            <a:pPr lvl="1"/>
            <a:r>
              <a:rPr lang="en-US" dirty="0"/>
              <a:t>Click </a:t>
            </a:r>
            <a:r>
              <a:rPr lang="en-US" i="1" dirty="0"/>
              <a:t>Create Repository</a:t>
            </a:r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9A25A-0BF6-9F45-0C96-41465DCAF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9A9F1-7DC2-9CAE-9A4C-710226307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6749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04850-C6E9-B475-EAB3-3DAB8C705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69814-F396-1E04-8C4A-CA97F9A4F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GitHub Pages Setup Guide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51CAC-25D9-A1D2-EB94-E6DE4605F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Add Your Website Files</a:t>
            </a:r>
          </a:p>
          <a:p>
            <a:pPr lvl="1"/>
            <a:r>
              <a:rPr lang="en-US" dirty="0"/>
              <a:t>Clone the repository locally:</a:t>
            </a:r>
          </a:p>
          <a:p>
            <a:pPr lvl="2"/>
            <a:r>
              <a:rPr lang="en-US" i="1" dirty="0"/>
              <a:t>git clone https://github.com/&lt;username&gt;/&lt;repository-name&gt;.git</a:t>
            </a:r>
          </a:p>
          <a:p>
            <a:pPr lvl="1"/>
            <a:r>
              <a:rPr lang="en-US" dirty="0"/>
              <a:t>Add your static website files (HTML, CSS, JavaScript) to the repository folder.</a:t>
            </a:r>
          </a:p>
          <a:p>
            <a:pPr lvl="1"/>
            <a:r>
              <a:rPr lang="en-US" dirty="0"/>
              <a:t>Commit and push the files:</a:t>
            </a:r>
          </a:p>
          <a:p>
            <a:pPr lvl="2"/>
            <a:r>
              <a:rPr lang="en-US" dirty="0"/>
              <a:t>git add .</a:t>
            </a:r>
          </a:p>
          <a:p>
            <a:pPr lvl="2"/>
            <a:r>
              <a:rPr lang="en-US" dirty="0"/>
              <a:t>git commit -m "Initial commit"</a:t>
            </a:r>
          </a:p>
          <a:p>
            <a:pPr lvl="2"/>
            <a:r>
              <a:rPr lang="en-US" dirty="0"/>
              <a:t>git push origin main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B89DED-A21A-13B0-3A2A-77E652CF4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80EC4-7B20-6888-61F3-F255F060F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7592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59F20-0826-18D3-A8D5-99B7BFE89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CECDE-3172-E985-2BCB-E8C72E31A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GitHub Pages Setup Guide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CCE07-F424-1C9B-AC69-432F0F5D9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Enable GitHub Pages</a:t>
            </a:r>
          </a:p>
          <a:p>
            <a:pPr lvl="1"/>
            <a:r>
              <a:rPr lang="en-US" dirty="0"/>
              <a:t>Go to the repository on GitHub.</a:t>
            </a:r>
          </a:p>
          <a:p>
            <a:pPr lvl="1"/>
            <a:r>
              <a:rPr lang="en-US" dirty="0"/>
              <a:t>Click on </a:t>
            </a:r>
            <a:r>
              <a:rPr lang="en-US" i="1" dirty="0"/>
              <a:t>Settings &gt; Pages </a:t>
            </a:r>
            <a:r>
              <a:rPr lang="en-US" dirty="0"/>
              <a:t>(left sidebar).</a:t>
            </a:r>
          </a:p>
          <a:p>
            <a:pPr lvl="1"/>
            <a:r>
              <a:rPr lang="en-US" dirty="0"/>
              <a:t>Under "</a:t>
            </a:r>
            <a:r>
              <a:rPr lang="en-US" i="1" dirty="0"/>
              <a:t>Source</a:t>
            </a:r>
            <a:r>
              <a:rPr lang="en-US" dirty="0"/>
              <a:t>," choose the branch where your website files are located:</a:t>
            </a:r>
          </a:p>
          <a:p>
            <a:pPr lvl="2"/>
            <a:r>
              <a:rPr lang="en-US" dirty="0"/>
              <a:t>For a root deployment, select </a:t>
            </a:r>
            <a:r>
              <a:rPr lang="en-US" i="1" dirty="0"/>
              <a:t>main (or master)</a:t>
            </a:r>
            <a:r>
              <a:rPr lang="en-US" dirty="0"/>
              <a:t> as the branch.</a:t>
            </a:r>
          </a:p>
          <a:p>
            <a:pPr lvl="2"/>
            <a:r>
              <a:rPr lang="en-US" dirty="0"/>
              <a:t>If your files are in the /docs folder, select </a:t>
            </a:r>
            <a:r>
              <a:rPr lang="en-US" i="1" dirty="0"/>
              <a:t>main (or master) and /docs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Click </a:t>
            </a:r>
            <a:r>
              <a:rPr lang="en-US" i="1" dirty="0"/>
              <a:t>Save</a:t>
            </a:r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DCFB0-FEC2-6B89-F51B-50706A12A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D1392-79FA-3D10-FC80-B5CAE28C4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1881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DF9AC-BBDF-FDE8-B9C6-26EF37DD5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7C625-BA4F-6FEA-F034-7ECFB5745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GitHub Pages Setup Guide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3DAD5-7A28-76C8-3BBB-8E9D0AE09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Access Your Site</a:t>
            </a:r>
          </a:p>
          <a:p>
            <a:pPr lvl="1"/>
            <a:r>
              <a:rPr lang="en-US" dirty="0"/>
              <a:t>After enabling GitHub Pages, GitHub will generate a URL for your site:</a:t>
            </a:r>
          </a:p>
          <a:p>
            <a:pPr lvl="2"/>
            <a:r>
              <a:rPr lang="en-US" dirty="0"/>
              <a:t>Format: https://&lt;username&gt;.github.io/&lt;repository-name&gt;/</a:t>
            </a:r>
          </a:p>
          <a:p>
            <a:pPr lvl="2"/>
            <a:r>
              <a:rPr lang="en-US" dirty="0"/>
              <a:t>For personal/organization sites: https://&lt;username&gt;.github.io/</a:t>
            </a:r>
          </a:p>
          <a:p>
            <a:pPr lvl="3"/>
            <a:endParaRPr lang="en-US" dirty="0"/>
          </a:p>
          <a:p>
            <a:r>
              <a:rPr lang="en-US" b="1" dirty="0"/>
              <a:t>Custom Domain</a:t>
            </a:r>
          </a:p>
          <a:p>
            <a:pPr lvl="1"/>
            <a:r>
              <a:rPr lang="en-US" dirty="0"/>
              <a:t>In the Pages settings, add your custom domain (e.g., www.example.com).</a:t>
            </a:r>
          </a:p>
          <a:p>
            <a:pPr lvl="1"/>
            <a:r>
              <a:rPr lang="en-US" dirty="0"/>
              <a:t>Update your domain's DNS records with a CNAME pointing to username.github.io.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E0CDE0-F8C2-747F-6309-41BEBB0F9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0896C-D9F3-635A-EBF9-322AA5E4C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8383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3E0869-A220-07A1-DD99-6DF41BE502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GIT- A Version Controlling Tool | Lecture 9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E93EF0-C6A1-D794-6D90-9A4B4EF8B6F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67A19DD-42F6-B2F5-0131-413CAEF17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of</a:t>
            </a:r>
            <a:br>
              <a:rPr lang="en-US" dirty="0"/>
            </a:br>
            <a:r>
              <a:rPr lang="en-US"/>
              <a:t>Lecture 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1980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3FA128-C4D8-E305-85C9-B03DF2031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 TO JENKINS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B0B853-FF2A-5B00-B111-DEB0FB5D6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GIT- A Version Controlling Tool | Lecture 9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9041C-86CD-85A4-36FE-8ED62F85F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21476"/>
      </p:ext>
    </p:extLst>
  </p:cSld>
  <p:clrMapOvr>
    <a:masterClrMapping/>
  </p:clrMapOvr>
</p:sld>
</file>

<file path=ppt/theme/theme1.xml><?xml version="1.0" encoding="utf-8"?>
<a:theme xmlns:a="http://schemas.openxmlformats.org/drawingml/2006/main" name="1_View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762</TotalTime>
  <Words>3106</Words>
  <Application>Microsoft Office PowerPoint</Application>
  <PresentationFormat>Widescreen</PresentationFormat>
  <Paragraphs>397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Arial</vt:lpstr>
      <vt:lpstr>Calibri</vt:lpstr>
      <vt:lpstr>Century Schoolbook</vt:lpstr>
      <vt:lpstr>Nunito</vt:lpstr>
      <vt:lpstr>Roboto</vt:lpstr>
      <vt:lpstr>Wingdings 2</vt:lpstr>
      <vt:lpstr>1_View</vt:lpstr>
      <vt:lpstr>PowerPoint Presentation</vt:lpstr>
      <vt:lpstr>Unit 4: GIT Version Controlling Tool (6hrs)</vt:lpstr>
      <vt:lpstr>GIT</vt:lpstr>
      <vt:lpstr>Essentials of Git</vt:lpstr>
      <vt:lpstr>What does GIT do?</vt:lpstr>
      <vt:lpstr>Working with Git</vt:lpstr>
      <vt:lpstr>Using Git with Command Line</vt:lpstr>
      <vt:lpstr>Using Git with Command Line</vt:lpstr>
      <vt:lpstr>Key Git Commands</vt:lpstr>
      <vt:lpstr>Key Git Operations</vt:lpstr>
      <vt:lpstr>Key Git Operations</vt:lpstr>
      <vt:lpstr>Key Git Operations</vt:lpstr>
      <vt:lpstr>Git Commit</vt:lpstr>
      <vt:lpstr>Characteristics of a Good Commit</vt:lpstr>
      <vt:lpstr>Characteristics of a Good Commit</vt:lpstr>
      <vt:lpstr>Characteristics of a Good Commit</vt:lpstr>
      <vt:lpstr>Characteristics of a Bad Commit</vt:lpstr>
      <vt:lpstr>Characteristics of a Bad Commit</vt:lpstr>
      <vt:lpstr>Working with Remotes</vt:lpstr>
      <vt:lpstr>Common Git Remote Operations</vt:lpstr>
      <vt:lpstr>Working with Git branches</vt:lpstr>
      <vt:lpstr>Working with Git branches</vt:lpstr>
      <vt:lpstr>Working with Git branches</vt:lpstr>
      <vt:lpstr>Ignoring Files</vt:lpstr>
      <vt:lpstr>Collaboration with Remotes</vt:lpstr>
      <vt:lpstr>Remote Collaboration Process</vt:lpstr>
      <vt:lpstr>Remote Collaboration Process</vt:lpstr>
      <vt:lpstr>Merge Conflicts</vt:lpstr>
      <vt:lpstr>Identifying a Merge Conflicts</vt:lpstr>
      <vt:lpstr>Steps to Resolve a Merge Conflict</vt:lpstr>
      <vt:lpstr>Steps to Resolve a Merge Conflict</vt:lpstr>
      <vt:lpstr>Steps to Resolve a Merge Conflict</vt:lpstr>
      <vt:lpstr>Steps to Resolve a Merge Conflict</vt:lpstr>
      <vt:lpstr>Git Workflows</vt:lpstr>
      <vt:lpstr>Git Workflows</vt:lpstr>
      <vt:lpstr>Git Workflows</vt:lpstr>
      <vt:lpstr>Git Workflows</vt:lpstr>
      <vt:lpstr>Git Workflows</vt:lpstr>
      <vt:lpstr>Example Git Workflow in Practice:</vt:lpstr>
      <vt:lpstr>GitHub Pages</vt:lpstr>
      <vt:lpstr>GitHub Pages</vt:lpstr>
      <vt:lpstr>GitHub Pages</vt:lpstr>
      <vt:lpstr>GitHub Pages Setup Guide</vt:lpstr>
      <vt:lpstr>GitHub Pages Setup Guide</vt:lpstr>
      <vt:lpstr>GitHub Pages Setup Guide</vt:lpstr>
      <vt:lpstr>GitHub Pages Setup Guide</vt:lpstr>
      <vt:lpstr>End of Lecture 9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</dc:title>
  <dc:creator>Shiva Kunwar</dc:creator>
  <cp:lastModifiedBy>Shiva Kunwar</cp:lastModifiedBy>
  <cp:revision>112</cp:revision>
  <dcterms:created xsi:type="dcterms:W3CDTF">2021-11-23T15:23:57Z</dcterms:created>
  <dcterms:modified xsi:type="dcterms:W3CDTF">2025-06-02T06:50:13Z</dcterms:modified>
</cp:coreProperties>
</file>