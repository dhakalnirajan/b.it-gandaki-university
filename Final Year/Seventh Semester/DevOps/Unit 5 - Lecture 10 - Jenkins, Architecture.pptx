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9" r:id="rId1"/>
  </p:sldMasterIdLst>
  <p:notesMasterIdLst>
    <p:notesMasterId r:id="rId58"/>
  </p:notesMasterIdLst>
  <p:handoutMasterIdLst>
    <p:handoutMasterId r:id="rId59"/>
  </p:handoutMasterIdLst>
  <p:sldIdLst>
    <p:sldId id="296" r:id="rId2"/>
    <p:sldId id="298" r:id="rId3"/>
    <p:sldId id="299" r:id="rId4"/>
    <p:sldId id="300" r:id="rId5"/>
    <p:sldId id="301" r:id="rId6"/>
    <p:sldId id="302" r:id="rId7"/>
    <p:sldId id="304" r:id="rId8"/>
    <p:sldId id="306" r:id="rId9"/>
    <p:sldId id="307" r:id="rId10"/>
    <p:sldId id="305" r:id="rId11"/>
    <p:sldId id="308" r:id="rId12"/>
    <p:sldId id="309" r:id="rId13"/>
    <p:sldId id="310" r:id="rId14"/>
    <p:sldId id="311" r:id="rId15"/>
    <p:sldId id="312" r:id="rId16"/>
    <p:sldId id="313" r:id="rId17"/>
    <p:sldId id="347" r:id="rId18"/>
    <p:sldId id="318" r:id="rId19"/>
    <p:sldId id="348" r:id="rId20"/>
    <p:sldId id="349" r:id="rId21"/>
    <p:sldId id="320" r:id="rId22"/>
    <p:sldId id="319" r:id="rId23"/>
    <p:sldId id="321" r:id="rId24"/>
    <p:sldId id="324" r:id="rId25"/>
    <p:sldId id="351" r:id="rId26"/>
    <p:sldId id="314" r:id="rId27"/>
    <p:sldId id="315" r:id="rId28"/>
    <p:sldId id="316" r:id="rId29"/>
    <p:sldId id="317" r:id="rId30"/>
    <p:sldId id="322" r:id="rId31"/>
    <p:sldId id="323" r:id="rId32"/>
    <p:sldId id="325" r:id="rId33"/>
    <p:sldId id="350" r:id="rId34"/>
    <p:sldId id="326" r:id="rId35"/>
    <p:sldId id="327" r:id="rId36"/>
    <p:sldId id="328" r:id="rId37"/>
    <p:sldId id="329" r:id="rId38"/>
    <p:sldId id="330" r:id="rId39"/>
    <p:sldId id="331" r:id="rId40"/>
    <p:sldId id="332" r:id="rId41"/>
    <p:sldId id="333" r:id="rId42"/>
    <p:sldId id="334" r:id="rId43"/>
    <p:sldId id="335" r:id="rId44"/>
    <p:sldId id="336" r:id="rId45"/>
    <p:sldId id="337" r:id="rId46"/>
    <p:sldId id="338" r:id="rId47"/>
    <p:sldId id="339" r:id="rId48"/>
    <p:sldId id="340" r:id="rId49"/>
    <p:sldId id="341" r:id="rId50"/>
    <p:sldId id="343" r:id="rId51"/>
    <p:sldId id="342" r:id="rId52"/>
    <p:sldId id="344" r:id="rId53"/>
    <p:sldId id="345" r:id="rId54"/>
    <p:sldId id="346" r:id="rId55"/>
    <p:sldId id="285" r:id="rId56"/>
    <p:sldId id="286"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3969" autoAdjust="0"/>
  </p:normalViewPr>
  <p:slideViewPr>
    <p:cSldViewPr>
      <p:cViewPr varScale="1">
        <p:scale>
          <a:sx n="82" d="100"/>
          <a:sy n="82" d="100"/>
        </p:scale>
        <p:origin x="276" y="60"/>
      </p:cViewPr>
      <p:guideLst>
        <p:guide orient="horz" pos="2160"/>
        <p:guide pos="3840"/>
      </p:guideLst>
    </p:cSldViewPr>
  </p:slideViewPr>
  <p:outlineViewPr>
    <p:cViewPr>
      <p:scale>
        <a:sx n="33" d="100"/>
        <a:sy n="33" d="100"/>
      </p:scale>
      <p:origin x="0" y="-1962"/>
    </p:cViewPr>
  </p:outlineViewPr>
  <p:notesTextViewPr>
    <p:cViewPr>
      <p:scale>
        <a:sx n="100" d="100"/>
        <a:sy n="100" d="100"/>
      </p:scale>
      <p:origin x="0" y="0"/>
    </p:cViewPr>
  </p:notesTextViewPr>
  <p:notesViewPr>
    <p:cSldViewPr>
      <p:cViewPr varScale="1">
        <p:scale>
          <a:sx n="50" d="100"/>
          <a:sy n="50" d="100"/>
        </p:scale>
        <p:origin x="2886" y="3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85BD65-9D91-7DFC-53E1-8BF243DCEC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34F2D22-E7AC-06AB-426E-E65713B850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9178692-3B52-472B-A27C-0D21D13EB902}" type="datetimeFigureOut">
              <a:rPr lang="en-US" smtClean="0"/>
              <a:t>6/2/2025</a:t>
            </a:fld>
            <a:endParaRPr lang="en-US"/>
          </a:p>
        </p:txBody>
      </p:sp>
      <p:sp>
        <p:nvSpPr>
          <p:cNvPr id="4" name="Footer Placeholder 3">
            <a:extLst>
              <a:ext uri="{FF2B5EF4-FFF2-40B4-BE49-F238E27FC236}">
                <a16:creationId xmlns:a16="http://schemas.microsoft.com/office/drawing/2014/main" id="{C42CE5EB-28FA-61BC-7A31-808FF0DFF1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63E243D-0898-4319-31D8-7F9CA9078C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C52B39-A1FA-438D-A2A1-97F4EC1FFB12}" type="slidenum">
              <a:rPr lang="en-US" smtClean="0"/>
              <a:t>‹#›</a:t>
            </a:fld>
            <a:endParaRPr lang="en-US"/>
          </a:p>
        </p:txBody>
      </p:sp>
    </p:spTree>
    <p:extLst>
      <p:ext uri="{BB962C8B-B14F-4D97-AF65-F5344CB8AC3E}">
        <p14:creationId xmlns:p14="http://schemas.microsoft.com/office/powerpoint/2010/main" val="40298298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01F557-E2B4-4866-84E9-3A03F70F82EF}" type="datetimeFigureOut">
              <a:rPr lang="en-US" smtClean="0"/>
              <a:pPr/>
              <a:t>6/2/2025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5F5254-F383-4531-8078-930439348C7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mailto:shiva.kunwar@hotmail.com" TargetMode="External"/><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122" name="Picture 2">
            <a:extLst>
              <a:ext uri="{FF2B5EF4-FFF2-40B4-BE49-F238E27FC236}">
                <a16:creationId xmlns:a16="http://schemas.microsoft.com/office/drawing/2014/main" id="{24D63A80-F8C6-CA7A-5944-D04C4A793A4F}"/>
              </a:ext>
            </a:extLst>
          </p:cNvPr>
          <p:cNvPicPr>
            <a:picLocks noChangeAspect="1" noChangeArrowheads="1"/>
          </p:cNvPicPr>
          <p:nvPr userDrawn="1"/>
        </p:nvPicPr>
        <p:blipFill>
          <a:blip r:embed="rId2">
            <a:alphaModFix amt="50000"/>
            <a:extLst>
              <a:ext uri="{28A0092B-C50C-407E-A947-70E740481C1C}">
                <a14:useLocalDpi xmlns:a14="http://schemas.microsoft.com/office/drawing/2010/main" val="0"/>
              </a:ext>
            </a:extLst>
          </a:blip>
          <a:srcRect/>
          <a:stretch/>
        </p:blipFill>
        <p:spPr bwMode="auto">
          <a:xfrm>
            <a:off x="5414" y="0"/>
            <a:ext cx="12181172"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lvl1pPr>
              <a:defRPr>
                <a:solidFill>
                  <a:schemeClr val="bg2">
                    <a:lumMod val="20000"/>
                    <a:lumOff val="80000"/>
                  </a:schemeClr>
                </a:solidFill>
              </a:defRPr>
            </a:lvl1pPr>
          </a:lstStyle>
          <a:p>
            <a:fld id="{5482BDB1-309B-476A-9998-1907D4AE367D}" type="datetime1">
              <a:rPr lang="en-US" smtClean="0"/>
              <a:t>6/2/2025</a:t>
            </a:fld>
            <a:endParaRPr lang="en-US"/>
          </a:p>
        </p:txBody>
      </p:sp>
      <p:sp>
        <p:nvSpPr>
          <p:cNvPr id="9" name="Footer Placeholder 8"/>
          <p:cNvSpPr>
            <a:spLocks noGrp="1"/>
          </p:cNvSpPr>
          <p:nvPr>
            <p:ph type="ftr" sz="quarter" idx="11"/>
          </p:nvPr>
        </p:nvSpPr>
        <p:spPr/>
        <p:txBody>
          <a:bodyPr/>
          <a:lstStyle>
            <a:lvl1pPr>
              <a:defRPr>
                <a:solidFill>
                  <a:schemeClr val="bg2">
                    <a:lumMod val="20000"/>
                    <a:lumOff val="80000"/>
                  </a:schemeClr>
                </a:solidFill>
              </a:defRPr>
            </a:lvl1pPr>
          </a:lstStyle>
          <a:p>
            <a:r>
              <a:rPr lang="en-US"/>
              <a:t>Jenkins | Lecture 10</a:t>
            </a:r>
          </a:p>
        </p:txBody>
      </p:sp>
      <p:sp>
        <p:nvSpPr>
          <p:cNvPr id="10" name="Slide Number Placeholder 9"/>
          <p:cNvSpPr>
            <a:spLocks noGrp="1"/>
          </p:cNvSpPr>
          <p:nvPr>
            <p:ph type="sldNum" sz="quarter" idx="12"/>
          </p:nvPr>
        </p:nvSpPr>
        <p:spPr/>
        <p:txBody>
          <a:bodyPr/>
          <a:lstStyle>
            <a:lvl1pPr>
              <a:defRPr>
                <a:solidFill>
                  <a:schemeClr val="bg2">
                    <a:lumMod val="60000"/>
                    <a:lumOff val="40000"/>
                  </a:schemeClr>
                </a:solidFill>
              </a:defRPr>
            </a:lvl1pPr>
          </a:lstStyle>
          <a:p>
            <a:fld id="{2D7BCAC6-6F2C-433A-BE87-D0A9451C8803}" type="slidenum">
              <a:rPr lang="en-US" smtClean="0"/>
              <a:pPr/>
              <a:t>‹#›</a:t>
            </a:fld>
            <a:endParaRPr lang="en-US"/>
          </a:p>
        </p:txBody>
      </p:sp>
      <p:sp>
        <p:nvSpPr>
          <p:cNvPr id="5" name="TextBox 4">
            <a:extLst>
              <a:ext uri="{FF2B5EF4-FFF2-40B4-BE49-F238E27FC236}">
                <a16:creationId xmlns:a16="http://schemas.microsoft.com/office/drawing/2014/main" id="{C5E038DB-111F-FA38-FE8F-D77C73697FD2}"/>
              </a:ext>
            </a:extLst>
          </p:cNvPr>
          <p:cNvSpPr txBox="1"/>
          <p:nvPr userDrawn="1"/>
        </p:nvSpPr>
        <p:spPr>
          <a:xfrm>
            <a:off x="1261872" y="554183"/>
            <a:ext cx="9418320" cy="4154984"/>
          </a:xfrm>
          <a:prstGeom prst="rect">
            <a:avLst/>
          </a:prstGeom>
          <a:noFill/>
        </p:spPr>
        <p:txBody>
          <a:bodyPr wrap="square" rtlCol="0" anchor="b">
            <a:spAutoFit/>
          </a:bodyPr>
          <a:lstStyle/>
          <a:p>
            <a:r>
              <a:rPr lang="en-US" sz="6600" dirty="0">
                <a:latin typeface="Roboto" panose="02000000000000000000" pitchFamily="2" charset="0"/>
                <a:ea typeface="Roboto" panose="02000000000000000000" pitchFamily="2" charset="0"/>
              </a:rPr>
              <a:t>Software</a:t>
            </a:r>
          </a:p>
          <a:p>
            <a:r>
              <a:rPr lang="en-US" sz="6600" dirty="0">
                <a:latin typeface="Roboto" panose="02000000000000000000" pitchFamily="2" charset="0"/>
                <a:ea typeface="Roboto" panose="02000000000000000000" pitchFamily="2" charset="0"/>
              </a:rPr>
              <a:t>Development &amp;</a:t>
            </a:r>
          </a:p>
          <a:p>
            <a:r>
              <a:rPr lang="en-US" sz="6600" dirty="0">
                <a:latin typeface="Roboto" panose="02000000000000000000" pitchFamily="2" charset="0"/>
                <a:ea typeface="Roboto" panose="02000000000000000000" pitchFamily="2" charset="0"/>
              </a:rPr>
              <a:t>Operations</a:t>
            </a:r>
          </a:p>
          <a:p>
            <a:r>
              <a:rPr lang="en-US" sz="6600" dirty="0">
                <a:latin typeface="Roboto" panose="02000000000000000000" pitchFamily="2" charset="0"/>
                <a:ea typeface="Roboto" panose="02000000000000000000" pitchFamily="2" charset="0"/>
              </a:rPr>
              <a:t>(DevOps)</a:t>
            </a:r>
          </a:p>
        </p:txBody>
      </p:sp>
      <p:sp>
        <p:nvSpPr>
          <p:cNvPr id="6" name="TextBox 5">
            <a:extLst>
              <a:ext uri="{FF2B5EF4-FFF2-40B4-BE49-F238E27FC236}">
                <a16:creationId xmlns:a16="http://schemas.microsoft.com/office/drawing/2014/main" id="{8E693262-3052-AECD-5F8E-C91BF4B8F021}"/>
              </a:ext>
            </a:extLst>
          </p:cNvPr>
          <p:cNvSpPr txBox="1"/>
          <p:nvPr userDrawn="1"/>
        </p:nvSpPr>
        <p:spPr>
          <a:xfrm>
            <a:off x="1261872" y="5156541"/>
            <a:ext cx="9418320" cy="1015663"/>
          </a:xfrm>
          <a:prstGeom prst="rect">
            <a:avLst/>
          </a:prstGeom>
          <a:noFill/>
        </p:spPr>
        <p:txBody>
          <a:bodyPr wrap="square" rtlCol="0" anchor="ctr">
            <a:spAutoFit/>
          </a:bodyPr>
          <a:lstStyle/>
          <a:p>
            <a:r>
              <a:rPr lang="en-US" sz="2000" dirty="0">
                <a:latin typeface="Nunito" pitchFamily="2" charset="0"/>
              </a:rPr>
              <a:t>Er. Shiva Kunwar</a:t>
            </a:r>
          </a:p>
          <a:p>
            <a:r>
              <a:rPr lang="en-US" sz="2000" dirty="0">
                <a:latin typeface="Nunito" pitchFamily="2" charset="0"/>
              </a:rPr>
              <a:t>Lecturer</a:t>
            </a:r>
          </a:p>
          <a:p>
            <a:r>
              <a:rPr lang="en-US" sz="2000" dirty="0">
                <a:latin typeface="Nunito" pitchFamily="2" charset="0"/>
              </a:rPr>
              <a:t>Gandaki University</a:t>
            </a:r>
          </a:p>
        </p:txBody>
      </p:sp>
      <p:pic>
        <p:nvPicPr>
          <p:cNvPr id="2" name="Picture 4">
            <a:extLst>
              <a:ext uri="{FF2B5EF4-FFF2-40B4-BE49-F238E27FC236}">
                <a16:creationId xmlns:a16="http://schemas.microsoft.com/office/drawing/2014/main" id="{7A367200-0314-B11E-6A5A-163495D7BBA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344150" y="74427"/>
            <a:ext cx="1771650" cy="1619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888190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9BCC24-A20E-4CEB-8D46-355CE3A9A314}" type="datetime1">
              <a:rPr lang="en-US" smtClean="0"/>
              <a:t>6/2/2025</a:t>
            </a:fld>
            <a:endParaRPr lang="en-US"/>
          </a:p>
        </p:txBody>
      </p:sp>
      <p:sp>
        <p:nvSpPr>
          <p:cNvPr id="5" name="Footer Placeholder 4"/>
          <p:cNvSpPr>
            <a:spLocks noGrp="1"/>
          </p:cNvSpPr>
          <p:nvPr>
            <p:ph type="ftr" sz="quarter" idx="11"/>
          </p:nvPr>
        </p:nvSpPr>
        <p:spPr/>
        <p:txBody>
          <a:bodyPr/>
          <a:lstStyle/>
          <a:p>
            <a:r>
              <a:rPr lang="en-US"/>
              <a:t>Jenkins | Lecture 10</a:t>
            </a:r>
            <a:endParaRPr lang="en-US" dirty="0"/>
          </a:p>
        </p:txBody>
      </p:sp>
      <p:sp>
        <p:nvSpPr>
          <p:cNvPr id="6" name="Slide Number Placeholder 5"/>
          <p:cNvSpPr>
            <a:spLocks noGrp="1"/>
          </p:cNvSpPr>
          <p:nvPr>
            <p:ph type="sldNum" sz="quarter" idx="12"/>
          </p:nvPr>
        </p:nvSpPr>
        <p:spPr/>
        <p:txBody>
          <a:bodyPr/>
          <a:lstStyle/>
          <a:p>
            <a:fld id="{2D7BCAC6-6F2C-433A-BE87-D0A9451C8803}" type="slidenum">
              <a:rPr lang="en-US" smtClean="0"/>
              <a:pPr/>
              <a:t>‹#›</a:t>
            </a:fld>
            <a:endParaRPr lang="en-US"/>
          </a:p>
        </p:txBody>
      </p:sp>
    </p:spTree>
    <p:extLst>
      <p:ext uri="{BB962C8B-B14F-4D97-AF65-F5344CB8AC3E}">
        <p14:creationId xmlns:p14="http://schemas.microsoft.com/office/powerpoint/2010/main" val="250373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Click to edit Master title style</a:t>
            </a:r>
          </a:p>
        </p:txBody>
      </p:sp>
      <p:sp>
        <p:nvSpPr>
          <p:cNvPr id="3" name="Content Placeholder 2"/>
          <p:cNvSpPr>
            <a:spLocks noGrp="1"/>
          </p:cNvSpPr>
          <p:nvPr>
            <p:ph sz="half" idx="1"/>
          </p:nvPr>
        </p:nvSpPr>
        <p:spPr>
          <a:xfrm>
            <a:off x="609600" y="1828805"/>
            <a:ext cx="5132832" cy="4663439"/>
          </a:xfrm>
        </p:spPr>
        <p:txBody>
          <a:bodyPr/>
          <a:lstStyle>
            <a:lvl1pPr>
              <a:defRPr sz="2200"/>
            </a:lvl1pPr>
            <a:lvl2pPr>
              <a:defRPr sz="2100"/>
            </a:lvl2pPr>
            <a:lvl3pPr>
              <a:defRPr sz="2000"/>
            </a:lvl3pPr>
            <a:lvl4pPr>
              <a:defRPr sz="1900"/>
            </a:lvl4pPr>
            <a:lvl5pPr>
              <a:defRPr sz="18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6B4E3C93-4B88-41AE-8659-E3A90B8079C5}" type="datetime1">
              <a:rPr lang="en-US" smtClean="0"/>
              <a:t>6/2/2025</a:t>
            </a:fld>
            <a:endParaRPr lang="en-US"/>
          </a:p>
        </p:txBody>
      </p:sp>
      <p:sp>
        <p:nvSpPr>
          <p:cNvPr id="6" name="Footer Placeholder 5"/>
          <p:cNvSpPr>
            <a:spLocks noGrp="1"/>
          </p:cNvSpPr>
          <p:nvPr>
            <p:ph type="ftr" sz="quarter" idx="11"/>
          </p:nvPr>
        </p:nvSpPr>
        <p:spPr/>
        <p:txBody>
          <a:bodyPr/>
          <a:lstStyle/>
          <a:p>
            <a:r>
              <a:rPr lang="en-US"/>
              <a:t>Jenkins | Lecture 10</a:t>
            </a:r>
          </a:p>
        </p:txBody>
      </p:sp>
      <p:sp>
        <p:nvSpPr>
          <p:cNvPr id="7" name="Slide Number Placeholder 6"/>
          <p:cNvSpPr>
            <a:spLocks noGrp="1"/>
          </p:cNvSpPr>
          <p:nvPr>
            <p:ph type="sldNum" sz="quarter" idx="12"/>
          </p:nvPr>
        </p:nvSpPr>
        <p:spPr/>
        <p:txBody>
          <a:bodyPr/>
          <a:lstStyle/>
          <a:p>
            <a:fld id="{2D7BCAC6-6F2C-433A-BE87-D0A9451C8803}" type="slidenum">
              <a:rPr lang="en-US" smtClean="0"/>
              <a:pPr/>
              <a:t>‹#›</a:t>
            </a:fld>
            <a:endParaRPr lang="en-US"/>
          </a:p>
        </p:txBody>
      </p:sp>
      <p:sp>
        <p:nvSpPr>
          <p:cNvPr id="8" name="Content Placeholder 2">
            <a:extLst>
              <a:ext uri="{FF2B5EF4-FFF2-40B4-BE49-F238E27FC236}">
                <a16:creationId xmlns:a16="http://schemas.microsoft.com/office/drawing/2014/main" id="{F6521BE1-5CE3-05CF-232A-5D29123BF52D}"/>
              </a:ext>
            </a:extLst>
          </p:cNvPr>
          <p:cNvSpPr>
            <a:spLocks noGrp="1"/>
          </p:cNvSpPr>
          <p:nvPr>
            <p:ph sz="half" idx="13"/>
          </p:nvPr>
        </p:nvSpPr>
        <p:spPr>
          <a:xfrm>
            <a:off x="5791200" y="1828805"/>
            <a:ext cx="5132832" cy="4663439"/>
          </a:xfrm>
        </p:spPr>
        <p:txBody>
          <a:bodyPr/>
          <a:lstStyle>
            <a:lvl1pPr>
              <a:defRPr sz="2200"/>
            </a:lvl1pPr>
            <a:lvl2pPr>
              <a:defRPr sz="2100"/>
            </a:lvl2pPr>
            <a:lvl3pPr>
              <a:defRPr sz="2000"/>
            </a:lvl3pPr>
            <a:lvl4pPr>
              <a:defRPr sz="1900"/>
            </a:lvl4pPr>
            <a:lvl5pPr>
              <a:defRPr sz="18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9209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3543D8F-399D-6DF8-DE86-76C3FD2D8EA6}"/>
              </a:ext>
              <a:ext uri="{C183D7F6-B498-43B3-948B-1728B52AA6E4}">
                <adec:decorative xmlns:adec="http://schemas.microsoft.com/office/drawing/2017/decorative" val="1"/>
              </a:ext>
            </a:extLst>
          </p:cNvPr>
          <p:cNvGrpSpPr/>
          <p:nvPr userDrawn="1">
            <p:extLst>
              <p:ext uri="{386F3935-93C4-4BCD-93E2-E3B085C9AB24}">
                <p16:designElem xmlns:p16="http://schemas.microsoft.com/office/powerpoint/2015/main" val="1"/>
              </p:ext>
            </p:extLst>
          </p:nvPr>
        </p:nvGrpSpPr>
        <p:grpSpPr>
          <a:xfrm>
            <a:off x="0" y="-9749"/>
            <a:ext cx="12191999" cy="4267200"/>
            <a:chOff x="7467600" y="0"/>
            <a:chExt cx="4724400" cy="6858000"/>
          </a:xfrm>
        </p:grpSpPr>
        <p:sp>
          <p:nvSpPr>
            <p:cNvPr id="36" name="Rectangle 35">
              <a:extLst>
                <a:ext uri="{FF2B5EF4-FFF2-40B4-BE49-F238E27FC236}">
                  <a16:creationId xmlns:a16="http://schemas.microsoft.com/office/drawing/2014/main" id="{817F1944-3532-0024-BA7E-7D1E45E78D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F63463AE-09F4-6357-D5D1-E78C1CBFD4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38" name="Freeform: Shape 37">
            <a:extLst>
              <a:ext uri="{FF2B5EF4-FFF2-40B4-BE49-F238E27FC236}">
                <a16:creationId xmlns:a16="http://schemas.microsoft.com/office/drawing/2014/main" id="{7BB7FBAC-7B68-830D-1EA5-32DE32721CFA}"/>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p:cNvSpPr>
            <a:spLocks noGrp="1"/>
          </p:cNvSpPr>
          <p:nvPr>
            <p:ph type="dt" sz="half" idx="10"/>
          </p:nvPr>
        </p:nvSpPr>
        <p:spPr/>
        <p:txBody>
          <a:bodyPr/>
          <a:lstStyle/>
          <a:p>
            <a:fld id="{6CCD6481-E61D-4E66-803C-6C9F4663D3B5}" type="datetime1">
              <a:rPr lang="en-US" smtClean="0"/>
              <a:t>6/2/2025</a:t>
            </a:fld>
            <a:endParaRPr lang="en-US"/>
          </a:p>
        </p:txBody>
      </p:sp>
      <p:sp>
        <p:nvSpPr>
          <p:cNvPr id="5" name="Footer Placeholder 4"/>
          <p:cNvSpPr>
            <a:spLocks noGrp="1"/>
          </p:cNvSpPr>
          <p:nvPr>
            <p:ph type="ftr" sz="quarter" idx="11"/>
          </p:nvPr>
        </p:nvSpPr>
        <p:spPr/>
        <p:txBody>
          <a:bodyPr/>
          <a:lstStyle/>
          <a:p>
            <a:r>
              <a:rPr lang="en-US"/>
              <a:t>Jenkins | Lecture 10</a:t>
            </a:r>
          </a:p>
        </p:txBody>
      </p:sp>
      <p:sp>
        <p:nvSpPr>
          <p:cNvPr id="6" name="Slide Number Placeholder 5"/>
          <p:cNvSpPr>
            <a:spLocks noGrp="1"/>
          </p:cNvSpPr>
          <p:nvPr>
            <p:ph type="sldNum" sz="quarter" idx="12"/>
          </p:nvPr>
        </p:nvSpPr>
        <p:spPr/>
        <p:txBody>
          <a:bodyPr/>
          <a:lstStyle/>
          <a:p>
            <a:fld id="{2D7BCAC6-6F2C-433A-BE87-D0A9451C8803}" type="slidenum">
              <a:rPr lang="en-US" smtClean="0"/>
              <a:pPr/>
              <a:t>‹#›</a:t>
            </a:fld>
            <a:endParaRPr lang="en-US"/>
          </a:p>
        </p:txBody>
      </p:sp>
      <p:sp useBgFill="1">
        <p:nvSpPr>
          <p:cNvPr id="39" name="Rectangle 38">
            <a:extLst>
              <a:ext uri="{FF2B5EF4-FFF2-40B4-BE49-F238E27FC236}">
                <a16:creationId xmlns:a16="http://schemas.microsoft.com/office/drawing/2014/main" id="{80D67507-A4B1-3C41-5B9A-FA01D257F94E}"/>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457200" y="457201"/>
            <a:ext cx="10500043"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0" name="Title 1">
            <a:extLst>
              <a:ext uri="{FF2B5EF4-FFF2-40B4-BE49-F238E27FC236}">
                <a16:creationId xmlns:a16="http://schemas.microsoft.com/office/drawing/2014/main" id="{6D1CD890-A10F-8D93-4D3F-349A90E7C7DC}"/>
              </a:ext>
            </a:extLst>
          </p:cNvPr>
          <p:cNvSpPr>
            <a:spLocks noGrp="1"/>
          </p:cNvSpPr>
          <p:nvPr>
            <p:ph type="title"/>
          </p:nvPr>
        </p:nvSpPr>
        <p:spPr>
          <a:xfrm>
            <a:off x="685798" y="483735"/>
            <a:ext cx="10271441" cy="1042761"/>
          </a:xfrm>
        </p:spPr>
        <p:txBody>
          <a:bodyPr/>
          <a:lstStyle>
            <a:lvl1pPr>
              <a:defRPr>
                <a:solidFill>
                  <a:schemeClr val="tx1"/>
                </a:solidFill>
              </a:defRPr>
            </a:lvl1pPr>
          </a:lstStyle>
          <a:p>
            <a:r>
              <a:rPr lang="en-US" dirty="0"/>
              <a:t>Click to edit Master title style</a:t>
            </a:r>
          </a:p>
        </p:txBody>
      </p:sp>
      <p:sp>
        <p:nvSpPr>
          <p:cNvPr id="41" name="Table Placeholder 4">
            <a:extLst>
              <a:ext uri="{FF2B5EF4-FFF2-40B4-BE49-F238E27FC236}">
                <a16:creationId xmlns:a16="http://schemas.microsoft.com/office/drawing/2014/main" id="{AD49D11B-7BF8-7119-747E-673152D1DCD6}"/>
              </a:ext>
            </a:extLst>
          </p:cNvPr>
          <p:cNvSpPr>
            <a:spLocks noGrp="1"/>
          </p:cNvSpPr>
          <p:nvPr>
            <p:ph type="tbl" sz="quarter" idx="13"/>
          </p:nvPr>
        </p:nvSpPr>
        <p:spPr>
          <a:xfrm>
            <a:off x="685800" y="1663021"/>
            <a:ext cx="10271441" cy="4556804"/>
          </a:xfrm>
        </p:spPr>
        <p:txBody>
          <a:bodyPr/>
          <a:lstStyle/>
          <a:p>
            <a:endParaRPr lang="en-US" dirty="0"/>
          </a:p>
        </p:txBody>
      </p:sp>
    </p:spTree>
    <p:extLst>
      <p:ext uri="{BB962C8B-B14F-4D97-AF65-F5344CB8AC3E}">
        <p14:creationId xmlns:p14="http://schemas.microsoft.com/office/powerpoint/2010/main" val="2442319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ft Heading Layou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96F58ED-6514-40CF-9192-CC3660D1F4BA}" type="datetime1">
              <a:rPr lang="en-US" smtClean="0"/>
              <a:t>6/2/2025</a:t>
            </a:fld>
            <a:endParaRPr lang="en-US"/>
          </a:p>
        </p:txBody>
      </p:sp>
      <p:sp>
        <p:nvSpPr>
          <p:cNvPr id="5" name="Footer Placeholder 4"/>
          <p:cNvSpPr>
            <a:spLocks noGrp="1"/>
          </p:cNvSpPr>
          <p:nvPr>
            <p:ph type="ftr" sz="quarter" idx="11"/>
          </p:nvPr>
        </p:nvSpPr>
        <p:spPr/>
        <p:txBody>
          <a:bodyPr/>
          <a:lstStyle/>
          <a:p>
            <a:r>
              <a:rPr lang="en-US"/>
              <a:t>Jenkins | Lecture 10</a:t>
            </a:r>
          </a:p>
        </p:txBody>
      </p:sp>
      <p:sp>
        <p:nvSpPr>
          <p:cNvPr id="6" name="Slide Number Placeholder 5"/>
          <p:cNvSpPr>
            <a:spLocks noGrp="1"/>
          </p:cNvSpPr>
          <p:nvPr>
            <p:ph type="sldNum" sz="quarter" idx="12"/>
          </p:nvPr>
        </p:nvSpPr>
        <p:spPr/>
        <p:txBody>
          <a:bodyPr/>
          <a:lstStyle/>
          <a:p>
            <a:fld id="{2D7BCAC6-6F2C-433A-BE87-D0A9451C8803}" type="slidenum">
              <a:rPr lang="en-US" smtClean="0"/>
              <a:pPr/>
              <a:t>‹#›</a:t>
            </a:fld>
            <a:endParaRPr lang="en-US"/>
          </a:p>
        </p:txBody>
      </p:sp>
      <p:sp>
        <p:nvSpPr>
          <p:cNvPr id="9" name="Content Placeholder 2">
            <a:extLst>
              <a:ext uri="{FF2B5EF4-FFF2-40B4-BE49-F238E27FC236}">
                <a16:creationId xmlns:a16="http://schemas.microsoft.com/office/drawing/2014/main" id="{7144A146-5A21-714C-4148-9B75C4D1588E}"/>
              </a:ext>
            </a:extLst>
          </p:cNvPr>
          <p:cNvSpPr>
            <a:spLocks noGrp="1"/>
          </p:cNvSpPr>
          <p:nvPr>
            <p:ph idx="1"/>
          </p:nvPr>
        </p:nvSpPr>
        <p:spPr>
          <a:xfrm>
            <a:off x="4261276" y="365757"/>
            <a:ext cx="6688349" cy="61264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16">
            <a:extLst>
              <a:ext uri="{FF2B5EF4-FFF2-40B4-BE49-F238E27FC236}">
                <a16:creationId xmlns:a16="http://schemas.microsoft.com/office/drawing/2014/main" id="{9C63D1E3-CA84-C4BA-1C88-EF714A56C00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93E526-3EF6-897C-D064-1128F72E7EDE}"/>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0C96C1C-AD28-8189-3789-8E7159CBCBF5}"/>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FEAD847-82C9-9DA1-0634-152DE5F83C03}"/>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316415FC-6975-9499-950F-56CE60A5A6E8}"/>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A938DA2C-54B4-789F-C3D3-F07479138E70}"/>
              </a:ext>
            </a:extLst>
          </p:cNvPr>
          <p:cNvSpPr>
            <a:spLocks noGrp="1"/>
          </p:cNvSpPr>
          <p:nvPr>
            <p:ph type="title"/>
          </p:nvPr>
        </p:nvSpPr>
        <p:spPr>
          <a:xfrm>
            <a:off x="527474" y="365756"/>
            <a:ext cx="3206326" cy="3624504"/>
          </a:xfrm>
        </p:spPr>
        <p:txBody>
          <a:bodyPr anchor="b"/>
          <a:lstStyle>
            <a:lvl1pPr algn="r">
              <a:defRPr>
                <a:solidFill>
                  <a:schemeClr val="bg1">
                    <a:lumMod val="95000"/>
                  </a:schemeClr>
                </a:solidFill>
              </a:defRPr>
            </a:lvl1pPr>
          </a:lstStyle>
          <a:p>
            <a:r>
              <a:rPr lang="en-US" dirty="0"/>
              <a:t>Click to edit Master title style</a:t>
            </a:r>
          </a:p>
        </p:txBody>
      </p:sp>
    </p:spTree>
    <p:extLst>
      <p:ext uri="{BB962C8B-B14F-4D97-AF65-F5344CB8AC3E}">
        <p14:creationId xmlns:p14="http://schemas.microsoft.com/office/powerpoint/2010/main" val="3306456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p Heading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254B254-511A-6515-8705-1D0D3406C54E}"/>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BABD7EF-2A2D-B804-3B1E-B408D2D5BD17}"/>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141081C-CE25-B752-8AAC-0457A91D4654}"/>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EEAA02E-86E8-D1C1-AD64-8C15047A038D}"/>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lvl1pPr>
              <a:defRPr>
                <a:solidFill>
                  <a:schemeClr val="bg1">
                    <a:lumMod val="95000"/>
                  </a:schemeClr>
                </a:solidFill>
              </a:defRPr>
            </a:lvl1pPr>
          </a:lstStyle>
          <a:p>
            <a:fld id="{5DD551DA-6E55-4518-963E-E74D9B6088FF}" type="datetime1">
              <a:rPr lang="en-US" smtClean="0"/>
              <a:t>6/2/2025</a:t>
            </a:fld>
            <a:endParaRPr lang="en-US"/>
          </a:p>
        </p:txBody>
      </p:sp>
      <p:sp>
        <p:nvSpPr>
          <p:cNvPr id="5" name="Footer Placeholder 4"/>
          <p:cNvSpPr>
            <a:spLocks noGrp="1"/>
          </p:cNvSpPr>
          <p:nvPr>
            <p:ph type="ftr" sz="quarter" idx="11"/>
          </p:nvPr>
        </p:nvSpPr>
        <p:spPr/>
        <p:txBody>
          <a:bodyPr/>
          <a:lstStyle/>
          <a:p>
            <a:r>
              <a:rPr lang="en-US"/>
              <a:t>Jenkins | Lecture 10</a:t>
            </a:r>
          </a:p>
        </p:txBody>
      </p:sp>
      <p:sp>
        <p:nvSpPr>
          <p:cNvPr id="6" name="Slide Number Placeholder 5"/>
          <p:cNvSpPr>
            <a:spLocks noGrp="1"/>
          </p:cNvSpPr>
          <p:nvPr>
            <p:ph type="sldNum" sz="quarter" idx="12"/>
          </p:nvPr>
        </p:nvSpPr>
        <p:spPr/>
        <p:txBody>
          <a:bodyPr/>
          <a:lstStyle/>
          <a:p>
            <a:fld id="{2D7BCAC6-6F2C-433A-BE87-D0A9451C8803}" type="slidenum">
              <a:rPr lang="en-US" smtClean="0"/>
              <a:pPr/>
              <a:t>‹#›</a:t>
            </a:fld>
            <a:endParaRPr lang="en-US"/>
          </a:p>
        </p:txBody>
      </p:sp>
      <p:sp>
        <p:nvSpPr>
          <p:cNvPr id="13" name="Content Placeholder 2">
            <a:extLst>
              <a:ext uri="{FF2B5EF4-FFF2-40B4-BE49-F238E27FC236}">
                <a16:creationId xmlns:a16="http://schemas.microsoft.com/office/drawing/2014/main" id="{EFC2281F-1654-0C11-471A-B274D452D698}"/>
              </a:ext>
            </a:extLst>
          </p:cNvPr>
          <p:cNvSpPr>
            <a:spLocks noGrp="1"/>
          </p:cNvSpPr>
          <p:nvPr>
            <p:ph idx="1"/>
          </p:nvPr>
        </p:nvSpPr>
        <p:spPr>
          <a:xfrm>
            <a:off x="838200" y="1743144"/>
            <a:ext cx="10515600" cy="4433819"/>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
            <a:extLst>
              <a:ext uri="{FF2B5EF4-FFF2-40B4-BE49-F238E27FC236}">
                <a16:creationId xmlns:a16="http://schemas.microsoft.com/office/drawing/2014/main" id="{8AAD270F-67BD-E509-0A2E-A3B9C1D13364}"/>
              </a:ext>
            </a:extLst>
          </p:cNvPr>
          <p:cNvSpPr>
            <a:spLocks noGrp="1"/>
          </p:cNvSpPr>
          <p:nvPr>
            <p:ph type="title"/>
          </p:nvPr>
        </p:nvSpPr>
        <p:spPr>
          <a:xfrm>
            <a:off x="838200" y="365125"/>
            <a:ext cx="10515600" cy="1042761"/>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896651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Car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92F3501-C5BE-DCD4-3BD1-B507D990556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4520553" cy="6858000"/>
          </a:xfrm>
          <a:custGeom>
            <a:avLst/>
            <a:gdLst/>
            <a:ahLst/>
            <a:cxnLst/>
            <a:rect l="l" t="t" r="r" b="b"/>
            <a:pathLst>
              <a:path w="4481964" h="6858000">
                <a:moveTo>
                  <a:pt x="0" y="0"/>
                </a:moveTo>
                <a:lnTo>
                  <a:pt x="3137249" y="0"/>
                </a:ln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0" y="6858000"/>
                </a:lnTo>
                <a:close/>
              </a:path>
            </a:pathLst>
          </a:custGeom>
        </p:spPr>
      </p:pic>
      <p:sp>
        <p:nvSpPr>
          <p:cNvPr id="18" name="Date Placeholder 17">
            <a:extLst>
              <a:ext uri="{FF2B5EF4-FFF2-40B4-BE49-F238E27FC236}">
                <a16:creationId xmlns:a16="http://schemas.microsoft.com/office/drawing/2014/main" id="{B41E4C10-80E2-9528-D06C-844994E73F93}"/>
              </a:ext>
            </a:extLst>
          </p:cNvPr>
          <p:cNvSpPr>
            <a:spLocks noGrp="1"/>
          </p:cNvSpPr>
          <p:nvPr>
            <p:ph type="dt" sz="half" idx="14"/>
          </p:nvPr>
        </p:nvSpPr>
        <p:spPr/>
        <p:txBody>
          <a:bodyPr/>
          <a:lstStyle/>
          <a:p>
            <a:fld id="{FD087A21-6DD6-49A6-B52E-D0FD9FC3B9A8}" type="datetime1">
              <a:rPr lang="en-US" smtClean="0"/>
              <a:t>6/2/2025</a:t>
            </a:fld>
            <a:endParaRPr lang="en-US" dirty="0"/>
          </a:p>
        </p:txBody>
      </p:sp>
      <p:sp>
        <p:nvSpPr>
          <p:cNvPr id="19" name="Footer Placeholder 18">
            <a:extLst>
              <a:ext uri="{FF2B5EF4-FFF2-40B4-BE49-F238E27FC236}">
                <a16:creationId xmlns:a16="http://schemas.microsoft.com/office/drawing/2014/main" id="{E26CC335-6CDD-0FF3-AEE1-EF5D8A5EAAAF}"/>
              </a:ext>
            </a:extLst>
          </p:cNvPr>
          <p:cNvSpPr>
            <a:spLocks noGrp="1"/>
          </p:cNvSpPr>
          <p:nvPr>
            <p:ph type="ftr" sz="quarter" idx="15"/>
          </p:nvPr>
        </p:nvSpPr>
        <p:spPr/>
        <p:txBody>
          <a:bodyPr/>
          <a:lstStyle/>
          <a:p>
            <a:r>
              <a:rPr lang="en-US"/>
              <a:t>Jenkins | Lecture 10</a:t>
            </a:r>
            <a:endParaRPr lang="en-US" dirty="0"/>
          </a:p>
        </p:txBody>
      </p:sp>
      <p:sp>
        <p:nvSpPr>
          <p:cNvPr id="20" name="Slide Number Placeholder 19">
            <a:extLst>
              <a:ext uri="{FF2B5EF4-FFF2-40B4-BE49-F238E27FC236}">
                <a16:creationId xmlns:a16="http://schemas.microsoft.com/office/drawing/2014/main" id="{EB22EDF1-4FF3-208C-0E13-2DE282F059CC}"/>
              </a:ext>
            </a:extLst>
          </p:cNvPr>
          <p:cNvSpPr>
            <a:spLocks noGrp="1"/>
          </p:cNvSpPr>
          <p:nvPr>
            <p:ph type="sldNum" sz="quarter" idx="16"/>
          </p:nvPr>
        </p:nvSpPr>
        <p:spPr/>
        <p:txBody>
          <a:bodyPr/>
          <a:lstStyle/>
          <a:p>
            <a:fld id="{2D7BCAC6-6F2C-433A-BE87-D0A9451C8803}" type="slidenum">
              <a:rPr lang="en-US" smtClean="0"/>
              <a:pPr/>
              <a:t>‹#›</a:t>
            </a:fld>
            <a:endParaRPr lang="en-US" dirty="0"/>
          </a:p>
        </p:txBody>
      </p:sp>
      <p:sp>
        <p:nvSpPr>
          <p:cNvPr id="22" name="Title 21">
            <a:extLst>
              <a:ext uri="{FF2B5EF4-FFF2-40B4-BE49-F238E27FC236}">
                <a16:creationId xmlns:a16="http://schemas.microsoft.com/office/drawing/2014/main" id="{293C9641-88F7-FC3E-DC98-14026910554B}"/>
              </a:ext>
            </a:extLst>
          </p:cNvPr>
          <p:cNvSpPr>
            <a:spLocks noGrp="1"/>
          </p:cNvSpPr>
          <p:nvPr>
            <p:ph type="title"/>
          </p:nvPr>
        </p:nvSpPr>
        <p:spPr>
          <a:xfrm>
            <a:off x="4621533" y="694282"/>
            <a:ext cx="6301740" cy="2444401"/>
          </a:xfrm>
        </p:spPr>
        <p:txBody>
          <a:bodyPr>
            <a:normAutofit/>
          </a:bodyPr>
          <a:lstStyle>
            <a:lvl1pPr>
              <a:defRPr sz="6000"/>
            </a:lvl1pPr>
          </a:lstStyle>
          <a:p>
            <a:r>
              <a:rPr lang="en-US" dirty="0"/>
              <a:t>Click to edit Master title style</a:t>
            </a:r>
          </a:p>
        </p:txBody>
      </p:sp>
      <p:sp>
        <p:nvSpPr>
          <p:cNvPr id="3" name="TextBox 2">
            <a:extLst>
              <a:ext uri="{FF2B5EF4-FFF2-40B4-BE49-F238E27FC236}">
                <a16:creationId xmlns:a16="http://schemas.microsoft.com/office/drawing/2014/main" id="{F1F0BA8A-DB8F-5584-7EA4-49FB667D63C5}"/>
              </a:ext>
            </a:extLst>
          </p:cNvPr>
          <p:cNvSpPr txBox="1"/>
          <p:nvPr userDrawn="1"/>
        </p:nvSpPr>
        <p:spPr>
          <a:xfrm>
            <a:off x="4520553" y="4114800"/>
            <a:ext cx="6301740" cy="1015663"/>
          </a:xfrm>
          <a:prstGeom prst="rect">
            <a:avLst/>
          </a:prstGeom>
          <a:noFill/>
        </p:spPr>
        <p:txBody>
          <a:bodyPr wrap="square" rtlCol="0" anchor="ctr">
            <a:spAutoFit/>
          </a:bodyPr>
          <a:lstStyle/>
          <a:p>
            <a:pPr algn="ctr"/>
            <a:r>
              <a:rPr lang="en-US" sz="3000" dirty="0">
                <a:latin typeface="Nunito" pitchFamily="2" charset="0"/>
                <a:hlinkClick r:id="rId3"/>
              </a:rPr>
              <a:t>shiva.kunwar@hotmail.com</a:t>
            </a:r>
            <a:br>
              <a:rPr lang="en-US" sz="3000" dirty="0">
                <a:latin typeface="Nunito" pitchFamily="2" charset="0"/>
              </a:rPr>
            </a:br>
            <a:r>
              <a:rPr lang="en-US" sz="3000" dirty="0">
                <a:latin typeface="Nunito" pitchFamily="2" charset="0"/>
              </a:rPr>
              <a:t>+977-9819123654</a:t>
            </a:r>
          </a:p>
        </p:txBody>
      </p:sp>
    </p:spTree>
    <p:extLst>
      <p:ext uri="{BB962C8B-B14F-4D97-AF65-F5344CB8AC3E}">
        <p14:creationId xmlns:p14="http://schemas.microsoft.com/office/powerpoint/2010/main" val="304267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eview Card">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1981200" y="1752600"/>
            <a:ext cx="8823960" cy="3352800"/>
          </a:xfrm>
        </p:spPr>
        <p:txBody>
          <a:bodyPr anchor="ctr">
            <a:normAutofit/>
          </a:bodyPr>
          <a:lstStyle>
            <a:lvl1pPr marL="0" indent="0" algn="ctr">
              <a:buNone/>
              <a:defRPr sz="4400">
                <a:solidFill>
                  <a:schemeClr val="tx1">
                    <a:lumMod val="75000"/>
                    <a:lumOff val="25000"/>
                  </a:schemeClr>
                </a:solidFill>
                <a:latin typeface="Roboto" panose="02000000000000000000" pitchFamily="2" charset="0"/>
                <a:ea typeface="Roboto" panose="02000000000000000000" pitchFamily="2"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8727BE75-6085-4DF5-B436-9F660F94DCF0}" type="datetime1">
              <a:rPr lang="en-US" smtClean="0"/>
              <a:t>6/2/2025</a:t>
            </a:fld>
            <a:endParaRPr lang="en-US"/>
          </a:p>
        </p:txBody>
      </p:sp>
      <p:sp>
        <p:nvSpPr>
          <p:cNvPr id="5" name="Footer Placeholder 4"/>
          <p:cNvSpPr>
            <a:spLocks noGrp="1"/>
          </p:cNvSpPr>
          <p:nvPr>
            <p:ph type="ftr" sz="quarter" idx="11"/>
          </p:nvPr>
        </p:nvSpPr>
        <p:spPr/>
        <p:txBody>
          <a:bodyPr/>
          <a:lstStyle/>
          <a:p>
            <a:r>
              <a:rPr lang="en-US"/>
              <a:t>Jenkins | Lecture 10</a:t>
            </a:r>
            <a:endParaRPr lang="en-US" dirty="0"/>
          </a:p>
        </p:txBody>
      </p:sp>
      <p:sp>
        <p:nvSpPr>
          <p:cNvPr id="6" name="Slide Number Placeholder 5"/>
          <p:cNvSpPr>
            <a:spLocks noGrp="1"/>
          </p:cNvSpPr>
          <p:nvPr>
            <p:ph type="sldNum" sz="quarter" idx="12"/>
          </p:nvPr>
        </p:nvSpPr>
        <p:spPr/>
        <p:txBody>
          <a:bodyPr/>
          <a:lstStyle/>
          <a:p>
            <a:fld id="{2D7BCAC6-6F2C-433A-BE87-D0A9451C8803}" type="slidenum">
              <a:rPr lang="en-US" smtClean="0"/>
              <a:pPr/>
              <a:t>‹#›</a:t>
            </a:fld>
            <a:endParaRPr lang="en-US"/>
          </a:p>
        </p:txBody>
      </p:sp>
      <p:sp>
        <p:nvSpPr>
          <p:cNvPr id="8" name="Title 1">
            <a:extLst>
              <a:ext uri="{FF2B5EF4-FFF2-40B4-BE49-F238E27FC236}">
                <a16:creationId xmlns:a16="http://schemas.microsoft.com/office/drawing/2014/main" id="{ED98743D-1F23-BB62-C246-CD2EC3D767DE}"/>
              </a:ext>
            </a:extLst>
          </p:cNvPr>
          <p:cNvSpPr txBox="1">
            <a:spLocks/>
          </p:cNvSpPr>
          <p:nvPr userDrawn="1"/>
        </p:nvSpPr>
        <p:spPr>
          <a:xfrm>
            <a:off x="1981200" y="417727"/>
            <a:ext cx="9372600" cy="1042761"/>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bg1"/>
                </a:solidFill>
                <a:latin typeface="Roboto" panose="02000000000000000000" pitchFamily="2" charset="0"/>
                <a:ea typeface="Roboto" panose="02000000000000000000" pitchFamily="2" charset="0"/>
                <a:cs typeface="+mj-cs"/>
              </a:defRPr>
            </a:lvl1pPr>
          </a:lstStyle>
          <a:p>
            <a:r>
              <a:rPr lang="en-US" dirty="0">
                <a:solidFill>
                  <a:schemeClr val="tx1"/>
                </a:solidFill>
              </a:rPr>
              <a:t>PREVIEW FOR NEXT LECTURE</a:t>
            </a:r>
          </a:p>
        </p:txBody>
      </p:sp>
      <p:sp>
        <p:nvSpPr>
          <p:cNvPr id="33" name="Rectangle 32">
            <a:extLst>
              <a:ext uri="{FF2B5EF4-FFF2-40B4-BE49-F238E27FC236}">
                <a16:creationId xmlns:a16="http://schemas.microsoft.com/office/drawing/2014/main" id="{4A728C91-D586-79A1-E0BB-9D8A46CCDA7E}"/>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rot="5400000" flipH="1">
            <a:off x="-2666997" y="2666995"/>
            <a:ext cx="6858000" cy="1524009"/>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EF1F0A4-9C8A-1861-8B9C-5AF948ACFE67}"/>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rot="5400000" flipH="1">
            <a:off x="-2667000" y="2677132"/>
            <a:ext cx="6857999" cy="1524011"/>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15F4F22-2928-48B3-6F55-1BB688BCF54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rot="5400000" flipH="1">
            <a:off x="-488993" y="4844999"/>
            <a:ext cx="2501979" cy="152401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985817F0-3E71-F53B-A83E-0DB732029D44}"/>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rot="20635413">
            <a:off x="-454256" y="1305931"/>
            <a:ext cx="1472120"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Rectangle 36">
            <a:extLst>
              <a:ext uri="{FF2B5EF4-FFF2-40B4-BE49-F238E27FC236}">
                <a16:creationId xmlns:a16="http://schemas.microsoft.com/office/drawing/2014/main" id="{D564781E-F74C-69A3-86EC-66CE155CF171}"/>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rot="5400000" flipH="1">
            <a:off x="-2667007" y="2656855"/>
            <a:ext cx="6858003" cy="1524009"/>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2101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24260" y="0"/>
            <a:ext cx="975360" cy="6858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609600" y="365760"/>
            <a:ext cx="10344912" cy="132556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2" y="1828805"/>
            <a:ext cx="10340023" cy="466343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59445" y="998540"/>
            <a:ext cx="1904999" cy="365125"/>
          </a:xfrm>
          <a:prstGeom prst="rect">
            <a:avLst/>
          </a:prstGeom>
        </p:spPr>
        <p:txBody>
          <a:bodyPr vert="horz" lIns="91440" tIns="45720" rIns="91440" bIns="45720" rtlCol="0" anchor="ctr"/>
          <a:lstStyle>
            <a:lvl1pPr algn="r">
              <a:defRPr sz="1100" b="0">
                <a:solidFill>
                  <a:schemeClr val="tx1"/>
                </a:solidFill>
              </a:defRPr>
            </a:lvl1pPr>
          </a:lstStyle>
          <a:p>
            <a:fld id="{B327E5F3-84B0-4C60-B6C6-9B22169C849C}" type="datetime1">
              <a:rPr lang="en-US" smtClean="0"/>
              <a:t>6/2/2025</a:t>
            </a:fld>
            <a:endParaRPr lang="en-US" dirty="0"/>
          </a:p>
        </p:txBody>
      </p:sp>
      <p:sp>
        <p:nvSpPr>
          <p:cNvPr id="5" name="Footer Placeholder 4"/>
          <p:cNvSpPr>
            <a:spLocks noGrp="1"/>
          </p:cNvSpPr>
          <p:nvPr>
            <p:ph type="ftr" sz="quarter" idx="3"/>
          </p:nvPr>
        </p:nvSpPr>
        <p:spPr>
          <a:xfrm rot="16200000">
            <a:off x="9921240" y="4046540"/>
            <a:ext cx="3581400" cy="365125"/>
          </a:xfrm>
          <a:prstGeom prst="rect">
            <a:avLst/>
          </a:prstGeom>
        </p:spPr>
        <p:txBody>
          <a:bodyPr vert="horz" lIns="91440" tIns="45720" rIns="91440" bIns="45720" rtlCol="0" anchor="ctr"/>
          <a:lstStyle>
            <a:lvl1pPr algn="l">
              <a:defRPr sz="1100">
                <a:solidFill>
                  <a:schemeClr val="tx1"/>
                </a:solidFill>
              </a:defRPr>
            </a:lvl1pPr>
          </a:lstStyle>
          <a:p>
            <a:r>
              <a:rPr lang="en-US"/>
              <a:t>Jenkins | Lecture 10</a:t>
            </a:r>
            <a:endParaRPr lang="en-US" dirty="0"/>
          </a:p>
        </p:txBody>
      </p:sp>
      <p:sp>
        <p:nvSpPr>
          <p:cNvPr id="8" name="Oval 7">
            <a:extLst>
              <a:ext uri="{FF2B5EF4-FFF2-40B4-BE49-F238E27FC236}">
                <a16:creationId xmlns:a16="http://schemas.microsoft.com/office/drawing/2014/main" id="{8AF6C3CA-BFE1-3007-0D60-E69A73AE4945}"/>
              </a:ext>
            </a:extLst>
          </p:cNvPr>
          <p:cNvSpPr/>
          <p:nvPr userDrawn="1"/>
        </p:nvSpPr>
        <p:spPr>
          <a:xfrm>
            <a:off x="11394452" y="6172200"/>
            <a:ext cx="634976" cy="63497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11254740" y="6172206"/>
            <a:ext cx="914400" cy="593725"/>
          </a:xfrm>
          <a:prstGeom prst="rect">
            <a:avLst/>
          </a:prstGeom>
        </p:spPr>
        <p:txBody>
          <a:bodyPr vert="horz" lIns="27432" tIns="45720" rIns="27432" bIns="45720" rtlCol="0" anchor="ctr">
            <a:normAutofit/>
          </a:bodyPr>
          <a:lstStyle>
            <a:lvl1pPr algn="ctr">
              <a:defRPr sz="3200">
                <a:solidFill>
                  <a:schemeClr val="bg1">
                    <a:lumMod val="95000"/>
                  </a:schemeClr>
                </a:solidFill>
              </a:defRPr>
            </a:lvl1pPr>
          </a:lstStyle>
          <a:p>
            <a:fld id="{2D7BCAC6-6F2C-433A-BE87-D0A9451C8803}" type="slidenum">
              <a:rPr lang="en-US" smtClean="0"/>
              <a:pPr/>
              <a:t>‹#›</a:t>
            </a:fld>
            <a:endParaRPr lang="en-US" dirty="0"/>
          </a:p>
        </p:txBody>
      </p:sp>
      <p:pic>
        <p:nvPicPr>
          <p:cNvPr id="9" name="Picture 2" descr="Modern DevOps Certifications">
            <a:extLst>
              <a:ext uri="{FF2B5EF4-FFF2-40B4-BE49-F238E27FC236}">
                <a16:creationId xmlns:a16="http://schemas.microsoft.com/office/drawing/2014/main" id="{B2AEC855-8EAB-F2F2-74ED-5A557BFDB312}"/>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52400" y="0"/>
            <a:ext cx="1201420" cy="819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5013818"/>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3" r:id="rId3"/>
    <p:sldLayoutId id="2147483687" r:id="rId4"/>
    <p:sldLayoutId id="2147483686" r:id="rId5"/>
    <p:sldLayoutId id="2147483688" r:id="rId6"/>
    <p:sldLayoutId id="2147483684" r:id="rId7"/>
    <p:sldLayoutId id="2147483685" r:id="rId8"/>
  </p:sldLayoutIdLst>
  <p:hf hdr="0" dt="0"/>
  <p:txStyles>
    <p:titleStyle>
      <a:lvl1pPr algn="l" defTabSz="914400" rtl="0" eaLnBrk="1" latinLnBrk="0" hangingPunct="1">
        <a:lnSpc>
          <a:spcPct val="90000"/>
        </a:lnSpc>
        <a:spcBef>
          <a:spcPct val="0"/>
        </a:spcBef>
        <a:buNone/>
        <a:defRPr sz="4400" kern="1200" spc="-50" baseline="0">
          <a:solidFill>
            <a:schemeClr val="tx1"/>
          </a:solidFill>
          <a:latin typeface="Roboto" panose="02000000000000000000" pitchFamily="2" charset="0"/>
          <a:ea typeface="Roboto" panose="02000000000000000000" pitchFamily="2" charset="0"/>
          <a:cs typeface="+mj-cs"/>
        </a:defRPr>
      </a:lvl1pPr>
    </p:titleStyle>
    <p:bodyStyle>
      <a:lvl1pPr marL="182880" indent="-182880" algn="l" defTabSz="914400" rtl="0" eaLnBrk="1" latinLnBrk="0" hangingPunct="1">
        <a:lnSpc>
          <a:spcPct val="150000"/>
        </a:lnSpc>
        <a:spcBef>
          <a:spcPts val="0"/>
        </a:spcBef>
        <a:spcAft>
          <a:spcPts val="0"/>
        </a:spcAft>
        <a:buClr>
          <a:schemeClr val="accent1"/>
        </a:buClr>
        <a:buSzPct val="80000"/>
        <a:buFont typeface="Arial" pitchFamily="34" charset="0"/>
        <a:buChar char="•"/>
        <a:defRPr sz="2400" kern="1200" spc="10" baseline="0">
          <a:solidFill>
            <a:schemeClr val="tx1"/>
          </a:solidFill>
          <a:latin typeface="Nunito" pitchFamily="2" charset="0"/>
          <a:ea typeface="+mn-ea"/>
          <a:cs typeface="+mn-cs"/>
        </a:defRPr>
      </a:lvl1pPr>
      <a:lvl2pPr marL="457200" indent="-182880" algn="l" defTabSz="914400" rtl="0" eaLnBrk="1" latinLnBrk="0" hangingPunct="1">
        <a:lnSpc>
          <a:spcPct val="150000"/>
        </a:lnSpc>
        <a:spcBef>
          <a:spcPts val="0"/>
        </a:spcBef>
        <a:spcAft>
          <a:spcPts val="0"/>
        </a:spcAft>
        <a:buClr>
          <a:schemeClr val="accent1"/>
        </a:buClr>
        <a:buFont typeface="Wingdings 2" pitchFamily="18" charset="2"/>
        <a:buChar char=""/>
        <a:defRPr sz="2300" kern="1200">
          <a:solidFill>
            <a:schemeClr val="tx1">
              <a:lumMod val="85000"/>
              <a:lumOff val="15000"/>
            </a:schemeClr>
          </a:solidFill>
          <a:latin typeface="Nunito" pitchFamily="2" charset="0"/>
          <a:ea typeface="+mn-ea"/>
          <a:cs typeface="+mn-cs"/>
        </a:defRPr>
      </a:lvl2pPr>
      <a:lvl3pPr marL="731520" indent="-182880" algn="l" defTabSz="914400" rtl="0" eaLnBrk="1" latinLnBrk="0" hangingPunct="1">
        <a:lnSpc>
          <a:spcPct val="150000"/>
        </a:lnSpc>
        <a:spcBef>
          <a:spcPts val="0"/>
        </a:spcBef>
        <a:spcAft>
          <a:spcPts val="0"/>
        </a:spcAft>
        <a:buClr>
          <a:schemeClr val="accent1"/>
        </a:buClr>
        <a:buFont typeface="Wingdings 2" pitchFamily="18" charset="2"/>
        <a:buChar char=""/>
        <a:defRPr sz="2200" kern="1200">
          <a:solidFill>
            <a:schemeClr val="tx1">
              <a:lumMod val="85000"/>
              <a:lumOff val="15000"/>
            </a:schemeClr>
          </a:solidFill>
          <a:latin typeface="Nunito" pitchFamily="2" charset="0"/>
          <a:ea typeface="+mn-ea"/>
          <a:cs typeface="+mn-cs"/>
        </a:defRPr>
      </a:lvl3pPr>
      <a:lvl4pPr marL="1005840" indent="-182880" algn="l" defTabSz="914400" rtl="0" eaLnBrk="1" latinLnBrk="0" hangingPunct="1">
        <a:lnSpc>
          <a:spcPct val="150000"/>
        </a:lnSpc>
        <a:spcBef>
          <a:spcPts val="0"/>
        </a:spcBef>
        <a:spcAft>
          <a:spcPts val="0"/>
        </a:spcAft>
        <a:buClr>
          <a:schemeClr val="accent1"/>
        </a:buClr>
        <a:buFont typeface="Wingdings 2" pitchFamily="18" charset="2"/>
        <a:buChar char=""/>
        <a:defRPr sz="2100" kern="1200">
          <a:solidFill>
            <a:schemeClr val="tx1">
              <a:lumMod val="85000"/>
              <a:lumOff val="15000"/>
            </a:schemeClr>
          </a:solidFill>
          <a:latin typeface="Nunito" pitchFamily="2" charset="0"/>
          <a:ea typeface="+mn-ea"/>
          <a:cs typeface="+mn-cs"/>
        </a:defRPr>
      </a:lvl4pPr>
      <a:lvl5pPr marL="1280160" indent="-182880" algn="l" defTabSz="914400" rtl="0" eaLnBrk="1" latinLnBrk="0" hangingPunct="1">
        <a:lnSpc>
          <a:spcPct val="150000"/>
        </a:lnSpc>
        <a:spcBef>
          <a:spcPts val="0"/>
        </a:spcBef>
        <a:spcAft>
          <a:spcPts val="0"/>
        </a:spcAft>
        <a:buClr>
          <a:schemeClr val="accent1"/>
        </a:buClr>
        <a:buFont typeface="Wingdings 2" pitchFamily="18" charset="2"/>
        <a:buChar char=""/>
        <a:defRPr sz="2000" kern="1200">
          <a:solidFill>
            <a:schemeClr val="tx1">
              <a:lumMod val="85000"/>
              <a:lumOff val="15000"/>
            </a:schemeClr>
          </a:solidFill>
          <a:latin typeface="Nunito" pitchFamily="2"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6408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67420-ACE8-4DCC-3F1A-716B9F0ED5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23A9F-82A7-148E-EBF5-C155B37DF360}"/>
              </a:ext>
            </a:extLst>
          </p:cNvPr>
          <p:cNvSpPr>
            <a:spLocks noGrp="1"/>
          </p:cNvSpPr>
          <p:nvPr>
            <p:ph type="title"/>
          </p:nvPr>
        </p:nvSpPr>
        <p:spPr>
          <a:xfrm>
            <a:off x="609600" y="365760"/>
            <a:ext cx="10344912" cy="1325562"/>
          </a:xfrm>
        </p:spPr>
        <p:txBody>
          <a:bodyPr/>
          <a:lstStyle/>
          <a:p>
            <a:r>
              <a:rPr lang="en-US" dirty="0"/>
              <a:t>Unit 5: Jenkins (5hrs)</a:t>
            </a:r>
          </a:p>
        </p:txBody>
      </p:sp>
      <p:sp>
        <p:nvSpPr>
          <p:cNvPr id="3" name="Content Placeholder 2">
            <a:extLst>
              <a:ext uri="{FF2B5EF4-FFF2-40B4-BE49-F238E27FC236}">
                <a16:creationId xmlns:a16="http://schemas.microsoft.com/office/drawing/2014/main" id="{0F749623-CB49-BD55-2D8E-5B931245FE10}"/>
              </a:ext>
            </a:extLst>
          </p:cNvPr>
          <p:cNvSpPr>
            <a:spLocks noGrp="1"/>
          </p:cNvSpPr>
          <p:nvPr>
            <p:ph idx="1"/>
          </p:nvPr>
        </p:nvSpPr>
        <p:spPr>
          <a:xfrm>
            <a:off x="609602" y="1828805"/>
            <a:ext cx="10340023" cy="4663439"/>
          </a:xfrm>
        </p:spPr>
        <p:txBody>
          <a:bodyPr>
            <a:normAutofit/>
          </a:bodyPr>
          <a:lstStyle/>
          <a:p>
            <a:r>
              <a:rPr lang="en-US" b="1" dirty="0"/>
              <a:t>Essentials of Continuous Integration</a:t>
            </a:r>
          </a:p>
          <a:p>
            <a:r>
              <a:rPr lang="en-US" b="1" dirty="0"/>
              <a:t>Architecture of Jenkins</a:t>
            </a:r>
          </a:p>
          <a:p>
            <a:r>
              <a:rPr lang="en-US" b="1" dirty="0"/>
              <a:t>Jenkins Tool Management System</a:t>
            </a:r>
          </a:p>
          <a:p>
            <a:r>
              <a:rPr lang="en-US" b="1" dirty="0"/>
              <a:t>User Management in Jenkins</a:t>
            </a:r>
          </a:p>
          <a:p>
            <a:r>
              <a:rPr lang="en-US" dirty="0"/>
              <a:t>Jenkins Workshop: Authentication, Authorization</a:t>
            </a:r>
          </a:p>
          <a:p>
            <a:r>
              <a:rPr lang="en-US" dirty="0"/>
              <a:t>Maven Overview</a:t>
            </a:r>
          </a:p>
          <a:p>
            <a:r>
              <a:rPr lang="en-US" dirty="0"/>
              <a:t>Creating Jobs and Automatic Build Settings</a:t>
            </a:r>
          </a:p>
          <a:p>
            <a:r>
              <a:rPr lang="en-US" dirty="0"/>
              <a:t>Building Delivery Pipeline. Plugin Management and Notification System</a:t>
            </a:r>
          </a:p>
        </p:txBody>
      </p:sp>
      <p:sp>
        <p:nvSpPr>
          <p:cNvPr id="6" name="Footer Placeholder 5">
            <a:extLst>
              <a:ext uri="{FF2B5EF4-FFF2-40B4-BE49-F238E27FC236}">
                <a16:creationId xmlns:a16="http://schemas.microsoft.com/office/drawing/2014/main" id="{156395C2-2906-0070-B02F-F8FB11C4EAD9}"/>
              </a:ext>
            </a:extLst>
          </p:cNvPr>
          <p:cNvSpPr>
            <a:spLocks noGrp="1"/>
          </p:cNvSpPr>
          <p:nvPr>
            <p:ph type="ftr" sz="quarter" idx="11"/>
          </p:nvPr>
        </p:nvSpPr>
        <p:spPr>
          <a:xfrm rot="16200000">
            <a:off x="9921240" y="4046540"/>
            <a:ext cx="3581400" cy="365125"/>
          </a:xfrm>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8254E840-5CDB-EA51-1C75-4C9990AFA53C}"/>
              </a:ext>
            </a:extLst>
          </p:cNvPr>
          <p:cNvSpPr>
            <a:spLocks noGrp="1"/>
          </p:cNvSpPr>
          <p:nvPr>
            <p:ph type="sldNum" sz="quarter" idx="12"/>
          </p:nvPr>
        </p:nvSpPr>
        <p:spPr>
          <a:xfrm>
            <a:off x="11254740" y="6172206"/>
            <a:ext cx="914400" cy="593725"/>
          </a:xfrm>
        </p:spPr>
        <p:txBody>
          <a:bodyPr>
            <a:normAutofit/>
          </a:bodyPr>
          <a:lstStyle/>
          <a:p>
            <a:fld id="{2D7BCAC6-6F2C-433A-BE87-D0A9451C8803}" type="slidenum">
              <a:rPr lang="en-US" smtClean="0"/>
              <a:pPr/>
              <a:t>2</a:t>
            </a:fld>
            <a:endParaRPr lang="en-US"/>
          </a:p>
        </p:txBody>
      </p:sp>
    </p:spTree>
    <p:extLst>
      <p:ext uri="{BB962C8B-B14F-4D97-AF65-F5344CB8AC3E}">
        <p14:creationId xmlns:p14="http://schemas.microsoft.com/office/powerpoint/2010/main" val="907411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Once upon a time</a:t>
            </a:r>
          </a:p>
        </p:txBody>
      </p:sp>
      <p:sp>
        <p:nvSpPr>
          <p:cNvPr id="3" name="Content Placeholder 2"/>
          <p:cNvSpPr>
            <a:spLocks noGrp="1"/>
          </p:cNvSpPr>
          <p:nvPr>
            <p:ph idx="1"/>
          </p:nvPr>
        </p:nvSpPr>
        <p:spPr/>
        <p:txBody>
          <a:bodyPr>
            <a:normAutofit/>
          </a:bodyPr>
          <a:lstStyle/>
          <a:p>
            <a:r>
              <a:rPr lang="en-US" dirty="0"/>
              <a:t>In a bustling software company, </a:t>
            </a:r>
            <a:r>
              <a:rPr lang="en-US" b="1" dirty="0"/>
              <a:t>InnovateTechNepal</a:t>
            </a:r>
            <a:r>
              <a:rPr lang="en-US" dirty="0"/>
              <a:t>, a team of developers worked on a revolutionary new application.</a:t>
            </a:r>
          </a:p>
          <a:p>
            <a:r>
              <a:rPr lang="en-US" dirty="0"/>
              <a:t>The company was known for its innovative applications, but behind the scenes, its </a:t>
            </a:r>
            <a:r>
              <a:rPr lang="en-US" b="1" dirty="0">
                <a:solidFill>
                  <a:srgbClr val="FF0000"/>
                </a:solidFill>
              </a:rPr>
              <a:t>development process was a mess</a:t>
            </a:r>
            <a:r>
              <a:rPr lang="en-US" dirty="0"/>
              <a:t>.</a:t>
            </a:r>
          </a:p>
        </p:txBody>
      </p:sp>
      <p:sp>
        <p:nvSpPr>
          <p:cNvPr id="6" name="Footer Placeholder 5">
            <a:extLst>
              <a:ext uri="{FF2B5EF4-FFF2-40B4-BE49-F238E27FC236}">
                <a16:creationId xmlns:a16="http://schemas.microsoft.com/office/drawing/2014/main" id="{B83B8562-561F-CEA4-A309-D1167EE3A4D4}"/>
              </a:ext>
            </a:extLst>
          </p:cNvPr>
          <p:cNvSpPr>
            <a:spLocks noGrp="1"/>
          </p:cNvSpPr>
          <p:nvPr>
            <p:ph type="ftr" sz="quarter" idx="11"/>
          </p:nvPr>
        </p:nvSpPr>
        <p:spPr/>
        <p:txBody>
          <a:bodyPr/>
          <a:lstStyle/>
          <a:p>
            <a:r>
              <a:rPr lang="en-US"/>
              <a:t>Jenkins | Lecture 10</a:t>
            </a:r>
            <a:endParaRPr lang="en-US" dirty="0"/>
          </a:p>
        </p:txBody>
      </p:sp>
      <p:sp>
        <p:nvSpPr>
          <p:cNvPr id="4" name="Slide Number Placeholder 3"/>
          <p:cNvSpPr>
            <a:spLocks noGrp="1"/>
          </p:cNvSpPr>
          <p:nvPr>
            <p:ph type="sldNum" sz="quarter" idx="12"/>
          </p:nvPr>
        </p:nvSpPr>
        <p:spPr/>
        <p:txBody>
          <a:bodyPr>
            <a:normAutofit/>
          </a:bodyPr>
          <a:lstStyle/>
          <a:p>
            <a:fld id="{2D7BCAC6-6F2C-433A-BE87-D0A9451C8803}" type="slidenum">
              <a:rPr lang="en-US" smtClean="0"/>
              <a:pPr/>
              <a:t>3</a:t>
            </a:fld>
            <a:endParaRPr lang="en-US"/>
          </a:p>
        </p:txBody>
      </p:sp>
    </p:spTree>
    <p:extLst>
      <p:ext uri="{BB962C8B-B14F-4D97-AF65-F5344CB8AC3E}">
        <p14:creationId xmlns:p14="http://schemas.microsoft.com/office/powerpoint/2010/main" val="1637234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FBFF3-D5D8-A746-865A-EA5877991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125BF-E275-D437-343E-FBEDA5116E13}"/>
              </a:ext>
            </a:extLst>
          </p:cNvPr>
          <p:cNvSpPr>
            <a:spLocks noGrp="1"/>
          </p:cNvSpPr>
          <p:nvPr>
            <p:ph type="title"/>
          </p:nvPr>
        </p:nvSpPr>
        <p:spPr/>
        <p:txBody>
          <a:bodyPr/>
          <a:lstStyle/>
          <a:p>
            <a:r>
              <a:rPr lang="en-US" dirty="0"/>
              <a:t>The CHAOS</a:t>
            </a:r>
          </a:p>
        </p:txBody>
      </p:sp>
      <p:sp>
        <p:nvSpPr>
          <p:cNvPr id="3" name="Content Placeholder 2">
            <a:extLst>
              <a:ext uri="{FF2B5EF4-FFF2-40B4-BE49-F238E27FC236}">
                <a16:creationId xmlns:a16="http://schemas.microsoft.com/office/drawing/2014/main" id="{22699809-57CB-C330-6C42-DE28A575625A}"/>
              </a:ext>
            </a:extLst>
          </p:cNvPr>
          <p:cNvSpPr>
            <a:spLocks noGrp="1"/>
          </p:cNvSpPr>
          <p:nvPr>
            <p:ph idx="1"/>
          </p:nvPr>
        </p:nvSpPr>
        <p:spPr/>
        <p:txBody>
          <a:bodyPr>
            <a:normAutofit/>
          </a:bodyPr>
          <a:lstStyle/>
          <a:p>
            <a:r>
              <a:rPr lang="en-US" dirty="0"/>
              <a:t>Every time the team </a:t>
            </a:r>
            <a:r>
              <a:rPr lang="en-US" b="1" dirty="0">
                <a:solidFill>
                  <a:srgbClr val="FF0000"/>
                </a:solidFill>
              </a:rPr>
              <a:t>released a new version</a:t>
            </a:r>
            <a:r>
              <a:rPr lang="en-US" dirty="0"/>
              <a:t> of their app, chaos erupted:</a:t>
            </a:r>
          </a:p>
          <a:p>
            <a:r>
              <a:rPr lang="en-US" b="1" dirty="0"/>
              <a:t>Manual Builds: </a:t>
            </a:r>
            <a:r>
              <a:rPr lang="en-US" dirty="0"/>
              <a:t>Developers like Ram and Gita spent hours compiling the code, </a:t>
            </a:r>
            <a:r>
              <a:rPr lang="en-US" b="1" i="1" dirty="0">
                <a:solidFill>
                  <a:srgbClr val="FF0000"/>
                </a:solidFill>
              </a:rPr>
              <a:t>manually running tests</a:t>
            </a:r>
            <a:r>
              <a:rPr lang="en-US" dirty="0"/>
              <a:t>, and packaging the application. </a:t>
            </a:r>
            <a:r>
              <a:rPr lang="en-US" b="1" i="1" dirty="0"/>
              <a:t>One typo in a build command could derail an entire release</a:t>
            </a:r>
            <a:r>
              <a:rPr lang="en-US" dirty="0"/>
              <a:t>.</a:t>
            </a:r>
          </a:p>
          <a:p>
            <a:r>
              <a:rPr lang="en-US" b="1" dirty="0"/>
              <a:t>Integration Nightmares: </a:t>
            </a:r>
            <a:r>
              <a:rPr lang="en-US" dirty="0"/>
              <a:t>The team worked on different features, merging their code only at the end of the sprint. Inevitably, </a:t>
            </a:r>
            <a:r>
              <a:rPr lang="en-US" b="1" i="1" dirty="0">
                <a:solidFill>
                  <a:srgbClr val="7030A0"/>
                </a:solidFill>
              </a:rPr>
              <a:t>integrations broke</a:t>
            </a:r>
            <a:r>
              <a:rPr lang="en-US" dirty="0"/>
              <a:t>, </a:t>
            </a:r>
            <a:r>
              <a:rPr lang="en-US" b="1" i="1" dirty="0">
                <a:solidFill>
                  <a:schemeClr val="accent5">
                    <a:lumMod val="75000"/>
                  </a:schemeClr>
                </a:solidFill>
              </a:rPr>
              <a:t>causing delays</a:t>
            </a:r>
            <a:r>
              <a:rPr lang="en-US" dirty="0"/>
              <a:t> and </a:t>
            </a:r>
            <a:r>
              <a:rPr lang="en-US" b="1" i="1" dirty="0">
                <a:solidFill>
                  <a:schemeClr val="accent1">
                    <a:lumMod val="75000"/>
                  </a:schemeClr>
                </a:solidFill>
              </a:rPr>
              <a:t>late nights at the office</a:t>
            </a:r>
            <a:r>
              <a:rPr lang="en-US" dirty="0"/>
              <a:t>.</a:t>
            </a:r>
          </a:p>
        </p:txBody>
      </p:sp>
      <p:sp>
        <p:nvSpPr>
          <p:cNvPr id="6" name="Footer Placeholder 5">
            <a:extLst>
              <a:ext uri="{FF2B5EF4-FFF2-40B4-BE49-F238E27FC236}">
                <a16:creationId xmlns:a16="http://schemas.microsoft.com/office/drawing/2014/main" id="{211A317B-5D5E-42BA-F155-92D5E762BD11}"/>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64CF8975-6B6C-DE51-7023-AD0042091BEE}"/>
              </a:ext>
            </a:extLst>
          </p:cNvPr>
          <p:cNvSpPr>
            <a:spLocks noGrp="1"/>
          </p:cNvSpPr>
          <p:nvPr>
            <p:ph type="sldNum" sz="quarter" idx="12"/>
          </p:nvPr>
        </p:nvSpPr>
        <p:spPr/>
        <p:txBody>
          <a:bodyPr>
            <a:normAutofit/>
          </a:bodyPr>
          <a:lstStyle/>
          <a:p>
            <a:fld id="{2D7BCAC6-6F2C-433A-BE87-D0A9451C8803}" type="slidenum">
              <a:rPr lang="en-US" smtClean="0"/>
              <a:pPr/>
              <a:t>4</a:t>
            </a:fld>
            <a:endParaRPr lang="en-US"/>
          </a:p>
        </p:txBody>
      </p:sp>
    </p:spTree>
    <p:extLst>
      <p:ext uri="{BB962C8B-B14F-4D97-AF65-F5344CB8AC3E}">
        <p14:creationId xmlns:p14="http://schemas.microsoft.com/office/powerpoint/2010/main" val="2907435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3D22C-0183-BE54-54A5-AC43671091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6B326-0695-0C16-8787-4928A0AB726B}"/>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48B33116-BA3D-2846-FA46-3349AA2DF486}"/>
              </a:ext>
            </a:extLst>
          </p:cNvPr>
          <p:cNvSpPr>
            <a:spLocks noGrp="1"/>
          </p:cNvSpPr>
          <p:nvPr>
            <p:ph idx="1"/>
          </p:nvPr>
        </p:nvSpPr>
        <p:spPr/>
        <p:txBody>
          <a:bodyPr>
            <a:normAutofit/>
          </a:bodyPr>
          <a:lstStyle/>
          <a:p>
            <a:r>
              <a:rPr lang="en-US" b="1" dirty="0"/>
              <a:t>Deployment Delays: </a:t>
            </a:r>
            <a:r>
              <a:rPr lang="en-US" dirty="0"/>
              <a:t>Deploying the app to staging and production environments required a series of manual steps that were often inconsistent. The operations team, led by Dammar (yes, Dammar from the version control story), frequently </a:t>
            </a:r>
            <a:r>
              <a:rPr lang="en-US" b="1" i="1" dirty="0">
                <a:solidFill>
                  <a:srgbClr val="FFC000"/>
                </a:solidFill>
              </a:rPr>
              <a:t>received incomplete or buggy builds</a:t>
            </a:r>
            <a:r>
              <a:rPr lang="en-US" dirty="0"/>
              <a:t>.</a:t>
            </a:r>
          </a:p>
          <a:p>
            <a:r>
              <a:rPr lang="en-US" b="1" dirty="0"/>
              <a:t>Slow Feedback Loops: </a:t>
            </a:r>
            <a:r>
              <a:rPr lang="en-US" dirty="0"/>
              <a:t>When bugs were found, developers couldn’t trace them back to specific changes. </a:t>
            </a:r>
            <a:r>
              <a:rPr lang="en-US" b="1" i="1" dirty="0">
                <a:solidFill>
                  <a:srgbClr val="C00000"/>
                </a:solidFill>
              </a:rPr>
              <a:t>Fixing issues was a slow and painful process</a:t>
            </a:r>
            <a:r>
              <a:rPr lang="en-US" dirty="0"/>
              <a:t>, frustrating everyone involved.</a:t>
            </a:r>
          </a:p>
        </p:txBody>
      </p:sp>
      <p:sp>
        <p:nvSpPr>
          <p:cNvPr id="6" name="Footer Placeholder 5">
            <a:extLst>
              <a:ext uri="{FF2B5EF4-FFF2-40B4-BE49-F238E27FC236}">
                <a16:creationId xmlns:a16="http://schemas.microsoft.com/office/drawing/2014/main" id="{6257854F-1D64-628E-E5A4-6BC558FA87BA}"/>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87CFECB5-FFA1-ECA5-12F4-B3BB65ED8E59}"/>
              </a:ext>
            </a:extLst>
          </p:cNvPr>
          <p:cNvSpPr>
            <a:spLocks noGrp="1"/>
          </p:cNvSpPr>
          <p:nvPr>
            <p:ph type="sldNum" sz="quarter" idx="12"/>
          </p:nvPr>
        </p:nvSpPr>
        <p:spPr/>
        <p:txBody>
          <a:bodyPr>
            <a:normAutofit/>
          </a:bodyPr>
          <a:lstStyle/>
          <a:p>
            <a:fld id="{2D7BCAC6-6F2C-433A-BE87-D0A9451C8803}" type="slidenum">
              <a:rPr lang="en-US" smtClean="0"/>
              <a:pPr/>
              <a:t>5</a:t>
            </a:fld>
            <a:endParaRPr lang="en-US"/>
          </a:p>
        </p:txBody>
      </p:sp>
    </p:spTree>
    <p:extLst>
      <p:ext uri="{BB962C8B-B14F-4D97-AF65-F5344CB8AC3E}">
        <p14:creationId xmlns:p14="http://schemas.microsoft.com/office/powerpoint/2010/main" val="819591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E99D5-699A-68ED-3D9A-2D37A42CF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4D5B1-079C-82CB-D11A-73F22DFA38E2}"/>
              </a:ext>
            </a:extLst>
          </p:cNvPr>
          <p:cNvSpPr>
            <a:spLocks noGrp="1"/>
          </p:cNvSpPr>
          <p:nvPr>
            <p:ph type="title"/>
          </p:nvPr>
        </p:nvSpPr>
        <p:spPr/>
        <p:txBody>
          <a:bodyPr/>
          <a:lstStyle/>
          <a:p>
            <a:r>
              <a:rPr lang="en-US" dirty="0"/>
              <a:t>Enter Jenkins: The Automation Hero</a:t>
            </a:r>
          </a:p>
        </p:txBody>
      </p:sp>
      <p:sp>
        <p:nvSpPr>
          <p:cNvPr id="3" name="Content Placeholder 2">
            <a:extLst>
              <a:ext uri="{FF2B5EF4-FFF2-40B4-BE49-F238E27FC236}">
                <a16:creationId xmlns:a16="http://schemas.microsoft.com/office/drawing/2014/main" id="{B3FA7E7A-BB95-8096-0344-616EF34CABA3}"/>
              </a:ext>
            </a:extLst>
          </p:cNvPr>
          <p:cNvSpPr>
            <a:spLocks noGrp="1"/>
          </p:cNvSpPr>
          <p:nvPr>
            <p:ph idx="1"/>
          </p:nvPr>
        </p:nvSpPr>
        <p:spPr/>
        <p:txBody>
          <a:bodyPr>
            <a:normAutofit/>
          </a:bodyPr>
          <a:lstStyle/>
          <a:p>
            <a:r>
              <a:rPr lang="en-US" dirty="0"/>
              <a:t>The team knew they needed a better way. During a lunch break, Dammar shared an idea:</a:t>
            </a:r>
          </a:p>
          <a:p>
            <a:r>
              <a:rPr lang="en-US" dirty="0"/>
              <a:t>“I’ve been experimenting with a tool called </a:t>
            </a:r>
            <a:r>
              <a:rPr lang="en-US" b="1" dirty="0"/>
              <a:t>Jenkins</a:t>
            </a:r>
            <a:r>
              <a:rPr lang="en-US" dirty="0"/>
              <a:t>,” Dammar said. “It’s like having a </a:t>
            </a:r>
            <a:r>
              <a:rPr lang="en-US" b="1" dirty="0">
                <a:solidFill>
                  <a:srgbClr val="00B050"/>
                </a:solidFill>
              </a:rPr>
              <a:t>robot that automatically builds, tests, and deploys our app</a:t>
            </a:r>
            <a:r>
              <a:rPr lang="en-US" dirty="0"/>
              <a:t>. Let me show you.”</a:t>
            </a:r>
          </a:p>
          <a:p>
            <a:r>
              <a:rPr lang="en-US" dirty="0"/>
              <a:t>Intrigued, the team agreed to try it.</a:t>
            </a:r>
          </a:p>
        </p:txBody>
      </p:sp>
      <p:sp>
        <p:nvSpPr>
          <p:cNvPr id="6" name="Footer Placeholder 5">
            <a:extLst>
              <a:ext uri="{FF2B5EF4-FFF2-40B4-BE49-F238E27FC236}">
                <a16:creationId xmlns:a16="http://schemas.microsoft.com/office/drawing/2014/main" id="{C465BFF5-7189-F59E-94BD-31FBD460649F}"/>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1465AD96-CDF3-FF4B-74F4-7F018AAE3E1B}"/>
              </a:ext>
            </a:extLst>
          </p:cNvPr>
          <p:cNvSpPr>
            <a:spLocks noGrp="1"/>
          </p:cNvSpPr>
          <p:nvPr>
            <p:ph type="sldNum" sz="quarter" idx="12"/>
          </p:nvPr>
        </p:nvSpPr>
        <p:spPr/>
        <p:txBody>
          <a:bodyPr>
            <a:normAutofit/>
          </a:bodyPr>
          <a:lstStyle/>
          <a:p>
            <a:fld id="{2D7BCAC6-6F2C-433A-BE87-D0A9451C8803}" type="slidenum">
              <a:rPr lang="en-US" smtClean="0"/>
              <a:pPr/>
              <a:t>6</a:t>
            </a:fld>
            <a:endParaRPr lang="en-US"/>
          </a:p>
        </p:txBody>
      </p:sp>
    </p:spTree>
    <p:extLst>
      <p:ext uri="{BB962C8B-B14F-4D97-AF65-F5344CB8AC3E}">
        <p14:creationId xmlns:p14="http://schemas.microsoft.com/office/powerpoint/2010/main" val="4107412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4B04F-7745-16DE-0419-6140996E7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50160-7959-820D-603A-40CB5F78C4A1}"/>
              </a:ext>
            </a:extLst>
          </p:cNvPr>
          <p:cNvSpPr>
            <a:spLocks noGrp="1"/>
          </p:cNvSpPr>
          <p:nvPr>
            <p:ph type="title"/>
          </p:nvPr>
        </p:nvSpPr>
        <p:spPr/>
        <p:txBody>
          <a:bodyPr/>
          <a:lstStyle/>
          <a:p>
            <a:r>
              <a:rPr lang="en-US" dirty="0"/>
              <a:t>The Transformation</a:t>
            </a:r>
          </a:p>
        </p:txBody>
      </p:sp>
      <p:sp>
        <p:nvSpPr>
          <p:cNvPr id="3" name="Content Placeholder 2">
            <a:extLst>
              <a:ext uri="{FF2B5EF4-FFF2-40B4-BE49-F238E27FC236}">
                <a16:creationId xmlns:a16="http://schemas.microsoft.com/office/drawing/2014/main" id="{4C028EAE-E856-8CEF-0C98-AFD405142F16}"/>
              </a:ext>
            </a:extLst>
          </p:cNvPr>
          <p:cNvSpPr>
            <a:spLocks noGrp="1"/>
          </p:cNvSpPr>
          <p:nvPr>
            <p:ph idx="1"/>
          </p:nvPr>
        </p:nvSpPr>
        <p:spPr/>
        <p:txBody>
          <a:bodyPr>
            <a:normAutofit fontScale="92500"/>
          </a:bodyPr>
          <a:lstStyle/>
          <a:p>
            <a:r>
              <a:rPr lang="en-US" dirty="0"/>
              <a:t>Dammar set up </a:t>
            </a:r>
            <a:r>
              <a:rPr lang="en-US" b="1" dirty="0"/>
              <a:t>Jenkins</a:t>
            </a:r>
            <a:r>
              <a:rPr lang="en-US" dirty="0"/>
              <a:t> for the project. Here’s what happened next:</a:t>
            </a:r>
          </a:p>
          <a:p>
            <a:r>
              <a:rPr lang="en-US" b="1" dirty="0"/>
              <a:t>Automated Builds</a:t>
            </a:r>
            <a:r>
              <a:rPr lang="en-US" dirty="0"/>
              <a:t>:</a:t>
            </a:r>
          </a:p>
          <a:p>
            <a:r>
              <a:rPr lang="en-US" dirty="0"/>
              <a:t>Jenkins took over the tedious task of compiling the code. Whenever a developer pushed changes to the Git repository, Jenkins automatically triggered a build.</a:t>
            </a:r>
          </a:p>
          <a:p>
            <a:r>
              <a:rPr lang="en-US" b="1" dirty="0"/>
              <a:t>Faster Feedback</a:t>
            </a:r>
            <a:r>
              <a:rPr lang="en-US" dirty="0"/>
              <a:t>:</a:t>
            </a:r>
          </a:p>
          <a:p>
            <a:r>
              <a:rPr lang="en-US" dirty="0"/>
              <a:t>Within minutes of pushing their code, developers received reports from Jenkins about whether the build passed or failed. This fast feedback loop helped them fix issues immediately.</a:t>
            </a:r>
          </a:p>
        </p:txBody>
      </p:sp>
      <p:sp>
        <p:nvSpPr>
          <p:cNvPr id="6" name="Footer Placeholder 5">
            <a:extLst>
              <a:ext uri="{FF2B5EF4-FFF2-40B4-BE49-F238E27FC236}">
                <a16:creationId xmlns:a16="http://schemas.microsoft.com/office/drawing/2014/main" id="{BA373A6F-8DDC-5859-D98A-3B4E97BFCDEA}"/>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7DBBA426-D4F0-C160-7A6A-C575C39B45AA}"/>
              </a:ext>
            </a:extLst>
          </p:cNvPr>
          <p:cNvSpPr>
            <a:spLocks noGrp="1"/>
          </p:cNvSpPr>
          <p:nvPr>
            <p:ph type="sldNum" sz="quarter" idx="12"/>
          </p:nvPr>
        </p:nvSpPr>
        <p:spPr/>
        <p:txBody>
          <a:bodyPr>
            <a:normAutofit/>
          </a:bodyPr>
          <a:lstStyle/>
          <a:p>
            <a:fld id="{2D7BCAC6-6F2C-433A-BE87-D0A9451C8803}" type="slidenum">
              <a:rPr lang="en-US" smtClean="0"/>
              <a:pPr/>
              <a:t>7</a:t>
            </a:fld>
            <a:endParaRPr lang="en-US"/>
          </a:p>
        </p:txBody>
      </p:sp>
    </p:spTree>
    <p:extLst>
      <p:ext uri="{BB962C8B-B14F-4D97-AF65-F5344CB8AC3E}">
        <p14:creationId xmlns:p14="http://schemas.microsoft.com/office/powerpoint/2010/main" val="1285467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5D86F-4530-D8E2-7E03-96EEF51CB5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E3761-F415-FA64-0C44-E01196CF2824}"/>
              </a:ext>
            </a:extLst>
          </p:cNvPr>
          <p:cNvSpPr>
            <a:spLocks noGrp="1"/>
          </p:cNvSpPr>
          <p:nvPr>
            <p:ph type="title"/>
          </p:nvPr>
        </p:nvSpPr>
        <p:spPr/>
        <p:txBody>
          <a:bodyPr/>
          <a:lstStyle/>
          <a:p>
            <a:r>
              <a:rPr lang="en-US" dirty="0"/>
              <a:t>The Transformation</a:t>
            </a:r>
          </a:p>
        </p:txBody>
      </p:sp>
      <p:sp>
        <p:nvSpPr>
          <p:cNvPr id="3" name="Content Placeholder 2">
            <a:extLst>
              <a:ext uri="{FF2B5EF4-FFF2-40B4-BE49-F238E27FC236}">
                <a16:creationId xmlns:a16="http://schemas.microsoft.com/office/drawing/2014/main" id="{DF14777C-3BAA-5899-6F60-B30205F78903}"/>
              </a:ext>
            </a:extLst>
          </p:cNvPr>
          <p:cNvSpPr>
            <a:spLocks noGrp="1"/>
          </p:cNvSpPr>
          <p:nvPr>
            <p:ph idx="1"/>
          </p:nvPr>
        </p:nvSpPr>
        <p:spPr/>
        <p:txBody>
          <a:bodyPr>
            <a:normAutofit/>
          </a:bodyPr>
          <a:lstStyle/>
          <a:p>
            <a:r>
              <a:rPr lang="en-US" b="1" dirty="0"/>
              <a:t>Continuous Integration</a:t>
            </a:r>
            <a:r>
              <a:rPr lang="en-US" dirty="0"/>
              <a:t>:</a:t>
            </a:r>
          </a:p>
          <a:p>
            <a:r>
              <a:rPr lang="en-US" dirty="0"/>
              <a:t>Jenkins pulled the latest changes from every developer, integrated them, and ran a series of automated tests. Integration bugs were caught early, and the team stopped fearing the end-of-sprint merges.</a:t>
            </a:r>
          </a:p>
          <a:p>
            <a:r>
              <a:rPr lang="en-US" b="1" dirty="0"/>
              <a:t>Streamlined Deployments</a:t>
            </a:r>
            <a:r>
              <a:rPr lang="en-US" dirty="0"/>
              <a:t>:</a:t>
            </a:r>
          </a:p>
          <a:p>
            <a:r>
              <a:rPr lang="en-US" dirty="0"/>
              <a:t>Jenkins pipelines automated the process of deploying the app to staging and production environments. What once took hours now happened in minutes, with fewer errors.</a:t>
            </a:r>
          </a:p>
        </p:txBody>
      </p:sp>
      <p:sp>
        <p:nvSpPr>
          <p:cNvPr id="6" name="Footer Placeholder 5">
            <a:extLst>
              <a:ext uri="{FF2B5EF4-FFF2-40B4-BE49-F238E27FC236}">
                <a16:creationId xmlns:a16="http://schemas.microsoft.com/office/drawing/2014/main" id="{82D980AC-BC91-F078-9D93-DC587D48B660}"/>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7B3EA6D9-2ED0-DDE5-D54B-3836EA93AB68}"/>
              </a:ext>
            </a:extLst>
          </p:cNvPr>
          <p:cNvSpPr>
            <a:spLocks noGrp="1"/>
          </p:cNvSpPr>
          <p:nvPr>
            <p:ph type="sldNum" sz="quarter" idx="12"/>
          </p:nvPr>
        </p:nvSpPr>
        <p:spPr/>
        <p:txBody>
          <a:bodyPr>
            <a:normAutofit/>
          </a:bodyPr>
          <a:lstStyle/>
          <a:p>
            <a:fld id="{2D7BCAC6-6F2C-433A-BE87-D0A9451C8803}" type="slidenum">
              <a:rPr lang="en-US" smtClean="0"/>
              <a:pPr/>
              <a:t>8</a:t>
            </a:fld>
            <a:endParaRPr lang="en-US"/>
          </a:p>
        </p:txBody>
      </p:sp>
    </p:spTree>
    <p:extLst>
      <p:ext uri="{BB962C8B-B14F-4D97-AF65-F5344CB8AC3E}">
        <p14:creationId xmlns:p14="http://schemas.microsoft.com/office/powerpoint/2010/main" val="166490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E8F68-40C2-3654-5C79-39D1DBC7B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C4328-DE22-6F64-D07E-48D040226109}"/>
              </a:ext>
            </a:extLst>
          </p:cNvPr>
          <p:cNvSpPr>
            <a:spLocks noGrp="1"/>
          </p:cNvSpPr>
          <p:nvPr>
            <p:ph type="title"/>
          </p:nvPr>
        </p:nvSpPr>
        <p:spPr/>
        <p:txBody>
          <a:bodyPr/>
          <a:lstStyle/>
          <a:p>
            <a:r>
              <a:rPr lang="en-US" dirty="0"/>
              <a:t>The Transformation</a:t>
            </a:r>
          </a:p>
        </p:txBody>
      </p:sp>
      <p:sp>
        <p:nvSpPr>
          <p:cNvPr id="3" name="Content Placeholder 2">
            <a:extLst>
              <a:ext uri="{FF2B5EF4-FFF2-40B4-BE49-F238E27FC236}">
                <a16:creationId xmlns:a16="http://schemas.microsoft.com/office/drawing/2014/main" id="{A6635C64-B7AC-03A2-ABBB-82894927852A}"/>
              </a:ext>
            </a:extLst>
          </p:cNvPr>
          <p:cNvSpPr>
            <a:spLocks noGrp="1"/>
          </p:cNvSpPr>
          <p:nvPr>
            <p:ph idx="1"/>
          </p:nvPr>
        </p:nvSpPr>
        <p:spPr/>
        <p:txBody>
          <a:bodyPr>
            <a:normAutofit/>
          </a:bodyPr>
          <a:lstStyle/>
          <a:p>
            <a:r>
              <a:rPr lang="en-US" b="1" dirty="0"/>
              <a:t>Team Productivity:</a:t>
            </a:r>
          </a:p>
          <a:p>
            <a:r>
              <a:rPr lang="en-US" dirty="0"/>
              <a:t>With Jenkins handling repetitive tasks, the team had more time to focus on writing code and improving the app. The developers and operations team finally worked in harmony.</a:t>
            </a:r>
          </a:p>
        </p:txBody>
      </p:sp>
      <p:sp>
        <p:nvSpPr>
          <p:cNvPr id="6" name="Footer Placeholder 5">
            <a:extLst>
              <a:ext uri="{FF2B5EF4-FFF2-40B4-BE49-F238E27FC236}">
                <a16:creationId xmlns:a16="http://schemas.microsoft.com/office/drawing/2014/main" id="{4FF9F216-E503-EE3B-58F5-98F27BF4603A}"/>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A30B561F-0E26-4554-BD6C-F4649F09D3B4}"/>
              </a:ext>
            </a:extLst>
          </p:cNvPr>
          <p:cNvSpPr>
            <a:spLocks noGrp="1"/>
          </p:cNvSpPr>
          <p:nvPr>
            <p:ph type="sldNum" sz="quarter" idx="12"/>
          </p:nvPr>
        </p:nvSpPr>
        <p:spPr/>
        <p:txBody>
          <a:bodyPr>
            <a:normAutofit/>
          </a:bodyPr>
          <a:lstStyle/>
          <a:p>
            <a:fld id="{2D7BCAC6-6F2C-433A-BE87-D0A9451C8803}" type="slidenum">
              <a:rPr lang="en-US" smtClean="0"/>
              <a:pPr/>
              <a:t>9</a:t>
            </a:fld>
            <a:endParaRPr lang="en-US"/>
          </a:p>
        </p:txBody>
      </p:sp>
    </p:spTree>
    <p:extLst>
      <p:ext uri="{BB962C8B-B14F-4D97-AF65-F5344CB8AC3E}">
        <p14:creationId xmlns:p14="http://schemas.microsoft.com/office/powerpoint/2010/main" val="4256551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9528A-9D0D-0266-DAA0-21741D271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17AFE-3CB2-B795-D11B-F2DACFD3D4BD}"/>
              </a:ext>
            </a:extLst>
          </p:cNvPr>
          <p:cNvSpPr>
            <a:spLocks noGrp="1"/>
          </p:cNvSpPr>
          <p:nvPr>
            <p:ph type="title"/>
          </p:nvPr>
        </p:nvSpPr>
        <p:spPr/>
        <p:txBody>
          <a:bodyPr/>
          <a:lstStyle/>
          <a:p>
            <a:r>
              <a:rPr lang="en-US" dirty="0"/>
              <a:t>The HAPPY ENDING</a:t>
            </a:r>
          </a:p>
        </p:txBody>
      </p:sp>
      <p:sp>
        <p:nvSpPr>
          <p:cNvPr id="3" name="Content Placeholder 2">
            <a:extLst>
              <a:ext uri="{FF2B5EF4-FFF2-40B4-BE49-F238E27FC236}">
                <a16:creationId xmlns:a16="http://schemas.microsoft.com/office/drawing/2014/main" id="{3F7F7634-9E70-1A12-7441-686195A078D5}"/>
              </a:ext>
            </a:extLst>
          </p:cNvPr>
          <p:cNvSpPr>
            <a:spLocks noGrp="1"/>
          </p:cNvSpPr>
          <p:nvPr>
            <p:ph idx="1"/>
          </p:nvPr>
        </p:nvSpPr>
        <p:spPr/>
        <p:txBody>
          <a:bodyPr>
            <a:normAutofit/>
          </a:bodyPr>
          <a:lstStyle/>
          <a:p>
            <a:r>
              <a:rPr lang="en-US" dirty="0"/>
              <a:t>Soon, the chaos faded away:</a:t>
            </a:r>
          </a:p>
          <a:p>
            <a:r>
              <a:rPr lang="en-US" dirty="0"/>
              <a:t>The team at </a:t>
            </a:r>
            <a:r>
              <a:rPr lang="en-US" b="1" dirty="0"/>
              <a:t>InnovateTechNepal</a:t>
            </a:r>
            <a:r>
              <a:rPr lang="en-US" dirty="0"/>
              <a:t> realized that Jenkins wasn’t just a tool - it was their </a:t>
            </a:r>
            <a:r>
              <a:rPr lang="en-US" b="1" dirty="0">
                <a:solidFill>
                  <a:srgbClr val="00B050"/>
                </a:solidFill>
              </a:rPr>
              <a:t>reliable automation partner</a:t>
            </a:r>
            <a:r>
              <a:rPr lang="en-US" dirty="0"/>
              <a:t>.</a:t>
            </a:r>
          </a:p>
          <a:p>
            <a:r>
              <a:rPr lang="en-US" dirty="0"/>
              <a:t>By adopting Jenkins, they transformed their chaotic development and deployment process into an efficient, streamlined workflow.</a:t>
            </a:r>
          </a:p>
          <a:p>
            <a:r>
              <a:rPr lang="en-US" dirty="0"/>
              <a:t>From that day forward, the team delivered software faster, with greater confidence and less stress. Jenkins became their trusted ally, and </a:t>
            </a:r>
            <a:r>
              <a:rPr lang="en-US" b="1" dirty="0"/>
              <a:t>InnovateTechNepal</a:t>
            </a:r>
            <a:r>
              <a:rPr lang="en-US" dirty="0"/>
              <a:t> became a leader in the tech world.</a:t>
            </a:r>
          </a:p>
        </p:txBody>
      </p:sp>
      <p:sp>
        <p:nvSpPr>
          <p:cNvPr id="6" name="Footer Placeholder 5">
            <a:extLst>
              <a:ext uri="{FF2B5EF4-FFF2-40B4-BE49-F238E27FC236}">
                <a16:creationId xmlns:a16="http://schemas.microsoft.com/office/drawing/2014/main" id="{26B031C5-3E7F-C9E3-DE85-DCB55211BD0D}"/>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B342646A-2B8A-4C53-B46C-786262B7A9B4}"/>
              </a:ext>
            </a:extLst>
          </p:cNvPr>
          <p:cNvSpPr>
            <a:spLocks noGrp="1"/>
          </p:cNvSpPr>
          <p:nvPr>
            <p:ph type="sldNum" sz="quarter" idx="12"/>
          </p:nvPr>
        </p:nvSpPr>
        <p:spPr/>
        <p:txBody>
          <a:bodyPr>
            <a:normAutofit/>
          </a:bodyPr>
          <a:lstStyle/>
          <a:p>
            <a:fld id="{2D7BCAC6-6F2C-433A-BE87-D0A9451C8803}" type="slidenum">
              <a:rPr lang="en-US" smtClean="0"/>
              <a:pPr/>
              <a:t>10</a:t>
            </a:fld>
            <a:endParaRPr lang="en-US"/>
          </a:p>
        </p:txBody>
      </p:sp>
    </p:spTree>
    <p:extLst>
      <p:ext uri="{BB962C8B-B14F-4D97-AF65-F5344CB8AC3E}">
        <p14:creationId xmlns:p14="http://schemas.microsoft.com/office/powerpoint/2010/main" val="1993474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E2BCE-DE76-456C-25EA-B94165F53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7C8D7-7F34-4E32-5DC6-7FA0D329BB1A}"/>
              </a:ext>
            </a:extLst>
          </p:cNvPr>
          <p:cNvSpPr>
            <a:spLocks noGrp="1"/>
          </p:cNvSpPr>
          <p:nvPr>
            <p:ph type="title"/>
          </p:nvPr>
        </p:nvSpPr>
        <p:spPr/>
        <p:txBody>
          <a:bodyPr/>
          <a:lstStyle/>
          <a:p>
            <a:r>
              <a:rPr lang="en-US" dirty="0"/>
              <a:t>Jenkins</a:t>
            </a:r>
          </a:p>
        </p:txBody>
      </p:sp>
      <p:sp>
        <p:nvSpPr>
          <p:cNvPr id="3" name="Content Placeholder 2">
            <a:extLst>
              <a:ext uri="{FF2B5EF4-FFF2-40B4-BE49-F238E27FC236}">
                <a16:creationId xmlns:a16="http://schemas.microsoft.com/office/drawing/2014/main" id="{7436A66A-820C-5731-B3E9-5193A350158F}"/>
              </a:ext>
            </a:extLst>
          </p:cNvPr>
          <p:cNvSpPr>
            <a:spLocks noGrp="1"/>
          </p:cNvSpPr>
          <p:nvPr>
            <p:ph idx="1"/>
          </p:nvPr>
        </p:nvSpPr>
        <p:spPr/>
        <p:txBody>
          <a:bodyPr>
            <a:normAutofit/>
          </a:bodyPr>
          <a:lstStyle/>
          <a:p>
            <a:r>
              <a:rPr lang="en-US" dirty="0"/>
              <a:t>Jenkins is an </a:t>
            </a:r>
            <a:r>
              <a:rPr lang="en-US" b="1" dirty="0"/>
              <a:t>open-source automation server </a:t>
            </a:r>
            <a:r>
              <a:rPr lang="en-US" dirty="0"/>
              <a:t>that facilitates Continuous Integration (CI) and Continuous Delivery (CD) in software development.</a:t>
            </a:r>
          </a:p>
          <a:p>
            <a:r>
              <a:rPr lang="en-US" dirty="0"/>
              <a:t>It helps to </a:t>
            </a:r>
            <a:r>
              <a:rPr lang="en-US" b="1" dirty="0"/>
              <a:t>automate repetitive tasks </a:t>
            </a:r>
            <a:r>
              <a:rPr lang="en-US" dirty="0"/>
              <a:t>such as building, testing, and deploying applications, enabling teams to focus on writing code and delivering software efficiently.</a:t>
            </a:r>
          </a:p>
        </p:txBody>
      </p:sp>
      <p:sp>
        <p:nvSpPr>
          <p:cNvPr id="6" name="Footer Placeholder 5">
            <a:extLst>
              <a:ext uri="{FF2B5EF4-FFF2-40B4-BE49-F238E27FC236}">
                <a16:creationId xmlns:a16="http://schemas.microsoft.com/office/drawing/2014/main" id="{F0BC2CB5-63E7-BC51-E3E5-6DC207B39FDF}"/>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266BD22D-43A1-BD67-DDE5-196BAD60D4C8}"/>
              </a:ext>
            </a:extLst>
          </p:cNvPr>
          <p:cNvSpPr>
            <a:spLocks noGrp="1"/>
          </p:cNvSpPr>
          <p:nvPr>
            <p:ph type="sldNum" sz="quarter" idx="12"/>
          </p:nvPr>
        </p:nvSpPr>
        <p:spPr/>
        <p:txBody>
          <a:bodyPr>
            <a:normAutofit/>
          </a:bodyPr>
          <a:lstStyle/>
          <a:p>
            <a:fld id="{2D7BCAC6-6F2C-433A-BE87-D0A9451C8803}" type="slidenum">
              <a:rPr lang="en-US" smtClean="0"/>
              <a:pPr/>
              <a:t>11</a:t>
            </a:fld>
            <a:endParaRPr lang="en-US"/>
          </a:p>
        </p:txBody>
      </p:sp>
    </p:spTree>
    <p:extLst>
      <p:ext uri="{BB962C8B-B14F-4D97-AF65-F5344CB8AC3E}">
        <p14:creationId xmlns:p14="http://schemas.microsoft.com/office/powerpoint/2010/main" val="2701497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AC5E0-9E61-2A4F-A4D3-360D7B729B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5E07CA-ABE6-BBBA-4C75-E540444DA046}"/>
              </a:ext>
            </a:extLst>
          </p:cNvPr>
          <p:cNvSpPr>
            <a:spLocks noGrp="1"/>
          </p:cNvSpPr>
          <p:nvPr>
            <p:ph type="title"/>
          </p:nvPr>
        </p:nvSpPr>
        <p:spPr/>
        <p:txBody>
          <a:bodyPr/>
          <a:lstStyle/>
          <a:p>
            <a:r>
              <a:rPr lang="en-US" dirty="0"/>
              <a:t>Why Jenkins</a:t>
            </a:r>
          </a:p>
        </p:txBody>
      </p:sp>
      <p:sp>
        <p:nvSpPr>
          <p:cNvPr id="3" name="Content Placeholder 2">
            <a:extLst>
              <a:ext uri="{FF2B5EF4-FFF2-40B4-BE49-F238E27FC236}">
                <a16:creationId xmlns:a16="http://schemas.microsoft.com/office/drawing/2014/main" id="{045A1A3C-E972-4E1E-85F8-1FDDC14C217F}"/>
              </a:ext>
            </a:extLst>
          </p:cNvPr>
          <p:cNvSpPr>
            <a:spLocks noGrp="1"/>
          </p:cNvSpPr>
          <p:nvPr>
            <p:ph idx="1"/>
          </p:nvPr>
        </p:nvSpPr>
        <p:spPr/>
        <p:txBody>
          <a:bodyPr>
            <a:normAutofit/>
          </a:bodyPr>
          <a:lstStyle/>
          <a:p>
            <a:r>
              <a:rPr lang="en-US" b="1" dirty="0"/>
              <a:t>Manual Build Processes Are Tedious</a:t>
            </a:r>
            <a:r>
              <a:rPr lang="en-US" dirty="0"/>
              <a:t>: Before tools like Jenkins, developers had to manually compile code, run tests, and deploy applications. This process was error-prone, time-consuming, and inconsistent.</a:t>
            </a:r>
          </a:p>
          <a:p>
            <a:endParaRPr lang="en-US" dirty="0"/>
          </a:p>
          <a:p>
            <a:r>
              <a:rPr lang="en-US" b="1" dirty="0"/>
              <a:t>Scaling Development</a:t>
            </a:r>
            <a:r>
              <a:rPr lang="en-US" dirty="0"/>
              <a:t>: As projects grew in size and complexity, the need for automation tools to handle repetitive tasks and ensure consistency across environments became crucial.</a:t>
            </a:r>
          </a:p>
        </p:txBody>
      </p:sp>
      <p:sp>
        <p:nvSpPr>
          <p:cNvPr id="6" name="Footer Placeholder 5">
            <a:extLst>
              <a:ext uri="{FF2B5EF4-FFF2-40B4-BE49-F238E27FC236}">
                <a16:creationId xmlns:a16="http://schemas.microsoft.com/office/drawing/2014/main" id="{0B3D0F49-4CBF-0CF7-3361-5737895B52A3}"/>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80BDBA9D-CC7A-E7EA-3E31-F0D38EB7657A}"/>
              </a:ext>
            </a:extLst>
          </p:cNvPr>
          <p:cNvSpPr>
            <a:spLocks noGrp="1"/>
          </p:cNvSpPr>
          <p:nvPr>
            <p:ph type="sldNum" sz="quarter" idx="12"/>
          </p:nvPr>
        </p:nvSpPr>
        <p:spPr/>
        <p:txBody>
          <a:bodyPr>
            <a:normAutofit/>
          </a:bodyPr>
          <a:lstStyle/>
          <a:p>
            <a:fld id="{2D7BCAC6-6F2C-433A-BE87-D0A9451C8803}" type="slidenum">
              <a:rPr lang="en-US" smtClean="0"/>
              <a:pPr/>
              <a:t>12</a:t>
            </a:fld>
            <a:endParaRPr lang="en-US"/>
          </a:p>
        </p:txBody>
      </p:sp>
    </p:spTree>
    <p:extLst>
      <p:ext uri="{BB962C8B-B14F-4D97-AF65-F5344CB8AC3E}">
        <p14:creationId xmlns:p14="http://schemas.microsoft.com/office/powerpoint/2010/main" val="4145752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10956-989F-EE16-8AE0-321458B9F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0614D2-ABE0-AC5D-7A51-E2879BDBC10A}"/>
              </a:ext>
            </a:extLst>
          </p:cNvPr>
          <p:cNvSpPr>
            <a:spLocks noGrp="1"/>
          </p:cNvSpPr>
          <p:nvPr>
            <p:ph type="title"/>
          </p:nvPr>
        </p:nvSpPr>
        <p:spPr/>
        <p:txBody>
          <a:bodyPr/>
          <a:lstStyle/>
          <a:p>
            <a:r>
              <a:rPr lang="en-US" dirty="0"/>
              <a:t>Why Jenkins</a:t>
            </a:r>
          </a:p>
        </p:txBody>
      </p:sp>
      <p:sp>
        <p:nvSpPr>
          <p:cNvPr id="3" name="Content Placeholder 2">
            <a:extLst>
              <a:ext uri="{FF2B5EF4-FFF2-40B4-BE49-F238E27FC236}">
                <a16:creationId xmlns:a16="http://schemas.microsoft.com/office/drawing/2014/main" id="{4A277AA6-BF51-9B88-6638-5CC21004ED0E}"/>
              </a:ext>
            </a:extLst>
          </p:cNvPr>
          <p:cNvSpPr>
            <a:spLocks noGrp="1"/>
          </p:cNvSpPr>
          <p:nvPr>
            <p:ph idx="1"/>
          </p:nvPr>
        </p:nvSpPr>
        <p:spPr/>
        <p:txBody>
          <a:bodyPr>
            <a:normAutofit/>
          </a:bodyPr>
          <a:lstStyle/>
          <a:p>
            <a:r>
              <a:rPr lang="en-US" b="1" dirty="0"/>
              <a:t>Frequent Integration Needed</a:t>
            </a:r>
            <a:r>
              <a:rPr lang="en-US" dirty="0"/>
              <a:t>: In modern development, teams often work on different features simultaneously. Without a system to regularly integrate and test code changes, integration issues pile up, delaying the project.</a:t>
            </a:r>
          </a:p>
          <a:p>
            <a:endParaRPr lang="en-US" dirty="0"/>
          </a:p>
          <a:p>
            <a:r>
              <a:rPr lang="en-US" b="1" dirty="0"/>
              <a:t>DevOps Evolution</a:t>
            </a:r>
            <a:r>
              <a:rPr lang="en-US" dirty="0"/>
              <a:t>: Jenkins is a cornerstone of DevOps practices, fostering collaboration between development and operations teams by automating workflows.</a:t>
            </a:r>
          </a:p>
        </p:txBody>
      </p:sp>
      <p:sp>
        <p:nvSpPr>
          <p:cNvPr id="6" name="Footer Placeholder 5">
            <a:extLst>
              <a:ext uri="{FF2B5EF4-FFF2-40B4-BE49-F238E27FC236}">
                <a16:creationId xmlns:a16="http://schemas.microsoft.com/office/drawing/2014/main" id="{293F6DD5-00D8-DCEF-FB3C-6D2BDC764A6A}"/>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3F27538D-79AF-4AFA-9B2A-D36468B66FCC}"/>
              </a:ext>
            </a:extLst>
          </p:cNvPr>
          <p:cNvSpPr>
            <a:spLocks noGrp="1"/>
          </p:cNvSpPr>
          <p:nvPr>
            <p:ph type="sldNum" sz="quarter" idx="12"/>
          </p:nvPr>
        </p:nvSpPr>
        <p:spPr/>
        <p:txBody>
          <a:bodyPr>
            <a:normAutofit/>
          </a:bodyPr>
          <a:lstStyle/>
          <a:p>
            <a:fld id="{2D7BCAC6-6F2C-433A-BE87-D0A9451C8803}" type="slidenum">
              <a:rPr lang="en-US" smtClean="0"/>
              <a:pPr/>
              <a:t>13</a:t>
            </a:fld>
            <a:endParaRPr lang="en-US"/>
          </a:p>
        </p:txBody>
      </p:sp>
    </p:spTree>
    <p:extLst>
      <p:ext uri="{BB962C8B-B14F-4D97-AF65-F5344CB8AC3E}">
        <p14:creationId xmlns:p14="http://schemas.microsoft.com/office/powerpoint/2010/main" val="4119977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83CBC-D895-600B-1D51-1D17525CE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E60BC-DA07-2526-A1A2-AAEB472FE311}"/>
              </a:ext>
            </a:extLst>
          </p:cNvPr>
          <p:cNvSpPr>
            <a:spLocks noGrp="1"/>
          </p:cNvSpPr>
          <p:nvPr>
            <p:ph type="title"/>
          </p:nvPr>
        </p:nvSpPr>
        <p:spPr/>
        <p:txBody>
          <a:bodyPr/>
          <a:lstStyle/>
          <a:p>
            <a:r>
              <a:rPr lang="en-US" dirty="0"/>
              <a:t>Why Jenkins</a:t>
            </a:r>
          </a:p>
        </p:txBody>
      </p:sp>
      <p:sp>
        <p:nvSpPr>
          <p:cNvPr id="3" name="Content Placeholder 2">
            <a:extLst>
              <a:ext uri="{FF2B5EF4-FFF2-40B4-BE49-F238E27FC236}">
                <a16:creationId xmlns:a16="http://schemas.microsoft.com/office/drawing/2014/main" id="{395C874E-D1BB-90AE-CEC1-744ABC0B570F}"/>
              </a:ext>
            </a:extLst>
          </p:cNvPr>
          <p:cNvSpPr>
            <a:spLocks noGrp="1"/>
          </p:cNvSpPr>
          <p:nvPr>
            <p:ph idx="1"/>
          </p:nvPr>
        </p:nvSpPr>
        <p:spPr/>
        <p:txBody>
          <a:bodyPr>
            <a:normAutofit/>
          </a:bodyPr>
          <a:lstStyle/>
          <a:p>
            <a:r>
              <a:rPr lang="en-US" b="1" dirty="0"/>
              <a:t>Continuous Integration &amp; Delivery: </a:t>
            </a:r>
            <a:r>
              <a:rPr lang="en-US" dirty="0"/>
              <a:t>Jenkins enables CI/CD pipelines, where code changes are automatically tested and deployed, ensuring faster feedback loops and reducing time-to-market.</a:t>
            </a:r>
          </a:p>
        </p:txBody>
      </p:sp>
      <p:sp>
        <p:nvSpPr>
          <p:cNvPr id="6" name="Footer Placeholder 5">
            <a:extLst>
              <a:ext uri="{FF2B5EF4-FFF2-40B4-BE49-F238E27FC236}">
                <a16:creationId xmlns:a16="http://schemas.microsoft.com/office/drawing/2014/main" id="{B43CD910-094B-8983-D950-2E1FDB6277A1}"/>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EED410DF-3F54-A4F1-8154-2307DCDC1F31}"/>
              </a:ext>
            </a:extLst>
          </p:cNvPr>
          <p:cNvSpPr>
            <a:spLocks noGrp="1"/>
          </p:cNvSpPr>
          <p:nvPr>
            <p:ph type="sldNum" sz="quarter" idx="12"/>
          </p:nvPr>
        </p:nvSpPr>
        <p:spPr/>
        <p:txBody>
          <a:bodyPr>
            <a:normAutofit/>
          </a:bodyPr>
          <a:lstStyle/>
          <a:p>
            <a:fld id="{2D7BCAC6-6F2C-433A-BE87-D0A9451C8803}" type="slidenum">
              <a:rPr lang="en-US" smtClean="0"/>
              <a:pPr/>
              <a:t>14</a:t>
            </a:fld>
            <a:endParaRPr lang="en-US"/>
          </a:p>
        </p:txBody>
      </p:sp>
    </p:spTree>
    <p:extLst>
      <p:ext uri="{BB962C8B-B14F-4D97-AF65-F5344CB8AC3E}">
        <p14:creationId xmlns:p14="http://schemas.microsoft.com/office/powerpoint/2010/main" val="3563261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F8A70-6537-9BB7-61DB-E08E93AF5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3D943C-4928-B186-A54A-8A89B3764519}"/>
              </a:ext>
            </a:extLst>
          </p:cNvPr>
          <p:cNvSpPr>
            <a:spLocks noGrp="1"/>
          </p:cNvSpPr>
          <p:nvPr>
            <p:ph type="title"/>
          </p:nvPr>
        </p:nvSpPr>
        <p:spPr/>
        <p:txBody>
          <a:bodyPr/>
          <a:lstStyle/>
          <a:p>
            <a:r>
              <a:rPr lang="en-US" dirty="0"/>
              <a:t>How Jenkins Works</a:t>
            </a:r>
          </a:p>
        </p:txBody>
      </p:sp>
      <p:sp>
        <p:nvSpPr>
          <p:cNvPr id="3" name="Content Placeholder 2">
            <a:extLst>
              <a:ext uri="{FF2B5EF4-FFF2-40B4-BE49-F238E27FC236}">
                <a16:creationId xmlns:a16="http://schemas.microsoft.com/office/drawing/2014/main" id="{11EEA075-4B27-EB11-9ED1-53C8BCFA59AE}"/>
              </a:ext>
            </a:extLst>
          </p:cNvPr>
          <p:cNvSpPr>
            <a:spLocks noGrp="1"/>
          </p:cNvSpPr>
          <p:nvPr>
            <p:ph idx="1"/>
          </p:nvPr>
        </p:nvSpPr>
        <p:spPr/>
        <p:txBody>
          <a:bodyPr>
            <a:normAutofit/>
          </a:bodyPr>
          <a:lstStyle/>
          <a:p>
            <a:pPr marL="457200" indent="-457200">
              <a:buFont typeface="+mj-lt"/>
              <a:buAutoNum type="arabicPeriod"/>
            </a:pPr>
            <a:r>
              <a:rPr lang="en-US" b="1" dirty="0"/>
              <a:t>Triggering Builds:</a:t>
            </a:r>
          </a:p>
          <a:p>
            <a:pPr lvl="1"/>
            <a:r>
              <a:rPr lang="en-US" dirty="0">
                <a:solidFill>
                  <a:schemeClr val="tx1"/>
                </a:solidFill>
              </a:rPr>
              <a:t>Jenkins automatically triggers a build when:</a:t>
            </a:r>
          </a:p>
          <a:p>
            <a:pPr lvl="2"/>
            <a:r>
              <a:rPr lang="en-US" dirty="0">
                <a:solidFill>
                  <a:schemeClr val="tx1"/>
                </a:solidFill>
              </a:rPr>
              <a:t>Code is pushed to a repository (e.g., GitHub).</a:t>
            </a:r>
          </a:p>
          <a:p>
            <a:pPr lvl="2"/>
            <a:r>
              <a:rPr lang="en-US" dirty="0">
                <a:solidFill>
                  <a:schemeClr val="tx1"/>
                </a:solidFill>
              </a:rPr>
              <a:t>Scheduled intervals or user-initiated builds are configured.</a:t>
            </a:r>
          </a:p>
          <a:p>
            <a:pPr marL="457200" indent="-457200">
              <a:buFont typeface="+mj-lt"/>
              <a:buAutoNum type="arabicPeriod"/>
            </a:pPr>
            <a:r>
              <a:rPr lang="en-US" b="1" dirty="0"/>
              <a:t>Automating Tests:</a:t>
            </a:r>
          </a:p>
          <a:p>
            <a:pPr lvl="1"/>
            <a:r>
              <a:rPr lang="en-US" dirty="0">
                <a:solidFill>
                  <a:schemeClr val="tx1"/>
                </a:solidFill>
              </a:rPr>
              <a:t>Jenkins runs automated test suites to ensure the new changes don’t break existing functionality.</a:t>
            </a:r>
          </a:p>
        </p:txBody>
      </p:sp>
      <p:sp>
        <p:nvSpPr>
          <p:cNvPr id="6" name="Footer Placeholder 5">
            <a:extLst>
              <a:ext uri="{FF2B5EF4-FFF2-40B4-BE49-F238E27FC236}">
                <a16:creationId xmlns:a16="http://schemas.microsoft.com/office/drawing/2014/main" id="{09EC4B91-A507-1DF7-9CD8-67CACBCAE888}"/>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3C8E7908-4CEC-DC9A-BC1D-CF7FE32DF180}"/>
              </a:ext>
            </a:extLst>
          </p:cNvPr>
          <p:cNvSpPr>
            <a:spLocks noGrp="1"/>
          </p:cNvSpPr>
          <p:nvPr>
            <p:ph type="sldNum" sz="quarter" idx="12"/>
          </p:nvPr>
        </p:nvSpPr>
        <p:spPr/>
        <p:txBody>
          <a:bodyPr>
            <a:normAutofit/>
          </a:bodyPr>
          <a:lstStyle/>
          <a:p>
            <a:fld id="{2D7BCAC6-6F2C-433A-BE87-D0A9451C8803}" type="slidenum">
              <a:rPr lang="en-US" smtClean="0"/>
              <a:pPr/>
              <a:t>15</a:t>
            </a:fld>
            <a:endParaRPr lang="en-US"/>
          </a:p>
        </p:txBody>
      </p:sp>
    </p:spTree>
    <p:extLst>
      <p:ext uri="{BB962C8B-B14F-4D97-AF65-F5344CB8AC3E}">
        <p14:creationId xmlns:p14="http://schemas.microsoft.com/office/powerpoint/2010/main" val="968585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1FCC0-97BA-D9B0-1730-EC2C4D2FF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84A1B-6AEC-719C-F74D-5EAE5C8EFD9F}"/>
              </a:ext>
            </a:extLst>
          </p:cNvPr>
          <p:cNvSpPr>
            <a:spLocks noGrp="1"/>
          </p:cNvSpPr>
          <p:nvPr>
            <p:ph type="title"/>
          </p:nvPr>
        </p:nvSpPr>
        <p:spPr/>
        <p:txBody>
          <a:bodyPr/>
          <a:lstStyle/>
          <a:p>
            <a:r>
              <a:rPr lang="en-US" dirty="0"/>
              <a:t>How Jenkins Works</a:t>
            </a:r>
          </a:p>
        </p:txBody>
      </p:sp>
      <p:sp>
        <p:nvSpPr>
          <p:cNvPr id="3" name="Content Placeholder 2">
            <a:extLst>
              <a:ext uri="{FF2B5EF4-FFF2-40B4-BE49-F238E27FC236}">
                <a16:creationId xmlns:a16="http://schemas.microsoft.com/office/drawing/2014/main" id="{0208D186-AE33-8C15-A5C4-0D0307698560}"/>
              </a:ext>
            </a:extLst>
          </p:cNvPr>
          <p:cNvSpPr>
            <a:spLocks noGrp="1"/>
          </p:cNvSpPr>
          <p:nvPr>
            <p:ph idx="1"/>
          </p:nvPr>
        </p:nvSpPr>
        <p:spPr/>
        <p:txBody>
          <a:bodyPr>
            <a:normAutofit lnSpcReduction="10000"/>
          </a:bodyPr>
          <a:lstStyle/>
          <a:p>
            <a:pPr marL="457200" indent="-457200">
              <a:buFont typeface="+mj-lt"/>
              <a:buAutoNum type="arabicPeriod" startAt="3"/>
            </a:pPr>
            <a:r>
              <a:rPr lang="en-US" b="1" dirty="0"/>
              <a:t>Continuous Integration:</a:t>
            </a:r>
          </a:p>
          <a:p>
            <a:pPr lvl="1"/>
            <a:r>
              <a:rPr lang="en-US" dirty="0">
                <a:solidFill>
                  <a:schemeClr val="tx1"/>
                </a:solidFill>
              </a:rPr>
              <a:t>New code is integrated into the main branch frequently, ensuring the application is always in a deployable state.</a:t>
            </a:r>
          </a:p>
          <a:p>
            <a:pPr marL="457200" indent="-457200">
              <a:buFont typeface="+mj-lt"/>
              <a:buAutoNum type="arabicPeriod" startAt="3"/>
            </a:pPr>
            <a:r>
              <a:rPr lang="en-US" b="1" dirty="0"/>
              <a:t>Continuous Delivery:</a:t>
            </a:r>
          </a:p>
          <a:p>
            <a:pPr lvl="1"/>
            <a:r>
              <a:rPr lang="en-US" dirty="0">
                <a:solidFill>
                  <a:schemeClr val="tx1"/>
                </a:solidFill>
              </a:rPr>
              <a:t>Jenkins pipelines automate the deployment of applications to staging or production environments.</a:t>
            </a:r>
          </a:p>
          <a:p>
            <a:pPr marL="457200" indent="-457200">
              <a:buFont typeface="+mj-lt"/>
              <a:buAutoNum type="arabicPeriod" startAt="3"/>
            </a:pPr>
            <a:r>
              <a:rPr lang="en-US" b="1" dirty="0"/>
              <a:t>Monitoring and Reporting:</a:t>
            </a:r>
          </a:p>
          <a:p>
            <a:pPr lvl="1"/>
            <a:r>
              <a:rPr lang="en-US" dirty="0">
                <a:solidFill>
                  <a:schemeClr val="tx1"/>
                </a:solidFill>
              </a:rPr>
              <a:t>Jenkins provides detailed reports on build statuses, test results, and deployment logs.</a:t>
            </a:r>
          </a:p>
        </p:txBody>
      </p:sp>
      <p:sp>
        <p:nvSpPr>
          <p:cNvPr id="6" name="Footer Placeholder 5">
            <a:extLst>
              <a:ext uri="{FF2B5EF4-FFF2-40B4-BE49-F238E27FC236}">
                <a16:creationId xmlns:a16="http://schemas.microsoft.com/office/drawing/2014/main" id="{B148BF2C-B0FD-373D-672D-F46022B2458C}"/>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7C90D207-A9F7-9C88-8C24-88A0F3B2A967}"/>
              </a:ext>
            </a:extLst>
          </p:cNvPr>
          <p:cNvSpPr>
            <a:spLocks noGrp="1"/>
          </p:cNvSpPr>
          <p:nvPr>
            <p:ph type="sldNum" sz="quarter" idx="12"/>
          </p:nvPr>
        </p:nvSpPr>
        <p:spPr/>
        <p:txBody>
          <a:bodyPr>
            <a:normAutofit/>
          </a:bodyPr>
          <a:lstStyle/>
          <a:p>
            <a:fld id="{2D7BCAC6-6F2C-433A-BE87-D0A9451C8803}" type="slidenum">
              <a:rPr lang="en-US" smtClean="0"/>
              <a:pPr/>
              <a:t>16</a:t>
            </a:fld>
            <a:endParaRPr lang="en-US"/>
          </a:p>
        </p:txBody>
      </p:sp>
    </p:spTree>
    <p:extLst>
      <p:ext uri="{BB962C8B-B14F-4D97-AF65-F5344CB8AC3E}">
        <p14:creationId xmlns:p14="http://schemas.microsoft.com/office/powerpoint/2010/main" val="1501514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74E4E-A662-215D-FCAD-21FC1F3AF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7A2E68-B59F-023A-421B-3D78B6B1DE0C}"/>
              </a:ext>
            </a:extLst>
          </p:cNvPr>
          <p:cNvSpPr>
            <a:spLocks noGrp="1"/>
          </p:cNvSpPr>
          <p:nvPr>
            <p:ph type="title"/>
          </p:nvPr>
        </p:nvSpPr>
        <p:spPr/>
        <p:txBody>
          <a:bodyPr/>
          <a:lstStyle/>
          <a:p>
            <a:r>
              <a:rPr lang="en-US" dirty="0"/>
              <a:t>How Jenkins Works</a:t>
            </a:r>
          </a:p>
        </p:txBody>
      </p:sp>
      <p:sp>
        <p:nvSpPr>
          <p:cNvPr id="6" name="Footer Placeholder 5">
            <a:extLst>
              <a:ext uri="{FF2B5EF4-FFF2-40B4-BE49-F238E27FC236}">
                <a16:creationId xmlns:a16="http://schemas.microsoft.com/office/drawing/2014/main" id="{EC9D9FCC-98E6-C80C-9EB2-D8BC9519E0AF}"/>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33CCEAE3-3730-0208-3FE8-D79956B7A196}"/>
              </a:ext>
            </a:extLst>
          </p:cNvPr>
          <p:cNvSpPr>
            <a:spLocks noGrp="1"/>
          </p:cNvSpPr>
          <p:nvPr>
            <p:ph type="sldNum" sz="quarter" idx="12"/>
          </p:nvPr>
        </p:nvSpPr>
        <p:spPr/>
        <p:txBody>
          <a:bodyPr>
            <a:normAutofit/>
          </a:bodyPr>
          <a:lstStyle/>
          <a:p>
            <a:fld id="{2D7BCAC6-6F2C-433A-BE87-D0A9451C8803}" type="slidenum">
              <a:rPr lang="en-US" smtClean="0"/>
              <a:pPr/>
              <a:t>17</a:t>
            </a:fld>
            <a:endParaRPr lang="en-US"/>
          </a:p>
        </p:txBody>
      </p:sp>
      <p:pic>
        <p:nvPicPr>
          <p:cNvPr id="1026" name="Picture 2">
            <a:extLst>
              <a:ext uri="{FF2B5EF4-FFF2-40B4-BE49-F238E27FC236}">
                <a16:creationId xmlns:a16="http://schemas.microsoft.com/office/drawing/2014/main" id="{C379C5A4-AD64-9942-DBD9-E1308F8D42EE}"/>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 t="6544" r="-289"/>
          <a:stretch/>
        </p:blipFill>
        <p:spPr bwMode="auto">
          <a:xfrm>
            <a:off x="152400" y="1828800"/>
            <a:ext cx="11056374" cy="3931571"/>
          </a:xfrm>
          <a:prstGeom prst="snip1Rect">
            <a:avLst>
              <a:gd name="adj" fmla="val 0"/>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3418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230EA-D023-766B-E66E-5B23A122A7C9}"/>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631902A-6EF2-7814-A443-AE6B7E2A4FB6}"/>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6E1FE3DC-B685-BDFD-5772-62E3C2BC7E02}"/>
              </a:ext>
            </a:extLst>
          </p:cNvPr>
          <p:cNvSpPr>
            <a:spLocks noGrp="1"/>
          </p:cNvSpPr>
          <p:nvPr>
            <p:ph type="sldNum" sz="quarter" idx="12"/>
          </p:nvPr>
        </p:nvSpPr>
        <p:spPr/>
        <p:txBody>
          <a:bodyPr>
            <a:normAutofit/>
          </a:bodyPr>
          <a:lstStyle/>
          <a:p>
            <a:fld id="{2D7BCAC6-6F2C-433A-BE87-D0A9451C8803}" type="slidenum">
              <a:rPr lang="en-US" smtClean="0"/>
              <a:pPr/>
              <a:t>18</a:t>
            </a:fld>
            <a:endParaRPr lang="en-US"/>
          </a:p>
        </p:txBody>
      </p:sp>
      <p:sp>
        <p:nvSpPr>
          <p:cNvPr id="3" name="Content Placeholder 2">
            <a:extLst>
              <a:ext uri="{FF2B5EF4-FFF2-40B4-BE49-F238E27FC236}">
                <a16:creationId xmlns:a16="http://schemas.microsoft.com/office/drawing/2014/main" id="{2284FBBD-C489-4B25-DF06-CEA56D8F3933}"/>
              </a:ext>
            </a:extLst>
          </p:cNvPr>
          <p:cNvSpPr>
            <a:spLocks noGrp="1"/>
          </p:cNvSpPr>
          <p:nvPr>
            <p:ph idx="1"/>
          </p:nvPr>
        </p:nvSpPr>
        <p:spPr/>
        <p:txBody>
          <a:bodyPr>
            <a:normAutofit/>
          </a:bodyPr>
          <a:lstStyle/>
          <a:p>
            <a:r>
              <a:rPr lang="en-US" b="0" i="0" dirty="0">
                <a:effectLst/>
              </a:rPr>
              <a:t>Jenkins follows </a:t>
            </a:r>
            <a:r>
              <a:rPr lang="en-US" b="1" i="0" dirty="0">
                <a:effectLst/>
              </a:rPr>
              <a:t>Master-Slave (now called controller-agent) architecture </a:t>
            </a:r>
            <a:r>
              <a:rPr lang="en-US" b="0" i="0" dirty="0">
                <a:effectLst/>
              </a:rPr>
              <a:t>to manage distributed </a:t>
            </a:r>
            <a:r>
              <a:rPr lang="en-US" dirty="0"/>
              <a:t>workloads and scale CI/CD operations effectively.</a:t>
            </a:r>
            <a:endParaRPr lang="en-US" b="0" i="0" dirty="0">
              <a:effectLst/>
            </a:endParaRPr>
          </a:p>
          <a:p>
            <a:r>
              <a:rPr lang="en-US" b="0" i="0" dirty="0">
                <a:effectLst/>
              </a:rPr>
              <a:t>In this architecture, the slave and master communicate through TCP/IP protocol.</a:t>
            </a:r>
          </a:p>
          <a:p>
            <a:r>
              <a:rPr lang="en-US" b="0" i="0" dirty="0">
                <a:effectLst/>
              </a:rPr>
              <a:t>Jenkins architecture has two components:</a:t>
            </a:r>
          </a:p>
          <a:p>
            <a:pPr lvl="1">
              <a:buFont typeface="Arial" panose="020B0604020202020204" pitchFamily="34" charset="0"/>
              <a:buChar char="•"/>
            </a:pPr>
            <a:r>
              <a:rPr lang="en-US" b="0" i="0" dirty="0">
                <a:solidFill>
                  <a:schemeClr val="tx1"/>
                </a:solidFill>
                <a:effectLst/>
              </a:rPr>
              <a:t>Jenkins Master/Server</a:t>
            </a:r>
          </a:p>
          <a:p>
            <a:pPr lvl="1">
              <a:buFont typeface="Arial" panose="020B0604020202020204" pitchFamily="34" charset="0"/>
              <a:buChar char="•"/>
            </a:pPr>
            <a:r>
              <a:rPr lang="en-US" b="0" i="0" dirty="0">
                <a:solidFill>
                  <a:schemeClr val="tx1"/>
                </a:solidFill>
                <a:effectLst/>
              </a:rPr>
              <a:t>Jenkins Slave/Node/Build Server</a:t>
            </a:r>
          </a:p>
        </p:txBody>
      </p:sp>
      <p:sp>
        <p:nvSpPr>
          <p:cNvPr id="2" name="Title 1">
            <a:extLst>
              <a:ext uri="{FF2B5EF4-FFF2-40B4-BE49-F238E27FC236}">
                <a16:creationId xmlns:a16="http://schemas.microsoft.com/office/drawing/2014/main" id="{4C354438-3169-C93F-C011-7D926B3C0B14}"/>
              </a:ext>
            </a:extLst>
          </p:cNvPr>
          <p:cNvSpPr>
            <a:spLocks noGrp="1"/>
          </p:cNvSpPr>
          <p:nvPr>
            <p:ph type="title"/>
          </p:nvPr>
        </p:nvSpPr>
        <p:spPr/>
        <p:txBody>
          <a:bodyPr/>
          <a:lstStyle/>
          <a:p>
            <a:r>
              <a:rPr lang="en-US" dirty="0"/>
              <a:t>Architecture of Jenkins</a:t>
            </a:r>
          </a:p>
        </p:txBody>
      </p:sp>
    </p:spTree>
    <p:extLst>
      <p:ext uri="{BB962C8B-B14F-4D97-AF65-F5344CB8AC3E}">
        <p14:creationId xmlns:p14="http://schemas.microsoft.com/office/powerpoint/2010/main" val="100015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C3AA7-A000-B203-75F9-94CA0155E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1AAE0-D59E-2AFD-81EE-2E04DC1AFED5}"/>
              </a:ext>
            </a:extLst>
          </p:cNvPr>
          <p:cNvSpPr>
            <a:spLocks noGrp="1"/>
          </p:cNvSpPr>
          <p:nvPr>
            <p:ph type="title"/>
          </p:nvPr>
        </p:nvSpPr>
        <p:spPr/>
        <p:txBody>
          <a:bodyPr/>
          <a:lstStyle/>
          <a:p>
            <a:r>
              <a:rPr lang="en-US" dirty="0"/>
              <a:t>Architecture of Jenkins</a:t>
            </a:r>
          </a:p>
        </p:txBody>
      </p:sp>
      <p:pic>
        <p:nvPicPr>
          <p:cNvPr id="2050" name="Picture 2" descr="What is Jenkins">
            <a:extLst>
              <a:ext uri="{FF2B5EF4-FFF2-40B4-BE49-F238E27FC236}">
                <a16:creationId xmlns:a16="http://schemas.microsoft.com/office/drawing/2014/main" id="{D95C5313-AC10-A2B5-A691-88305B5BF3C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487006" y="1828800"/>
            <a:ext cx="6584576" cy="4664075"/>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7C857ECB-4D81-B360-12DE-38B56000C870}"/>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FEF89512-63DF-24F0-7CD0-3664D0A79236}"/>
              </a:ext>
            </a:extLst>
          </p:cNvPr>
          <p:cNvSpPr>
            <a:spLocks noGrp="1"/>
          </p:cNvSpPr>
          <p:nvPr>
            <p:ph type="sldNum" sz="quarter" idx="12"/>
          </p:nvPr>
        </p:nvSpPr>
        <p:spPr/>
        <p:txBody>
          <a:bodyPr>
            <a:normAutofit/>
          </a:bodyPr>
          <a:lstStyle/>
          <a:p>
            <a:fld id="{2D7BCAC6-6F2C-433A-BE87-D0A9451C8803}" type="slidenum">
              <a:rPr lang="en-US" smtClean="0"/>
              <a:pPr/>
              <a:t>19</a:t>
            </a:fld>
            <a:endParaRPr lang="en-US"/>
          </a:p>
        </p:txBody>
      </p:sp>
    </p:spTree>
    <p:extLst>
      <p:ext uri="{BB962C8B-B14F-4D97-AF65-F5344CB8AC3E}">
        <p14:creationId xmlns:p14="http://schemas.microsoft.com/office/powerpoint/2010/main" val="3894416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7C78C-C8FC-561F-C73D-AB8BA3877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F3C02-DAA6-C3C7-9A49-397EE219F007}"/>
              </a:ext>
            </a:extLst>
          </p:cNvPr>
          <p:cNvSpPr>
            <a:spLocks noGrp="1"/>
          </p:cNvSpPr>
          <p:nvPr>
            <p:ph type="title"/>
          </p:nvPr>
        </p:nvSpPr>
        <p:spPr/>
        <p:txBody>
          <a:bodyPr/>
          <a:lstStyle/>
          <a:p>
            <a:r>
              <a:rPr lang="en-US" dirty="0"/>
              <a:t>Architecture of Jenkins</a:t>
            </a:r>
          </a:p>
        </p:txBody>
      </p:sp>
      <p:sp>
        <p:nvSpPr>
          <p:cNvPr id="6" name="Footer Placeholder 5">
            <a:extLst>
              <a:ext uri="{FF2B5EF4-FFF2-40B4-BE49-F238E27FC236}">
                <a16:creationId xmlns:a16="http://schemas.microsoft.com/office/drawing/2014/main" id="{EF4FA2B7-91E5-AD99-BF77-423C7171B264}"/>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D147621F-A246-BA0C-3864-7EC0E2D277D0}"/>
              </a:ext>
            </a:extLst>
          </p:cNvPr>
          <p:cNvSpPr>
            <a:spLocks noGrp="1"/>
          </p:cNvSpPr>
          <p:nvPr>
            <p:ph type="sldNum" sz="quarter" idx="12"/>
          </p:nvPr>
        </p:nvSpPr>
        <p:spPr/>
        <p:txBody>
          <a:bodyPr>
            <a:normAutofit/>
          </a:bodyPr>
          <a:lstStyle/>
          <a:p>
            <a:fld id="{2D7BCAC6-6F2C-433A-BE87-D0A9451C8803}" type="slidenum">
              <a:rPr lang="en-US" smtClean="0"/>
              <a:pPr/>
              <a:t>20</a:t>
            </a:fld>
            <a:endParaRPr lang="en-US"/>
          </a:p>
        </p:txBody>
      </p:sp>
      <p:pic>
        <p:nvPicPr>
          <p:cNvPr id="3074" name="Picture 2" descr="What is Jenkins">
            <a:extLst>
              <a:ext uri="{FF2B5EF4-FFF2-40B4-BE49-F238E27FC236}">
                <a16:creationId xmlns:a16="http://schemas.microsoft.com/office/drawing/2014/main" id="{69F5E2E1-DA20-0D4E-61C3-376C1DD70EA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9044" y="1600200"/>
            <a:ext cx="8740500" cy="5121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6178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C5E5D-E206-B4EE-F509-C5B5075E9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BEA25-B426-9108-6A0A-1A98838E759D}"/>
              </a:ext>
            </a:extLst>
          </p:cNvPr>
          <p:cNvSpPr>
            <a:spLocks noGrp="1"/>
          </p:cNvSpPr>
          <p:nvPr>
            <p:ph type="title"/>
          </p:nvPr>
        </p:nvSpPr>
        <p:spPr/>
        <p:txBody>
          <a:bodyPr/>
          <a:lstStyle/>
          <a:p>
            <a:r>
              <a:rPr lang="en-US" dirty="0"/>
              <a:t>Architecture of Jenkins – Jenkins Master</a:t>
            </a:r>
          </a:p>
        </p:txBody>
      </p:sp>
      <p:sp>
        <p:nvSpPr>
          <p:cNvPr id="3" name="Content Placeholder 2">
            <a:extLst>
              <a:ext uri="{FF2B5EF4-FFF2-40B4-BE49-F238E27FC236}">
                <a16:creationId xmlns:a16="http://schemas.microsoft.com/office/drawing/2014/main" id="{1F10D9A0-F206-A02D-93F0-53E667B6F632}"/>
              </a:ext>
            </a:extLst>
          </p:cNvPr>
          <p:cNvSpPr>
            <a:spLocks noGrp="1"/>
          </p:cNvSpPr>
          <p:nvPr>
            <p:ph idx="1"/>
          </p:nvPr>
        </p:nvSpPr>
        <p:spPr/>
        <p:txBody>
          <a:bodyPr>
            <a:normAutofit/>
          </a:bodyPr>
          <a:lstStyle/>
          <a:p>
            <a:r>
              <a:rPr lang="en-US" b="0" i="0" dirty="0">
                <a:effectLst/>
              </a:rPr>
              <a:t>The main server of Jenkins is the Jenkins Master.</a:t>
            </a:r>
          </a:p>
          <a:p>
            <a:r>
              <a:rPr lang="en-US" b="0" i="0" dirty="0">
                <a:effectLst/>
              </a:rPr>
              <a:t>It is a </a:t>
            </a:r>
            <a:r>
              <a:rPr lang="en-US" b="1" i="0" dirty="0">
                <a:effectLst/>
              </a:rPr>
              <a:t>web dashboard </a:t>
            </a:r>
            <a:r>
              <a:rPr lang="en-US" b="0" i="0" dirty="0">
                <a:effectLst/>
              </a:rPr>
              <a:t>that configures these jobs/projects</a:t>
            </a:r>
            <a:r>
              <a:rPr lang="en-US" dirty="0"/>
              <a:t>, and</a:t>
            </a:r>
            <a:r>
              <a:rPr lang="en-US" b="0" i="0" dirty="0">
                <a:effectLst/>
              </a:rPr>
              <a:t> the build takes place in Nodes/Slave.</a:t>
            </a:r>
          </a:p>
          <a:p>
            <a:r>
              <a:rPr lang="en-US" b="0" i="0" dirty="0">
                <a:effectLst/>
              </a:rPr>
              <a:t>Jenkins’s server or master node holds all key </a:t>
            </a:r>
            <a:r>
              <a:rPr lang="en-US" b="1" i="0" dirty="0">
                <a:effectLst/>
              </a:rPr>
              <a:t>configurations</a:t>
            </a:r>
            <a:r>
              <a:rPr lang="en-US" b="0" i="0" dirty="0">
                <a:effectLst/>
              </a:rPr>
              <a:t>.</a:t>
            </a:r>
          </a:p>
          <a:p>
            <a:r>
              <a:rPr lang="en-US" b="0" i="0" dirty="0">
                <a:effectLst/>
              </a:rPr>
              <a:t>Jenkins master server is like a control server that orchestrates all the workflow defined in the pipelines.</a:t>
            </a:r>
          </a:p>
          <a:p>
            <a:r>
              <a:rPr lang="en-US" b="0" i="0" dirty="0">
                <a:effectLst/>
              </a:rPr>
              <a:t>For example, </a:t>
            </a:r>
            <a:r>
              <a:rPr lang="en-US" b="1" i="0" dirty="0">
                <a:effectLst/>
              </a:rPr>
              <a:t>scheduling a job, monitoring the jobs</a:t>
            </a:r>
            <a:r>
              <a:rPr lang="en-US" b="0" i="0" dirty="0">
                <a:effectLst/>
              </a:rPr>
              <a:t>, etc.</a:t>
            </a:r>
          </a:p>
        </p:txBody>
      </p:sp>
      <p:sp>
        <p:nvSpPr>
          <p:cNvPr id="6" name="Footer Placeholder 5">
            <a:extLst>
              <a:ext uri="{FF2B5EF4-FFF2-40B4-BE49-F238E27FC236}">
                <a16:creationId xmlns:a16="http://schemas.microsoft.com/office/drawing/2014/main" id="{C81759FD-B59E-2FCA-0D9C-D43F3645610B}"/>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AEAF8421-7373-4233-D436-2A84258A0C50}"/>
              </a:ext>
            </a:extLst>
          </p:cNvPr>
          <p:cNvSpPr>
            <a:spLocks noGrp="1"/>
          </p:cNvSpPr>
          <p:nvPr>
            <p:ph type="sldNum" sz="quarter" idx="12"/>
          </p:nvPr>
        </p:nvSpPr>
        <p:spPr/>
        <p:txBody>
          <a:bodyPr>
            <a:normAutofit/>
          </a:bodyPr>
          <a:lstStyle/>
          <a:p>
            <a:fld id="{2D7BCAC6-6F2C-433A-BE87-D0A9451C8803}" type="slidenum">
              <a:rPr lang="en-US" smtClean="0"/>
              <a:pPr/>
              <a:t>21</a:t>
            </a:fld>
            <a:endParaRPr lang="en-US"/>
          </a:p>
        </p:txBody>
      </p:sp>
    </p:spTree>
    <p:extLst>
      <p:ext uri="{BB962C8B-B14F-4D97-AF65-F5344CB8AC3E}">
        <p14:creationId xmlns:p14="http://schemas.microsoft.com/office/powerpoint/2010/main" val="861509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D5784-85FF-991B-28C5-5905DB8AA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FEB70-6D20-7A4A-A794-B194D8F2317A}"/>
              </a:ext>
            </a:extLst>
          </p:cNvPr>
          <p:cNvSpPr>
            <a:spLocks noGrp="1"/>
          </p:cNvSpPr>
          <p:nvPr>
            <p:ph type="title"/>
          </p:nvPr>
        </p:nvSpPr>
        <p:spPr/>
        <p:txBody>
          <a:bodyPr/>
          <a:lstStyle/>
          <a:p>
            <a:r>
              <a:rPr lang="en-US" dirty="0"/>
              <a:t>Architecture of Jenkins – Jenkins Master</a:t>
            </a:r>
          </a:p>
        </p:txBody>
      </p:sp>
      <p:sp>
        <p:nvSpPr>
          <p:cNvPr id="3" name="Content Placeholder 2">
            <a:extLst>
              <a:ext uri="{FF2B5EF4-FFF2-40B4-BE49-F238E27FC236}">
                <a16:creationId xmlns:a16="http://schemas.microsoft.com/office/drawing/2014/main" id="{EF00884E-BFB4-C77C-E541-6BC31033BEEF}"/>
              </a:ext>
            </a:extLst>
          </p:cNvPr>
          <p:cNvSpPr>
            <a:spLocks noGrp="1"/>
          </p:cNvSpPr>
          <p:nvPr>
            <p:ph idx="1"/>
          </p:nvPr>
        </p:nvSpPr>
        <p:spPr/>
        <p:txBody>
          <a:bodyPr>
            <a:normAutofit/>
          </a:bodyPr>
          <a:lstStyle/>
          <a:p>
            <a:r>
              <a:rPr lang="en-US" b="0" i="0" dirty="0">
                <a:effectLst/>
              </a:rPr>
              <a:t>The server's job or master's job is to handle:</a:t>
            </a:r>
          </a:p>
          <a:p>
            <a:pPr lvl="1">
              <a:buFont typeface="Arial" panose="020B0604020202020204" pitchFamily="34" charset="0"/>
              <a:buChar char="•"/>
            </a:pPr>
            <a:r>
              <a:rPr lang="en-US" b="0" i="0" dirty="0">
                <a:solidFill>
                  <a:schemeClr val="tx1"/>
                </a:solidFill>
                <a:effectLst/>
              </a:rPr>
              <a:t>Scheduling build jobs.</a:t>
            </a:r>
          </a:p>
          <a:p>
            <a:pPr lvl="1">
              <a:buFont typeface="Arial" panose="020B0604020202020204" pitchFamily="34" charset="0"/>
              <a:buChar char="•"/>
            </a:pPr>
            <a:r>
              <a:rPr lang="en-US" b="0" i="0" dirty="0">
                <a:solidFill>
                  <a:schemeClr val="tx1"/>
                </a:solidFill>
                <a:effectLst/>
              </a:rPr>
              <a:t>Dispatching builds to the nodes/slaves for the actual execution.</a:t>
            </a:r>
          </a:p>
          <a:p>
            <a:pPr lvl="1">
              <a:buFont typeface="Arial" panose="020B0604020202020204" pitchFamily="34" charset="0"/>
              <a:buChar char="•"/>
            </a:pPr>
            <a:r>
              <a:rPr lang="en-US" b="0" i="0" dirty="0">
                <a:solidFill>
                  <a:schemeClr val="tx1"/>
                </a:solidFill>
                <a:effectLst/>
              </a:rPr>
              <a:t>Monitor the nodes/slaves (possibly taking them online and offline as required).</a:t>
            </a:r>
          </a:p>
          <a:p>
            <a:pPr lvl="1">
              <a:buFont typeface="Arial" panose="020B0604020202020204" pitchFamily="34" charset="0"/>
              <a:buChar char="•"/>
            </a:pPr>
            <a:r>
              <a:rPr lang="en-US" b="0" i="0" dirty="0">
                <a:solidFill>
                  <a:schemeClr val="tx1"/>
                </a:solidFill>
                <a:effectLst/>
              </a:rPr>
              <a:t>Recording and presenting the build results.</a:t>
            </a:r>
          </a:p>
          <a:p>
            <a:pPr lvl="1">
              <a:buFont typeface="Arial" panose="020B0604020202020204" pitchFamily="34" charset="0"/>
              <a:buChar char="•"/>
            </a:pPr>
            <a:r>
              <a:rPr lang="en-US" b="0" i="0" dirty="0">
                <a:solidFill>
                  <a:schemeClr val="tx1"/>
                </a:solidFill>
                <a:effectLst/>
              </a:rPr>
              <a:t>A Master/Server instance of Jenkins can also execute build jobs directly.</a:t>
            </a:r>
          </a:p>
        </p:txBody>
      </p:sp>
      <p:sp>
        <p:nvSpPr>
          <p:cNvPr id="6" name="Footer Placeholder 5">
            <a:extLst>
              <a:ext uri="{FF2B5EF4-FFF2-40B4-BE49-F238E27FC236}">
                <a16:creationId xmlns:a16="http://schemas.microsoft.com/office/drawing/2014/main" id="{07E01328-71F8-C921-928A-1E8B30DDFD92}"/>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5485FD26-C65D-D415-FEF3-152074359C35}"/>
              </a:ext>
            </a:extLst>
          </p:cNvPr>
          <p:cNvSpPr>
            <a:spLocks noGrp="1"/>
          </p:cNvSpPr>
          <p:nvPr>
            <p:ph type="sldNum" sz="quarter" idx="12"/>
          </p:nvPr>
        </p:nvSpPr>
        <p:spPr/>
        <p:txBody>
          <a:bodyPr>
            <a:normAutofit/>
          </a:bodyPr>
          <a:lstStyle/>
          <a:p>
            <a:fld id="{2D7BCAC6-6F2C-433A-BE87-D0A9451C8803}" type="slidenum">
              <a:rPr lang="en-US" smtClean="0"/>
              <a:pPr/>
              <a:t>22</a:t>
            </a:fld>
            <a:endParaRPr lang="en-US"/>
          </a:p>
        </p:txBody>
      </p:sp>
    </p:spTree>
    <p:extLst>
      <p:ext uri="{BB962C8B-B14F-4D97-AF65-F5344CB8AC3E}">
        <p14:creationId xmlns:p14="http://schemas.microsoft.com/office/powerpoint/2010/main" val="167380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D6157-97D6-5868-BA10-F3D0A9F446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221CA-33C7-2A51-76F5-CEB158F6EDE2}"/>
              </a:ext>
            </a:extLst>
          </p:cNvPr>
          <p:cNvSpPr>
            <a:spLocks noGrp="1"/>
          </p:cNvSpPr>
          <p:nvPr>
            <p:ph type="title"/>
          </p:nvPr>
        </p:nvSpPr>
        <p:spPr/>
        <p:txBody>
          <a:bodyPr/>
          <a:lstStyle/>
          <a:p>
            <a:r>
              <a:rPr lang="en-US" dirty="0"/>
              <a:t>Architecture of Jenkins – Jenkins Slave</a:t>
            </a:r>
          </a:p>
        </p:txBody>
      </p:sp>
      <p:sp>
        <p:nvSpPr>
          <p:cNvPr id="3" name="Content Placeholder 2">
            <a:extLst>
              <a:ext uri="{FF2B5EF4-FFF2-40B4-BE49-F238E27FC236}">
                <a16:creationId xmlns:a16="http://schemas.microsoft.com/office/drawing/2014/main" id="{D2742526-577C-6BDB-8EAC-CAB381457DA6}"/>
              </a:ext>
            </a:extLst>
          </p:cNvPr>
          <p:cNvSpPr>
            <a:spLocks noGrp="1"/>
          </p:cNvSpPr>
          <p:nvPr>
            <p:ph idx="1"/>
          </p:nvPr>
        </p:nvSpPr>
        <p:spPr/>
        <p:txBody>
          <a:bodyPr>
            <a:normAutofit/>
          </a:bodyPr>
          <a:lstStyle/>
          <a:p>
            <a:r>
              <a:rPr lang="en-US" b="0" i="0" dirty="0">
                <a:effectLst/>
              </a:rPr>
              <a:t>Jenkins slave is used to execute the build jobs dispatched by the master. </a:t>
            </a:r>
          </a:p>
          <a:p>
            <a:r>
              <a:rPr lang="en-US" b="0" i="0" dirty="0">
                <a:effectLst/>
              </a:rPr>
              <a:t>When a Jenkins job is created, an agent is assigned to it.</a:t>
            </a:r>
          </a:p>
          <a:p>
            <a:r>
              <a:rPr lang="en-US" b="0" i="0" dirty="0">
                <a:effectLst/>
              </a:rPr>
              <a:t>Jenkins agents are the worker nodes that execute all the steps mentioned in a Job.</a:t>
            </a:r>
          </a:p>
          <a:p>
            <a:r>
              <a:rPr lang="en-US" b="0" i="0" dirty="0">
                <a:effectLst/>
              </a:rPr>
              <a:t>Every agent has a label as a unique identifier.</a:t>
            </a:r>
          </a:p>
        </p:txBody>
      </p:sp>
      <p:sp>
        <p:nvSpPr>
          <p:cNvPr id="6" name="Footer Placeholder 5">
            <a:extLst>
              <a:ext uri="{FF2B5EF4-FFF2-40B4-BE49-F238E27FC236}">
                <a16:creationId xmlns:a16="http://schemas.microsoft.com/office/drawing/2014/main" id="{C1DAE9A1-9A06-7C5C-B6F4-E03D6EA0D522}"/>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937EA169-0176-E8AB-C6DB-72FAE98B33E5}"/>
              </a:ext>
            </a:extLst>
          </p:cNvPr>
          <p:cNvSpPr>
            <a:spLocks noGrp="1"/>
          </p:cNvSpPr>
          <p:nvPr>
            <p:ph type="sldNum" sz="quarter" idx="12"/>
          </p:nvPr>
        </p:nvSpPr>
        <p:spPr/>
        <p:txBody>
          <a:bodyPr>
            <a:normAutofit/>
          </a:bodyPr>
          <a:lstStyle/>
          <a:p>
            <a:fld id="{2D7BCAC6-6F2C-433A-BE87-D0A9451C8803}" type="slidenum">
              <a:rPr lang="en-US" smtClean="0"/>
              <a:pPr/>
              <a:t>23</a:t>
            </a:fld>
            <a:endParaRPr lang="en-US"/>
          </a:p>
        </p:txBody>
      </p:sp>
    </p:spTree>
    <p:extLst>
      <p:ext uri="{BB962C8B-B14F-4D97-AF65-F5344CB8AC3E}">
        <p14:creationId xmlns:p14="http://schemas.microsoft.com/office/powerpoint/2010/main" val="2317641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C588D-FA86-3315-EC6E-790D608FE9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4AE90-56A0-62D4-3D43-7B7D4150BC3B}"/>
              </a:ext>
            </a:extLst>
          </p:cNvPr>
          <p:cNvSpPr>
            <a:spLocks noGrp="1"/>
          </p:cNvSpPr>
          <p:nvPr>
            <p:ph type="title"/>
          </p:nvPr>
        </p:nvSpPr>
        <p:spPr/>
        <p:txBody>
          <a:bodyPr/>
          <a:lstStyle/>
          <a:p>
            <a:r>
              <a:rPr lang="en-US" dirty="0"/>
              <a:t>Architecture of Jenkins – Jenkins Slave</a:t>
            </a:r>
          </a:p>
        </p:txBody>
      </p:sp>
      <p:sp>
        <p:nvSpPr>
          <p:cNvPr id="3" name="Content Placeholder 2">
            <a:extLst>
              <a:ext uri="{FF2B5EF4-FFF2-40B4-BE49-F238E27FC236}">
                <a16:creationId xmlns:a16="http://schemas.microsoft.com/office/drawing/2014/main" id="{9F02FA74-CDF0-FE41-638C-1BAEA3480376}"/>
              </a:ext>
            </a:extLst>
          </p:cNvPr>
          <p:cNvSpPr>
            <a:spLocks noGrp="1"/>
          </p:cNvSpPr>
          <p:nvPr>
            <p:ph idx="1"/>
          </p:nvPr>
        </p:nvSpPr>
        <p:spPr/>
        <p:txBody>
          <a:bodyPr>
            <a:normAutofit/>
          </a:bodyPr>
          <a:lstStyle/>
          <a:p>
            <a:r>
              <a:rPr lang="en-US" b="0" i="0" dirty="0">
                <a:effectLst/>
              </a:rPr>
              <a:t>There are two types of Jenkins Slaves:</a:t>
            </a:r>
          </a:p>
          <a:p>
            <a:r>
              <a:rPr lang="en-US" b="1" i="0" dirty="0">
                <a:effectLst/>
              </a:rPr>
              <a:t>Static Slaves</a:t>
            </a:r>
            <a:r>
              <a:rPr lang="en-US" b="0" i="0" dirty="0">
                <a:effectLst/>
              </a:rPr>
              <a:t>: Manually configured and always available for task execution. These agents will always be up and running and stay connected to the Jenkins server. </a:t>
            </a:r>
          </a:p>
          <a:p>
            <a:r>
              <a:rPr lang="en-US" b="1" i="0" dirty="0">
                <a:effectLst/>
              </a:rPr>
              <a:t>Dynamic Slaves</a:t>
            </a:r>
            <a:r>
              <a:rPr lang="en-US" b="0" i="0" dirty="0">
                <a:effectLst/>
              </a:rPr>
              <a:t>: Automatically created and terminated based on demand using tools like Kubernetes or cloud integrations. </a:t>
            </a:r>
          </a:p>
        </p:txBody>
      </p:sp>
      <p:sp>
        <p:nvSpPr>
          <p:cNvPr id="6" name="Footer Placeholder 5">
            <a:extLst>
              <a:ext uri="{FF2B5EF4-FFF2-40B4-BE49-F238E27FC236}">
                <a16:creationId xmlns:a16="http://schemas.microsoft.com/office/drawing/2014/main" id="{B590BB97-FE91-7918-CDCE-50834D9E8CEC}"/>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4DE53279-2903-948D-65AC-A5A52636E964}"/>
              </a:ext>
            </a:extLst>
          </p:cNvPr>
          <p:cNvSpPr>
            <a:spLocks noGrp="1"/>
          </p:cNvSpPr>
          <p:nvPr>
            <p:ph type="sldNum" sz="quarter" idx="12"/>
          </p:nvPr>
        </p:nvSpPr>
        <p:spPr/>
        <p:txBody>
          <a:bodyPr>
            <a:normAutofit/>
          </a:bodyPr>
          <a:lstStyle/>
          <a:p>
            <a:fld id="{2D7BCAC6-6F2C-433A-BE87-D0A9451C8803}" type="slidenum">
              <a:rPr lang="en-US" smtClean="0"/>
              <a:pPr/>
              <a:t>24</a:t>
            </a:fld>
            <a:endParaRPr lang="en-US"/>
          </a:p>
        </p:txBody>
      </p:sp>
    </p:spTree>
    <p:extLst>
      <p:ext uri="{BB962C8B-B14F-4D97-AF65-F5344CB8AC3E}">
        <p14:creationId xmlns:p14="http://schemas.microsoft.com/office/powerpoint/2010/main" val="3827053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79987-21A5-EEE8-ADB2-9AFE5F209FB1}"/>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9A10B2D7-8FB4-4305-3E88-9BAA26BAF7ED}"/>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0B4A1993-2E06-46CB-A499-0EFA7636176A}"/>
              </a:ext>
            </a:extLst>
          </p:cNvPr>
          <p:cNvSpPr>
            <a:spLocks noGrp="1"/>
          </p:cNvSpPr>
          <p:nvPr>
            <p:ph type="sldNum" sz="quarter" idx="12"/>
          </p:nvPr>
        </p:nvSpPr>
        <p:spPr/>
        <p:txBody>
          <a:bodyPr>
            <a:normAutofit/>
          </a:bodyPr>
          <a:lstStyle/>
          <a:p>
            <a:fld id="{2D7BCAC6-6F2C-433A-BE87-D0A9451C8803}" type="slidenum">
              <a:rPr lang="en-US" smtClean="0"/>
              <a:pPr/>
              <a:t>25</a:t>
            </a:fld>
            <a:endParaRPr lang="en-US"/>
          </a:p>
        </p:txBody>
      </p:sp>
      <p:pic>
        <p:nvPicPr>
          <p:cNvPr id="4098" name="Picture 2">
            <a:extLst>
              <a:ext uri="{FF2B5EF4-FFF2-40B4-BE49-F238E27FC236}">
                <a16:creationId xmlns:a16="http://schemas.microsoft.com/office/drawing/2014/main" id="{75C52CCF-EE06-9C8D-7115-9AA71902992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694238" y="104107"/>
            <a:ext cx="5973762" cy="664978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7464006-470C-34BC-D63A-52E290C2783D}"/>
              </a:ext>
            </a:extLst>
          </p:cNvPr>
          <p:cNvSpPr>
            <a:spLocks noGrp="1"/>
          </p:cNvSpPr>
          <p:nvPr>
            <p:ph type="title"/>
          </p:nvPr>
        </p:nvSpPr>
        <p:spPr/>
        <p:txBody>
          <a:bodyPr/>
          <a:lstStyle/>
          <a:p>
            <a:r>
              <a:rPr lang="en-US" dirty="0"/>
              <a:t>Architecture of Jenkins Slave</a:t>
            </a:r>
          </a:p>
        </p:txBody>
      </p:sp>
    </p:spTree>
    <p:extLst>
      <p:ext uri="{BB962C8B-B14F-4D97-AF65-F5344CB8AC3E}">
        <p14:creationId xmlns:p14="http://schemas.microsoft.com/office/powerpoint/2010/main" val="380550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51343-701A-0D06-8977-389CA2084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5D017-D79D-4705-CFF2-499AF74567A4}"/>
              </a:ext>
            </a:extLst>
          </p:cNvPr>
          <p:cNvSpPr>
            <a:spLocks noGrp="1"/>
          </p:cNvSpPr>
          <p:nvPr>
            <p:ph type="title"/>
          </p:nvPr>
        </p:nvSpPr>
        <p:spPr/>
        <p:txBody>
          <a:bodyPr/>
          <a:lstStyle/>
          <a:p>
            <a:r>
              <a:rPr lang="en-US" dirty="0"/>
              <a:t>Architecture of Jenkins</a:t>
            </a:r>
          </a:p>
        </p:txBody>
      </p:sp>
      <p:sp>
        <p:nvSpPr>
          <p:cNvPr id="3" name="Content Placeholder 2">
            <a:extLst>
              <a:ext uri="{FF2B5EF4-FFF2-40B4-BE49-F238E27FC236}">
                <a16:creationId xmlns:a16="http://schemas.microsoft.com/office/drawing/2014/main" id="{36678D8D-379E-7D66-E0F6-E1530380B6A3}"/>
              </a:ext>
            </a:extLst>
          </p:cNvPr>
          <p:cNvSpPr>
            <a:spLocks noGrp="1"/>
          </p:cNvSpPr>
          <p:nvPr>
            <p:ph idx="1"/>
          </p:nvPr>
        </p:nvSpPr>
        <p:spPr/>
        <p:txBody>
          <a:bodyPr>
            <a:normAutofit/>
          </a:bodyPr>
          <a:lstStyle/>
          <a:p>
            <a:r>
              <a:rPr lang="en-US" b="1" dirty="0"/>
              <a:t>Master-Worker Architecture</a:t>
            </a:r>
            <a:r>
              <a:rPr lang="en-US" dirty="0"/>
              <a:t>:</a:t>
            </a:r>
          </a:p>
          <a:p>
            <a:pPr lvl="1">
              <a:buFont typeface="Arial" panose="020B0604020202020204" pitchFamily="34" charset="0"/>
              <a:buChar char="•"/>
            </a:pPr>
            <a:r>
              <a:rPr lang="en-US" b="1" dirty="0"/>
              <a:t>Master Node</a:t>
            </a:r>
            <a:r>
              <a:rPr lang="en-US" dirty="0"/>
              <a:t>:</a:t>
            </a:r>
          </a:p>
          <a:p>
            <a:pPr marL="1017270" lvl="2" indent="-285750">
              <a:buFont typeface="Arial" panose="020B0604020202020204" pitchFamily="34" charset="0"/>
              <a:buChar char="•"/>
            </a:pPr>
            <a:r>
              <a:rPr lang="en-US" dirty="0"/>
              <a:t>Orchestrates build processes and distributes tasks.</a:t>
            </a:r>
          </a:p>
          <a:p>
            <a:pPr marL="1017270" lvl="2" indent="-285750">
              <a:buFont typeface="Arial" panose="020B0604020202020204" pitchFamily="34" charset="0"/>
              <a:buChar char="•"/>
            </a:pPr>
            <a:r>
              <a:rPr lang="en-US" dirty="0"/>
              <a:t>Manages job configurations, scheduling, and monitoring.</a:t>
            </a:r>
          </a:p>
          <a:p>
            <a:pPr lvl="1">
              <a:buFont typeface="Arial" panose="020B0604020202020204" pitchFamily="34" charset="0"/>
              <a:buChar char="•"/>
            </a:pPr>
            <a:r>
              <a:rPr lang="en-US" b="1" dirty="0"/>
              <a:t>Worker Nodes (Agents)</a:t>
            </a:r>
            <a:r>
              <a:rPr lang="en-US" dirty="0"/>
              <a:t>:</a:t>
            </a:r>
          </a:p>
          <a:p>
            <a:pPr marL="1017270" lvl="2" indent="-285750">
              <a:buFont typeface="Arial" panose="020B0604020202020204" pitchFamily="34" charset="0"/>
              <a:buChar char="•"/>
            </a:pPr>
            <a:r>
              <a:rPr lang="en-US" dirty="0"/>
              <a:t>Execute build tasks delegated by the master.</a:t>
            </a:r>
          </a:p>
          <a:p>
            <a:endParaRPr lang="en-US" dirty="0"/>
          </a:p>
        </p:txBody>
      </p:sp>
      <p:sp>
        <p:nvSpPr>
          <p:cNvPr id="6" name="Footer Placeholder 5">
            <a:extLst>
              <a:ext uri="{FF2B5EF4-FFF2-40B4-BE49-F238E27FC236}">
                <a16:creationId xmlns:a16="http://schemas.microsoft.com/office/drawing/2014/main" id="{55D26122-D9E6-9A09-483B-71063EA8852D}"/>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D3FBF3B3-5D83-50E9-B8A4-715606ED7806}"/>
              </a:ext>
            </a:extLst>
          </p:cNvPr>
          <p:cNvSpPr>
            <a:spLocks noGrp="1"/>
          </p:cNvSpPr>
          <p:nvPr>
            <p:ph type="sldNum" sz="quarter" idx="12"/>
          </p:nvPr>
        </p:nvSpPr>
        <p:spPr/>
        <p:txBody>
          <a:bodyPr>
            <a:normAutofit/>
          </a:bodyPr>
          <a:lstStyle/>
          <a:p>
            <a:fld id="{2D7BCAC6-6F2C-433A-BE87-D0A9451C8803}" type="slidenum">
              <a:rPr lang="en-US" smtClean="0"/>
              <a:pPr/>
              <a:t>26</a:t>
            </a:fld>
            <a:endParaRPr lang="en-US"/>
          </a:p>
        </p:txBody>
      </p:sp>
    </p:spTree>
    <p:extLst>
      <p:ext uri="{BB962C8B-B14F-4D97-AF65-F5344CB8AC3E}">
        <p14:creationId xmlns:p14="http://schemas.microsoft.com/office/powerpoint/2010/main" val="3682349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EE6B8-68E2-C784-464F-5E51D625F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65629C-51CE-5024-65EC-E79B436C4637}"/>
              </a:ext>
            </a:extLst>
          </p:cNvPr>
          <p:cNvSpPr>
            <a:spLocks noGrp="1"/>
          </p:cNvSpPr>
          <p:nvPr>
            <p:ph type="title"/>
          </p:nvPr>
        </p:nvSpPr>
        <p:spPr/>
        <p:txBody>
          <a:bodyPr/>
          <a:lstStyle/>
          <a:p>
            <a:r>
              <a:rPr lang="en-US" dirty="0"/>
              <a:t>Architecture of Jenkins</a:t>
            </a:r>
          </a:p>
        </p:txBody>
      </p:sp>
      <p:sp>
        <p:nvSpPr>
          <p:cNvPr id="3" name="Content Placeholder 2">
            <a:extLst>
              <a:ext uri="{FF2B5EF4-FFF2-40B4-BE49-F238E27FC236}">
                <a16:creationId xmlns:a16="http://schemas.microsoft.com/office/drawing/2014/main" id="{F7B7C8B9-FE50-2C6F-0B2C-5AFF2DE09DCD}"/>
              </a:ext>
            </a:extLst>
          </p:cNvPr>
          <p:cNvSpPr>
            <a:spLocks noGrp="1"/>
          </p:cNvSpPr>
          <p:nvPr>
            <p:ph idx="1"/>
          </p:nvPr>
        </p:nvSpPr>
        <p:spPr/>
        <p:txBody>
          <a:bodyPr>
            <a:normAutofit/>
          </a:bodyPr>
          <a:lstStyle/>
          <a:p>
            <a:r>
              <a:rPr lang="en-US" b="1" dirty="0"/>
              <a:t>Pipeline</a:t>
            </a:r>
            <a:r>
              <a:rPr lang="en-US" dirty="0"/>
              <a:t>:</a:t>
            </a:r>
          </a:p>
          <a:p>
            <a:pPr lvl="1">
              <a:buFont typeface="Arial" panose="020B0604020202020204" pitchFamily="34" charset="0"/>
              <a:buChar char="•"/>
            </a:pPr>
            <a:r>
              <a:rPr lang="en-US" dirty="0"/>
              <a:t>Defines the entire CI/CD workflow using a scripted or declarative approach.</a:t>
            </a:r>
          </a:p>
          <a:p>
            <a:pPr lvl="1">
              <a:buFont typeface="Arial" panose="020B0604020202020204" pitchFamily="34" charset="0"/>
              <a:buChar char="•"/>
            </a:pPr>
            <a:r>
              <a:rPr lang="en-US" dirty="0"/>
              <a:t>Consists of stages like build, test, and deploy.</a:t>
            </a:r>
          </a:p>
          <a:p>
            <a:r>
              <a:rPr lang="en-US" b="1" dirty="0"/>
              <a:t>Plugins</a:t>
            </a:r>
            <a:r>
              <a:rPr lang="en-US" dirty="0"/>
              <a:t>:</a:t>
            </a:r>
          </a:p>
          <a:p>
            <a:pPr lvl="1">
              <a:buFont typeface="Arial" panose="020B0604020202020204" pitchFamily="34" charset="0"/>
              <a:buChar char="•"/>
            </a:pPr>
            <a:r>
              <a:rPr lang="en-US" dirty="0"/>
              <a:t>Extend Jenkins functionality (e.g., Git, Docker, Kubernetes).</a:t>
            </a:r>
          </a:p>
          <a:p>
            <a:pPr lvl="1">
              <a:buFont typeface="Arial" panose="020B0604020202020204" pitchFamily="34" charset="0"/>
              <a:buChar char="•"/>
            </a:pPr>
            <a:r>
              <a:rPr lang="en-US" dirty="0"/>
              <a:t>Over 1,500 plugins are available for integration.</a:t>
            </a:r>
          </a:p>
          <a:p>
            <a:pPr>
              <a:buFont typeface="Arial" panose="020B0604020202020204" pitchFamily="34" charset="0"/>
              <a:buChar char="•"/>
            </a:pPr>
            <a:endParaRPr lang="en-US" dirty="0"/>
          </a:p>
        </p:txBody>
      </p:sp>
      <p:sp>
        <p:nvSpPr>
          <p:cNvPr id="6" name="Footer Placeholder 5">
            <a:extLst>
              <a:ext uri="{FF2B5EF4-FFF2-40B4-BE49-F238E27FC236}">
                <a16:creationId xmlns:a16="http://schemas.microsoft.com/office/drawing/2014/main" id="{E1E95B34-15F5-DA1D-A658-5715A59DAE8A}"/>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E490BDEE-56BA-F0E2-A8C1-15E5BD09B573}"/>
              </a:ext>
            </a:extLst>
          </p:cNvPr>
          <p:cNvSpPr>
            <a:spLocks noGrp="1"/>
          </p:cNvSpPr>
          <p:nvPr>
            <p:ph type="sldNum" sz="quarter" idx="12"/>
          </p:nvPr>
        </p:nvSpPr>
        <p:spPr/>
        <p:txBody>
          <a:bodyPr>
            <a:normAutofit/>
          </a:bodyPr>
          <a:lstStyle/>
          <a:p>
            <a:fld id="{2D7BCAC6-6F2C-433A-BE87-D0A9451C8803}" type="slidenum">
              <a:rPr lang="en-US" smtClean="0"/>
              <a:pPr/>
              <a:t>27</a:t>
            </a:fld>
            <a:endParaRPr lang="en-US"/>
          </a:p>
        </p:txBody>
      </p:sp>
    </p:spTree>
    <p:extLst>
      <p:ext uri="{BB962C8B-B14F-4D97-AF65-F5344CB8AC3E}">
        <p14:creationId xmlns:p14="http://schemas.microsoft.com/office/powerpoint/2010/main" val="29945851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00B53-33B8-1C12-0214-A2BD5DFC6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A2F38-45E6-50BF-0190-75BD4C45CA69}"/>
              </a:ext>
            </a:extLst>
          </p:cNvPr>
          <p:cNvSpPr>
            <a:spLocks noGrp="1"/>
          </p:cNvSpPr>
          <p:nvPr>
            <p:ph type="title"/>
          </p:nvPr>
        </p:nvSpPr>
        <p:spPr/>
        <p:txBody>
          <a:bodyPr/>
          <a:lstStyle/>
          <a:p>
            <a:r>
              <a:rPr lang="en-US" dirty="0"/>
              <a:t>Architecture of Jenkins</a:t>
            </a:r>
          </a:p>
        </p:txBody>
      </p:sp>
      <p:sp>
        <p:nvSpPr>
          <p:cNvPr id="3" name="Content Placeholder 2">
            <a:extLst>
              <a:ext uri="{FF2B5EF4-FFF2-40B4-BE49-F238E27FC236}">
                <a16:creationId xmlns:a16="http://schemas.microsoft.com/office/drawing/2014/main" id="{D70E9A57-E847-6D9F-B9BC-DC152277F1DF}"/>
              </a:ext>
            </a:extLst>
          </p:cNvPr>
          <p:cNvSpPr>
            <a:spLocks noGrp="1"/>
          </p:cNvSpPr>
          <p:nvPr>
            <p:ph idx="1"/>
          </p:nvPr>
        </p:nvSpPr>
        <p:spPr/>
        <p:txBody>
          <a:bodyPr>
            <a:normAutofit/>
          </a:bodyPr>
          <a:lstStyle/>
          <a:p>
            <a:r>
              <a:rPr lang="en-US" b="1" dirty="0"/>
              <a:t>Jobs</a:t>
            </a:r>
            <a:r>
              <a:rPr lang="en-US" dirty="0"/>
              <a:t>:</a:t>
            </a:r>
          </a:p>
          <a:p>
            <a:pPr lvl="1">
              <a:buFont typeface="Arial" panose="020B0604020202020204" pitchFamily="34" charset="0"/>
              <a:buChar char="•"/>
            </a:pPr>
            <a:r>
              <a:rPr lang="en-US" dirty="0"/>
              <a:t>Individual tasks or sequences of tasks configured in Jenkins.</a:t>
            </a:r>
          </a:p>
          <a:p>
            <a:pPr lvl="1">
              <a:buFont typeface="Arial" panose="020B0604020202020204" pitchFamily="34" charset="0"/>
              <a:buChar char="•"/>
            </a:pPr>
            <a:r>
              <a:rPr lang="en-US" dirty="0"/>
              <a:t>Examples: Build a project, run tests, deploy applications.</a:t>
            </a:r>
          </a:p>
          <a:p>
            <a:r>
              <a:rPr lang="en-US" b="1" dirty="0"/>
              <a:t>Build Triggers</a:t>
            </a:r>
            <a:r>
              <a:rPr lang="en-US" dirty="0"/>
              <a:t>:</a:t>
            </a:r>
          </a:p>
          <a:p>
            <a:pPr lvl="1">
              <a:buFont typeface="Arial" panose="020B0604020202020204" pitchFamily="34" charset="0"/>
              <a:buChar char="•"/>
            </a:pPr>
            <a:r>
              <a:rPr lang="en-US" dirty="0"/>
              <a:t>Automatically initiate builds based on:</a:t>
            </a:r>
          </a:p>
          <a:p>
            <a:pPr marL="1017270" lvl="2" indent="-285750">
              <a:buFont typeface="Arial" panose="020B0604020202020204" pitchFamily="34" charset="0"/>
              <a:buChar char="•"/>
            </a:pPr>
            <a:r>
              <a:rPr lang="en-US" dirty="0"/>
              <a:t>Code changes in a repository.</a:t>
            </a:r>
          </a:p>
          <a:p>
            <a:pPr marL="1017270" lvl="2" indent="-285750">
              <a:buFont typeface="Arial" panose="020B0604020202020204" pitchFamily="34" charset="0"/>
              <a:buChar char="•"/>
            </a:pPr>
            <a:r>
              <a:rPr lang="en-US" dirty="0"/>
              <a:t>Scheduled intervals (cron jobs).</a:t>
            </a:r>
          </a:p>
          <a:p>
            <a:pPr marL="1017270" lvl="2" indent="-285750">
              <a:buFont typeface="Arial" panose="020B0604020202020204" pitchFamily="34" charset="0"/>
              <a:buChar char="•"/>
            </a:pPr>
            <a:r>
              <a:rPr lang="en-US" dirty="0"/>
              <a:t>Manual triggers or API calls.</a:t>
            </a:r>
          </a:p>
          <a:p>
            <a:pPr>
              <a:buFont typeface="Arial" panose="020B0604020202020204" pitchFamily="34" charset="0"/>
              <a:buChar char="•"/>
            </a:pPr>
            <a:endParaRPr lang="en-US" dirty="0"/>
          </a:p>
        </p:txBody>
      </p:sp>
      <p:sp>
        <p:nvSpPr>
          <p:cNvPr id="6" name="Footer Placeholder 5">
            <a:extLst>
              <a:ext uri="{FF2B5EF4-FFF2-40B4-BE49-F238E27FC236}">
                <a16:creationId xmlns:a16="http://schemas.microsoft.com/office/drawing/2014/main" id="{1FCCC96E-5B54-58D6-7228-DDA134D48D8D}"/>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60060922-C340-4FBC-D05B-9F45CADC1D5B}"/>
              </a:ext>
            </a:extLst>
          </p:cNvPr>
          <p:cNvSpPr>
            <a:spLocks noGrp="1"/>
          </p:cNvSpPr>
          <p:nvPr>
            <p:ph type="sldNum" sz="quarter" idx="12"/>
          </p:nvPr>
        </p:nvSpPr>
        <p:spPr/>
        <p:txBody>
          <a:bodyPr>
            <a:normAutofit/>
          </a:bodyPr>
          <a:lstStyle/>
          <a:p>
            <a:fld id="{2D7BCAC6-6F2C-433A-BE87-D0A9451C8803}" type="slidenum">
              <a:rPr lang="en-US" smtClean="0"/>
              <a:pPr/>
              <a:t>28</a:t>
            </a:fld>
            <a:endParaRPr lang="en-US"/>
          </a:p>
        </p:txBody>
      </p:sp>
    </p:spTree>
    <p:extLst>
      <p:ext uri="{BB962C8B-B14F-4D97-AF65-F5344CB8AC3E}">
        <p14:creationId xmlns:p14="http://schemas.microsoft.com/office/powerpoint/2010/main" val="26290913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CA3A1-80A1-CA78-D748-7396E03F4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7D216-F45C-3DF0-34AB-9C603D35A4C4}"/>
              </a:ext>
            </a:extLst>
          </p:cNvPr>
          <p:cNvSpPr>
            <a:spLocks noGrp="1"/>
          </p:cNvSpPr>
          <p:nvPr>
            <p:ph type="title"/>
          </p:nvPr>
        </p:nvSpPr>
        <p:spPr/>
        <p:txBody>
          <a:bodyPr/>
          <a:lstStyle/>
          <a:p>
            <a:r>
              <a:rPr lang="en-US" dirty="0"/>
              <a:t>Architecture of Jenkins</a:t>
            </a:r>
          </a:p>
        </p:txBody>
      </p:sp>
      <p:sp>
        <p:nvSpPr>
          <p:cNvPr id="3" name="Content Placeholder 2">
            <a:extLst>
              <a:ext uri="{FF2B5EF4-FFF2-40B4-BE49-F238E27FC236}">
                <a16:creationId xmlns:a16="http://schemas.microsoft.com/office/drawing/2014/main" id="{138D025E-A20C-071C-97D6-51DCB94EE440}"/>
              </a:ext>
            </a:extLst>
          </p:cNvPr>
          <p:cNvSpPr>
            <a:spLocks noGrp="1"/>
          </p:cNvSpPr>
          <p:nvPr>
            <p:ph idx="1"/>
          </p:nvPr>
        </p:nvSpPr>
        <p:spPr/>
        <p:txBody>
          <a:bodyPr>
            <a:normAutofit/>
          </a:bodyPr>
          <a:lstStyle/>
          <a:p>
            <a:r>
              <a:rPr lang="en-US" b="1" dirty="0"/>
              <a:t>Distributed Builds</a:t>
            </a:r>
            <a:r>
              <a:rPr lang="en-US" dirty="0"/>
              <a:t>:</a:t>
            </a:r>
          </a:p>
          <a:p>
            <a:pPr lvl="1">
              <a:buFont typeface="Arial" panose="020B0604020202020204" pitchFamily="34" charset="0"/>
              <a:buChar char="•"/>
            </a:pPr>
            <a:r>
              <a:rPr lang="en-US" dirty="0"/>
              <a:t>Jenkins supports building across multiple worker nodes to handle large-scale projects.</a:t>
            </a:r>
          </a:p>
          <a:p>
            <a:r>
              <a:rPr lang="en-US" b="1" dirty="0"/>
              <a:t>Web Interface</a:t>
            </a:r>
            <a:r>
              <a:rPr lang="en-US" dirty="0"/>
              <a:t>:</a:t>
            </a:r>
          </a:p>
          <a:p>
            <a:pPr lvl="1">
              <a:buFont typeface="Arial" panose="020B0604020202020204" pitchFamily="34" charset="0"/>
              <a:buChar char="•"/>
            </a:pPr>
            <a:r>
              <a:rPr lang="en-US" dirty="0"/>
              <a:t>Intuitive dashboard to configure jobs, view build results, and manage workers.</a:t>
            </a:r>
          </a:p>
          <a:p>
            <a:pPr>
              <a:buFont typeface="Arial" panose="020B0604020202020204" pitchFamily="34" charset="0"/>
              <a:buChar char="•"/>
            </a:pPr>
            <a:endParaRPr lang="en-US" dirty="0"/>
          </a:p>
        </p:txBody>
      </p:sp>
      <p:sp>
        <p:nvSpPr>
          <p:cNvPr id="6" name="Footer Placeholder 5">
            <a:extLst>
              <a:ext uri="{FF2B5EF4-FFF2-40B4-BE49-F238E27FC236}">
                <a16:creationId xmlns:a16="http://schemas.microsoft.com/office/drawing/2014/main" id="{192EA862-9E11-049F-F1A3-DC0B2201F41A}"/>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D2103D20-21F6-99EF-C02B-C577D755877A}"/>
              </a:ext>
            </a:extLst>
          </p:cNvPr>
          <p:cNvSpPr>
            <a:spLocks noGrp="1"/>
          </p:cNvSpPr>
          <p:nvPr>
            <p:ph type="sldNum" sz="quarter" idx="12"/>
          </p:nvPr>
        </p:nvSpPr>
        <p:spPr/>
        <p:txBody>
          <a:bodyPr>
            <a:normAutofit/>
          </a:bodyPr>
          <a:lstStyle/>
          <a:p>
            <a:fld id="{2D7BCAC6-6F2C-433A-BE87-D0A9451C8803}" type="slidenum">
              <a:rPr lang="en-US" smtClean="0"/>
              <a:pPr/>
              <a:t>29</a:t>
            </a:fld>
            <a:endParaRPr lang="en-US"/>
          </a:p>
        </p:txBody>
      </p:sp>
    </p:spTree>
    <p:extLst>
      <p:ext uri="{BB962C8B-B14F-4D97-AF65-F5344CB8AC3E}">
        <p14:creationId xmlns:p14="http://schemas.microsoft.com/office/powerpoint/2010/main" val="10861558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E70E3-172A-C0D8-7851-AF941D2BF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97FA51-B96E-542C-5D00-E5635D0C6698}"/>
              </a:ext>
            </a:extLst>
          </p:cNvPr>
          <p:cNvSpPr>
            <a:spLocks noGrp="1"/>
          </p:cNvSpPr>
          <p:nvPr>
            <p:ph type="title"/>
          </p:nvPr>
        </p:nvSpPr>
        <p:spPr/>
        <p:txBody>
          <a:bodyPr/>
          <a:lstStyle/>
          <a:p>
            <a:r>
              <a:rPr lang="en-US" dirty="0"/>
              <a:t>Master-Slave Communication</a:t>
            </a:r>
          </a:p>
        </p:txBody>
      </p:sp>
      <p:sp>
        <p:nvSpPr>
          <p:cNvPr id="3" name="Content Placeholder 2">
            <a:extLst>
              <a:ext uri="{FF2B5EF4-FFF2-40B4-BE49-F238E27FC236}">
                <a16:creationId xmlns:a16="http://schemas.microsoft.com/office/drawing/2014/main" id="{30D22EF3-D621-933B-D422-C51F317FBF5D}"/>
              </a:ext>
            </a:extLst>
          </p:cNvPr>
          <p:cNvSpPr>
            <a:spLocks noGrp="1"/>
          </p:cNvSpPr>
          <p:nvPr>
            <p:ph idx="1"/>
          </p:nvPr>
        </p:nvSpPr>
        <p:spPr/>
        <p:txBody>
          <a:bodyPr>
            <a:normAutofit/>
          </a:bodyPr>
          <a:lstStyle/>
          <a:p>
            <a:pPr marL="457200" indent="-457200">
              <a:buFont typeface="+mj-lt"/>
              <a:buAutoNum type="arabicPeriod"/>
            </a:pPr>
            <a:r>
              <a:rPr lang="en-US" b="1" dirty="0"/>
              <a:t>Connection Setup</a:t>
            </a:r>
            <a:r>
              <a:rPr lang="en-US" dirty="0"/>
              <a:t>:</a:t>
            </a:r>
          </a:p>
          <a:p>
            <a:pPr marL="800100" lvl="1" indent="-342900"/>
            <a:r>
              <a:rPr lang="en-US" dirty="0"/>
              <a:t>The master connects to the slave using SSH, JNLP (Java Network Launch Protocol), or HTTP.</a:t>
            </a:r>
          </a:p>
          <a:p>
            <a:pPr marL="457200" indent="-457200">
              <a:buFont typeface="+mj-lt"/>
              <a:buAutoNum type="arabicPeriod"/>
            </a:pPr>
            <a:r>
              <a:rPr lang="en-US" b="1" dirty="0"/>
              <a:t>Task Delegation</a:t>
            </a:r>
            <a:r>
              <a:rPr lang="en-US" dirty="0"/>
              <a:t>:</a:t>
            </a:r>
          </a:p>
          <a:p>
            <a:pPr marL="800100" lvl="1" indent="-342900"/>
            <a:r>
              <a:rPr lang="en-US" dirty="0"/>
              <a:t>The master sends job details and resources to the slave.</a:t>
            </a:r>
          </a:p>
          <a:p>
            <a:pPr marL="457200" indent="-457200">
              <a:buFont typeface="+mj-lt"/>
              <a:buAutoNum type="arabicPeriod"/>
            </a:pPr>
            <a:r>
              <a:rPr lang="en-US" b="1" dirty="0"/>
              <a:t>Execution and Feedback</a:t>
            </a:r>
            <a:r>
              <a:rPr lang="en-US" dirty="0"/>
              <a:t>:</a:t>
            </a:r>
          </a:p>
          <a:p>
            <a:pPr marL="800100" lvl="1" indent="-342900"/>
            <a:r>
              <a:rPr lang="en-US" dirty="0"/>
              <a:t>The slave executes the job and sends logs, build results, and artifacts back to the master.</a:t>
            </a:r>
          </a:p>
        </p:txBody>
      </p:sp>
      <p:sp>
        <p:nvSpPr>
          <p:cNvPr id="6" name="Footer Placeholder 5">
            <a:extLst>
              <a:ext uri="{FF2B5EF4-FFF2-40B4-BE49-F238E27FC236}">
                <a16:creationId xmlns:a16="http://schemas.microsoft.com/office/drawing/2014/main" id="{67387596-3C23-BD76-FBBC-6DBF1090D3B9}"/>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90186E8E-96E0-BC49-A801-63F402797D8F}"/>
              </a:ext>
            </a:extLst>
          </p:cNvPr>
          <p:cNvSpPr>
            <a:spLocks noGrp="1"/>
          </p:cNvSpPr>
          <p:nvPr>
            <p:ph type="sldNum" sz="quarter" idx="12"/>
          </p:nvPr>
        </p:nvSpPr>
        <p:spPr/>
        <p:txBody>
          <a:bodyPr>
            <a:normAutofit/>
          </a:bodyPr>
          <a:lstStyle/>
          <a:p>
            <a:fld id="{2D7BCAC6-6F2C-433A-BE87-D0A9451C8803}" type="slidenum">
              <a:rPr lang="en-US" smtClean="0"/>
              <a:pPr/>
              <a:t>30</a:t>
            </a:fld>
            <a:endParaRPr lang="en-US"/>
          </a:p>
        </p:txBody>
      </p:sp>
    </p:spTree>
    <p:extLst>
      <p:ext uri="{BB962C8B-B14F-4D97-AF65-F5344CB8AC3E}">
        <p14:creationId xmlns:p14="http://schemas.microsoft.com/office/powerpoint/2010/main" val="3480289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B0045-F49B-C4B0-DA09-F272A4EC55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FADAC3-67E6-4A11-2DD9-6E8630756389}"/>
              </a:ext>
            </a:extLst>
          </p:cNvPr>
          <p:cNvSpPr>
            <a:spLocks noGrp="1"/>
          </p:cNvSpPr>
          <p:nvPr>
            <p:ph type="title"/>
          </p:nvPr>
        </p:nvSpPr>
        <p:spPr/>
        <p:txBody>
          <a:bodyPr/>
          <a:lstStyle/>
          <a:p>
            <a:r>
              <a:rPr lang="en-US" dirty="0"/>
              <a:t>Setup Jenkins Master-Slave Configuration</a:t>
            </a:r>
          </a:p>
        </p:txBody>
      </p:sp>
      <p:sp>
        <p:nvSpPr>
          <p:cNvPr id="3" name="Content Placeholder 2">
            <a:extLst>
              <a:ext uri="{FF2B5EF4-FFF2-40B4-BE49-F238E27FC236}">
                <a16:creationId xmlns:a16="http://schemas.microsoft.com/office/drawing/2014/main" id="{51A95512-192A-AA54-5A56-BFE49A5E75CC}"/>
              </a:ext>
            </a:extLst>
          </p:cNvPr>
          <p:cNvSpPr>
            <a:spLocks noGrp="1"/>
          </p:cNvSpPr>
          <p:nvPr>
            <p:ph idx="1"/>
          </p:nvPr>
        </p:nvSpPr>
        <p:spPr/>
        <p:txBody>
          <a:bodyPr>
            <a:normAutofit/>
          </a:bodyPr>
          <a:lstStyle/>
          <a:p>
            <a:r>
              <a:rPr lang="en-US" b="1" dirty="0"/>
              <a:t>Prerequisites:</a:t>
            </a:r>
          </a:p>
          <a:p>
            <a:pPr>
              <a:buFont typeface="Arial" panose="020B0604020202020204" pitchFamily="34" charset="0"/>
              <a:buChar char="•"/>
            </a:pPr>
            <a:r>
              <a:rPr lang="en-US" dirty="0"/>
              <a:t>Jenkins installed on the master.</a:t>
            </a:r>
          </a:p>
          <a:p>
            <a:pPr>
              <a:buFont typeface="Arial" panose="020B0604020202020204" pitchFamily="34" charset="0"/>
              <a:buChar char="•"/>
            </a:pPr>
            <a:r>
              <a:rPr lang="en-US" dirty="0"/>
              <a:t>Slaves with required software and permissions.</a:t>
            </a:r>
          </a:p>
          <a:p>
            <a:pPr>
              <a:buFont typeface="Arial" panose="020B0604020202020204" pitchFamily="34" charset="0"/>
              <a:buChar char="•"/>
            </a:pPr>
            <a:r>
              <a:rPr lang="en-US" dirty="0"/>
              <a:t>Networking: Ensure the master and slave can communicate.</a:t>
            </a:r>
          </a:p>
        </p:txBody>
      </p:sp>
      <p:sp>
        <p:nvSpPr>
          <p:cNvPr id="6" name="Footer Placeholder 5">
            <a:extLst>
              <a:ext uri="{FF2B5EF4-FFF2-40B4-BE49-F238E27FC236}">
                <a16:creationId xmlns:a16="http://schemas.microsoft.com/office/drawing/2014/main" id="{A066C205-0334-737F-68D2-4675ACFE71F3}"/>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45E21635-E303-E470-28F4-C0468B00AADE}"/>
              </a:ext>
            </a:extLst>
          </p:cNvPr>
          <p:cNvSpPr>
            <a:spLocks noGrp="1"/>
          </p:cNvSpPr>
          <p:nvPr>
            <p:ph type="sldNum" sz="quarter" idx="12"/>
          </p:nvPr>
        </p:nvSpPr>
        <p:spPr/>
        <p:txBody>
          <a:bodyPr>
            <a:normAutofit/>
          </a:bodyPr>
          <a:lstStyle/>
          <a:p>
            <a:fld id="{2D7BCAC6-6F2C-433A-BE87-D0A9451C8803}" type="slidenum">
              <a:rPr lang="en-US" smtClean="0"/>
              <a:pPr/>
              <a:t>31</a:t>
            </a:fld>
            <a:endParaRPr lang="en-US"/>
          </a:p>
        </p:txBody>
      </p:sp>
    </p:spTree>
    <p:extLst>
      <p:ext uri="{BB962C8B-B14F-4D97-AF65-F5344CB8AC3E}">
        <p14:creationId xmlns:p14="http://schemas.microsoft.com/office/powerpoint/2010/main" val="30008155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8E415-E26B-636F-FB94-53D34CD83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8BBA1-ADEC-B556-74CA-332CCD03F45B}"/>
              </a:ext>
            </a:extLst>
          </p:cNvPr>
          <p:cNvSpPr>
            <a:spLocks noGrp="1"/>
          </p:cNvSpPr>
          <p:nvPr>
            <p:ph type="title"/>
          </p:nvPr>
        </p:nvSpPr>
        <p:spPr/>
        <p:txBody>
          <a:bodyPr/>
          <a:lstStyle/>
          <a:p>
            <a:r>
              <a:rPr lang="en-US" dirty="0"/>
              <a:t>Setup Jenkins Master-Slave Configuration</a:t>
            </a:r>
          </a:p>
        </p:txBody>
      </p:sp>
      <p:sp>
        <p:nvSpPr>
          <p:cNvPr id="3" name="Content Placeholder 2">
            <a:extLst>
              <a:ext uri="{FF2B5EF4-FFF2-40B4-BE49-F238E27FC236}">
                <a16:creationId xmlns:a16="http://schemas.microsoft.com/office/drawing/2014/main" id="{8F33B20F-C0D2-9E37-338A-E5CCC1F56DAC}"/>
              </a:ext>
            </a:extLst>
          </p:cNvPr>
          <p:cNvSpPr>
            <a:spLocks noGrp="1"/>
          </p:cNvSpPr>
          <p:nvPr>
            <p:ph idx="1"/>
          </p:nvPr>
        </p:nvSpPr>
        <p:spPr/>
        <p:txBody>
          <a:bodyPr>
            <a:normAutofit/>
          </a:bodyPr>
          <a:lstStyle/>
          <a:p>
            <a:r>
              <a:rPr lang="en-US" b="1" dirty="0"/>
              <a:t>Steps:</a:t>
            </a:r>
          </a:p>
          <a:p>
            <a:pPr marL="457200" indent="-457200">
              <a:buFont typeface="+mj-lt"/>
              <a:buAutoNum type="arabicPeriod"/>
            </a:pPr>
            <a:r>
              <a:rPr lang="en-US" b="1" dirty="0"/>
              <a:t>Configure Jenkins Master</a:t>
            </a:r>
            <a:r>
              <a:rPr lang="en-US" dirty="0"/>
              <a:t>:</a:t>
            </a:r>
          </a:p>
          <a:p>
            <a:pPr lvl="1"/>
            <a:r>
              <a:rPr lang="en-US" dirty="0"/>
              <a:t>Go to </a:t>
            </a:r>
            <a:r>
              <a:rPr lang="en-US" i="1" dirty="0"/>
              <a:t>Manage Jenkins &gt; Nodes</a:t>
            </a:r>
            <a:r>
              <a:rPr lang="en-US" dirty="0"/>
              <a:t>.</a:t>
            </a:r>
          </a:p>
          <a:p>
            <a:pPr lvl="1"/>
            <a:r>
              <a:rPr lang="en-US" dirty="0"/>
              <a:t>Add a new node (slave).</a:t>
            </a:r>
          </a:p>
          <a:p>
            <a:pPr lvl="1"/>
            <a:r>
              <a:rPr lang="en-US" dirty="0"/>
              <a:t>Specify the slave name, remote working directory, and connection method (SSH or JNLP).</a:t>
            </a:r>
          </a:p>
        </p:txBody>
      </p:sp>
      <p:sp>
        <p:nvSpPr>
          <p:cNvPr id="6" name="Footer Placeholder 5">
            <a:extLst>
              <a:ext uri="{FF2B5EF4-FFF2-40B4-BE49-F238E27FC236}">
                <a16:creationId xmlns:a16="http://schemas.microsoft.com/office/drawing/2014/main" id="{942FB96B-9AB3-633B-5217-7CAF9B507CD4}"/>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0722B2D5-E9D0-DDC0-03EA-61F2438959A0}"/>
              </a:ext>
            </a:extLst>
          </p:cNvPr>
          <p:cNvSpPr>
            <a:spLocks noGrp="1"/>
          </p:cNvSpPr>
          <p:nvPr>
            <p:ph type="sldNum" sz="quarter" idx="12"/>
          </p:nvPr>
        </p:nvSpPr>
        <p:spPr/>
        <p:txBody>
          <a:bodyPr>
            <a:normAutofit/>
          </a:bodyPr>
          <a:lstStyle/>
          <a:p>
            <a:fld id="{2D7BCAC6-6F2C-433A-BE87-D0A9451C8803}" type="slidenum">
              <a:rPr lang="en-US" smtClean="0"/>
              <a:pPr/>
              <a:t>32</a:t>
            </a:fld>
            <a:endParaRPr lang="en-US"/>
          </a:p>
        </p:txBody>
      </p:sp>
    </p:spTree>
    <p:extLst>
      <p:ext uri="{BB962C8B-B14F-4D97-AF65-F5344CB8AC3E}">
        <p14:creationId xmlns:p14="http://schemas.microsoft.com/office/powerpoint/2010/main" val="1516575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6C35A-89AA-8D0D-01E4-62B746360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F64D1-612A-7690-5C56-8BC003D3AE6F}"/>
              </a:ext>
            </a:extLst>
          </p:cNvPr>
          <p:cNvSpPr>
            <a:spLocks noGrp="1"/>
          </p:cNvSpPr>
          <p:nvPr>
            <p:ph type="title"/>
          </p:nvPr>
        </p:nvSpPr>
        <p:spPr/>
        <p:txBody>
          <a:bodyPr/>
          <a:lstStyle/>
          <a:p>
            <a:r>
              <a:rPr lang="en-US" dirty="0"/>
              <a:t>Setup Jenkins Master-Slave Configuration</a:t>
            </a:r>
          </a:p>
        </p:txBody>
      </p:sp>
      <p:sp>
        <p:nvSpPr>
          <p:cNvPr id="3" name="Content Placeholder 2">
            <a:extLst>
              <a:ext uri="{FF2B5EF4-FFF2-40B4-BE49-F238E27FC236}">
                <a16:creationId xmlns:a16="http://schemas.microsoft.com/office/drawing/2014/main" id="{6301CFFF-99A6-DB1C-7CA4-34869B5C2DC5}"/>
              </a:ext>
            </a:extLst>
          </p:cNvPr>
          <p:cNvSpPr>
            <a:spLocks noGrp="1"/>
          </p:cNvSpPr>
          <p:nvPr>
            <p:ph idx="1"/>
          </p:nvPr>
        </p:nvSpPr>
        <p:spPr/>
        <p:txBody>
          <a:bodyPr>
            <a:normAutofit fontScale="92500" lnSpcReduction="20000"/>
          </a:bodyPr>
          <a:lstStyle/>
          <a:p>
            <a:r>
              <a:rPr lang="en-US" b="1" dirty="0"/>
              <a:t>Steps:</a:t>
            </a:r>
          </a:p>
          <a:p>
            <a:r>
              <a:rPr lang="en-US" dirty="0"/>
              <a:t>Connecting a Jenkins master and agent can be done in two ways:</a:t>
            </a:r>
          </a:p>
          <a:p>
            <a:pPr lvl="1"/>
            <a:r>
              <a:rPr lang="en-US" dirty="0"/>
              <a:t>Using the SSH method: </a:t>
            </a:r>
          </a:p>
          <a:p>
            <a:pPr lvl="2"/>
            <a:r>
              <a:rPr lang="en-US" dirty="0"/>
              <a:t>Uses the ssh protocol to connect to the agent. The connection gets initiated from the Jenkins master. There should be connectivity over port 22 between master and agent.</a:t>
            </a:r>
          </a:p>
          <a:p>
            <a:pPr lvl="1"/>
            <a:r>
              <a:rPr lang="en-US" dirty="0"/>
              <a:t>Using the JNLP method: </a:t>
            </a:r>
          </a:p>
          <a:p>
            <a:pPr lvl="2"/>
            <a:r>
              <a:rPr lang="en-US" dirty="0"/>
              <a:t>Uses java JNLP protocol (Java Network Launch Protocol). In this method, a java agent gets initiated from the agent with Jenkins master details. For this, the master nodes firewall should allow connectivity on specified JNLP port. Typically the port assigned will be 50000. This value is configurable.</a:t>
            </a:r>
          </a:p>
        </p:txBody>
      </p:sp>
      <p:sp>
        <p:nvSpPr>
          <p:cNvPr id="6" name="Footer Placeholder 5">
            <a:extLst>
              <a:ext uri="{FF2B5EF4-FFF2-40B4-BE49-F238E27FC236}">
                <a16:creationId xmlns:a16="http://schemas.microsoft.com/office/drawing/2014/main" id="{C15737AE-C901-FA14-44D8-98FA7C858E8E}"/>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E90E91E9-6889-5A84-B308-0A322CC98A83}"/>
              </a:ext>
            </a:extLst>
          </p:cNvPr>
          <p:cNvSpPr>
            <a:spLocks noGrp="1"/>
          </p:cNvSpPr>
          <p:nvPr>
            <p:ph type="sldNum" sz="quarter" idx="12"/>
          </p:nvPr>
        </p:nvSpPr>
        <p:spPr/>
        <p:txBody>
          <a:bodyPr>
            <a:normAutofit/>
          </a:bodyPr>
          <a:lstStyle/>
          <a:p>
            <a:fld id="{2D7BCAC6-6F2C-433A-BE87-D0A9451C8803}" type="slidenum">
              <a:rPr lang="en-US" smtClean="0"/>
              <a:pPr/>
              <a:t>33</a:t>
            </a:fld>
            <a:endParaRPr lang="en-US"/>
          </a:p>
        </p:txBody>
      </p:sp>
    </p:spTree>
    <p:extLst>
      <p:ext uri="{BB962C8B-B14F-4D97-AF65-F5344CB8AC3E}">
        <p14:creationId xmlns:p14="http://schemas.microsoft.com/office/powerpoint/2010/main" val="10363821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FBEFB-3C56-4197-DB9B-E388A6410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3CB9C-B42E-CA01-FA8F-90C0F49E1784}"/>
              </a:ext>
            </a:extLst>
          </p:cNvPr>
          <p:cNvSpPr>
            <a:spLocks noGrp="1"/>
          </p:cNvSpPr>
          <p:nvPr>
            <p:ph type="title"/>
          </p:nvPr>
        </p:nvSpPr>
        <p:spPr/>
        <p:txBody>
          <a:bodyPr/>
          <a:lstStyle/>
          <a:p>
            <a:r>
              <a:rPr lang="en-US" dirty="0"/>
              <a:t>Setup Jenkins Master-Slave Configuration</a:t>
            </a:r>
          </a:p>
        </p:txBody>
      </p:sp>
      <p:sp>
        <p:nvSpPr>
          <p:cNvPr id="3" name="Content Placeholder 2">
            <a:extLst>
              <a:ext uri="{FF2B5EF4-FFF2-40B4-BE49-F238E27FC236}">
                <a16:creationId xmlns:a16="http://schemas.microsoft.com/office/drawing/2014/main" id="{0D551C99-81AB-C53D-75C9-080827423C00}"/>
              </a:ext>
            </a:extLst>
          </p:cNvPr>
          <p:cNvSpPr>
            <a:spLocks noGrp="1"/>
          </p:cNvSpPr>
          <p:nvPr>
            <p:ph idx="1"/>
          </p:nvPr>
        </p:nvSpPr>
        <p:spPr/>
        <p:txBody>
          <a:bodyPr>
            <a:normAutofit/>
          </a:bodyPr>
          <a:lstStyle/>
          <a:p>
            <a:r>
              <a:rPr lang="en-US" b="1" dirty="0"/>
              <a:t>Steps:</a:t>
            </a:r>
          </a:p>
          <a:p>
            <a:pPr marL="457200" indent="-457200">
              <a:buFont typeface="+mj-lt"/>
              <a:buAutoNum type="arabicPeriod" startAt="2"/>
            </a:pPr>
            <a:r>
              <a:rPr lang="en-US" b="1" dirty="0"/>
              <a:t>Set Up Slave Node</a:t>
            </a:r>
            <a:r>
              <a:rPr lang="en-US" dirty="0"/>
              <a:t>:</a:t>
            </a:r>
          </a:p>
          <a:p>
            <a:pPr lvl="1">
              <a:buFont typeface="Arial" panose="020B0604020202020204" pitchFamily="34" charset="0"/>
              <a:buChar char="•"/>
            </a:pPr>
            <a:r>
              <a:rPr lang="en-US" dirty="0"/>
              <a:t>Install Java on the slave machine.</a:t>
            </a:r>
          </a:p>
          <a:p>
            <a:pPr lvl="1">
              <a:buFont typeface="Arial" panose="020B0604020202020204" pitchFamily="34" charset="0"/>
              <a:buChar char="•"/>
            </a:pPr>
            <a:r>
              <a:rPr lang="en-US" dirty="0"/>
              <a:t>Launch the agent.jar file provided by the master to establish a connection.</a:t>
            </a:r>
          </a:p>
          <a:p>
            <a:pPr lvl="1">
              <a:buFont typeface="Arial" panose="020B0604020202020204" pitchFamily="34" charset="0"/>
              <a:buChar char="•"/>
            </a:pPr>
            <a:r>
              <a:rPr lang="en-US" dirty="0"/>
              <a:t>For SSH, ensure proper key-based authentication.</a:t>
            </a:r>
          </a:p>
          <a:p>
            <a:pPr marL="457200" indent="-457200">
              <a:buFont typeface="+mj-lt"/>
              <a:buAutoNum type="arabicPeriod" startAt="2"/>
            </a:pPr>
            <a:r>
              <a:rPr lang="en-US" b="1" dirty="0"/>
              <a:t>Test Connection</a:t>
            </a:r>
            <a:r>
              <a:rPr lang="en-US" dirty="0"/>
              <a:t>: </a:t>
            </a:r>
          </a:p>
          <a:p>
            <a:pPr lvl="1"/>
            <a:r>
              <a:rPr lang="en-US" dirty="0"/>
              <a:t>Verify the slave node is online and connected to the master.</a:t>
            </a:r>
          </a:p>
          <a:p>
            <a:pPr marL="457200" indent="-457200">
              <a:buFont typeface="+mj-lt"/>
              <a:buAutoNum type="arabicPeriod"/>
            </a:pPr>
            <a:endParaRPr lang="en-US" dirty="0"/>
          </a:p>
        </p:txBody>
      </p:sp>
      <p:sp>
        <p:nvSpPr>
          <p:cNvPr id="6" name="Footer Placeholder 5">
            <a:extLst>
              <a:ext uri="{FF2B5EF4-FFF2-40B4-BE49-F238E27FC236}">
                <a16:creationId xmlns:a16="http://schemas.microsoft.com/office/drawing/2014/main" id="{C56CE38F-C626-5A1F-F0FA-BF24964A715A}"/>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A2824205-B76C-AED0-667C-0CAB61398B6D}"/>
              </a:ext>
            </a:extLst>
          </p:cNvPr>
          <p:cNvSpPr>
            <a:spLocks noGrp="1"/>
          </p:cNvSpPr>
          <p:nvPr>
            <p:ph type="sldNum" sz="quarter" idx="12"/>
          </p:nvPr>
        </p:nvSpPr>
        <p:spPr/>
        <p:txBody>
          <a:bodyPr>
            <a:normAutofit/>
          </a:bodyPr>
          <a:lstStyle/>
          <a:p>
            <a:fld id="{2D7BCAC6-6F2C-433A-BE87-D0A9451C8803}" type="slidenum">
              <a:rPr lang="en-US" smtClean="0"/>
              <a:pPr/>
              <a:t>34</a:t>
            </a:fld>
            <a:endParaRPr lang="en-US"/>
          </a:p>
        </p:txBody>
      </p:sp>
    </p:spTree>
    <p:extLst>
      <p:ext uri="{BB962C8B-B14F-4D97-AF65-F5344CB8AC3E}">
        <p14:creationId xmlns:p14="http://schemas.microsoft.com/office/powerpoint/2010/main" val="4130876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E179A-23FF-02E1-BC23-16F12D844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20303-7B70-E4F8-571F-AC9C4124C3E9}"/>
              </a:ext>
            </a:extLst>
          </p:cNvPr>
          <p:cNvSpPr>
            <a:spLocks noGrp="1"/>
          </p:cNvSpPr>
          <p:nvPr>
            <p:ph type="title"/>
          </p:nvPr>
        </p:nvSpPr>
        <p:spPr/>
        <p:txBody>
          <a:bodyPr/>
          <a:lstStyle/>
          <a:p>
            <a:r>
              <a:rPr lang="en-US" dirty="0"/>
              <a:t>Example Use Case</a:t>
            </a:r>
          </a:p>
        </p:txBody>
      </p:sp>
      <p:sp>
        <p:nvSpPr>
          <p:cNvPr id="3" name="Content Placeholder 2">
            <a:extLst>
              <a:ext uri="{FF2B5EF4-FFF2-40B4-BE49-F238E27FC236}">
                <a16:creationId xmlns:a16="http://schemas.microsoft.com/office/drawing/2014/main" id="{E7393B46-CF80-7F4D-6FF2-BF8D7D6B038A}"/>
              </a:ext>
            </a:extLst>
          </p:cNvPr>
          <p:cNvSpPr>
            <a:spLocks noGrp="1"/>
          </p:cNvSpPr>
          <p:nvPr>
            <p:ph idx="1"/>
          </p:nvPr>
        </p:nvSpPr>
        <p:spPr/>
        <p:txBody>
          <a:bodyPr>
            <a:normAutofit/>
          </a:bodyPr>
          <a:lstStyle/>
          <a:p>
            <a:r>
              <a:rPr lang="en-US" b="1" dirty="0"/>
              <a:t>Scenario:</a:t>
            </a:r>
          </a:p>
          <a:p>
            <a:pPr lvl="1"/>
            <a:r>
              <a:rPr lang="en-US" dirty="0"/>
              <a:t>A team has a Jenkins master running on a Linux server and two slaves:</a:t>
            </a:r>
          </a:p>
          <a:p>
            <a:pPr lvl="1">
              <a:buFont typeface="Arial" panose="020B0604020202020204" pitchFamily="34" charset="0"/>
              <a:buChar char="•"/>
            </a:pPr>
            <a:r>
              <a:rPr lang="en-US" b="1" dirty="0"/>
              <a:t>Slave 1</a:t>
            </a:r>
            <a:r>
              <a:rPr lang="en-US" dirty="0"/>
              <a:t>: A Linux server for testing and building Java applications.</a:t>
            </a:r>
          </a:p>
          <a:p>
            <a:pPr lvl="1">
              <a:buFont typeface="Arial" panose="020B0604020202020204" pitchFamily="34" charset="0"/>
              <a:buChar char="•"/>
            </a:pPr>
            <a:r>
              <a:rPr lang="en-US" b="1" dirty="0"/>
              <a:t>Slave 2</a:t>
            </a:r>
            <a:r>
              <a:rPr lang="en-US" dirty="0"/>
              <a:t>: A Windows server for testing .NET applications.</a:t>
            </a:r>
          </a:p>
          <a:p>
            <a:r>
              <a:rPr lang="en-US" b="1" dirty="0"/>
              <a:t>Steps:</a:t>
            </a:r>
            <a:endParaRPr lang="en-US" dirty="0"/>
          </a:p>
          <a:p>
            <a:pPr marL="731520" lvl="1" indent="-457200">
              <a:buFont typeface="+mj-lt"/>
              <a:buAutoNum type="arabicPeriod"/>
            </a:pPr>
            <a:r>
              <a:rPr lang="en-US" dirty="0"/>
              <a:t>The master triggers a Java build job and delegates it to Slave 1.</a:t>
            </a:r>
          </a:p>
          <a:p>
            <a:pPr marL="731520" lvl="1" indent="-457200">
              <a:buFont typeface="+mj-lt"/>
              <a:buAutoNum type="arabicPeriod"/>
            </a:pPr>
            <a:r>
              <a:rPr lang="en-US" dirty="0"/>
              <a:t>The master simultaneously assigns a .NET build job to Slave 2.</a:t>
            </a:r>
          </a:p>
          <a:p>
            <a:pPr marL="731520" lvl="1" indent="-457200">
              <a:buFont typeface="+mj-lt"/>
              <a:buAutoNum type="arabicPeriod"/>
            </a:pPr>
            <a:r>
              <a:rPr lang="en-US" dirty="0"/>
              <a:t>Both slaves execute their tasks and return the results to the master.</a:t>
            </a:r>
          </a:p>
          <a:p>
            <a:pPr>
              <a:buFont typeface="Arial" panose="020B0604020202020204" pitchFamily="34" charset="0"/>
              <a:buChar char="•"/>
            </a:pPr>
            <a:endParaRPr lang="en-US" dirty="0"/>
          </a:p>
        </p:txBody>
      </p:sp>
      <p:sp>
        <p:nvSpPr>
          <p:cNvPr id="6" name="Footer Placeholder 5">
            <a:extLst>
              <a:ext uri="{FF2B5EF4-FFF2-40B4-BE49-F238E27FC236}">
                <a16:creationId xmlns:a16="http://schemas.microsoft.com/office/drawing/2014/main" id="{9C369745-51CA-EAE3-12D2-58B7E4F65FC5}"/>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B849608C-C077-B483-FBF1-DE069FC03B91}"/>
              </a:ext>
            </a:extLst>
          </p:cNvPr>
          <p:cNvSpPr>
            <a:spLocks noGrp="1"/>
          </p:cNvSpPr>
          <p:nvPr>
            <p:ph type="sldNum" sz="quarter" idx="12"/>
          </p:nvPr>
        </p:nvSpPr>
        <p:spPr/>
        <p:txBody>
          <a:bodyPr>
            <a:normAutofit/>
          </a:bodyPr>
          <a:lstStyle/>
          <a:p>
            <a:fld id="{2D7BCAC6-6F2C-433A-BE87-D0A9451C8803}" type="slidenum">
              <a:rPr lang="en-US" smtClean="0"/>
              <a:pPr/>
              <a:t>35</a:t>
            </a:fld>
            <a:endParaRPr lang="en-US"/>
          </a:p>
        </p:txBody>
      </p:sp>
    </p:spTree>
    <p:extLst>
      <p:ext uri="{BB962C8B-B14F-4D97-AF65-F5344CB8AC3E}">
        <p14:creationId xmlns:p14="http://schemas.microsoft.com/office/powerpoint/2010/main" val="10353340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4965D-5D99-64DF-88D2-02AC85848412}"/>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A9F71CE-5D27-DC6D-9990-478B6BB5A529}"/>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4B2BD5CE-66DA-B2B5-67ED-A96CE7742F51}"/>
              </a:ext>
            </a:extLst>
          </p:cNvPr>
          <p:cNvSpPr>
            <a:spLocks noGrp="1"/>
          </p:cNvSpPr>
          <p:nvPr>
            <p:ph type="sldNum" sz="quarter" idx="12"/>
          </p:nvPr>
        </p:nvSpPr>
        <p:spPr/>
        <p:txBody>
          <a:bodyPr>
            <a:normAutofit/>
          </a:bodyPr>
          <a:lstStyle/>
          <a:p>
            <a:fld id="{2D7BCAC6-6F2C-433A-BE87-D0A9451C8803}" type="slidenum">
              <a:rPr lang="en-US" smtClean="0"/>
              <a:pPr/>
              <a:t>36</a:t>
            </a:fld>
            <a:endParaRPr lang="en-US"/>
          </a:p>
        </p:txBody>
      </p:sp>
      <p:sp>
        <p:nvSpPr>
          <p:cNvPr id="3" name="Content Placeholder 2">
            <a:extLst>
              <a:ext uri="{FF2B5EF4-FFF2-40B4-BE49-F238E27FC236}">
                <a16:creationId xmlns:a16="http://schemas.microsoft.com/office/drawing/2014/main" id="{D3632EF1-0DB4-49A2-FB6B-8190A6A23217}"/>
              </a:ext>
            </a:extLst>
          </p:cNvPr>
          <p:cNvSpPr>
            <a:spLocks noGrp="1"/>
          </p:cNvSpPr>
          <p:nvPr>
            <p:ph idx="1"/>
          </p:nvPr>
        </p:nvSpPr>
        <p:spPr/>
        <p:txBody>
          <a:bodyPr>
            <a:normAutofit/>
          </a:bodyPr>
          <a:lstStyle/>
          <a:p>
            <a:r>
              <a:rPr lang="en-US" dirty="0"/>
              <a:t>Jenkins provides a flexible </a:t>
            </a:r>
            <a:r>
              <a:rPr lang="en-US" b="1" dirty="0"/>
              <a:t>Tool Management System.</a:t>
            </a:r>
          </a:p>
          <a:p>
            <a:r>
              <a:rPr lang="en-US" dirty="0"/>
              <a:t>It helps configure and manage tools required for the build and deployment processes.</a:t>
            </a:r>
          </a:p>
          <a:p>
            <a:r>
              <a:rPr lang="en-US" dirty="0"/>
              <a:t>This feature helps to define, install, and manage various tools like </a:t>
            </a:r>
            <a:r>
              <a:rPr lang="en-US" b="1" dirty="0"/>
              <a:t>Java</a:t>
            </a:r>
            <a:r>
              <a:rPr lang="en-US" dirty="0"/>
              <a:t>, </a:t>
            </a:r>
            <a:r>
              <a:rPr lang="en-US" b="1" dirty="0"/>
              <a:t>Maven</a:t>
            </a:r>
            <a:r>
              <a:rPr lang="en-US" dirty="0"/>
              <a:t>, </a:t>
            </a:r>
            <a:r>
              <a:rPr lang="en-US" b="1" dirty="0"/>
              <a:t>Git</a:t>
            </a:r>
            <a:r>
              <a:rPr lang="en-US" dirty="0"/>
              <a:t>, or other custom tools without requiring them to be pre-installed on every node.</a:t>
            </a:r>
          </a:p>
        </p:txBody>
      </p:sp>
      <p:sp>
        <p:nvSpPr>
          <p:cNvPr id="2" name="Title 1">
            <a:extLst>
              <a:ext uri="{FF2B5EF4-FFF2-40B4-BE49-F238E27FC236}">
                <a16:creationId xmlns:a16="http://schemas.microsoft.com/office/drawing/2014/main" id="{5708BC8A-9239-9277-0494-05CE9DA86172}"/>
              </a:ext>
            </a:extLst>
          </p:cNvPr>
          <p:cNvSpPr>
            <a:spLocks noGrp="1"/>
          </p:cNvSpPr>
          <p:nvPr>
            <p:ph type="title"/>
          </p:nvPr>
        </p:nvSpPr>
        <p:spPr/>
        <p:txBody>
          <a:bodyPr/>
          <a:lstStyle/>
          <a:p>
            <a:r>
              <a:rPr lang="en-US" dirty="0"/>
              <a:t>Jenkins Tool Management System</a:t>
            </a:r>
          </a:p>
        </p:txBody>
      </p:sp>
    </p:spTree>
    <p:extLst>
      <p:ext uri="{BB962C8B-B14F-4D97-AF65-F5344CB8AC3E}">
        <p14:creationId xmlns:p14="http://schemas.microsoft.com/office/powerpoint/2010/main" val="20621565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9454E-5AF6-5BB4-9C49-25A6DF1FD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2A82C-13F0-468D-E719-3822947943D0}"/>
              </a:ext>
            </a:extLst>
          </p:cNvPr>
          <p:cNvSpPr>
            <a:spLocks noGrp="1"/>
          </p:cNvSpPr>
          <p:nvPr>
            <p:ph type="title"/>
          </p:nvPr>
        </p:nvSpPr>
        <p:spPr/>
        <p:txBody>
          <a:bodyPr/>
          <a:lstStyle/>
          <a:p>
            <a:r>
              <a:rPr lang="en-US" dirty="0"/>
              <a:t>Jenkins Tool Management System</a:t>
            </a:r>
          </a:p>
        </p:txBody>
      </p:sp>
      <p:sp>
        <p:nvSpPr>
          <p:cNvPr id="3" name="Content Placeholder 2">
            <a:extLst>
              <a:ext uri="{FF2B5EF4-FFF2-40B4-BE49-F238E27FC236}">
                <a16:creationId xmlns:a16="http://schemas.microsoft.com/office/drawing/2014/main" id="{F5919533-7663-C860-C802-41C1B343606B}"/>
              </a:ext>
            </a:extLst>
          </p:cNvPr>
          <p:cNvSpPr>
            <a:spLocks noGrp="1"/>
          </p:cNvSpPr>
          <p:nvPr>
            <p:ph idx="1"/>
          </p:nvPr>
        </p:nvSpPr>
        <p:spPr/>
        <p:txBody>
          <a:bodyPr>
            <a:normAutofit/>
          </a:bodyPr>
          <a:lstStyle/>
          <a:p>
            <a:r>
              <a:rPr lang="en-US" dirty="0"/>
              <a:t>Tools can be configured globally in Jenkins.</a:t>
            </a:r>
          </a:p>
          <a:p>
            <a:r>
              <a:rPr lang="en-US" dirty="0"/>
              <a:t>Different versions of tools can be configured and assigned to specific nodes or agents.</a:t>
            </a:r>
          </a:p>
          <a:p>
            <a:r>
              <a:rPr lang="en-US" dirty="0"/>
              <a:t>Jenkins can download and install tools dynamically if the required plugin is installed and properly configured.</a:t>
            </a:r>
          </a:p>
          <a:p>
            <a:r>
              <a:rPr lang="en-US" dirty="0"/>
              <a:t>Custom tools can be configured for specific environments or projects.</a:t>
            </a:r>
          </a:p>
        </p:txBody>
      </p:sp>
      <p:sp>
        <p:nvSpPr>
          <p:cNvPr id="6" name="Footer Placeholder 5">
            <a:extLst>
              <a:ext uri="{FF2B5EF4-FFF2-40B4-BE49-F238E27FC236}">
                <a16:creationId xmlns:a16="http://schemas.microsoft.com/office/drawing/2014/main" id="{C3E88DF3-BC0D-7554-94CA-D2069BA88318}"/>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99896A16-8061-BDDD-7D22-3493802CC59B}"/>
              </a:ext>
            </a:extLst>
          </p:cNvPr>
          <p:cNvSpPr>
            <a:spLocks noGrp="1"/>
          </p:cNvSpPr>
          <p:nvPr>
            <p:ph type="sldNum" sz="quarter" idx="12"/>
          </p:nvPr>
        </p:nvSpPr>
        <p:spPr/>
        <p:txBody>
          <a:bodyPr>
            <a:normAutofit/>
          </a:bodyPr>
          <a:lstStyle/>
          <a:p>
            <a:fld id="{2D7BCAC6-6F2C-433A-BE87-D0A9451C8803}" type="slidenum">
              <a:rPr lang="en-US" smtClean="0"/>
              <a:pPr/>
              <a:t>37</a:t>
            </a:fld>
            <a:endParaRPr lang="en-US"/>
          </a:p>
        </p:txBody>
      </p:sp>
    </p:spTree>
    <p:extLst>
      <p:ext uri="{BB962C8B-B14F-4D97-AF65-F5344CB8AC3E}">
        <p14:creationId xmlns:p14="http://schemas.microsoft.com/office/powerpoint/2010/main" val="38128968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542F5-73EC-BC2A-0E24-4FDD67036D2B}"/>
              </a:ext>
            </a:extLst>
          </p:cNvPr>
          <p:cNvSpPr>
            <a:spLocks noGrp="1"/>
          </p:cNvSpPr>
          <p:nvPr>
            <p:ph type="title"/>
          </p:nvPr>
        </p:nvSpPr>
        <p:spPr/>
        <p:txBody>
          <a:bodyPr/>
          <a:lstStyle/>
          <a:p>
            <a:r>
              <a:rPr lang="en-US" dirty="0"/>
              <a:t>Configuring Tools in Jenkins</a:t>
            </a:r>
          </a:p>
        </p:txBody>
      </p:sp>
      <p:sp>
        <p:nvSpPr>
          <p:cNvPr id="3" name="Content Placeholder 2">
            <a:extLst>
              <a:ext uri="{FF2B5EF4-FFF2-40B4-BE49-F238E27FC236}">
                <a16:creationId xmlns:a16="http://schemas.microsoft.com/office/drawing/2014/main" id="{DA34E268-9334-3B8D-3C8C-0E975BEC89E2}"/>
              </a:ext>
            </a:extLst>
          </p:cNvPr>
          <p:cNvSpPr>
            <a:spLocks noGrp="1"/>
          </p:cNvSpPr>
          <p:nvPr>
            <p:ph idx="1"/>
          </p:nvPr>
        </p:nvSpPr>
        <p:spPr/>
        <p:txBody>
          <a:bodyPr>
            <a:normAutofit fontScale="92500"/>
          </a:bodyPr>
          <a:lstStyle/>
          <a:p>
            <a:r>
              <a:rPr lang="en-US" b="1" dirty="0"/>
              <a:t>Access Tool Configuration</a:t>
            </a:r>
          </a:p>
          <a:p>
            <a:pPr lvl="1"/>
            <a:r>
              <a:rPr lang="en-US" dirty="0"/>
              <a:t>Go to </a:t>
            </a:r>
            <a:r>
              <a:rPr lang="en-US" i="1" dirty="0"/>
              <a:t>Manage Jenkins &gt; Tools</a:t>
            </a:r>
            <a:r>
              <a:rPr lang="en-US" dirty="0"/>
              <a:t>.</a:t>
            </a:r>
          </a:p>
          <a:p>
            <a:r>
              <a:rPr lang="en-US" b="1" dirty="0"/>
              <a:t>Add and Configure Tools</a:t>
            </a:r>
            <a:endParaRPr lang="en-US" dirty="0"/>
          </a:p>
          <a:p>
            <a:pPr lvl="1">
              <a:buFont typeface="Arial" panose="020B0604020202020204" pitchFamily="34" charset="0"/>
              <a:buChar char="•"/>
            </a:pPr>
            <a:r>
              <a:rPr lang="en-US" dirty="0"/>
              <a:t>Jenkins allows to configure the following tools:</a:t>
            </a:r>
          </a:p>
          <a:p>
            <a:pPr marL="1017270" lvl="2" indent="-285750">
              <a:buFont typeface="Arial" panose="020B0604020202020204" pitchFamily="34" charset="0"/>
              <a:buChar char="•"/>
            </a:pPr>
            <a:r>
              <a:rPr lang="en-US" b="1" dirty="0"/>
              <a:t>Maven</a:t>
            </a:r>
            <a:r>
              <a:rPr lang="en-US" dirty="0"/>
              <a:t>: Manage Maven versions for Java projects.</a:t>
            </a:r>
          </a:p>
          <a:p>
            <a:pPr marL="1017270" lvl="2" indent="-285750">
              <a:buFont typeface="Arial" panose="020B0604020202020204" pitchFamily="34" charset="0"/>
              <a:buChar char="•"/>
            </a:pPr>
            <a:r>
              <a:rPr lang="en-US" b="1" dirty="0"/>
              <a:t>JDK</a:t>
            </a:r>
            <a:r>
              <a:rPr lang="en-US" dirty="0"/>
              <a:t>: Define the location or use auto-installation options.</a:t>
            </a:r>
          </a:p>
          <a:p>
            <a:pPr marL="1017270" lvl="2" indent="-285750">
              <a:buFont typeface="Arial" panose="020B0604020202020204" pitchFamily="34" charset="0"/>
              <a:buChar char="•"/>
            </a:pPr>
            <a:r>
              <a:rPr lang="en-US" b="1" dirty="0"/>
              <a:t>Git</a:t>
            </a:r>
            <a:r>
              <a:rPr lang="en-US" dirty="0"/>
              <a:t>: Define Git executables for version control.</a:t>
            </a:r>
          </a:p>
          <a:p>
            <a:pPr marL="1017270" lvl="2" indent="-285750">
              <a:buFont typeface="Arial" panose="020B0604020202020204" pitchFamily="34" charset="0"/>
              <a:buChar char="•"/>
            </a:pPr>
            <a:r>
              <a:rPr lang="en-US" b="1" dirty="0"/>
              <a:t>Gradle</a:t>
            </a:r>
            <a:r>
              <a:rPr lang="en-US" dirty="0"/>
              <a:t>: Configure Gradle for build automation.</a:t>
            </a:r>
          </a:p>
          <a:p>
            <a:pPr marL="1017270" lvl="2" indent="-285750">
              <a:buFont typeface="Arial" panose="020B0604020202020204" pitchFamily="34" charset="0"/>
              <a:buChar char="•"/>
            </a:pPr>
            <a:r>
              <a:rPr lang="en-US" b="1" dirty="0"/>
              <a:t>Node.js</a:t>
            </a:r>
            <a:r>
              <a:rPr lang="en-US" dirty="0"/>
              <a:t>: Manage Node.js versions and </a:t>
            </a:r>
            <a:r>
              <a:rPr lang="en-US" dirty="0" err="1"/>
              <a:t>npm</a:t>
            </a:r>
            <a:r>
              <a:rPr lang="en-US" dirty="0"/>
              <a:t> packages (requires NodeJS plugin).</a:t>
            </a:r>
          </a:p>
        </p:txBody>
      </p:sp>
      <p:sp>
        <p:nvSpPr>
          <p:cNvPr id="4" name="Footer Placeholder 3">
            <a:extLst>
              <a:ext uri="{FF2B5EF4-FFF2-40B4-BE49-F238E27FC236}">
                <a16:creationId xmlns:a16="http://schemas.microsoft.com/office/drawing/2014/main" id="{387F4127-A0E1-26C2-4D6A-E5D7A66405F7}"/>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8D588319-A5E8-3AAF-CE24-08223B4AA3E4}"/>
              </a:ext>
            </a:extLst>
          </p:cNvPr>
          <p:cNvSpPr>
            <a:spLocks noGrp="1"/>
          </p:cNvSpPr>
          <p:nvPr>
            <p:ph type="sldNum" sz="quarter" idx="12"/>
          </p:nvPr>
        </p:nvSpPr>
        <p:spPr/>
        <p:txBody>
          <a:bodyPr/>
          <a:lstStyle/>
          <a:p>
            <a:fld id="{2D7BCAC6-6F2C-433A-BE87-D0A9451C8803}" type="slidenum">
              <a:rPr lang="en-US" smtClean="0"/>
              <a:pPr/>
              <a:t>38</a:t>
            </a:fld>
            <a:endParaRPr lang="en-US"/>
          </a:p>
        </p:txBody>
      </p:sp>
    </p:spTree>
    <p:extLst>
      <p:ext uri="{BB962C8B-B14F-4D97-AF65-F5344CB8AC3E}">
        <p14:creationId xmlns:p14="http://schemas.microsoft.com/office/powerpoint/2010/main" val="38760316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DA355-45EA-823F-92BF-B0BB1B748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74BDC2-CB95-3599-4AE8-3E8793161F1A}"/>
              </a:ext>
            </a:extLst>
          </p:cNvPr>
          <p:cNvSpPr>
            <a:spLocks noGrp="1"/>
          </p:cNvSpPr>
          <p:nvPr>
            <p:ph type="title"/>
          </p:nvPr>
        </p:nvSpPr>
        <p:spPr/>
        <p:txBody>
          <a:bodyPr/>
          <a:lstStyle/>
          <a:p>
            <a:r>
              <a:rPr lang="en-US" dirty="0"/>
              <a:t>Example: Adding a Tool in Jenkins</a:t>
            </a:r>
          </a:p>
        </p:txBody>
      </p:sp>
      <p:sp>
        <p:nvSpPr>
          <p:cNvPr id="3" name="Content Placeholder 2">
            <a:extLst>
              <a:ext uri="{FF2B5EF4-FFF2-40B4-BE49-F238E27FC236}">
                <a16:creationId xmlns:a16="http://schemas.microsoft.com/office/drawing/2014/main" id="{3EB23DD3-ED13-E877-922F-3FEB44A5000C}"/>
              </a:ext>
            </a:extLst>
          </p:cNvPr>
          <p:cNvSpPr>
            <a:spLocks noGrp="1"/>
          </p:cNvSpPr>
          <p:nvPr>
            <p:ph idx="1"/>
          </p:nvPr>
        </p:nvSpPr>
        <p:spPr/>
        <p:txBody>
          <a:bodyPr>
            <a:normAutofit lnSpcReduction="10000"/>
          </a:bodyPr>
          <a:lstStyle/>
          <a:p>
            <a:r>
              <a:rPr lang="en-US" b="1" dirty="0"/>
              <a:t>Adding JDK</a:t>
            </a:r>
          </a:p>
          <a:p>
            <a:pPr marL="731520" lvl="1" indent="-457200">
              <a:buFont typeface="+mj-lt"/>
              <a:buAutoNum type="arabicPeriod"/>
            </a:pPr>
            <a:r>
              <a:rPr lang="en-US" dirty="0"/>
              <a:t>Go to </a:t>
            </a:r>
            <a:r>
              <a:rPr lang="en-US" i="1" dirty="0"/>
              <a:t>Manage Jenkins &gt; Tools</a:t>
            </a:r>
            <a:r>
              <a:rPr lang="en-US" dirty="0"/>
              <a:t>.</a:t>
            </a:r>
          </a:p>
          <a:p>
            <a:pPr marL="731520" lvl="1" indent="-457200">
              <a:buFont typeface="+mj-lt"/>
              <a:buAutoNum type="arabicPeriod"/>
            </a:pPr>
            <a:r>
              <a:rPr lang="en-US" dirty="0"/>
              <a:t>Scroll to the JDK section.</a:t>
            </a:r>
          </a:p>
          <a:p>
            <a:pPr marL="731520" lvl="1" indent="-457200">
              <a:buFont typeface="+mj-lt"/>
              <a:buAutoNum type="arabicPeriod"/>
            </a:pPr>
            <a:r>
              <a:rPr lang="en-US" dirty="0"/>
              <a:t>Add a new JDK installation:</a:t>
            </a:r>
          </a:p>
          <a:p>
            <a:pPr lvl="2"/>
            <a:r>
              <a:rPr lang="en-US" b="1" dirty="0"/>
              <a:t>Name</a:t>
            </a:r>
            <a:r>
              <a:rPr lang="en-US" dirty="0"/>
              <a:t>: e.g., "Java 11".</a:t>
            </a:r>
          </a:p>
          <a:p>
            <a:pPr lvl="2"/>
            <a:r>
              <a:rPr lang="en-US" b="1" dirty="0"/>
              <a:t>JAVA_HOME</a:t>
            </a:r>
            <a:r>
              <a:rPr lang="en-US" dirty="0"/>
              <a:t>: Path to the JDK directory (if pre-installed).</a:t>
            </a:r>
          </a:p>
          <a:p>
            <a:pPr lvl="2"/>
            <a:r>
              <a:rPr lang="en-US" b="1" dirty="0"/>
              <a:t>Install Automatically</a:t>
            </a:r>
            <a:r>
              <a:rPr lang="en-US" dirty="0"/>
              <a:t>: Check this box to allow Jenkins to download the JDK if not already installed.</a:t>
            </a:r>
          </a:p>
          <a:p>
            <a:pPr marL="731520" lvl="1" indent="-457200">
              <a:buFont typeface="+mj-lt"/>
              <a:buAutoNum type="arabicPeriod"/>
            </a:pPr>
            <a:r>
              <a:rPr lang="en-US" dirty="0"/>
              <a:t>Save the configuration.</a:t>
            </a:r>
          </a:p>
        </p:txBody>
      </p:sp>
      <p:sp>
        <p:nvSpPr>
          <p:cNvPr id="4" name="Footer Placeholder 3">
            <a:extLst>
              <a:ext uri="{FF2B5EF4-FFF2-40B4-BE49-F238E27FC236}">
                <a16:creationId xmlns:a16="http://schemas.microsoft.com/office/drawing/2014/main" id="{3709041F-B5D3-CE4F-9956-164EAA6D3324}"/>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B7CA8574-0D6D-1643-ABC1-D68C87FD2862}"/>
              </a:ext>
            </a:extLst>
          </p:cNvPr>
          <p:cNvSpPr>
            <a:spLocks noGrp="1"/>
          </p:cNvSpPr>
          <p:nvPr>
            <p:ph type="sldNum" sz="quarter" idx="12"/>
          </p:nvPr>
        </p:nvSpPr>
        <p:spPr/>
        <p:txBody>
          <a:bodyPr/>
          <a:lstStyle/>
          <a:p>
            <a:fld id="{2D7BCAC6-6F2C-433A-BE87-D0A9451C8803}" type="slidenum">
              <a:rPr lang="en-US" smtClean="0"/>
              <a:pPr/>
              <a:t>39</a:t>
            </a:fld>
            <a:endParaRPr lang="en-US"/>
          </a:p>
        </p:txBody>
      </p:sp>
    </p:spTree>
    <p:extLst>
      <p:ext uri="{BB962C8B-B14F-4D97-AF65-F5344CB8AC3E}">
        <p14:creationId xmlns:p14="http://schemas.microsoft.com/office/powerpoint/2010/main" val="18143602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0F67F-F612-3F41-118F-B6F33CC84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6FAE8A-B25C-ACEB-2BDF-D0BF77A7A960}"/>
              </a:ext>
            </a:extLst>
          </p:cNvPr>
          <p:cNvSpPr>
            <a:spLocks noGrp="1"/>
          </p:cNvSpPr>
          <p:nvPr>
            <p:ph type="title"/>
          </p:nvPr>
        </p:nvSpPr>
        <p:spPr/>
        <p:txBody>
          <a:bodyPr/>
          <a:lstStyle/>
          <a:p>
            <a:r>
              <a:rPr lang="en-US" dirty="0"/>
              <a:t>Example: Adding a Tool in Jenkins</a:t>
            </a:r>
          </a:p>
        </p:txBody>
      </p:sp>
      <p:sp>
        <p:nvSpPr>
          <p:cNvPr id="3" name="Content Placeholder 2">
            <a:extLst>
              <a:ext uri="{FF2B5EF4-FFF2-40B4-BE49-F238E27FC236}">
                <a16:creationId xmlns:a16="http://schemas.microsoft.com/office/drawing/2014/main" id="{10C62774-44F0-3E4B-E0BA-1F99BF6489E3}"/>
              </a:ext>
            </a:extLst>
          </p:cNvPr>
          <p:cNvSpPr>
            <a:spLocks noGrp="1"/>
          </p:cNvSpPr>
          <p:nvPr>
            <p:ph idx="1"/>
          </p:nvPr>
        </p:nvSpPr>
        <p:spPr/>
        <p:txBody>
          <a:bodyPr>
            <a:normAutofit/>
          </a:bodyPr>
          <a:lstStyle/>
          <a:p>
            <a:r>
              <a:rPr lang="en-US" b="1" dirty="0"/>
              <a:t>Adding Maven</a:t>
            </a:r>
          </a:p>
          <a:p>
            <a:pPr marL="731520" lvl="1" indent="-457200">
              <a:buFont typeface="+mj-lt"/>
              <a:buAutoNum type="arabicPeriod"/>
            </a:pPr>
            <a:r>
              <a:rPr lang="en-US" dirty="0"/>
              <a:t>Go to </a:t>
            </a:r>
            <a:r>
              <a:rPr lang="en-US" i="1" dirty="0"/>
              <a:t>Manage Jenkins &gt; Tools</a:t>
            </a:r>
            <a:r>
              <a:rPr lang="en-US" dirty="0"/>
              <a:t>.</a:t>
            </a:r>
          </a:p>
          <a:p>
            <a:pPr marL="731520" lvl="1" indent="-457200">
              <a:buFont typeface="+mj-lt"/>
              <a:buAutoNum type="arabicPeriod"/>
            </a:pPr>
            <a:r>
              <a:rPr lang="en-US" dirty="0"/>
              <a:t>Scroll to the Maven section.</a:t>
            </a:r>
          </a:p>
          <a:p>
            <a:pPr marL="731520" lvl="1" indent="-457200">
              <a:buFont typeface="+mj-lt"/>
              <a:buAutoNum type="arabicPeriod"/>
            </a:pPr>
            <a:r>
              <a:rPr lang="en-US" dirty="0"/>
              <a:t>Add a new Maven installation:</a:t>
            </a:r>
          </a:p>
          <a:p>
            <a:pPr lvl="2"/>
            <a:r>
              <a:rPr lang="en-US" b="1" dirty="0"/>
              <a:t>Name</a:t>
            </a:r>
            <a:r>
              <a:rPr lang="en-US" dirty="0"/>
              <a:t>: e.g., "Maven 3.8".</a:t>
            </a:r>
          </a:p>
          <a:p>
            <a:pPr lvl="2"/>
            <a:r>
              <a:rPr lang="en-US" b="1" dirty="0"/>
              <a:t>MAVEN_HOME</a:t>
            </a:r>
            <a:r>
              <a:rPr lang="en-US" dirty="0"/>
              <a:t>: Path to the Maven installation.</a:t>
            </a:r>
          </a:p>
          <a:p>
            <a:pPr lvl="2"/>
            <a:r>
              <a:rPr lang="en-US" dirty="0"/>
              <a:t>Use the "Install Automatically" option for dynamic installation.</a:t>
            </a:r>
          </a:p>
          <a:p>
            <a:pPr marL="731520" lvl="1" indent="-457200">
              <a:buFont typeface="+mj-lt"/>
              <a:buAutoNum type="arabicPeriod"/>
            </a:pPr>
            <a:r>
              <a:rPr lang="en-US" dirty="0"/>
              <a:t>Save the configuration.</a:t>
            </a:r>
          </a:p>
        </p:txBody>
      </p:sp>
      <p:sp>
        <p:nvSpPr>
          <p:cNvPr id="4" name="Footer Placeholder 3">
            <a:extLst>
              <a:ext uri="{FF2B5EF4-FFF2-40B4-BE49-F238E27FC236}">
                <a16:creationId xmlns:a16="http://schemas.microsoft.com/office/drawing/2014/main" id="{DD6E7ECE-FA4F-3F3E-86A5-A169AD62E0C1}"/>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7C6B2882-E362-B662-B44E-7498FA6819DF}"/>
              </a:ext>
            </a:extLst>
          </p:cNvPr>
          <p:cNvSpPr>
            <a:spLocks noGrp="1"/>
          </p:cNvSpPr>
          <p:nvPr>
            <p:ph type="sldNum" sz="quarter" idx="12"/>
          </p:nvPr>
        </p:nvSpPr>
        <p:spPr/>
        <p:txBody>
          <a:bodyPr/>
          <a:lstStyle/>
          <a:p>
            <a:fld id="{2D7BCAC6-6F2C-433A-BE87-D0A9451C8803}" type="slidenum">
              <a:rPr lang="en-US" smtClean="0"/>
              <a:pPr/>
              <a:t>40</a:t>
            </a:fld>
            <a:endParaRPr lang="en-US"/>
          </a:p>
        </p:txBody>
      </p:sp>
    </p:spTree>
    <p:extLst>
      <p:ext uri="{BB962C8B-B14F-4D97-AF65-F5344CB8AC3E}">
        <p14:creationId xmlns:p14="http://schemas.microsoft.com/office/powerpoint/2010/main" val="22262185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07168-B258-BE5B-04E5-A1D8839119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ADA1F-B9F4-1849-AE43-D3D42C04D7C1}"/>
              </a:ext>
            </a:extLst>
          </p:cNvPr>
          <p:cNvSpPr>
            <a:spLocks noGrp="1"/>
          </p:cNvSpPr>
          <p:nvPr>
            <p:ph type="title"/>
          </p:nvPr>
        </p:nvSpPr>
        <p:spPr/>
        <p:txBody>
          <a:bodyPr/>
          <a:lstStyle/>
          <a:p>
            <a:r>
              <a:rPr lang="en-US" dirty="0"/>
              <a:t>Using Tools in Jobs</a:t>
            </a:r>
          </a:p>
        </p:txBody>
      </p:sp>
      <p:sp>
        <p:nvSpPr>
          <p:cNvPr id="3" name="Content Placeholder 2">
            <a:extLst>
              <a:ext uri="{FF2B5EF4-FFF2-40B4-BE49-F238E27FC236}">
                <a16:creationId xmlns:a16="http://schemas.microsoft.com/office/drawing/2014/main" id="{2A8D41AF-BF0F-33D8-1126-D2F7F170DA46}"/>
              </a:ext>
            </a:extLst>
          </p:cNvPr>
          <p:cNvSpPr>
            <a:spLocks noGrp="1"/>
          </p:cNvSpPr>
          <p:nvPr>
            <p:ph idx="1"/>
          </p:nvPr>
        </p:nvSpPr>
        <p:spPr/>
        <p:txBody>
          <a:bodyPr>
            <a:normAutofit/>
          </a:bodyPr>
          <a:lstStyle/>
          <a:p>
            <a:r>
              <a:rPr lang="en-US" dirty="0"/>
              <a:t>After configuring tools, they can be used in Jenkins jobs:</a:t>
            </a:r>
          </a:p>
          <a:p>
            <a:r>
              <a:rPr lang="en-US" b="1" dirty="0"/>
              <a:t>Freestyle Project</a:t>
            </a:r>
            <a:r>
              <a:rPr lang="en-US" dirty="0"/>
              <a:t>:</a:t>
            </a:r>
          </a:p>
          <a:p>
            <a:pPr lvl="1">
              <a:buFont typeface="Arial" panose="020B0604020202020204" pitchFamily="34" charset="0"/>
              <a:buChar char="•"/>
            </a:pPr>
            <a:r>
              <a:rPr lang="en-US" dirty="0"/>
              <a:t>While configuring a freestyle job, use the </a:t>
            </a:r>
            <a:r>
              <a:rPr lang="en-US" b="1" dirty="0"/>
              <a:t>Build Environment</a:t>
            </a:r>
            <a:r>
              <a:rPr lang="en-US" dirty="0"/>
              <a:t> section to select the tools defined in the global configuration.</a:t>
            </a:r>
          </a:p>
        </p:txBody>
      </p:sp>
      <p:sp>
        <p:nvSpPr>
          <p:cNvPr id="4" name="Footer Placeholder 3">
            <a:extLst>
              <a:ext uri="{FF2B5EF4-FFF2-40B4-BE49-F238E27FC236}">
                <a16:creationId xmlns:a16="http://schemas.microsoft.com/office/drawing/2014/main" id="{F46C6DD6-7065-839F-CA40-E8D61B8B5588}"/>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A255935F-0A65-184E-31CB-A1FBDE2F780C}"/>
              </a:ext>
            </a:extLst>
          </p:cNvPr>
          <p:cNvSpPr>
            <a:spLocks noGrp="1"/>
          </p:cNvSpPr>
          <p:nvPr>
            <p:ph type="sldNum" sz="quarter" idx="12"/>
          </p:nvPr>
        </p:nvSpPr>
        <p:spPr/>
        <p:txBody>
          <a:bodyPr/>
          <a:lstStyle/>
          <a:p>
            <a:fld id="{2D7BCAC6-6F2C-433A-BE87-D0A9451C8803}" type="slidenum">
              <a:rPr lang="en-US" smtClean="0"/>
              <a:pPr/>
              <a:t>41</a:t>
            </a:fld>
            <a:endParaRPr lang="en-US"/>
          </a:p>
        </p:txBody>
      </p:sp>
    </p:spTree>
    <p:extLst>
      <p:ext uri="{BB962C8B-B14F-4D97-AF65-F5344CB8AC3E}">
        <p14:creationId xmlns:p14="http://schemas.microsoft.com/office/powerpoint/2010/main" val="5613469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5C547-2DB5-2B66-E6D6-6C83CE52F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2EEF8-134E-C648-6D31-CB48F544ED38}"/>
              </a:ext>
            </a:extLst>
          </p:cNvPr>
          <p:cNvSpPr>
            <a:spLocks noGrp="1"/>
          </p:cNvSpPr>
          <p:nvPr>
            <p:ph type="title"/>
          </p:nvPr>
        </p:nvSpPr>
        <p:spPr/>
        <p:txBody>
          <a:bodyPr/>
          <a:lstStyle/>
          <a:p>
            <a:r>
              <a:rPr lang="en-US" dirty="0"/>
              <a:t>Using Tools in Jobs</a:t>
            </a:r>
          </a:p>
        </p:txBody>
      </p:sp>
      <p:sp>
        <p:nvSpPr>
          <p:cNvPr id="3" name="Content Placeholder 2">
            <a:extLst>
              <a:ext uri="{FF2B5EF4-FFF2-40B4-BE49-F238E27FC236}">
                <a16:creationId xmlns:a16="http://schemas.microsoft.com/office/drawing/2014/main" id="{E6B5A83D-50B3-884E-E31C-EA80CC345B13}"/>
              </a:ext>
            </a:extLst>
          </p:cNvPr>
          <p:cNvSpPr>
            <a:spLocks noGrp="1"/>
          </p:cNvSpPr>
          <p:nvPr>
            <p:ph idx="1"/>
          </p:nvPr>
        </p:nvSpPr>
        <p:spPr>
          <a:xfrm>
            <a:off x="609603" y="1828805"/>
            <a:ext cx="4648198" cy="4663439"/>
          </a:xfrm>
        </p:spPr>
        <p:txBody>
          <a:bodyPr>
            <a:normAutofit/>
          </a:bodyPr>
          <a:lstStyle/>
          <a:p>
            <a:r>
              <a:rPr lang="en-US" b="1" dirty="0"/>
              <a:t>Pipeline Project:</a:t>
            </a:r>
          </a:p>
          <a:p>
            <a:pPr lvl="1"/>
            <a:r>
              <a:rPr lang="en-US" dirty="0"/>
              <a:t>Use the tools directive in the pipeline script to specify tools. For example:</a:t>
            </a:r>
          </a:p>
        </p:txBody>
      </p:sp>
      <p:sp>
        <p:nvSpPr>
          <p:cNvPr id="4" name="Footer Placeholder 3">
            <a:extLst>
              <a:ext uri="{FF2B5EF4-FFF2-40B4-BE49-F238E27FC236}">
                <a16:creationId xmlns:a16="http://schemas.microsoft.com/office/drawing/2014/main" id="{35F4BF2C-ACC4-8AA1-E7E9-56B15D7443B8}"/>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BEE020C4-E6CE-6448-2370-4CDD2FE054F7}"/>
              </a:ext>
            </a:extLst>
          </p:cNvPr>
          <p:cNvSpPr>
            <a:spLocks noGrp="1"/>
          </p:cNvSpPr>
          <p:nvPr>
            <p:ph type="sldNum" sz="quarter" idx="12"/>
          </p:nvPr>
        </p:nvSpPr>
        <p:spPr/>
        <p:txBody>
          <a:bodyPr/>
          <a:lstStyle/>
          <a:p>
            <a:fld id="{2D7BCAC6-6F2C-433A-BE87-D0A9451C8803}" type="slidenum">
              <a:rPr lang="en-US" smtClean="0"/>
              <a:pPr/>
              <a:t>42</a:t>
            </a:fld>
            <a:endParaRPr lang="en-US"/>
          </a:p>
        </p:txBody>
      </p:sp>
      <p:sp>
        <p:nvSpPr>
          <p:cNvPr id="6" name="Content Placeholder 2">
            <a:extLst>
              <a:ext uri="{FF2B5EF4-FFF2-40B4-BE49-F238E27FC236}">
                <a16:creationId xmlns:a16="http://schemas.microsoft.com/office/drawing/2014/main" id="{EEEA5B97-704E-35DB-FC71-C4C6603F7B59}"/>
              </a:ext>
            </a:extLst>
          </p:cNvPr>
          <p:cNvSpPr txBox="1">
            <a:spLocks/>
          </p:cNvSpPr>
          <p:nvPr/>
        </p:nvSpPr>
        <p:spPr>
          <a:xfrm>
            <a:off x="5257800" y="1828800"/>
            <a:ext cx="4953000" cy="4663439"/>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150000"/>
              </a:lnSpc>
              <a:spcBef>
                <a:spcPts val="0"/>
              </a:spcBef>
              <a:spcAft>
                <a:spcPts val="0"/>
              </a:spcAft>
              <a:buClr>
                <a:schemeClr val="accent1"/>
              </a:buClr>
              <a:buSzPct val="80000"/>
              <a:buFont typeface="Arial" pitchFamily="34" charset="0"/>
              <a:buChar char="•"/>
              <a:defRPr sz="2400" kern="1200" spc="10" baseline="0">
                <a:solidFill>
                  <a:schemeClr val="tx1"/>
                </a:solidFill>
                <a:latin typeface="Nunito" pitchFamily="2" charset="0"/>
                <a:ea typeface="+mn-ea"/>
                <a:cs typeface="+mn-cs"/>
              </a:defRPr>
            </a:lvl1pPr>
            <a:lvl2pPr marL="457200" indent="-182880" algn="l" defTabSz="914400" rtl="0" eaLnBrk="1" latinLnBrk="0" hangingPunct="1">
              <a:lnSpc>
                <a:spcPct val="150000"/>
              </a:lnSpc>
              <a:spcBef>
                <a:spcPts val="0"/>
              </a:spcBef>
              <a:spcAft>
                <a:spcPts val="0"/>
              </a:spcAft>
              <a:buClr>
                <a:schemeClr val="accent1"/>
              </a:buClr>
              <a:buFont typeface="Wingdings 2" pitchFamily="18" charset="2"/>
              <a:buChar char=""/>
              <a:defRPr sz="2300" kern="1200">
                <a:solidFill>
                  <a:schemeClr val="tx1">
                    <a:lumMod val="85000"/>
                    <a:lumOff val="15000"/>
                  </a:schemeClr>
                </a:solidFill>
                <a:latin typeface="Nunito" pitchFamily="2" charset="0"/>
                <a:ea typeface="+mn-ea"/>
                <a:cs typeface="+mn-cs"/>
              </a:defRPr>
            </a:lvl2pPr>
            <a:lvl3pPr marL="731520" indent="-182880" algn="l" defTabSz="914400" rtl="0" eaLnBrk="1" latinLnBrk="0" hangingPunct="1">
              <a:lnSpc>
                <a:spcPct val="150000"/>
              </a:lnSpc>
              <a:spcBef>
                <a:spcPts val="0"/>
              </a:spcBef>
              <a:spcAft>
                <a:spcPts val="0"/>
              </a:spcAft>
              <a:buClr>
                <a:schemeClr val="accent1"/>
              </a:buClr>
              <a:buFont typeface="Wingdings 2" pitchFamily="18" charset="2"/>
              <a:buChar char=""/>
              <a:defRPr sz="2200" kern="1200">
                <a:solidFill>
                  <a:schemeClr val="tx1">
                    <a:lumMod val="85000"/>
                    <a:lumOff val="15000"/>
                  </a:schemeClr>
                </a:solidFill>
                <a:latin typeface="Nunito" pitchFamily="2" charset="0"/>
                <a:ea typeface="+mn-ea"/>
                <a:cs typeface="+mn-cs"/>
              </a:defRPr>
            </a:lvl3pPr>
            <a:lvl4pPr marL="1005840" indent="-182880" algn="l" defTabSz="914400" rtl="0" eaLnBrk="1" latinLnBrk="0" hangingPunct="1">
              <a:lnSpc>
                <a:spcPct val="150000"/>
              </a:lnSpc>
              <a:spcBef>
                <a:spcPts val="0"/>
              </a:spcBef>
              <a:spcAft>
                <a:spcPts val="0"/>
              </a:spcAft>
              <a:buClr>
                <a:schemeClr val="accent1"/>
              </a:buClr>
              <a:buFont typeface="Wingdings 2" pitchFamily="18" charset="2"/>
              <a:buChar char=""/>
              <a:defRPr sz="2100" kern="1200">
                <a:solidFill>
                  <a:schemeClr val="tx1">
                    <a:lumMod val="85000"/>
                    <a:lumOff val="15000"/>
                  </a:schemeClr>
                </a:solidFill>
                <a:latin typeface="Nunito" pitchFamily="2" charset="0"/>
                <a:ea typeface="+mn-ea"/>
                <a:cs typeface="+mn-cs"/>
              </a:defRPr>
            </a:lvl4pPr>
            <a:lvl5pPr marL="1280160" indent="-182880" algn="l" defTabSz="914400" rtl="0" eaLnBrk="1" latinLnBrk="0" hangingPunct="1">
              <a:lnSpc>
                <a:spcPct val="150000"/>
              </a:lnSpc>
              <a:spcBef>
                <a:spcPts val="0"/>
              </a:spcBef>
              <a:spcAft>
                <a:spcPts val="0"/>
              </a:spcAft>
              <a:buClr>
                <a:schemeClr val="accent1"/>
              </a:buClr>
              <a:buFont typeface="Wingdings 2" pitchFamily="18" charset="2"/>
              <a:buChar char=""/>
              <a:defRPr sz="2000" kern="1200">
                <a:solidFill>
                  <a:schemeClr val="tx1">
                    <a:lumMod val="85000"/>
                    <a:lumOff val="15000"/>
                  </a:schemeClr>
                </a:solidFill>
                <a:latin typeface="Nunito" pitchFamily="2"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274320" lvl="1" indent="0">
              <a:lnSpc>
                <a:spcPct val="120000"/>
              </a:lnSpc>
              <a:buNone/>
            </a:pPr>
            <a:r>
              <a:rPr lang="en-US" sz="2400" dirty="0">
                <a:solidFill>
                  <a:srgbClr val="FF0000"/>
                </a:solidFill>
              </a:rPr>
              <a:t>pipeline {</a:t>
            </a:r>
          </a:p>
          <a:p>
            <a:pPr marL="274320" lvl="1" indent="0">
              <a:lnSpc>
                <a:spcPct val="120000"/>
              </a:lnSpc>
              <a:buNone/>
            </a:pPr>
            <a:r>
              <a:rPr lang="en-US" sz="2400" dirty="0">
                <a:solidFill>
                  <a:srgbClr val="FF0000"/>
                </a:solidFill>
              </a:rPr>
              <a:t>    agent any</a:t>
            </a:r>
          </a:p>
          <a:p>
            <a:pPr marL="274320" lvl="1" indent="0">
              <a:lnSpc>
                <a:spcPct val="120000"/>
              </a:lnSpc>
              <a:buNone/>
            </a:pPr>
            <a:r>
              <a:rPr lang="en-US" sz="2400" dirty="0">
                <a:solidFill>
                  <a:srgbClr val="FF0000"/>
                </a:solidFill>
              </a:rPr>
              <a:t>    tools {</a:t>
            </a:r>
          </a:p>
          <a:p>
            <a:pPr marL="274320" lvl="1" indent="0">
              <a:lnSpc>
                <a:spcPct val="120000"/>
              </a:lnSpc>
              <a:buNone/>
            </a:pPr>
            <a:r>
              <a:rPr lang="en-US" sz="2400" dirty="0">
                <a:solidFill>
                  <a:srgbClr val="FF0000"/>
                </a:solidFill>
              </a:rPr>
              <a:t>        maven 'Maven 3.8'</a:t>
            </a:r>
          </a:p>
          <a:p>
            <a:pPr marL="274320" lvl="1" indent="0">
              <a:lnSpc>
                <a:spcPct val="120000"/>
              </a:lnSpc>
              <a:buNone/>
            </a:pPr>
            <a:r>
              <a:rPr lang="en-US" sz="2400" dirty="0">
                <a:solidFill>
                  <a:srgbClr val="FF0000"/>
                </a:solidFill>
              </a:rPr>
              <a:t>        </a:t>
            </a:r>
            <a:r>
              <a:rPr lang="en-US" sz="2400" dirty="0" err="1">
                <a:solidFill>
                  <a:srgbClr val="FF0000"/>
                </a:solidFill>
              </a:rPr>
              <a:t>jdk</a:t>
            </a:r>
            <a:r>
              <a:rPr lang="en-US" sz="2400" dirty="0">
                <a:solidFill>
                  <a:srgbClr val="FF0000"/>
                </a:solidFill>
              </a:rPr>
              <a:t> 'Java 11'</a:t>
            </a:r>
          </a:p>
          <a:p>
            <a:pPr marL="274320" lvl="1" indent="0">
              <a:lnSpc>
                <a:spcPct val="120000"/>
              </a:lnSpc>
              <a:buNone/>
            </a:pPr>
            <a:r>
              <a:rPr lang="en-US" sz="2400" dirty="0">
                <a:solidFill>
                  <a:srgbClr val="FF0000"/>
                </a:solidFill>
              </a:rPr>
              <a:t>    }</a:t>
            </a:r>
          </a:p>
          <a:p>
            <a:pPr marL="274320" lvl="1" indent="0">
              <a:lnSpc>
                <a:spcPct val="120000"/>
              </a:lnSpc>
              <a:buNone/>
            </a:pPr>
            <a:r>
              <a:rPr lang="en-US" sz="2400" dirty="0">
                <a:solidFill>
                  <a:srgbClr val="FF0000"/>
                </a:solidFill>
              </a:rPr>
              <a:t>    stages {</a:t>
            </a:r>
          </a:p>
          <a:p>
            <a:pPr marL="274320" lvl="1" indent="0">
              <a:lnSpc>
                <a:spcPct val="120000"/>
              </a:lnSpc>
              <a:buNone/>
            </a:pPr>
            <a:r>
              <a:rPr lang="en-US" sz="2400" dirty="0">
                <a:solidFill>
                  <a:srgbClr val="FF0000"/>
                </a:solidFill>
              </a:rPr>
              <a:t>        stage('Build') {</a:t>
            </a:r>
          </a:p>
          <a:p>
            <a:pPr marL="274320" lvl="1" indent="0">
              <a:lnSpc>
                <a:spcPct val="120000"/>
              </a:lnSpc>
              <a:buNone/>
            </a:pPr>
            <a:r>
              <a:rPr lang="en-US" sz="2400" dirty="0">
                <a:solidFill>
                  <a:srgbClr val="FF0000"/>
                </a:solidFill>
              </a:rPr>
              <a:t>            steps {</a:t>
            </a:r>
          </a:p>
          <a:p>
            <a:pPr marL="274320" lvl="1" indent="0">
              <a:lnSpc>
                <a:spcPct val="120000"/>
              </a:lnSpc>
              <a:buNone/>
            </a:pPr>
            <a:r>
              <a:rPr lang="en-US" sz="2400" dirty="0">
                <a:solidFill>
                  <a:srgbClr val="FF0000"/>
                </a:solidFill>
              </a:rPr>
              <a:t>                </a:t>
            </a:r>
            <a:r>
              <a:rPr lang="en-US" sz="2400" dirty="0" err="1">
                <a:solidFill>
                  <a:srgbClr val="FF0000"/>
                </a:solidFill>
              </a:rPr>
              <a:t>sh</a:t>
            </a:r>
            <a:r>
              <a:rPr lang="en-US" sz="2400" dirty="0">
                <a:solidFill>
                  <a:srgbClr val="FF0000"/>
                </a:solidFill>
              </a:rPr>
              <a:t> '</a:t>
            </a:r>
            <a:r>
              <a:rPr lang="en-US" sz="2400" dirty="0" err="1">
                <a:solidFill>
                  <a:srgbClr val="FF0000"/>
                </a:solidFill>
              </a:rPr>
              <a:t>mvn</a:t>
            </a:r>
            <a:r>
              <a:rPr lang="en-US" sz="2400" dirty="0">
                <a:solidFill>
                  <a:srgbClr val="FF0000"/>
                </a:solidFill>
              </a:rPr>
              <a:t> clean install'</a:t>
            </a:r>
          </a:p>
          <a:p>
            <a:pPr marL="274320" lvl="1" indent="0">
              <a:lnSpc>
                <a:spcPct val="120000"/>
              </a:lnSpc>
              <a:buNone/>
            </a:pPr>
            <a:r>
              <a:rPr lang="en-US" sz="2400" dirty="0">
                <a:solidFill>
                  <a:srgbClr val="FF0000"/>
                </a:solidFill>
              </a:rPr>
              <a:t>            }</a:t>
            </a:r>
          </a:p>
          <a:p>
            <a:pPr marL="274320" lvl="1" indent="0">
              <a:lnSpc>
                <a:spcPct val="120000"/>
              </a:lnSpc>
              <a:buNone/>
            </a:pPr>
            <a:r>
              <a:rPr lang="en-US" sz="2400" dirty="0">
                <a:solidFill>
                  <a:srgbClr val="FF0000"/>
                </a:solidFill>
              </a:rPr>
              <a:t>        }</a:t>
            </a:r>
          </a:p>
          <a:p>
            <a:pPr marL="274320" lvl="1" indent="0">
              <a:lnSpc>
                <a:spcPct val="120000"/>
              </a:lnSpc>
              <a:buNone/>
            </a:pPr>
            <a:r>
              <a:rPr lang="en-US" sz="2400" dirty="0">
                <a:solidFill>
                  <a:srgbClr val="FF0000"/>
                </a:solidFill>
              </a:rPr>
              <a:t>    }</a:t>
            </a:r>
          </a:p>
          <a:p>
            <a:pPr marL="274320" lvl="1" indent="0">
              <a:lnSpc>
                <a:spcPct val="120000"/>
              </a:lnSpc>
              <a:buNone/>
            </a:pPr>
            <a:r>
              <a:rPr lang="en-US" sz="2400" dirty="0">
                <a:solidFill>
                  <a:srgbClr val="FF0000"/>
                </a:solidFill>
              </a:rPr>
              <a:t>}</a:t>
            </a:r>
          </a:p>
        </p:txBody>
      </p:sp>
    </p:spTree>
    <p:extLst>
      <p:ext uri="{BB962C8B-B14F-4D97-AF65-F5344CB8AC3E}">
        <p14:creationId xmlns:p14="http://schemas.microsoft.com/office/powerpoint/2010/main" val="25085572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79F43-E210-84AF-2FDE-89CC0704491D}"/>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AE18FF27-1EF3-DB7B-7572-AAEE7975EBA2}"/>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9C4C5462-1825-298B-858A-A7F7BA436F37}"/>
              </a:ext>
            </a:extLst>
          </p:cNvPr>
          <p:cNvSpPr>
            <a:spLocks noGrp="1"/>
          </p:cNvSpPr>
          <p:nvPr>
            <p:ph type="sldNum" sz="quarter" idx="12"/>
          </p:nvPr>
        </p:nvSpPr>
        <p:spPr/>
        <p:txBody>
          <a:bodyPr/>
          <a:lstStyle/>
          <a:p>
            <a:fld id="{2D7BCAC6-6F2C-433A-BE87-D0A9451C8803}" type="slidenum">
              <a:rPr lang="en-US" smtClean="0"/>
              <a:pPr/>
              <a:t>43</a:t>
            </a:fld>
            <a:endParaRPr lang="en-US"/>
          </a:p>
        </p:txBody>
      </p:sp>
      <p:sp>
        <p:nvSpPr>
          <p:cNvPr id="3" name="Content Placeholder 2">
            <a:extLst>
              <a:ext uri="{FF2B5EF4-FFF2-40B4-BE49-F238E27FC236}">
                <a16:creationId xmlns:a16="http://schemas.microsoft.com/office/drawing/2014/main" id="{5BD0E51A-E657-5414-345B-D12D27ABE060}"/>
              </a:ext>
            </a:extLst>
          </p:cNvPr>
          <p:cNvSpPr>
            <a:spLocks noGrp="1"/>
          </p:cNvSpPr>
          <p:nvPr>
            <p:ph idx="1"/>
          </p:nvPr>
        </p:nvSpPr>
        <p:spPr/>
        <p:txBody>
          <a:bodyPr>
            <a:normAutofit/>
          </a:bodyPr>
          <a:lstStyle/>
          <a:p>
            <a:r>
              <a:rPr lang="en-US" dirty="0"/>
              <a:t>Jenkins provides robust user management capabilities to control access and permissions within the application.</a:t>
            </a:r>
          </a:p>
          <a:p>
            <a:r>
              <a:rPr lang="en-US" dirty="0"/>
              <a:t>Effective user management ensures</a:t>
            </a:r>
          </a:p>
          <a:p>
            <a:pPr lvl="1"/>
            <a:r>
              <a:rPr lang="en-US" dirty="0"/>
              <a:t>secure collaboration</a:t>
            </a:r>
          </a:p>
          <a:p>
            <a:pPr lvl="1"/>
            <a:r>
              <a:rPr lang="en-US" dirty="0"/>
              <a:t>protects sensitive data</a:t>
            </a:r>
          </a:p>
          <a:p>
            <a:pPr lvl="1"/>
            <a:r>
              <a:rPr lang="en-US" dirty="0"/>
              <a:t>allows efficient allocation of responsibilities.</a:t>
            </a:r>
          </a:p>
        </p:txBody>
      </p:sp>
      <p:sp>
        <p:nvSpPr>
          <p:cNvPr id="2" name="Title 1">
            <a:extLst>
              <a:ext uri="{FF2B5EF4-FFF2-40B4-BE49-F238E27FC236}">
                <a16:creationId xmlns:a16="http://schemas.microsoft.com/office/drawing/2014/main" id="{EBD819CA-91FB-335F-4D66-1AB8EACCB437}"/>
              </a:ext>
            </a:extLst>
          </p:cNvPr>
          <p:cNvSpPr>
            <a:spLocks noGrp="1"/>
          </p:cNvSpPr>
          <p:nvPr>
            <p:ph type="title"/>
          </p:nvPr>
        </p:nvSpPr>
        <p:spPr/>
        <p:txBody>
          <a:bodyPr/>
          <a:lstStyle/>
          <a:p>
            <a:r>
              <a:rPr lang="en-US"/>
              <a:t>User Management in Jenkins</a:t>
            </a:r>
            <a:endParaRPr lang="en-US" dirty="0"/>
          </a:p>
        </p:txBody>
      </p:sp>
    </p:spTree>
    <p:extLst>
      <p:ext uri="{BB962C8B-B14F-4D97-AF65-F5344CB8AC3E}">
        <p14:creationId xmlns:p14="http://schemas.microsoft.com/office/powerpoint/2010/main" val="19382557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4667-9EEF-B35B-4F1B-44B866751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8DE7A-626E-32DC-D4B1-7D705081185F}"/>
              </a:ext>
            </a:extLst>
          </p:cNvPr>
          <p:cNvSpPr>
            <a:spLocks noGrp="1"/>
          </p:cNvSpPr>
          <p:nvPr>
            <p:ph type="title"/>
          </p:nvPr>
        </p:nvSpPr>
        <p:spPr/>
        <p:txBody>
          <a:bodyPr/>
          <a:lstStyle/>
          <a:p>
            <a:r>
              <a:rPr lang="en-US" dirty="0"/>
              <a:t>User Management in Jenkins</a:t>
            </a:r>
          </a:p>
        </p:txBody>
      </p:sp>
      <p:sp>
        <p:nvSpPr>
          <p:cNvPr id="3" name="Content Placeholder 2">
            <a:extLst>
              <a:ext uri="{FF2B5EF4-FFF2-40B4-BE49-F238E27FC236}">
                <a16:creationId xmlns:a16="http://schemas.microsoft.com/office/drawing/2014/main" id="{B46AF088-7050-A93C-365C-F5880DDBB72E}"/>
              </a:ext>
            </a:extLst>
          </p:cNvPr>
          <p:cNvSpPr>
            <a:spLocks noGrp="1"/>
          </p:cNvSpPr>
          <p:nvPr>
            <p:ph idx="1"/>
          </p:nvPr>
        </p:nvSpPr>
        <p:spPr/>
        <p:txBody>
          <a:bodyPr>
            <a:normAutofit/>
          </a:bodyPr>
          <a:lstStyle/>
          <a:p>
            <a:r>
              <a:rPr lang="en-US" b="1" dirty="0"/>
              <a:t>User Accounts</a:t>
            </a:r>
            <a:r>
              <a:rPr lang="en-US" dirty="0"/>
              <a:t>:</a:t>
            </a:r>
          </a:p>
          <a:p>
            <a:pPr lvl="1">
              <a:buFont typeface="Arial" panose="020B0604020202020204" pitchFamily="34" charset="0"/>
              <a:buChar char="•"/>
            </a:pPr>
            <a:r>
              <a:rPr lang="en-US" dirty="0"/>
              <a:t>Jenkins requires users to log in with a username and password or use other authentication methods.</a:t>
            </a:r>
          </a:p>
          <a:p>
            <a:pPr lvl="1">
              <a:buFont typeface="Arial" panose="020B0604020202020204" pitchFamily="34" charset="0"/>
              <a:buChar char="•"/>
            </a:pPr>
            <a:r>
              <a:rPr lang="en-US" dirty="0"/>
              <a:t>Users can have roles or permissions assigned to them for specific tasks.</a:t>
            </a:r>
          </a:p>
          <a:p>
            <a:endParaRPr lang="en-US" dirty="0"/>
          </a:p>
        </p:txBody>
      </p:sp>
      <p:sp>
        <p:nvSpPr>
          <p:cNvPr id="4" name="Footer Placeholder 3">
            <a:extLst>
              <a:ext uri="{FF2B5EF4-FFF2-40B4-BE49-F238E27FC236}">
                <a16:creationId xmlns:a16="http://schemas.microsoft.com/office/drawing/2014/main" id="{E995D702-E228-7B52-7EB9-C7388661FD88}"/>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247488B0-03FA-AEAD-D354-4F3CF2FBA447}"/>
              </a:ext>
            </a:extLst>
          </p:cNvPr>
          <p:cNvSpPr>
            <a:spLocks noGrp="1"/>
          </p:cNvSpPr>
          <p:nvPr>
            <p:ph type="sldNum" sz="quarter" idx="12"/>
          </p:nvPr>
        </p:nvSpPr>
        <p:spPr/>
        <p:txBody>
          <a:bodyPr/>
          <a:lstStyle/>
          <a:p>
            <a:fld id="{2D7BCAC6-6F2C-433A-BE87-D0A9451C8803}" type="slidenum">
              <a:rPr lang="en-US" smtClean="0"/>
              <a:pPr/>
              <a:t>44</a:t>
            </a:fld>
            <a:endParaRPr lang="en-US"/>
          </a:p>
        </p:txBody>
      </p:sp>
    </p:spTree>
    <p:extLst>
      <p:ext uri="{BB962C8B-B14F-4D97-AF65-F5344CB8AC3E}">
        <p14:creationId xmlns:p14="http://schemas.microsoft.com/office/powerpoint/2010/main" val="3510318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15C41-1E25-DF97-EA02-F19C77518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60A69-AD88-E528-7E96-374E0981E466}"/>
              </a:ext>
            </a:extLst>
          </p:cNvPr>
          <p:cNvSpPr>
            <a:spLocks noGrp="1"/>
          </p:cNvSpPr>
          <p:nvPr>
            <p:ph type="title"/>
          </p:nvPr>
        </p:nvSpPr>
        <p:spPr/>
        <p:txBody>
          <a:bodyPr/>
          <a:lstStyle/>
          <a:p>
            <a:r>
              <a:rPr lang="en-US"/>
              <a:t>User Management in Jenkins</a:t>
            </a:r>
            <a:endParaRPr lang="en-US" dirty="0"/>
          </a:p>
        </p:txBody>
      </p:sp>
      <p:sp>
        <p:nvSpPr>
          <p:cNvPr id="3" name="Content Placeholder 2">
            <a:extLst>
              <a:ext uri="{FF2B5EF4-FFF2-40B4-BE49-F238E27FC236}">
                <a16:creationId xmlns:a16="http://schemas.microsoft.com/office/drawing/2014/main" id="{B88C6E4F-61E1-6C99-A7A1-08CEC99EAAF3}"/>
              </a:ext>
            </a:extLst>
          </p:cNvPr>
          <p:cNvSpPr>
            <a:spLocks noGrp="1"/>
          </p:cNvSpPr>
          <p:nvPr>
            <p:ph idx="1"/>
          </p:nvPr>
        </p:nvSpPr>
        <p:spPr/>
        <p:txBody>
          <a:bodyPr>
            <a:normAutofit/>
          </a:bodyPr>
          <a:lstStyle/>
          <a:p>
            <a:r>
              <a:rPr lang="en-US" b="1" dirty="0"/>
              <a:t>Authentication</a:t>
            </a:r>
            <a:r>
              <a:rPr lang="en-US" dirty="0"/>
              <a:t>:</a:t>
            </a:r>
          </a:p>
          <a:p>
            <a:pPr>
              <a:buFont typeface="Arial" panose="020B0604020202020204" pitchFamily="34" charset="0"/>
              <a:buChar char="•"/>
            </a:pPr>
            <a:r>
              <a:rPr lang="en-US" dirty="0"/>
              <a:t>Verifies the identity of users trying to access Jenkins.</a:t>
            </a:r>
          </a:p>
          <a:p>
            <a:pPr>
              <a:buFont typeface="Arial" panose="020B0604020202020204" pitchFamily="34" charset="0"/>
              <a:buChar char="•"/>
            </a:pPr>
            <a:r>
              <a:rPr lang="en-US" dirty="0"/>
              <a:t>Common methods:</a:t>
            </a:r>
          </a:p>
          <a:p>
            <a:pPr marL="742950" lvl="1" indent="-285750">
              <a:buFont typeface="Arial" panose="020B0604020202020204" pitchFamily="34" charset="0"/>
              <a:buChar char="•"/>
            </a:pPr>
            <a:r>
              <a:rPr lang="en-US" dirty="0"/>
              <a:t>Jenkins' built-in user database.</a:t>
            </a:r>
          </a:p>
          <a:p>
            <a:pPr marL="742950" lvl="1" indent="-285750">
              <a:buFont typeface="Arial" panose="020B0604020202020204" pitchFamily="34" charset="0"/>
              <a:buChar char="•"/>
            </a:pPr>
            <a:r>
              <a:rPr lang="en-US" dirty="0"/>
              <a:t>External authentication systems (LDAP, Active Directory, SAML, OAuth, etc.).</a:t>
            </a:r>
          </a:p>
          <a:p>
            <a:pPr marL="742950" lvl="1" indent="-285750">
              <a:buFont typeface="Arial" panose="020B0604020202020204" pitchFamily="34" charset="0"/>
              <a:buChar char="•"/>
            </a:pPr>
            <a:r>
              <a:rPr lang="en-US" dirty="0"/>
              <a:t>API tokens for programmatic access.</a:t>
            </a:r>
          </a:p>
        </p:txBody>
      </p:sp>
      <p:sp>
        <p:nvSpPr>
          <p:cNvPr id="4" name="Footer Placeholder 3">
            <a:extLst>
              <a:ext uri="{FF2B5EF4-FFF2-40B4-BE49-F238E27FC236}">
                <a16:creationId xmlns:a16="http://schemas.microsoft.com/office/drawing/2014/main" id="{9437EBA1-1D9C-D948-2882-D5A6D6D2A26A}"/>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417DBEB1-D63F-D988-7271-1B9220F8C990}"/>
              </a:ext>
            </a:extLst>
          </p:cNvPr>
          <p:cNvSpPr>
            <a:spLocks noGrp="1"/>
          </p:cNvSpPr>
          <p:nvPr>
            <p:ph type="sldNum" sz="quarter" idx="12"/>
          </p:nvPr>
        </p:nvSpPr>
        <p:spPr/>
        <p:txBody>
          <a:bodyPr/>
          <a:lstStyle/>
          <a:p>
            <a:fld id="{2D7BCAC6-6F2C-433A-BE87-D0A9451C8803}" type="slidenum">
              <a:rPr lang="en-US" smtClean="0"/>
              <a:pPr/>
              <a:t>45</a:t>
            </a:fld>
            <a:endParaRPr lang="en-US"/>
          </a:p>
        </p:txBody>
      </p:sp>
    </p:spTree>
    <p:extLst>
      <p:ext uri="{BB962C8B-B14F-4D97-AF65-F5344CB8AC3E}">
        <p14:creationId xmlns:p14="http://schemas.microsoft.com/office/powerpoint/2010/main" val="21340551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74AE2-1C14-B919-5BA6-EAB29C2FA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8498EE-2BBF-E14B-A373-2325A52A3ACE}"/>
              </a:ext>
            </a:extLst>
          </p:cNvPr>
          <p:cNvSpPr>
            <a:spLocks noGrp="1"/>
          </p:cNvSpPr>
          <p:nvPr>
            <p:ph type="title"/>
          </p:nvPr>
        </p:nvSpPr>
        <p:spPr/>
        <p:txBody>
          <a:bodyPr/>
          <a:lstStyle/>
          <a:p>
            <a:r>
              <a:rPr lang="en-US"/>
              <a:t>User Management in Jenkins</a:t>
            </a:r>
            <a:endParaRPr lang="en-US" dirty="0"/>
          </a:p>
        </p:txBody>
      </p:sp>
      <p:sp>
        <p:nvSpPr>
          <p:cNvPr id="3" name="Content Placeholder 2">
            <a:extLst>
              <a:ext uri="{FF2B5EF4-FFF2-40B4-BE49-F238E27FC236}">
                <a16:creationId xmlns:a16="http://schemas.microsoft.com/office/drawing/2014/main" id="{DB08A483-79AE-DBDA-F520-BA479B7ADB4E}"/>
              </a:ext>
            </a:extLst>
          </p:cNvPr>
          <p:cNvSpPr>
            <a:spLocks noGrp="1"/>
          </p:cNvSpPr>
          <p:nvPr>
            <p:ph idx="1"/>
          </p:nvPr>
        </p:nvSpPr>
        <p:spPr/>
        <p:txBody>
          <a:bodyPr>
            <a:normAutofit/>
          </a:bodyPr>
          <a:lstStyle/>
          <a:p>
            <a:r>
              <a:rPr lang="en-US" b="1" dirty="0"/>
              <a:t>Authorization</a:t>
            </a:r>
            <a:r>
              <a:rPr lang="en-US" dirty="0"/>
              <a:t>:</a:t>
            </a:r>
          </a:p>
          <a:p>
            <a:pPr>
              <a:buFont typeface="Arial" panose="020B0604020202020204" pitchFamily="34" charset="0"/>
              <a:buChar char="•"/>
            </a:pPr>
            <a:r>
              <a:rPr lang="en-US" dirty="0"/>
              <a:t>Controls what authenticated users can do in Jenkins.</a:t>
            </a:r>
          </a:p>
          <a:p>
            <a:pPr>
              <a:buFont typeface="Arial" panose="020B0604020202020204" pitchFamily="34" charset="0"/>
              <a:buChar char="•"/>
            </a:pPr>
            <a:r>
              <a:rPr lang="en-US" dirty="0"/>
              <a:t>Supports multiple authorization strategies to grant or restrict access</a:t>
            </a:r>
          </a:p>
        </p:txBody>
      </p:sp>
      <p:sp>
        <p:nvSpPr>
          <p:cNvPr id="4" name="Footer Placeholder 3">
            <a:extLst>
              <a:ext uri="{FF2B5EF4-FFF2-40B4-BE49-F238E27FC236}">
                <a16:creationId xmlns:a16="http://schemas.microsoft.com/office/drawing/2014/main" id="{E67428CC-088E-E062-B53D-25002B55F1E5}"/>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259F2A5C-49CF-1C7F-2340-88087D8393B7}"/>
              </a:ext>
            </a:extLst>
          </p:cNvPr>
          <p:cNvSpPr>
            <a:spLocks noGrp="1"/>
          </p:cNvSpPr>
          <p:nvPr>
            <p:ph type="sldNum" sz="quarter" idx="12"/>
          </p:nvPr>
        </p:nvSpPr>
        <p:spPr/>
        <p:txBody>
          <a:bodyPr/>
          <a:lstStyle/>
          <a:p>
            <a:fld id="{2D7BCAC6-6F2C-433A-BE87-D0A9451C8803}" type="slidenum">
              <a:rPr lang="en-US" smtClean="0"/>
              <a:pPr/>
              <a:t>46</a:t>
            </a:fld>
            <a:endParaRPr lang="en-US"/>
          </a:p>
        </p:txBody>
      </p:sp>
    </p:spTree>
    <p:extLst>
      <p:ext uri="{BB962C8B-B14F-4D97-AF65-F5344CB8AC3E}">
        <p14:creationId xmlns:p14="http://schemas.microsoft.com/office/powerpoint/2010/main" val="4182169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BB8AD-A633-7499-312F-5177D781E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7A35B-ED8F-85D5-7D91-29C1FF6F4EAB}"/>
              </a:ext>
            </a:extLst>
          </p:cNvPr>
          <p:cNvSpPr>
            <a:spLocks noGrp="1"/>
          </p:cNvSpPr>
          <p:nvPr>
            <p:ph type="title"/>
          </p:nvPr>
        </p:nvSpPr>
        <p:spPr/>
        <p:txBody>
          <a:bodyPr/>
          <a:lstStyle/>
          <a:p>
            <a:r>
              <a:rPr lang="en-US" dirty="0"/>
              <a:t>Steps for User Management in Jenkins</a:t>
            </a:r>
          </a:p>
        </p:txBody>
      </p:sp>
      <p:sp>
        <p:nvSpPr>
          <p:cNvPr id="3" name="Content Placeholder 2">
            <a:extLst>
              <a:ext uri="{FF2B5EF4-FFF2-40B4-BE49-F238E27FC236}">
                <a16:creationId xmlns:a16="http://schemas.microsoft.com/office/drawing/2014/main" id="{7EB58A7E-CB6C-0ED3-AA3C-5FE4AA2DFDDE}"/>
              </a:ext>
            </a:extLst>
          </p:cNvPr>
          <p:cNvSpPr>
            <a:spLocks noGrp="1"/>
          </p:cNvSpPr>
          <p:nvPr>
            <p:ph idx="1"/>
          </p:nvPr>
        </p:nvSpPr>
        <p:spPr/>
        <p:txBody>
          <a:bodyPr>
            <a:normAutofit/>
          </a:bodyPr>
          <a:lstStyle/>
          <a:p>
            <a:pPr marL="457200" indent="-457200">
              <a:buFont typeface="+mj-lt"/>
              <a:buAutoNum type="arabicPeriod"/>
            </a:pPr>
            <a:r>
              <a:rPr lang="en-US" b="1" dirty="0"/>
              <a:t>Configure Authentication</a:t>
            </a:r>
          </a:p>
          <a:p>
            <a:pPr lvl="1"/>
            <a:r>
              <a:rPr lang="en-US" dirty="0"/>
              <a:t>Navigate to </a:t>
            </a:r>
            <a:r>
              <a:rPr lang="en-US" i="1" dirty="0"/>
              <a:t>Manage Jenkins &gt; Security</a:t>
            </a:r>
            <a:r>
              <a:rPr lang="en-US" dirty="0"/>
              <a:t>.</a:t>
            </a:r>
          </a:p>
          <a:p>
            <a:pPr lvl="1"/>
            <a:r>
              <a:rPr lang="en-US" dirty="0"/>
              <a:t>Choose an </a:t>
            </a:r>
            <a:r>
              <a:rPr lang="en-US" b="1" dirty="0"/>
              <a:t>Authentication Method</a:t>
            </a:r>
            <a:r>
              <a:rPr lang="en-US" dirty="0"/>
              <a:t>:</a:t>
            </a:r>
          </a:p>
          <a:p>
            <a:pPr lvl="2"/>
            <a:r>
              <a:rPr lang="en-US" b="1" dirty="0"/>
              <a:t>Jenkins' Own User Database</a:t>
            </a:r>
            <a:r>
              <a:rPr lang="en-US" dirty="0"/>
              <a:t>:</a:t>
            </a:r>
          </a:p>
          <a:p>
            <a:pPr lvl="3"/>
            <a:r>
              <a:rPr lang="en-US" dirty="0"/>
              <a:t>Default and simplest method.</a:t>
            </a:r>
          </a:p>
          <a:p>
            <a:pPr lvl="3"/>
            <a:r>
              <a:rPr lang="en-US" dirty="0"/>
              <a:t>Users are managed directly within Jenkins.</a:t>
            </a:r>
          </a:p>
          <a:p>
            <a:pPr lvl="2"/>
            <a:r>
              <a:rPr lang="en-US" b="1" dirty="0"/>
              <a:t>External Authentication</a:t>
            </a:r>
            <a:r>
              <a:rPr lang="en-US" dirty="0"/>
              <a:t>:</a:t>
            </a:r>
          </a:p>
          <a:p>
            <a:pPr lvl="3"/>
            <a:r>
              <a:rPr lang="en-US" dirty="0"/>
              <a:t>LDAP, Active Directory, or Single Sign-On systems.</a:t>
            </a:r>
          </a:p>
        </p:txBody>
      </p:sp>
      <p:sp>
        <p:nvSpPr>
          <p:cNvPr id="4" name="Footer Placeholder 3">
            <a:extLst>
              <a:ext uri="{FF2B5EF4-FFF2-40B4-BE49-F238E27FC236}">
                <a16:creationId xmlns:a16="http://schemas.microsoft.com/office/drawing/2014/main" id="{845B5B43-4ED7-CDEB-E7E4-DE5A1A97D714}"/>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13914222-BA88-A8FD-E65C-11CC38613478}"/>
              </a:ext>
            </a:extLst>
          </p:cNvPr>
          <p:cNvSpPr>
            <a:spLocks noGrp="1"/>
          </p:cNvSpPr>
          <p:nvPr>
            <p:ph type="sldNum" sz="quarter" idx="12"/>
          </p:nvPr>
        </p:nvSpPr>
        <p:spPr/>
        <p:txBody>
          <a:bodyPr/>
          <a:lstStyle/>
          <a:p>
            <a:fld id="{2D7BCAC6-6F2C-433A-BE87-D0A9451C8803}" type="slidenum">
              <a:rPr lang="en-US" smtClean="0"/>
              <a:pPr/>
              <a:t>47</a:t>
            </a:fld>
            <a:endParaRPr lang="en-US"/>
          </a:p>
        </p:txBody>
      </p:sp>
    </p:spTree>
    <p:extLst>
      <p:ext uri="{BB962C8B-B14F-4D97-AF65-F5344CB8AC3E}">
        <p14:creationId xmlns:p14="http://schemas.microsoft.com/office/powerpoint/2010/main" val="36639258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B70AB-3CC5-C077-9632-4780BD35E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01C368-7D8B-1706-E331-DEF3DE1E124B}"/>
              </a:ext>
            </a:extLst>
          </p:cNvPr>
          <p:cNvSpPr>
            <a:spLocks noGrp="1"/>
          </p:cNvSpPr>
          <p:nvPr>
            <p:ph type="title"/>
          </p:nvPr>
        </p:nvSpPr>
        <p:spPr/>
        <p:txBody>
          <a:bodyPr/>
          <a:lstStyle/>
          <a:p>
            <a:r>
              <a:rPr lang="en-US" dirty="0"/>
              <a:t>Steps for User Management in Jenkins</a:t>
            </a:r>
          </a:p>
        </p:txBody>
      </p:sp>
      <p:sp>
        <p:nvSpPr>
          <p:cNvPr id="3" name="Content Placeholder 2">
            <a:extLst>
              <a:ext uri="{FF2B5EF4-FFF2-40B4-BE49-F238E27FC236}">
                <a16:creationId xmlns:a16="http://schemas.microsoft.com/office/drawing/2014/main" id="{3DA0698C-46B2-6E6D-A961-3E081094ED96}"/>
              </a:ext>
            </a:extLst>
          </p:cNvPr>
          <p:cNvSpPr>
            <a:spLocks noGrp="1"/>
          </p:cNvSpPr>
          <p:nvPr>
            <p:ph idx="1"/>
          </p:nvPr>
        </p:nvSpPr>
        <p:spPr/>
        <p:txBody>
          <a:bodyPr>
            <a:normAutofit/>
          </a:bodyPr>
          <a:lstStyle/>
          <a:p>
            <a:pPr marL="457200" indent="-457200">
              <a:buFont typeface="+mj-lt"/>
              <a:buAutoNum type="arabicPeriod" startAt="2"/>
            </a:pPr>
            <a:r>
              <a:rPr lang="en-US" b="1" dirty="0"/>
              <a:t>Add Users</a:t>
            </a:r>
          </a:p>
          <a:p>
            <a:pPr lvl="1"/>
            <a:r>
              <a:rPr lang="en-US" dirty="0"/>
              <a:t>Go to </a:t>
            </a:r>
            <a:r>
              <a:rPr lang="en-US" i="1" dirty="0"/>
              <a:t>Manage Jenkins &gt; Users</a:t>
            </a:r>
            <a:r>
              <a:rPr lang="en-US" dirty="0"/>
              <a:t>.</a:t>
            </a:r>
          </a:p>
          <a:p>
            <a:pPr lvl="1"/>
            <a:r>
              <a:rPr lang="en-US" dirty="0"/>
              <a:t>Click </a:t>
            </a:r>
            <a:r>
              <a:rPr lang="en-US" i="1" dirty="0"/>
              <a:t>Create User </a:t>
            </a:r>
            <a:r>
              <a:rPr lang="en-US" dirty="0"/>
              <a:t>and fill in the details:</a:t>
            </a:r>
          </a:p>
          <a:p>
            <a:pPr lvl="2"/>
            <a:r>
              <a:rPr lang="en-US" dirty="0"/>
              <a:t>Username.</a:t>
            </a:r>
          </a:p>
          <a:p>
            <a:pPr lvl="2"/>
            <a:r>
              <a:rPr lang="en-US" dirty="0"/>
              <a:t>Password.</a:t>
            </a:r>
          </a:p>
          <a:p>
            <a:pPr lvl="2"/>
            <a:r>
              <a:rPr lang="en-US" dirty="0"/>
              <a:t>Full Name.</a:t>
            </a:r>
          </a:p>
          <a:p>
            <a:pPr lvl="2"/>
            <a:r>
              <a:rPr lang="en-US" dirty="0"/>
              <a:t>Email Address.</a:t>
            </a:r>
          </a:p>
          <a:p>
            <a:pPr lvl="1"/>
            <a:r>
              <a:rPr lang="en-US" dirty="0"/>
              <a:t>Save to create the user.</a:t>
            </a:r>
          </a:p>
        </p:txBody>
      </p:sp>
      <p:sp>
        <p:nvSpPr>
          <p:cNvPr id="4" name="Footer Placeholder 3">
            <a:extLst>
              <a:ext uri="{FF2B5EF4-FFF2-40B4-BE49-F238E27FC236}">
                <a16:creationId xmlns:a16="http://schemas.microsoft.com/office/drawing/2014/main" id="{8BEF07C5-DA01-473C-8B2A-E596036BF712}"/>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2EEDC47E-BCDD-C873-2DCF-103F68715FFD}"/>
              </a:ext>
            </a:extLst>
          </p:cNvPr>
          <p:cNvSpPr>
            <a:spLocks noGrp="1"/>
          </p:cNvSpPr>
          <p:nvPr>
            <p:ph type="sldNum" sz="quarter" idx="12"/>
          </p:nvPr>
        </p:nvSpPr>
        <p:spPr/>
        <p:txBody>
          <a:bodyPr/>
          <a:lstStyle/>
          <a:p>
            <a:fld id="{2D7BCAC6-6F2C-433A-BE87-D0A9451C8803}" type="slidenum">
              <a:rPr lang="en-US" smtClean="0"/>
              <a:pPr/>
              <a:t>48</a:t>
            </a:fld>
            <a:endParaRPr lang="en-US"/>
          </a:p>
        </p:txBody>
      </p:sp>
    </p:spTree>
    <p:extLst>
      <p:ext uri="{BB962C8B-B14F-4D97-AF65-F5344CB8AC3E}">
        <p14:creationId xmlns:p14="http://schemas.microsoft.com/office/powerpoint/2010/main" val="25165370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A0D84-53CD-FF77-0AD6-F42BC138C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B2C8D1-27E2-E761-C3DF-EAE7031FF51C}"/>
              </a:ext>
            </a:extLst>
          </p:cNvPr>
          <p:cNvSpPr>
            <a:spLocks noGrp="1"/>
          </p:cNvSpPr>
          <p:nvPr>
            <p:ph type="title"/>
          </p:nvPr>
        </p:nvSpPr>
        <p:spPr/>
        <p:txBody>
          <a:bodyPr/>
          <a:lstStyle/>
          <a:p>
            <a:r>
              <a:rPr lang="en-US" dirty="0"/>
              <a:t>Steps for User Management in Jenkins</a:t>
            </a:r>
          </a:p>
        </p:txBody>
      </p:sp>
      <p:sp>
        <p:nvSpPr>
          <p:cNvPr id="3" name="Content Placeholder 2">
            <a:extLst>
              <a:ext uri="{FF2B5EF4-FFF2-40B4-BE49-F238E27FC236}">
                <a16:creationId xmlns:a16="http://schemas.microsoft.com/office/drawing/2014/main" id="{878981C7-C333-20B2-C184-DA2B488C5958}"/>
              </a:ext>
            </a:extLst>
          </p:cNvPr>
          <p:cNvSpPr>
            <a:spLocks noGrp="1"/>
          </p:cNvSpPr>
          <p:nvPr>
            <p:ph idx="1"/>
          </p:nvPr>
        </p:nvSpPr>
        <p:spPr/>
        <p:txBody>
          <a:bodyPr>
            <a:normAutofit/>
          </a:bodyPr>
          <a:lstStyle/>
          <a:p>
            <a:pPr marL="457200" indent="-457200">
              <a:buFont typeface="+mj-lt"/>
              <a:buAutoNum type="arabicPeriod" startAt="3"/>
            </a:pPr>
            <a:r>
              <a:rPr lang="en-US" b="1" dirty="0"/>
              <a:t>Set Up Authorization Strategy</a:t>
            </a:r>
          </a:p>
          <a:p>
            <a:pPr lvl="1"/>
            <a:r>
              <a:rPr lang="en-US" dirty="0"/>
              <a:t>Navigate to </a:t>
            </a:r>
            <a:r>
              <a:rPr lang="en-US" i="1" dirty="0"/>
              <a:t>Manage Jenkins &gt; Security</a:t>
            </a:r>
            <a:r>
              <a:rPr lang="en-US" dirty="0"/>
              <a:t>.</a:t>
            </a:r>
          </a:p>
          <a:p>
            <a:pPr lvl="1"/>
            <a:r>
              <a:rPr lang="en-US" dirty="0"/>
              <a:t>Choose an </a:t>
            </a:r>
            <a:r>
              <a:rPr lang="en-US" b="1" dirty="0"/>
              <a:t>Authorization Strategy</a:t>
            </a:r>
            <a:r>
              <a:rPr lang="en-US" dirty="0"/>
              <a:t>:</a:t>
            </a:r>
          </a:p>
          <a:p>
            <a:pPr lvl="2"/>
            <a:r>
              <a:rPr lang="en-US" b="1" dirty="0"/>
              <a:t>Matrix-Based Security</a:t>
            </a:r>
            <a:r>
              <a:rPr lang="en-US" dirty="0"/>
              <a:t>:</a:t>
            </a:r>
          </a:p>
          <a:p>
            <a:pPr lvl="3"/>
            <a:r>
              <a:rPr lang="en-US" dirty="0"/>
              <a:t>Fine-grained control by assigning specific permissions to users or groups.</a:t>
            </a:r>
          </a:p>
          <a:p>
            <a:pPr lvl="3"/>
            <a:r>
              <a:rPr lang="en-US" dirty="0"/>
              <a:t>Permissions include read, write, build, admin, etc.</a:t>
            </a:r>
          </a:p>
          <a:p>
            <a:pPr lvl="2"/>
            <a:r>
              <a:rPr lang="en-US" b="1" dirty="0"/>
              <a:t>Role-Based Strategy</a:t>
            </a:r>
            <a:r>
              <a:rPr lang="en-US" dirty="0"/>
              <a:t>:</a:t>
            </a:r>
          </a:p>
          <a:p>
            <a:pPr lvl="3"/>
            <a:r>
              <a:rPr lang="en-US" dirty="0"/>
              <a:t>Define roles with specific permissions and assign them to users.</a:t>
            </a:r>
          </a:p>
          <a:p>
            <a:pPr lvl="3"/>
            <a:r>
              <a:rPr lang="en-US" dirty="0"/>
              <a:t>Requires the Role-Based Authorization Strategy plugin.</a:t>
            </a:r>
          </a:p>
        </p:txBody>
      </p:sp>
      <p:sp>
        <p:nvSpPr>
          <p:cNvPr id="4" name="Footer Placeholder 3">
            <a:extLst>
              <a:ext uri="{FF2B5EF4-FFF2-40B4-BE49-F238E27FC236}">
                <a16:creationId xmlns:a16="http://schemas.microsoft.com/office/drawing/2014/main" id="{69CC6DDA-060E-3864-F373-913FCBA98D1F}"/>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532888CB-25BD-95A9-BC2B-9D998E794658}"/>
              </a:ext>
            </a:extLst>
          </p:cNvPr>
          <p:cNvSpPr>
            <a:spLocks noGrp="1"/>
          </p:cNvSpPr>
          <p:nvPr>
            <p:ph type="sldNum" sz="quarter" idx="12"/>
          </p:nvPr>
        </p:nvSpPr>
        <p:spPr/>
        <p:txBody>
          <a:bodyPr/>
          <a:lstStyle/>
          <a:p>
            <a:fld id="{2D7BCAC6-6F2C-433A-BE87-D0A9451C8803}" type="slidenum">
              <a:rPr lang="en-US" smtClean="0"/>
              <a:pPr/>
              <a:t>49</a:t>
            </a:fld>
            <a:endParaRPr lang="en-US"/>
          </a:p>
        </p:txBody>
      </p:sp>
    </p:spTree>
    <p:extLst>
      <p:ext uri="{BB962C8B-B14F-4D97-AF65-F5344CB8AC3E}">
        <p14:creationId xmlns:p14="http://schemas.microsoft.com/office/powerpoint/2010/main" val="41200488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2DA77-EF40-407C-7CE8-C6EF3947B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A7F70-3FA3-3CE7-A21F-4E35ED6ED90E}"/>
              </a:ext>
            </a:extLst>
          </p:cNvPr>
          <p:cNvSpPr>
            <a:spLocks noGrp="1"/>
          </p:cNvSpPr>
          <p:nvPr>
            <p:ph type="title"/>
          </p:nvPr>
        </p:nvSpPr>
        <p:spPr/>
        <p:txBody>
          <a:bodyPr/>
          <a:lstStyle/>
          <a:p>
            <a:r>
              <a:rPr lang="en-US" dirty="0"/>
              <a:t>Steps for User Management in Jenkins</a:t>
            </a:r>
          </a:p>
        </p:txBody>
      </p:sp>
      <p:sp>
        <p:nvSpPr>
          <p:cNvPr id="3" name="Content Placeholder 2">
            <a:extLst>
              <a:ext uri="{FF2B5EF4-FFF2-40B4-BE49-F238E27FC236}">
                <a16:creationId xmlns:a16="http://schemas.microsoft.com/office/drawing/2014/main" id="{0F871627-C81E-5438-993D-1916D698BD6B}"/>
              </a:ext>
            </a:extLst>
          </p:cNvPr>
          <p:cNvSpPr>
            <a:spLocks noGrp="1"/>
          </p:cNvSpPr>
          <p:nvPr>
            <p:ph idx="1"/>
          </p:nvPr>
        </p:nvSpPr>
        <p:spPr/>
        <p:txBody>
          <a:bodyPr>
            <a:normAutofit/>
          </a:bodyPr>
          <a:lstStyle/>
          <a:p>
            <a:pPr marL="457200" indent="-457200">
              <a:buFont typeface="+mj-lt"/>
              <a:buAutoNum type="arabicPeriod" startAt="3"/>
            </a:pPr>
            <a:r>
              <a:rPr lang="en-US" b="1" dirty="0"/>
              <a:t>Set Up Authorization Strategy</a:t>
            </a:r>
          </a:p>
          <a:p>
            <a:pPr lvl="1"/>
            <a:r>
              <a:rPr lang="en-US" dirty="0"/>
              <a:t>Navigate to </a:t>
            </a:r>
            <a:r>
              <a:rPr lang="en-US" i="1" dirty="0"/>
              <a:t>Manage Jenkins &gt; Security</a:t>
            </a:r>
            <a:r>
              <a:rPr lang="en-US" dirty="0"/>
              <a:t>.</a:t>
            </a:r>
          </a:p>
          <a:p>
            <a:pPr lvl="1"/>
            <a:r>
              <a:rPr lang="en-US" dirty="0"/>
              <a:t>Choose an </a:t>
            </a:r>
            <a:r>
              <a:rPr lang="en-US" b="1" dirty="0"/>
              <a:t>Authorization Strategy</a:t>
            </a:r>
            <a:r>
              <a:rPr lang="en-US" dirty="0"/>
              <a:t>:</a:t>
            </a:r>
          </a:p>
          <a:p>
            <a:pPr lvl="2"/>
            <a:r>
              <a:rPr lang="en-US" b="1" dirty="0"/>
              <a:t>Project-Based Authorization</a:t>
            </a:r>
            <a:r>
              <a:rPr lang="en-US" dirty="0"/>
              <a:t>:</a:t>
            </a:r>
          </a:p>
          <a:p>
            <a:pPr lvl="3"/>
            <a:r>
              <a:rPr lang="en-US" dirty="0"/>
              <a:t>Define access control at the project level.</a:t>
            </a:r>
          </a:p>
          <a:p>
            <a:pPr lvl="2"/>
            <a:r>
              <a:rPr lang="en-US" b="1" dirty="0"/>
              <a:t>Full Access</a:t>
            </a:r>
            <a:r>
              <a:rPr lang="en-US" dirty="0"/>
              <a:t> or </a:t>
            </a:r>
            <a:r>
              <a:rPr lang="en-US" b="1" dirty="0"/>
              <a:t>Logged-In Users</a:t>
            </a:r>
            <a:r>
              <a:rPr lang="en-US" dirty="0"/>
              <a:t>:</a:t>
            </a:r>
          </a:p>
          <a:p>
            <a:pPr lvl="3"/>
            <a:r>
              <a:rPr lang="en-US" dirty="0"/>
              <a:t>Grants all users the same access level.</a:t>
            </a:r>
          </a:p>
          <a:p>
            <a:pPr lvl="2"/>
            <a:endParaRPr lang="en-US" dirty="0"/>
          </a:p>
        </p:txBody>
      </p:sp>
      <p:sp>
        <p:nvSpPr>
          <p:cNvPr id="4" name="Footer Placeholder 3">
            <a:extLst>
              <a:ext uri="{FF2B5EF4-FFF2-40B4-BE49-F238E27FC236}">
                <a16:creationId xmlns:a16="http://schemas.microsoft.com/office/drawing/2014/main" id="{EFA45F4A-1AFA-9BEE-5EF9-4B80CB091A44}"/>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AE2DF942-D8F2-732C-EE52-A779B65755EF}"/>
              </a:ext>
            </a:extLst>
          </p:cNvPr>
          <p:cNvSpPr>
            <a:spLocks noGrp="1"/>
          </p:cNvSpPr>
          <p:nvPr>
            <p:ph type="sldNum" sz="quarter" idx="12"/>
          </p:nvPr>
        </p:nvSpPr>
        <p:spPr/>
        <p:txBody>
          <a:bodyPr/>
          <a:lstStyle/>
          <a:p>
            <a:fld id="{2D7BCAC6-6F2C-433A-BE87-D0A9451C8803}" type="slidenum">
              <a:rPr lang="en-US" smtClean="0"/>
              <a:pPr/>
              <a:t>50</a:t>
            </a:fld>
            <a:endParaRPr lang="en-US"/>
          </a:p>
        </p:txBody>
      </p:sp>
    </p:spTree>
    <p:extLst>
      <p:ext uri="{BB962C8B-B14F-4D97-AF65-F5344CB8AC3E}">
        <p14:creationId xmlns:p14="http://schemas.microsoft.com/office/powerpoint/2010/main" val="31660383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13718-9100-FE25-77FD-603394DF9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9EAED-273F-8CEB-407B-16DE7A9C2EAA}"/>
              </a:ext>
            </a:extLst>
          </p:cNvPr>
          <p:cNvSpPr>
            <a:spLocks noGrp="1"/>
          </p:cNvSpPr>
          <p:nvPr>
            <p:ph type="title"/>
          </p:nvPr>
        </p:nvSpPr>
        <p:spPr/>
        <p:txBody>
          <a:bodyPr/>
          <a:lstStyle/>
          <a:p>
            <a:r>
              <a:rPr lang="en-US" dirty="0"/>
              <a:t>Steps for User Management in Jenkins</a:t>
            </a:r>
          </a:p>
        </p:txBody>
      </p:sp>
      <p:sp>
        <p:nvSpPr>
          <p:cNvPr id="3" name="Content Placeholder 2">
            <a:extLst>
              <a:ext uri="{FF2B5EF4-FFF2-40B4-BE49-F238E27FC236}">
                <a16:creationId xmlns:a16="http://schemas.microsoft.com/office/drawing/2014/main" id="{C568F67A-568A-D79C-4A6C-507D6FBF7439}"/>
              </a:ext>
            </a:extLst>
          </p:cNvPr>
          <p:cNvSpPr>
            <a:spLocks noGrp="1"/>
          </p:cNvSpPr>
          <p:nvPr>
            <p:ph idx="1"/>
          </p:nvPr>
        </p:nvSpPr>
        <p:spPr/>
        <p:txBody>
          <a:bodyPr>
            <a:normAutofit/>
          </a:bodyPr>
          <a:lstStyle/>
          <a:p>
            <a:pPr marL="457200" indent="-457200">
              <a:buFont typeface="+mj-lt"/>
              <a:buAutoNum type="arabicPeriod" startAt="4"/>
            </a:pPr>
            <a:r>
              <a:rPr lang="en-US" b="1" dirty="0"/>
              <a:t>Assign Permissions</a:t>
            </a:r>
          </a:p>
          <a:p>
            <a:pPr lvl="1"/>
            <a:r>
              <a:rPr lang="en-US" dirty="0"/>
              <a:t>Based on the chosen strategy, assign permissions:</a:t>
            </a:r>
          </a:p>
          <a:p>
            <a:pPr lvl="2"/>
            <a:r>
              <a:rPr lang="en-US" b="1" dirty="0"/>
              <a:t>Matrix-Based Security</a:t>
            </a:r>
            <a:r>
              <a:rPr lang="en-US" dirty="0"/>
              <a:t>:</a:t>
            </a:r>
          </a:p>
          <a:p>
            <a:pPr lvl="3"/>
            <a:r>
              <a:rPr lang="en-US" dirty="0"/>
              <a:t>Use the matrix to check/uncheck permissions for users or groups.</a:t>
            </a:r>
          </a:p>
          <a:p>
            <a:pPr lvl="2"/>
            <a:r>
              <a:rPr lang="en-US" b="1" dirty="0"/>
              <a:t>Role-Based Strategy</a:t>
            </a:r>
            <a:r>
              <a:rPr lang="en-US" dirty="0"/>
              <a:t>:</a:t>
            </a:r>
          </a:p>
          <a:p>
            <a:pPr lvl="3"/>
            <a:r>
              <a:rPr lang="en-US" dirty="0"/>
              <a:t>Define roles (e.g., Admin, Developer, Viewer) and their permissions.</a:t>
            </a:r>
          </a:p>
          <a:p>
            <a:pPr lvl="3"/>
            <a:r>
              <a:rPr lang="en-US" dirty="0"/>
              <a:t>Assign roles to users globally or for specific projects.</a:t>
            </a:r>
          </a:p>
        </p:txBody>
      </p:sp>
      <p:sp>
        <p:nvSpPr>
          <p:cNvPr id="4" name="Footer Placeholder 3">
            <a:extLst>
              <a:ext uri="{FF2B5EF4-FFF2-40B4-BE49-F238E27FC236}">
                <a16:creationId xmlns:a16="http://schemas.microsoft.com/office/drawing/2014/main" id="{2807884F-150D-3961-60EE-E8F2CC556A32}"/>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686E0EE7-0E6C-64F1-25E8-5248E7007061}"/>
              </a:ext>
            </a:extLst>
          </p:cNvPr>
          <p:cNvSpPr>
            <a:spLocks noGrp="1"/>
          </p:cNvSpPr>
          <p:nvPr>
            <p:ph type="sldNum" sz="quarter" idx="12"/>
          </p:nvPr>
        </p:nvSpPr>
        <p:spPr/>
        <p:txBody>
          <a:bodyPr/>
          <a:lstStyle/>
          <a:p>
            <a:fld id="{2D7BCAC6-6F2C-433A-BE87-D0A9451C8803}" type="slidenum">
              <a:rPr lang="en-US" smtClean="0"/>
              <a:pPr/>
              <a:t>51</a:t>
            </a:fld>
            <a:endParaRPr lang="en-US"/>
          </a:p>
        </p:txBody>
      </p:sp>
    </p:spTree>
    <p:extLst>
      <p:ext uri="{BB962C8B-B14F-4D97-AF65-F5344CB8AC3E}">
        <p14:creationId xmlns:p14="http://schemas.microsoft.com/office/powerpoint/2010/main" val="33048920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8AC3F-F56E-7DDE-161B-97B950245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206E4-74E0-534D-4792-D71438D7530D}"/>
              </a:ext>
            </a:extLst>
          </p:cNvPr>
          <p:cNvSpPr>
            <a:spLocks noGrp="1"/>
          </p:cNvSpPr>
          <p:nvPr>
            <p:ph type="title"/>
          </p:nvPr>
        </p:nvSpPr>
        <p:spPr/>
        <p:txBody>
          <a:bodyPr/>
          <a:lstStyle/>
          <a:p>
            <a:r>
              <a:rPr lang="en-US" dirty="0"/>
              <a:t>Steps for User Management in Jenkins</a:t>
            </a:r>
          </a:p>
        </p:txBody>
      </p:sp>
      <p:sp>
        <p:nvSpPr>
          <p:cNvPr id="3" name="Content Placeholder 2">
            <a:extLst>
              <a:ext uri="{FF2B5EF4-FFF2-40B4-BE49-F238E27FC236}">
                <a16:creationId xmlns:a16="http://schemas.microsoft.com/office/drawing/2014/main" id="{3EBF4806-8608-BF07-CC45-AA23615E5A8F}"/>
              </a:ext>
            </a:extLst>
          </p:cNvPr>
          <p:cNvSpPr>
            <a:spLocks noGrp="1"/>
          </p:cNvSpPr>
          <p:nvPr>
            <p:ph idx="1"/>
          </p:nvPr>
        </p:nvSpPr>
        <p:spPr/>
        <p:txBody>
          <a:bodyPr>
            <a:normAutofit/>
          </a:bodyPr>
          <a:lstStyle/>
          <a:p>
            <a:pPr marL="457200" indent="-457200">
              <a:buFont typeface="+mj-lt"/>
              <a:buAutoNum type="arabicPeriod" startAt="5"/>
            </a:pPr>
            <a:r>
              <a:rPr lang="en-US" b="1" dirty="0"/>
              <a:t>Manage API Tokens</a:t>
            </a:r>
          </a:p>
          <a:p>
            <a:pPr lvl="1"/>
            <a:r>
              <a:rPr lang="en-US" dirty="0"/>
              <a:t>API tokens allow programmatic access to Jenkins.</a:t>
            </a:r>
          </a:p>
          <a:p>
            <a:pPr lvl="1"/>
            <a:r>
              <a:rPr lang="en-US" dirty="0"/>
              <a:t>Generate tokens for each user by going to </a:t>
            </a:r>
            <a:r>
              <a:rPr lang="en-US" i="1" dirty="0"/>
              <a:t>Manage Jenkins &gt; Users &gt; Select User &gt; Security &gt; API Token</a:t>
            </a:r>
            <a:r>
              <a:rPr lang="en-US" dirty="0"/>
              <a:t>.</a:t>
            </a:r>
          </a:p>
        </p:txBody>
      </p:sp>
      <p:sp>
        <p:nvSpPr>
          <p:cNvPr id="4" name="Footer Placeholder 3">
            <a:extLst>
              <a:ext uri="{FF2B5EF4-FFF2-40B4-BE49-F238E27FC236}">
                <a16:creationId xmlns:a16="http://schemas.microsoft.com/office/drawing/2014/main" id="{4DB828BE-0F51-B449-DC21-DBB2A06EF339}"/>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E9FB22BC-3618-68FA-D596-8381EA2DD309}"/>
              </a:ext>
            </a:extLst>
          </p:cNvPr>
          <p:cNvSpPr>
            <a:spLocks noGrp="1"/>
          </p:cNvSpPr>
          <p:nvPr>
            <p:ph type="sldNum" sz="quarter" idx="12"/>
          </p:nvPr>
        </p:nvSpPr>
        <p:spPr/>
        <p:txBody>
          <a:bodyPr/>
          <a:lstStyle/>
          <a:p>
            <a:fld id="{2D7BCAC6-6F2C-433A-BE87-D0A9451C8803}" type="slidenum">
              <a:rPr lang="en-US" smtClean="0"/>
              <a:pPr/>
              <a:t>52</a:t>
            </a:fld>
            <a:endParaRPr lang="en-US"/>
          </a:p>
        </p:txBody>
      </p:sp>
    </p:spTree>
    <p:extLst>
      <p:ext uri="{BB962C8B-B14F-4D97-AF65-F5344CB8AC3E}">
        <p14:creationId xmlns:p14="http://schemas.microsoft.com/office/powerpoint/2010/main" val="6831550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6F308-438D-E1FE-0839-CDAC683FD4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AF6437-0170-832A-F8E7-D96AF67A941F}"/>
              </a:ext>
            </a:extLst>
          </p:cNvPr>
          <p:cNvSpPr>
            <a:spLocks noGrp="1"/>
          </p:cNvSpPr>
          <p:nvPr>
            <p:ph type="title"/>
          </p:nvPr>
        </p:nvSpPr>
        <p:spPr/>
        <p:txBody>
          <a:bodyPr/>
          <a:lstStyle/>
          <a:p>
            <a:r>
              <a:rPr lang="en-US" dirty="0"/>
              <a:t>Role Based Authorization Strategy</a:t>
            </a:r>
          </a:p>
        </p:txBody>
      </p:sp>
      <p:sp>
        <p:nvSpPr>
          <p:cNvPr id="3" name="Content Placeholder 2">
            <a:extLst>
              <a:ext uri="{FF2B5EF4-FFF2-40B4-BE49-F238E27FC236}">
                <a16:creationId xmlns:a16="http://schemas.microsoft.com/office/drawing/2014/main" id="{C30CD7D5-8BCB-167D-3256-D9BAC1C9C40B}"/>
              </a:ext>
            </a:extLst>
          </p:cNvPr>
          <p:cNvSpPr>
            <a:spLocks noGrp="1"/>
          </p:cNvSpPr>
          <p:nvPr>
            <p:ph idx="1"/>
          </p:nvPr>
        </p:nvSpPr>
        <p:spPr/>
        <p:txBody>
          <a:bodyPr>
            <a:normAutofit lnSpcReduction="10000"/>
          </a:bodyPr>
          <a:lstStyle/>
          <a:p>
            <a:pPr marL="457200" indent="-457200">
              <a:buFont typeface="+mj-lt"/>
              <a:buAutoNum type="arabicPeriod"/>
            </a:pPr>
            <a:r>
              <a:rPr lang="en-US" b="1" dirty="0"/>
              <a:t>Install the Plugin:</a:t>
            </a:r>
          </a:p>
          <a:p>
            <a:pPr lvl="1"/>
            <a:r>
              <a:rPr lang="en-US" dirty="0"/>
              <a:t>Go to </a:t>
            </a:r>
            <a:r>
              <a:rPr lang="en-US" i="1" dirty="0"/>
              <a:t>Manage Jenkins &gt; Plugins &gt; Available Plugins</a:t>
            </a:r>
            <a:r>
              <a:rPr lang="en-US" dirty="0"/>
              <a:t>.</a:t>
            </a:r>
          </a:p>
          <a:p>
            <a:pPr lvl="1"/>
            <a:r>
              <a:rPr lang="en-US" dirty="0"/>
              <a:t>Search for and install the </a:t>
            </a:r>
            <a:r>
              <a:rPr lang="en-US" b="1" i="1" dirty="0"/>
              <a:t>Role-Based Authorization Strategy </a:t>
            </a:r>
            <a:r>
              <a:rPr lang="en-US" dirty="0"/>
              <a:t>plugin.</a:t>
            </a:r>
          </a:p>
          <a:p>
            <a:pPr marL="457200" indent="-457200">
              <a:buFont typeface="+mj-lt"/>
              <a:buAutoNum type="arabicPeriod"/>
            </a:pPr>
            <a:r>
              <a:rPr lang="en-US" b="1" dirty="0"/>
              <a:t>Configure Roles:</a:t>
            </a:r>
          </a:p>
          <a:p>
            <a:pPr lvl="1"/>
            <a:r>
              <a:rPr lang="en-US" dirty="0"/>
              <a:t>Go to </a:t>
            </a:r>
            <a:r>
              <a:rPr lang="en-US" i="1" dirty="0"/>
              <a:t>Manage Jenkins &gt; Manage and Assign Roles</a:t>
            </a:r>
            <a:r>
              <a:rPr lang="en-US" dirty="0"/>
              <a:t>.</a:t>
            </a:r>
          </a:p>
          <a:p>
            <a:pPr lvl="1"/>
            <a:r>
              <a:rPr lang="en-US" dirty="0"/>
              <a:t>Define roles like (</a:t>
            </a:r>
            <a:r>
              <a:rPr lang="en-US" b="1" dirty="0"/>
              <a:t>Admin</a:t>
            </a:r>
            <a:r>
              <a:rPr lang="en-US" dirty="0"/>
              <a:t>: Full access). (</a:t>
            </a:r>
            <a:r>
              <a:rPr lang="en-US" b="1" dirty="0"/>
              <a:t>Developer</a:t>
            </a:r>
            <a:r>
              <a:rPr lang="en-US" dirty="0"/>
              <a:t>: Can view, build, and modify jobs). (</a:t>
            </a:r>
            <a:r>
              <a:rPr lang="en-US" b="1" dirty="0"/>
              <a:t>Viewer</a:t>
            </a:r>
            <a:r>
              <a:rPr lang="en-US" dirty="0"/>
              <a:t>: Read-only access).</a:t>
            </a:r>
          </a:p>
          <a:p>
            <a:pPr marL="457200" indent="-457200">
              <a:buFont typeface="+mj-lt"/>
              <a:buAutoNum type="arabicPeriod"/>
            </a:pPr>
            <a:r>
              <a:rPr lang="en-US" b="1" dirty="0"/>
              <a:t>Assign Roles to Users:</a:t>
            </a:r>
          </a:p>
          <a:p>
            <a:pPr lvl="1"/>
            <a:r>
              <a:rPr lang="en-US" dirty="0"/>
              <a:t>Assign roles globally or on specific projects.</a:t>
            </a:r>
          </a:p>
        </p:txBody>
      </p:sp>
      <p:sp>
        <p:nvSpPr>
          <p:cNvPr id="4" name="Footer Placeholder 3">
            <a:extLst>
              <a:ext uri="{FF2B5EF4-FFF2-40B4-BE49-F238E27FC236}">
                <a16:creationId xmlns:a16="http://schemas.microsoft.com/office/drawing/2014/main" id="{5A442B6F-61E7-9211-250D-62F1F0498012}"/>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6D4F2C96-93DF-E79E-C278-2CF48E41B47D}"/>
              </a:ext>
            </a:extLst>
          </p:cNvPr>
          <p:cNvSpPr>
            <a:spLocks noGrp="1"/>
          </p:cNvSpPr>
          <p:nvPr>
            <p:ph type="sldNum" sz="quarter" idx="12"/>
          </p:nvPr>
        </p:nvSpPr>
        <p:spPr/>
        <p:txBody>
          <a:bodyPr/>
          <a:lstStyle/>
          <a:p>
            <a:fld id="{2D7BCAC6-6F2C-433A-BE87-D0A9451C8803}" type="slidenum">
              <a:rPr lang="en-US" smtClean="0"/>
              <a:pPr/>
              <a:t>53</a:t>
            </a:fld>
            <a:endParaRPr lang="en-US"/>
          </a:p>
        </p:txBody>
      </p:sp>
    </p:spTree>
    <p:extLst>
      <p:ext uri="{BB962C8B-B14F-4D97-AF65-F5344CB8AC3E}">
        <p14:creationId xmlns:p14="http://schemas.microsoft.com/office/powerpoint/2010/main" val="15120971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DB1B8-562A-0F76-0E87-493A7004B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DB6CA-1F73-35CC-D4AE-25D5F0278F27}"/>
              </a:ext>
            </a:extLst>
          </p:cNvPr>
          <p:cNvSpPr>
            <a:spLocks noGrp="1"/>
          </p:cNvSpPr>
          <p:nvPr>
            <p:ph type="title"/>
          </p:nvPr>
        </p:nvSpPr>
        <p:spPr/>
        <p:txBody>
          <a:bodyPr/>
          <a:lstStyle/>
          <a:p>
            <a:r>
              <a:rPr lang="en-US" dirty="0"/>
              <a:t>Best Practices for User Management</a:t>
            </a:r>
          </a:p>
        </p:txBody>
      </p:sp>
      <p:sp>
        <p:nvSpPr>
          <p:cNvPr id="3" name="Content Placeholder 2">
            <a:extLst>
              <a:ext uri="{FF2B5EF4-FFF2-40B4-BE49-F238E27FC236}">
                <a16:creationId xmlns:a16="http://schemas.microsoft.com/office/drawing/2014/main" id="{3D276800-56B0-2A3E-DC13-F58175BF8EFF}"/>
              </a:ext>
            </a:extLst>
          </p:cNvPr>
          <p:cNvSpPr>
            <a:spLocks noGrp="1"/>
          </p:cNvSpPr>
          <p:nvPr>
            <p:ph idx="1"/>
          </p:nvPr>
        </p:nvSpPr>
        <p:spPr/>
        <p:txBody>
          <a:bodyPr>
            <a:normAutofit/>
          </a:bodyPr>
          <a:lstStyle/>
          <a:p>
            <a:r>
              <a:rPr lang="en-US" dirty="0"/>
              <a:t>Grant users only the permissions they need for their tasks.</a:t>
            </a:r>
          </a:p>
          <a:p>
            <a:r>
              <a:rPr lang="en-US" dirty="0"/>
              <a:t>Manage permissions through groups instead of individual users for easier administration.</a:t>
            </a:r>
          </a:p>
          <a:p>
            <a:r>
              <a:rPr lang="en-US" dirty="0"/>
              <a:t>Regularly review access logs to ensure no unauthorized activities.</a:t>
            </a:r>
          </a:p>
          <a:p>
            <a:r>
              <a:rPr lang="en-US" dirty="0"/>
              <a:t>Use LDAP or Active Directory for larger teams to centralize authentication.</a:t>
            </a:r>
          </a:p>
          <a:p>
            <a:r>
              <a:rPr lang="en-US" dirty="0"/>
              <a:t>Use tokens instead of passwords for API-based interactions.</a:t>
            </a:r>
          </a:p>
          <a:p>
            <a:r>
              <a:rPr lang="en-US" dirty="0"/>
              <a:t>Keep Jenkins and plugins updated to address security vulnerabilities.</a:t>
            </a:r>
          </a:p>
        </p:txBody>
      </p:sp>
      <p:sp>
        <p:nvSpPr>
          <p:cNvPr id="4" name="Footer Placeholder 3">
            <a:extLst>
              <a:ext uri="{FF2B5EF4-FFF2-40B4-BE49-F238E27FC236}">
                <a16:creationId xmlns:a16="http://schemas.microsoft.com/office/drawing/2014/main" id="{1E3F463E-67A0-E7A4-CC97-C278BDFBA20C}"/>
              </a:ext>
            </a:extLst>
          </p:cNvPr>
          <p:cNvSpPr>
            <a:spLocks noGrp="1"/>
          </p:cNvSpPr>
          <p:nvPr>
            <p:ph type="ftr" sz="quarter" idx="11"/>
          </p:nvPr>
        </p:nvSpPr>
        <p:spPr/>
        <p:txBody>
          <a:bodyPr/>
          <a:lstStyle/>
          <a:p>
            <a:r>
              <a:rPr lang="en-US"/>
              <a:t>Jenkins | Lecture 10</a:t>
            </a:r>
            <a:endParaRPr lang="en-US" dirty="0"/>
          </a:p>
        </p:txBody>
      </p:sp>
      <p:sp>
        <p:nvSpPr>
          <p:cNvPr id="5" name="Slide Number Placeholder 4">
            <a:extLst>
              <a:ext uri="{FF2B5EF4-FFF2-40B4-BE49-F238E27FC236}">
                <a16:creationId xmlns:a16="http://schemas.microsoft.com/office/drawing/2014/main" id="{66276909-1945-3A9D-F43B-EFD36725D6AE}"/>
              </a:ext>
            </a:extLst>
          </p:cNvPr>
          <p:cNvSpPr>
            <a:spLocks noGrp="1"/>
          </p:cNvSpPr>
          <p:nvPr>
            <p:ph type="sldNum" sz="quarter" idx="12"/>
          </p:nvPr>
        </p:nvSpPr>
        <p:spPr/>
        <p:txBody>
          <a:bodyPr/>
          <a:lstStyle/>
          <a:p>
            <a:fld id="{2D7BCAC6-6F2C-433A-BE87-D0A9451C8803}" type="slidenum">
              <a:rPr lang="en-US" smtClean="0"/>
              <a:pPr/>
              <a:t>54</a:t>
            </a:fld>
            <a:endParaRPr lang="en-US"/>
          </a:p>
        </p:txBody>
      </p:sp>
    </p:spTree>
    <p:extLst>
      <p:ext uri="{BB962C8B-B14F-4D97-AF65-F5344CB8AC3E}">
        <p14:creationId xmlns:p14="http://schemas.microsoft.com/office/powerpoint/2010/main" val="1434258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33E0869-A220-07A1-DD99-6DF41BE502B3}"/>
              </a:ext>
            </a:extLst>
          </p:cNvPr>
          <p:cNvSpPr>
            <a:spLocks noGrp="1"/>
          </p:cNvSpPr>
          <p:nvPr>
            <p:ph type="ftr" sz="quarter" idx="15"/>
          </p:nvPr>
        </p:nvSpPr>
        <p:spPr/>
        <p:txBody>
          <a:bodyPr/>
          <a:lstStyle/>
          <a:p>
            <a:r>
              <a:rPr lang="en-US"/>
              <a:t>Jenkins | Lecture 10</a:t>
            </a:r>
          </a:p>
        </p:txBody>
      </p:sp>
      <p:sp>
        <p:nvSpPr>
          <p:cNvPr id="3" name="Slide Number Placeholder 2">
            <a:extLst>
              <a:ext uri="{FF2B5EF4-FFF2-40B4-BE49-F238E27FC236}">
                <a16:creationId xmlns:a16="http://schemas.microsoft.com/office/drawing/2014/main" id="{91E93EF0-C6A1-D794-6D90-9A4B4EF8B6F2}"/>
              </a:ext>
            </a:extLst>
          </p:cNvPr>
          <p:cNvSpPr>
            <a:spLocks noGrp="1"/>
          </p:cNvSpPr>
          <p:nvPr>
            <p:ph type="sldNum" sz="quarter" idx="16"/>
          </p:nvPr>
        </p:nvSpPr>
        <p:spPr/>
        <p:txBody>
          <a:bodyPr/>
          <a:lstStyle/>
          <a:p>
            <a:fld id="{2D7BCAC6-6F2C-433A-BE87-D0A9451C8803}" type="slidenum">
              <a:rPr lang="en-US" smtClean="0"/>
              <a:pPr/>
              <a:t>55</a:t>
            </a:fld>
            <a:endParaRPr lang="en-US" dirty="0"/>
          </a:p>
        </p:txBody>
      </p:sp>
      <p:sp>
        <p:nvSpPr>
          <p:cNvPr id="7" name="Title 6">
            <a:extLst>
              <a:ext uri="{FF2B5EF4-FFF2-40B4-BE49-F238E27FC236}">
                <a16:creationId xmlns:a16="http://schemas.microsoft.com/office/drawing/2014/main" id="{167A19DD-42F6-B2F5-0131-413CAEF17138}"/>
              </a:ext>
            </a:extLst>
          </p:cNvPr>
          <p:cNvSpPr>
            <a:spLocks noGrp="1"/>
          </p:cNvSpPr>
          <p:nvPr>
            <p:ph type="title"/>
          </p:nvPr>
        </p:nvSpPr>
        <p:spPr/>
        <p:txBody>
          <a:bodyPr/>
          <a:lstStyle/>
          <a:p>
            <a:r>
              <a:rPr lang="en-US" dirty="0"/>
              <a:t>End of</a:t>
            </a:r>
            <a:br>
              <a:rPr lang="en-US" dirty="0"/>
            </a:br>
            <a:r>
              <a:rPr lang="en-US" dirty="0"/>
              <a:t>Lecture 10</a:t>
            </a:r>
          </a:p>
        </p:txBody>
      </p:sp>
    </p:spTree>
    <p:extLst>
      <p:ext uri="{BB962C8B-B14F-4D97-AF65-F5344CB8AC3E}">
        <p14:creationId xmlns:p14="http://schemas.microsoft.com/office/powerpoint/2010/main" val="6631980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3FA128-C4D8-E305-85C9-B03DF203115F}"/>
              </a:ext>
            </a:extLst>
          </p:cNvPr>
          <p:cNvSpPr>
            <a:spLocks noGrp="1"/>
          </p:cNvSpPr>
          <p:nvPr>
            <p:ph type="body" idx="1"/>
          </p:nvPr>
        </p:nvSpPr>
        <p:spPr/>
        <p:txBody>
          <a:bodyPr/>
          <a:lstStyle/>
          <a:p>
            <a:r>
              <a:rPr lang="en-US"/>
              <a:t>Jenkins Workshop</a:t>
            </a:r>
            <a:endParaRPr lang="en-US" dirty="0"/>
          </a:p>
        </p:txBody>
      </p:sp>
      <p:sp>
        <p:nvSpPr>
          <p:cNvPr id="3" name="Footer Placeholder 2">
            <a:extLst>
              <a:ext uri="{FF2B5EF4-FFF2-40B4-BE49-F238E27FC236}">
                <a16:creationId xmlns:a16="http://schemas.microsoft.com/office/drawing/2014/main" id="{9AB0B853-FF2A-5B00-B111-DEB0FB5D6C01}"/>
              </a:ext>
            </a:extLst>
          </p:cNvPr>
          <p:cNvSpPr>
            <a:spLocks noGrp="1"/>
          </p:cNvSpPr>
          <p:nvPr>
            <p:ph type="ftr" sz="quarter" idx="11"/>
          </p:nvPr>
        </p:nvSpPr>
        <p:spPr/>
        <p:txBody>
          <a:bodyPr/>
          <a:lstStyle/>
          <a:p>
            <a:r>
              <a:rPr lang="en-US"/>
              <a:t>Jenkins | Lecture 10</a:t>
            </a:r>
            <a:endParaRPr lang="en-US" dirty="0"/>
          </a:p>
        </p:txBody>
      </p:sp>
      <p:sp>
        <p:nvSpPr>
          <p:cNvPr id="4" name="Slide Number Placeholder 3">
            <a:extLst>
              <a:ext uri="{FF2B5EF4-FFF2-40B4-BE49-F238E27FC236}">
                <a16:creationId xmlns:a16="http://schemas.microsoft.com/office/drawing/2014/main" id="{E499041C-86CD-85A4-36FE-8ED62F85F132}"/>
              </a:ext>
            </a:extLst>
          </p:cNvPr>
          <p:cNvSpPr>
            <a:spLocks noGrp="1"/>
          </p:cNvSpPr>
          <p:nvPr>
            <p:ph type="sldNum" sz="quarter" idx="12"/>
          </p:nvPr>
        </p:nvSpPr>
        <p:spPr/>
        <p:txBody>
          <a:bodyPr/>
          <a:lstStyle/>
          <a:p>
            <a:fld id="{2D7BCAC6-6F2C-433A-BE87-D0A9451C8803}" type="slidenum">
              <a:rPr lang="en-US" smtClean="0"/>
              <a:pPr/>
              <a:t>56</a:t>
            </a:fld>
            <a:endParaRPr lang="en-US"/>
          </a:p>
        </p:txBody>
      </p:sp>
    </p:spTree>
    <p:extLst>
      <p:ext uri="{BB962C8B-B14F-4D97-AF65-F5344CB8AC3E}">
        <p14:creationId xmlns:p14="http://schemas.microsoft.com/office/powerpoint/2010/main" val="4276421476"/>
      </p:ext>
    </p:extLst>
  </p:cSld>
  <p:clrMapOvr>
    <a:masterClrMapping/>
  </p:clrMapOvr>
</p:sld>
</file>

<file path=ppt/theme/theme1.xml><?xml version="1.0" encoding="utf-8"?>
<a:theme xmlns:a="http://schemas.openxmlformats.org/drawingml/2006/main" name="1_View">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762</TotalTime>
  <Words>3135</Words>
  <Application>Microsoft Office PowerPoint</Application>
  <PresentationFormat>Widescreen</PresentationFormat>
  <Paragraphs>426</Paragraphs>
  <Slides>56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Calibri</vt:lpstr>
      <vt:lpstr>Century Schoolbook</vt:lpstr>
      <vt:lpstr>Nunito</vt:lpstr>
      <vt:lpstr>Roboto</vt:lpstr>
      <vt:lpstr>Wingdings 2</vt:lpstr>
      <vt:lpstr>1_View</vt:lpstr>
      <vt:lpstr>PowerPoint Presentation</vt:lpstr>
      <vt:lpstr>Unit 5: Jenkins (5hrs)</vt:lpstr>
      <vt:lpstr>Once upon a time</vt:lpstr>
      <vt:lpstr>The CHAOS</vt:lpstr>
      <vt:lpstr>The PROBLEM</vt:lpstr>
      <vt:lpstr>Enter Jenkins: The Automation Hero</vt:lpstr>
      <vt:lpstr>The Transformation</vt:lpstr>
      <vt:lpstr>The Transformation</vt:lpstr>
      <vt:lpstr>The Transformation</vt:lpstr>
      <vt:lpstr>The HAPPY ENDING</vt:lpstr>
      <vt:lpstr>Jenkins</vt:lpstr>
      <vt:lpstr>Why Jenkins</vt:lpstr>
      <vt:lpstr>Why Jenkins</vt:lpstr>
      <vt:lpstr>Why Jenkins</vt:lpstr>
      <vt:lpstr>How Jenkins Works</vt:lpstr>
      <vt:lpstr>How Jenkins Works</vt:lpstr>
      <vt:lpstr>How Jenkins Works</vt:lpstr>
      <vt:lpstr>Architecture of Jenkins</vt:lpstr>
      <vt:lpstr>Architecture of Jenkins</vt:lpstr>
      <vt:lpstr>Architecture of Jenkins</vt:lpstr>
      <vt:lpstr>Architecture of Jenkins – Jenkins Master</vt:lpstr>
      <vt:lpstr>Architecture of Jenkins – Jenkins Master</vt:lpstr>
      <vt:lpstr>Architecture of Jenkins – Jenkins Slave</vt:lpstr>
      <vt:lpstr>Architecture of Jenkins – Jenkins Slave</vt:lpstr>
      <vt:lpstr>Architecture of Jenkins Slave</vt:lpstr>
      <vt:lpstr>Architecture of Jenkins</vt:lpstr>
      <vt:lpstr>Architecture of Jenkins</vt:lpstr>
      <vt:lpstr>Architecture of Jenkins</vt:lpstr>
      <vt:lpstr>Architecture of Jenkins</vt:lpstr>
      <vt:lpstr>Master-Slave Communication</vt:lpstr>
      <vt:lpstr>Setup Jenkins Master-Slave Configuration</vt:lpstr>
      <vt:lpstr>Setup Jenkins Master-Slave Configuration</vt:lpstr>
      <vt:lpstr>Setup Jenkins Master-Slave Configuration</vt:lpstr>
      <vt:lpstr>Setup Jenkins Master-Slave Configuration</vt:lpstr>
      <vt:lpstr>Example Use Case</vt:lpstr>
      <vt:lpstr>Jenkins Tool Management System</vt:lpstr>
      <vt:lpstr>Jenkins Tool Management System</vt:lpstr>
      <vt:lpstr>Configuring Tools in Jenkins</vt:lpstr>
      <vt:lpstr>Example: Adding a Tool in Jenkins</vt:lpstr>
      <vt:lpstr>Example: Adding a Tool in Jenkins</vt:lpstr>
      <vt:lpstr>Using Tools in Jobs</vt:lpstr>
      <vt:lpstr>Using Tools in Jobs</vt:lpstr>
      <vt:lpstr>User Management in Jenkins</vt:lpstr>
      <vt:lpstr>User Management in Jenkins</vt:lpstr>
      <vt:lpstr>User Management in Jenkins</vt:lpstr>
      <vt:lpstr>User Management in Jenkins</vt:lpstr>
      <vt:lpstr>Steps for User Management in Jenkins</vt:lpstr>
      <vt:lpstr>Steps for User Management in Jenkins</vt:lpstr>
      <vt:lpstr>Steps for User Management in Jenkins</vt:lpstr>
      <vt:lpstr>Steps for User Management in Jenkins</vt:lpstr>
      <vt:lpstr>Steps for User Management in Jenkins</vt:lpstr>
      <vt:lpstr>Steps for User Management in Jenkins</vt:lpstr>
      <vt:lpstr>Role Based Authorization Strategy</vt:lpstr>
      <vt:lpstr>Best Practices for User Management</vt:lpstr>
      <vt:lpstr>End of Lecture 10</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dc:title>
  <dc:creator>Shiva Kunwar</dc:creator>
  <cp:lastModifiedBy>Shiva Kunwar</cp:lastModifiedBy>
  <cp:revision>106</cp:revision>
  <dcterms:created xsi:type="dcterms:W3CDTF">2021-11-23T15:23:57Z</dcterms:created>
  <dcterms:modified xsi:type="dcterms:W3CDTF">2025-06-02T06:50:31Z</dcterms:modified>
</cp:coreProperties>
</file>