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62"/>
  </p:notesMasterIdLst>
  <p:handoutMasterIdLst>
    <p:handoutMasterId r:id="rId63"/>
  </p:handoutMasterIdLst>
  <p:sldIdLst>
    <p:sldId id="296" r:id="rId2"/>
    <p:sldId id="298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20" r:id="rId15"/>
    <p:sldId id="325" r:id="rId16"/>
    <p:sldId id="326" r:id="rId17"/>
    <p:sldId id="327" r:id="rId18"/>
    <p:sldId id="328" r:id="rId19"/>
    <p:sldId id="329" r:id="rId20"/>
    <p:sldId id="316" r:id="rId21"/>
    <p:sldId id="321" r:id="rId22"/>
    <p:sldId id="331" r:id="rId23"/>
    <p:sldId id="332" r:id="rId24"/>
    <p:sldId id="333" r:id="rId25"/>
    <p:sldId id="334" r:id="rId26"/>
    <p:sldId id="330" r:id="rId27"/>
    <p:sldId id="335" r:id="rId28"/>
    <p:sldId id="336" r:id="rId29"/>
    <p:sldId id="337" r:id="rId30"/>
    <p:sldId id="338" r:id="rId31"/>
    <p:sldId id="339" r:id="rId32"/>
    <p:sldId id="317" r:id="rId33"/>
    <p:sldId id="340" r:id="rId34"/>
    <p:sldId id="341" r:id="rId35"/>
    <p:sldId id="343" r:id="rId36"/>
    <p:sldId id="342" r:id="rId37"/>
    <p:sldId id="344" r:id="rId38"/>
    <p:sldId id="346" r:id="rId39"/>
    <p:sldId id="347" r:id="rId40"/>
    <p:sldId id="348" r:id="rId41"/>
    <p:sldId id="349" r:id="rId42"/>
    <p:sldId id="350" r:id="rId43"/>
    <p:sldId id="318" r:id="rId44"/>
    <p:sldId id="323" r:id="rId45"/>
    <p:sldId id="351" r:id="rId46"/>
    <p:sldId id="352" r:id="rId47"/>
    <p:sldId id="353" r:id="rId48"/>
    <p:sldId id="319" r:id="rId49"/>
    <p:sldId id="324" r:id="rId50"/>
    <p:sldId id="354" r:id="rId51"/>
    <p:sldId id="355" r:id="rId52"/>
    <p:sldId id="356" r:id="rId53"/>
    <p:sldId id="357" r:id="rId54"/>
    <p:sldId id="358" r:id="rId55"/>
    <p:sldId id="359" r:id="rId56"/>
    <p:sldId id="360" r:id="rId57"/>
    <p:sldId id="361" r:id="rId58"/>
    <p:sldId id="362" r:id="rId59"/>
    <p:sldId id="285" r:id="rId60"/>
    <p:sldId id="286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3969" autoAdjust="0"/>
  </p:normalViewPr>
  <p:slideViewPr>
    <p:cSldViewPr>
      <p:cViewPr varScale="1">
        <p:scale>
          <a:sx n="82" d="100"/>
          <a:sy n="82" d="100"/>
        </p:scale>
        <p:origin x="390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9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85BD65-9D91-7DFC-53E1-8BF243DCEC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2D22-E7AC-06AB-426E-E65713B850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8692-3B52-472B-A27C-0D21D13EB902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CE5EB-28FA-61BC-7A31-808FF0DFF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E243D-0898-4319-31D8-7F9CA9078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52B39-A1FA-438D-A2A1-97F4EC1F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9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1F557-E2B4-4866-84E9-3A03F70F82EF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254-F383-4531-8078-930439348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D63A80-F8C6-CA7A-5944-D04C4A793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14" y="0"/>
            <a:ext cx="12181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79881DA3-452F-44F7-85A6-5E377EBA9242}" type="datetime1">
              <a:rPr lang="en-US" smtClean="0"/>
              <a:t>6/2/2025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Jenkins | Lecture 11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038DB-111F-FA38-FE8F-D77C73697FD2}"/>
              </a:ext>
            </a:extLst>
          </p:cNvPr>
          <p:cNvSpPr txBox="1"/>
          <p:nvPr userDrawn="1"/>
        </p:nvSpPr>
        <p:spPr>
          <a:xfrm>
            <a:off x="1261872" y="554183"/>
            <a:ext cx="9418320" cy="41549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Software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Development &amp;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Operations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(DevOps)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3262-3052-AECD-5F8E-C91BF4B8F021}"/>
              </a:ext>
            </a:extLst>
          </p:cNvPr>
          <p:cNvSpPr txBox="1"/>
          <p:nvPr userDrawn="1"/>
        </p:nvSpPr>
        <p:spPr>
          <a:xfrm>
            <a:off x="1261872" y="5156541"/>
            <a:ext cx="94183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latin typeface="Nunito" pitchFamily="2" charset="0"/>
              </a:rPr>
              <a:t>Er. Shiva Kunwar</a:t>
            </a:r>
          </a:p>
          <a:p>
            <a:r>
              <a:rPr lang="en-US" sz="2000" dirty="0">
                <a:latin typeface="Nunito" pitchFamily="2" charset="0"/>
              </a:rPr>
              <a:t>Lecturer</a:t>
            </a:r>
          </a:p>
          <a:p>
            <a:r>
              <a:rPr lang="en-US" sz="2000" dirty="0">
                <a:latin typeface="Nunito" pitchFamily="2" charset="0"/>
              </a:rPr>
              <a:t>Gandaki University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A367200-0314-B11E-6A5A-163495D7B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74427"/>
            <a:ext cx="17716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88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74A4-B372-412A-9590-7936A8B0FC9F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B0BD-7E05-4551-B906-3C63F360159C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521BE1-5CE3-05CF-232A-5D29123BF5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7912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920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3543D8F-399D-6DF8-DE86-76C3FD2D8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9749"/>
            <a:ext cx="12191999" cy="4267200"/>
            <a:chOff x="7467600" y="0"/>
            <a:chExt cx="47244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7F1944-3532-0024-BA7E-7D1E45E78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3463AE-09F4-6357-D5D1-E78C1CBF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BB7FBAC-7B68-830D-1EA5-32DE3272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CAF6F-863F-4684-9B42-D6970568FA1B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0D67507-A4B1-3C41-5B9A-FA01D257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0500043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D1CD890-A10F-8D93-4D3F-349A90E7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483735"/>
            <a:ext cx="10271441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Table Placeholder 4">
            <a:extLst>
              <a:ext uri="{FF2B5EF4-FFF2-40B4-BE49-F238E27FC236}">
                <a16:creationId xmlns:a16="http://schemas.microsoft.com/office/drawing/2014/main" id="{AD49D11B-7BF8-7119-747E-673152D1DCD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85800" y="1663021"/>
            <a:ext cx="10271441" cy="455680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1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C5689-9CE9-4436-9473-25091E743332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44A146-5A21-714C-4148-9B75C4D1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76" y="365757"/>
            <a:ext cx="6688349" cy="6126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3D1E3-CA84-C4BA-1C88-EF714A56C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93E526-3EF6-897C-D064-1128F72E7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96C1C-AD28-8189-3789-8E7159CBC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EAD847-82C9-9DA1-0634-152DE5F8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415FC-6975-9499-950F-56CE60A5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38DA2C-54B4-789F-C3D3-F0747913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74" y="365756"/>
            <a:ext cx="3206326" cy="3624504"/>
          </a:xfrm>
        </p:spPr>
        <p:txBody>
          <a:bodyPr anchor="b"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645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54B254-511A-6515-8705-1D0D3406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BD7EF-2A2D-B804-3B1E-B408D2D5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1081C-CE25-B752-8AAC-0457A91D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AA02E-86E8-D1C1-AD64-8C15047A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9BF0EA9-FB0C-4DDE-8A44-65F1A9A7AC2D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FC2281F-1654-0C11-471A-B274D452D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AD270F-67BD-E509-0A2E-A3B9C1D1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65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2F3501-C5BE-DCD4-3BD1-B507D9905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52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41E4C10-80E2-9528-D06C-844994E73F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DD1BBF3-66E0-43E6-BC70-A5E125B9D664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26CC335-6CDD-0FF3-AEE1-EF5D8A5EAA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B22EDF1-4FF3-208C-0E13-2DE282F059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293C9641-88F7-FC3E-DC98-14026910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33" y="694282"/>
            <a:ext cx="6301740" cy="2444401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0BA8A-DB8F-5584-7EA4-49FB667D63C5}"/>
              </a:ext>
            </a:extLst>
          </p:cNvPr>
          <p:cNvSpPr txBox="1"/>
          <p:nvPr userDrawn="1"/>
        </p:nvSpPr>
        <p:spPr>
          <a:xfrm>
            <a:off x="4520553" y="4114800"/>
            <a:ext cx="630174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</p:spTree>
    <p:extLst>
      <p:ext uri="{BB962C8B-B14F-4D97-AF65-F5344CB8AC3E}">
        <p14:creationId xmlns:p14="http://schemas.microsoft.com/office/powerpoint/2010/main" val="304267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81200" y="1752600"/>
            <a:ext cx="8823960" cy="3352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C26B-02D3-4BC0-813B-A028DC507D0C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98743D-1F23-BB62-C246-CD2EC3D767DE}"/>
              </a:ext>
            </a:extLst>
          </p:cNvPr>
          <p:cNvSpPr txBox="1">
            <a:spLocks/>
          </p:cNvSpPr>
          <p:nvPr userDrawn="1"/>
        </p:nvSpPr>
        <p:spPr>
          <a:xfrm>
            <a:off x="1981200" y="417727"/>
            <a:ext cx="9372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PREVIEW FOR NEXT LECTURE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728C91-D586-79A1-E0BB-9D8A46CCD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6997" y="2666995"/>
            <a:ext cx="6858000" cy="152400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1F0A4-9C8A-1861-8B9C-5AF948AC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0" y="2677132"/>
            <a:ext cx="6857999" cy="152401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F4F22-2928-48B3-6F55-1BB688BCF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88993" y="4844999"/>
            <a:ext cx="2501979" cy="152401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85817F0-3E71-F53B-A83E-0DB732029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54256" y="1305931"/>
            <a:ext cx="147212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64781E-F74C-69A3-86EC-66CE155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7" y="2656855"/>
            <a:ext cx="6858003" cy="15240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24260" y="0"/>
            <a:ext cx="97536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828805"/>
            <a:ext cx="10340023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59445" y="998540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1"/>
                </a:solidFill>
              </a:defRPr>
            </a:lvl1pPr>
          </a:lstStyle>
          <a:p>
            <a:fld id="{05B24B55-E470-4EA6-A92A-F96ADA4B2558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21240" y="4046540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6C3CA-BFE1-3007-0D60-E69A73AE4945}"/>
              </a:ext>
            </a:extLst>
          </p:cNvPr>
          <p:cNvSpPr/>
          <p:nvPr userDrawn="1"/>
        </p:nvSpPr>
        <p:spPr>
          <a:xfrm>
            <a:off x="11394452" y="6172200"/>
            <a:ext cx="634976" cy="6349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740" y="6172206"/>
            <a:ext cx="9144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 descr="Modern DevOps Certifications">
            <a:extLst>
              <a:ext uri="{FF2B5EF4-FFF2-40B4-BE49-F238E27FC236}">
                <a16:creationId xmlns:a16="http://schemas.microsoft.com/office/drawing/2014/main" id="{B2AEC855-8EAB-F2F2-74ED-5A557BFDB3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1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7" r:id="rId4"/>
    <p:sldLayoutId id="2147483686" r:id="rId5"/>
    <p:sldLayoutId id="2147483688" r:id="rId6"/>
    <p:sldLayoutId id="2147483684" r:id="rId7"/>
    <p:sldLayoutId id="214748368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pitchFamily="34" charset="0"/>
        <a:buChar char="•"/>
        <a:defRPr sz="2400" kern="1200" spc="10" baseline="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3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your-jenkins-server/github-webhook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40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67420-ACE8-4DCC-3F1A-716B9F0ED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23A9F-82A7-148E-EBF5-C155B37DF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Unit 5: Jenkins (5hrs)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49623-CB49-BD55-2D8E-5B931245F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/>
          </a:bodyPr>
          <a:lstStyle/>
          <a:p>
            <a:r>
              <a:rPr lang="en-US" dirty="0"/>
              <a:t>Essentials of Continuous Integration</a:t>
            </a:r>
          </a:p>
          <a:p>
            <a:r>
              <a:rPr lang="en-US" dirty="0"/>
              <a:t>Architecture of Jenkins</a:t>
            </a:r>
          </a:p>
          <a:p>
            <a:r>
              <a:rPr lang="en-US" dirty="0"/>
              <a:t>Jenkins Tool Management System</a:t>
            </a:r>
          </a:p>
          <a:p>
            <a:r>
              <a:rPr lang="en-US" dirty="0"/>
              <a:t>User Management in Jenkins</a:t>
            </a:r>
          </a:p>
          <a:p>
            <a:r>
              <a:rPr lang="en-US" b="1" dirty="0"/>
              <a:t>Jenkins Workshop: Authentication, Authorization</a:t>
            </a:r>
          </a:p>
          <a:p>
            <a:r>
              <a:rPr lang="en-US" b="1" dirty="0"/>
              <a:t>Maven Overview</a:t>
            </a:r>
          </a:p>
          <a:p>
            <a:r>
              <a:rPr lang="en-US" b="1" dirty="0"/>
              <a:t>Creating Jobs and Automatic Build Settings</a:t>
            </a:r>
          </a:p>
          <a:p>
            <a:r>
              <a:rPr lang="en-US" b="1" dirty="0"/>
              <a:t>Building Delivery Pipeline. Plugin Management and Notification System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395C2-2906-0070-B02F-F8FB11C4E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4E840-5CDB-EA51-1C75-4C9990AFA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411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9528A-9D0D-0266-DAA0-21741D27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031C5-3E7F-C9E3-DE85-DCB55211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2646A-2B8A-4C53-B46C-786262B7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7634-9E70-1A12-7441-686195A07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workshop, you will learn how to secure a Jenkins environment by configuring </a:t>
            </a:r>
            <a:r>
              <a:rPr lang="en-US" b="1" dirty="0"/>
              <a:t>authentication</a:t>
            </a:r>
            <a:r>
              <a:rPr lang="en-US" dirty="0"/>
              <a:t> and </a:t>
            </a:r>
            <a:r>
              <a:rPr lang="en-US" b="1" dirty="0"/>
              <a:t>authorization</a:t>
            </a:r>
            <a:r>
              <a:rPr lang="en-US" dirty="0"/>
              <a:t> settings.</a:t>
            </a:r>
          </a:p>
          <a:p>
            <a:r>
              <a:rPr lang="en-US" dirty="0"/>
              <a:t>By the end of the session, you will understand how to manage user access and permissions effectively in Jenkins.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17AFE-3CB2-B795-D11B-F2DACFD3D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Workshop</a:t>
            </a:r>
          </a:p>
        </p:txBody>
      </p:sp>
    </p:spTree>
    <p:extLst>
      <p:ext uri="{BB962C8B-B14F-4D97-AF65-F5344CB8AC3E}">
        <p14:creationId xmlns:p14="http://schemas.microsoft.com/office/powerpoint/2010/main" val="199347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7301E-3A64-D882-A728-1A5F6A05E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B4CD-56FA-9510-878F-756DF39F7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102F8-7FC2-4E34-F8EC-0011D9074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Exercise 1: Setting Up Authentication</a:t>
            </a:r>
          </a:p>
          <a:p>
            <a:pPr lvl="1"/>
            <a:r>
              <a:rPr lang="en-US" dirty="0"/>
              <a:t>Navigate to </a:t>
            </a:r>
            <a:r>
              <a:rPr lang="en-US" i="1" dirty="0"/>
              <a:t>Jenkins Dashboard → Manage Jenkins → Security → Security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Under </a:t>
            </a:r>
            <a:r>
              <a:rPr lang="en-US" i="1" dirty="0"/>
              <a:t>Security Realm</a:t>
            </a:r>
            <a:r>
              <a:rPr lang="en-US" dirty="0"/>
              <a:t>, select </a:t>
            </a:r>
            <a:r>
              <a:rPr lang="en-US" i="1" dirty="0"/>
              <a:t>Jenkins’ own user database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Check </a:t>
            </a:r>
            <a:r>
              <a:rPr lang="en-US" i="1" dirty="0"/>
              <a:t>Allow users to sign up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Save and create a user by going to </a:t>
            </a:r>
            <a:r>
              <a:rPr lang="en-US" i="1" dirty="0"/>
              <a:t>Manage Jenkins → Manage Users → Create User.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3DEDD-3CC6-63AE-9274-9844414D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25F43-F638-200B-D9EB-C93C48E4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40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4437E-8B4D-F530-B7E6-74AB5A36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93BC2-F759-7F1F-6B41-F83332CA6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42912-A9E3-2996-DB4F-DB93E9C6F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Verification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Log out and log in with the newly created user credentials.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6068B-B419-9937-7CE0-585286F3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2E365-B33A-D5EC-BDB0-0ECA20A55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58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DCC37-44CB-C6A3-A9C5-8D35AD25D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16DA-B777-042F-E0D2-CC69A363F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0091F-2DC6-B059-ECA7-74992772F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Exercise 2: Configuring Authorization</a:t>
            </a:r>
          </a:p>
          <a:p>
            <a:pPr lvl="1"/>
            <a:r>
              <a:rPr lang="en-US" dirty="0"/>
              <a:t>Go to </a:t>
            </a:r>
            <a:r>
              <a:rPr lang="en-US" i="1" dirty="0"/>
              <a:t>Manage Jenkins → Security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Under </a:t>
            </a:r>
            <a:r>
              <a:rPr lang="en-US" i="1" dirty="0"/>
              <a:t>Authorization</a:t>
            </a:r>
            <a:r>
              <a:rPr lang="en-US" dirty="0"/>
              <a:t>, select:</a:t>
            </a:r>
          </a:p>
          <a:p>
            <a:pPr marL="1074420" lvl="2" indent="-342900"/>
            <a:r>
              <a:rPr lang="en-US" b="1" i="1" dirty="0"/>
              <a:t>Matrix-based security </a:t>
            </a:r>
            <a:r>
              <a:rPr lang="en-US" dirty="0"/>
              <a:t>or </a:t>
            </a:r>
            <a:r>
              <a:rPr lang="en-US" b="1" i="1" dirty="0"/>
              <a:t>Role-based Authorization Strategy</a:t>
            </a:r>
            <a:r>
              <a:rPr lang="en-US" i="1" dirty="0"/>
              <a:t> </a:t>
            </a:r>
            <a:r>
              <a:rPr lang="en-US" dirty="0"/>
              <a:t>(if the plugin is installed).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80D1D-438A-BC3D-005F-E50636F3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EF4C1-1863-8E5A-47AC-F7087002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85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345FE-B015-14B1-E9CF-F6FE3B5D9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BB53F-D5DA-ED45-E189-41B7A7EC0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FD213-044C-9565-7F07-BEC4D49F2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Steps for Matrix-Based Security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Assign roles (e.g., Administrator, Developer, Viewer).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Give appropriate permissions for each role (e.g., Job Configure, Build, Read).</a:t>
            </a:r>
          </a:p>
          <a:p>
            <a:r>
              <a:rPr lang="en-US" b="1" dirty="0"/>
              <a:t>Steps for Role-Based Authorization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Install the </a:t>
            </a:r>
            <a:r>
              <a:rPr lang="en-US" b="1" dirty="0"/>
              <a:t>Role Strategy Plugin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Go to </a:t>
            </a:r>
            <a:r>
              <a:rPr lang="en-US" i="1" dirty="0"/>
              <a:t>Manage Jenkins → Manage and Assign Roles</a:t>
            </a:r>
            <a:r>
              <a:rPr lang="en-US" dirty="0"/>
              <a:t>.</a:t>
            </a:r>
          </a:p>
          <a:p>
            <a:pPr marL="1017270" lvl="2" indent="-285750">
              <a:buFont typeface="Arial" panose="020B0604020202020204" pitchFamily="34" charset="0"/>
              <a:buChar char="•"/>
            </a:pPr>
            <a:r>
              <a:rPr lang="en-US" dirty="0"/>
              <a:t>Define roles such as admin, developer and assign permissions.</a:t>
            </a:r>
          </a:p>
          <a:p>
            <a:pPr marL="1017270" lvl="2" indent="-285750">
              <a:buFont typeface="Arial" panose="020B0604020202020204" pitchFamily="34" charset="0"/>
              <a:buChar char="•"/>
            </a:pPr>
            <a:r>
              <a:rPr lang="en-US" dirty="0"/>
              <a:t>Assign roles to specific users.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55FB7-909C-F441-B5AD-D68EFF479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F98FB-2FE0-9FD1-580D-260AFFBE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72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C581C-9DB4-29B6-C4EA-E5B97AB1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A73C8-3530-BF14-C892-4B738A25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6C9B7-004E-78AE-4769-700E62A8F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Verification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Create a test user and assign a limited role (e.g., only View permission).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Log in as the test user and verify restricted access.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4D612-FD9F-45A6-D0D7-B9AB03F2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5CA66-D5CD-FA2E-6B28-A83945578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99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EAB37-8EF1-EB24-F41F-2B747726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D532B-763B-C263-0C95-18F6B4946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5F56B-84F2-9E6E-30C8-95304A6DC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Exercise 3: Adding External Authentication</a:t>
            </a:r>
          </a:p>
          <a:p>
            <a:r>
              <a:rPr lang="en-US" dirty="0"/>
              <a:t>Integrate Jenkins with GitHub for authentication:</a:t>
            </a:r>
          </a:p>
          <a:p>
            <a:pPr marL="800100" lvl="1" indent="-342900"/>
            <a:r>
              <a:rPr lang="en-US" dirty="0"/>
              <a:t>Install the </a:t>
            </a:r>
            <a:r>
              <a:rPr lang="en-US" b="1" dirty="0"/>
              <a:t>GitHub Authentication Plugin</a:t>
            </a:r>
            <a:r>
              <a:rPr lang="en-US" dirty="0"/>
              <a:t>.</a:t>
            </a:r>
          </a:p>
          <a:p>
            <a:pPr marL="800100" lvl="1" indent="-342900"/>
            <a:r>
              <a:rPr lang="en-US" dirty="0"/>
              <a:t>Go to </a:t>
            </a:r>
            <a:r>
              <a:rPr lang="en-US" i="1" dirty="0"/>
              <a:t>Manage Jenkins → Security</a:t>
            </a:r>
            <a:r>
              <a:rPr lang="en-US" dirty="0"/>
              <a:t>.</a:t>
            </a:r>
          </a:p>
          <a:p>
            <a:pPr marL="800100" lvl="1" indent="-342900"/>
            <a:r>
              <a:rPr lang="en-US" dirty="0"/>
              <a:t>Under </a:t>
            </a:r>
            <a:r>
              <a:rPr lang="en-US" i="1" dirty="0"/>
              <a:t>Security Realm</a:t>
            </a:r>
            <a:r>
              <a:rPr lang="en-US" dirty="0"/>
              <a:t>, select </a:t>
            </a:r>
            <a:r>
              <a:rPr lang="en-US" i="1" dirty="0"/>
              <a:t>GitHub Authentication Plugin</a:t>
            </a:r>
            <a:r>
              <a:rPr lang="en-US" dirty="0"/>
              <a:t>.</a:t>
            </a:r>
          </a:p>
          <a:p>
            <a:pPr marL="800100" lvl="1" indent="-342900"/>
            <a:r>
              <a:rPr lang="en-US" dirty="0"/>
              <a:t>Provide GitHub OAuth credentials.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E8790-D3B7-130B-60EF-26DFEFA74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2D56A-E6F3-8017-4445-D0E7FEA1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3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81524-D52F-05D0-AAE1-7E8BB3FF3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6A33D-A42E-0EA0-8CA7-72CBB35E6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E398B-712D-C114-036E-300D88084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Verification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Log in to Jenkins using your GitHub account.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C7019-21EA-F006-109E-1E56A0F9D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40BB0-6478-792A-A264-AC65CEE5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09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EF980-C390-4992-40C2-8CB36D99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6C5B-2D54-438F-2806-B2112DB6E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13C9F-430F-A522-CE4F-11871DC9D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Exercise 4: Project-Based Authorization</a:t>
            </a:r>
          </a:p>
          <a:p>
            <a:pPr lvl="1"/>
            <a:r>
              <a:rPr lang="en-US" dirty="0"/>
              <a:t>Install the </a:t>
            </a:r>
            <a:r>
              <a:rPr lang="en-US" b="1" dirty="0"/>
              <a:t>Project-based Matrix Authorization Strategy Plugin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Go to </a:t>
            </a:r>
            <a:r>
              <a:rPr lang="en-US" i="1" dirty="0"/>
              <a:t>Security</a:t>
            </a:r>
            <a:r>
              <a:rPr lang="en-US" dirty="0"/>
              <a:t> and </a:t>
            </a:r>
            <a:r>
              <a:rPr lang="en-US" i="1" dirty="0"/>
              <a:t>enable Project-based Authorization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Create a job and configure its permissions for specific users/groups.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33106-454E-5802-7A0B-3835B7606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EF5A5-4B37-8866-2A9C-10FDAC6AC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49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5EC68-1D4E-3EF0-DD21-F4E6047F0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96C32-7FD9-0C6B-33A8-E8A35B05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70B72-82D7-73BD-8119-1C8FB1DDF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Verification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Assign a test user to a job and verify they cannot access other jobs.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5338F-EB3B-7CB3-44FE-CBE542CA6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B60B4-967F-CC97-5CB7-A18A32AB7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52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97C3C-8410-8C1B-61ED-A542435D0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02948-EB58-4BA7-D625-A0CEF7B43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A071A-A2C3-A6C7-1A3C-72B6135E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8EE67C-1223-7C39-FEF8-3195BFB05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Maven is a powerful </a:t>
            </a:r>
            <a:r>
              <a:rPr lang="en-US" b="1" dirty="0"/>
              <a:t>build automation and project management tool</a:t>
            </a:r>
            <a:r>
              <a:rPr lang="en-US" dirty="0"/>
              <a:t> primarily used for Java-based projects.</a:t>
            </a:r>
          </a:p>
          <a:p>
            <a:r>
              <a:rPr lang="en-US" dirty="0"/>
              <a:t>It simplifies the process of managing dependencies, building projects, and running automated tests.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1081E3-AED6-589B-52A7-C6A8241CE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</a:t>
            </a:r>
          </a:p>
        </p:txBody>
      </p:sp>
    </p:spTree>
    <p:extLst>
      <p:ext uri="{BB962C8B-B14F-4D97-AF65-F5344CB8AC3E}">
        <p14:creationId xmlns:p14="http://schemas.microsoft.com/office/powerpoint/2010/main" val="1742951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B2C4B-4FA0-E3E3-9FFC-BAB5F5C8B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6619-2FCC-D80D-4960-CF8DEE383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Maven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6306B-658D-88E6-72BF-B11973C84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built-in tools for managing versioning and documentation.</a:t>
            </a:r>
          </a:p>
          <a:p>
            <a:r>
              <a:rPr lang="en-US" dirty="0"/>
              <a:t>Automatically downloads and manages required libraries and plugins.</a:t>
            </a:r>
          </a:p>
          <a:p>
            <a:r>
              <a:rPr lang="en-US" dirty="0"/>
              <a:t>Uses a central repository (like Maven Central) and supports custom repositories.</a:t>
            </a:r>
          </a:p>
          <a:p>
            <a:r>
              <a:rPr lang="en-US" dirty="0"/>
              <a:t>Supports plugins for testing, compiling, packaging, and deploying.</a:t>
            </a:r>
          </a:p>
          <a:p>
            <a:r>
              <a:rPr lang="en-US" dirty="0"/>
              <a:t>Integrates well with CI/CD tools like Jenkins and IDEs like IntelliJ IDEA and Eclipse.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7D9DC-78B4-1BB8-8481-6E9715E0E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75272-F35B-05B9-7968-A2EEDD9B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45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F7F7C-4566-2F3A-6179-7ADA0CF20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32E3C-9D30-55AF-7619-A8A6EEE6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Core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8CB1D-6318-9EB9-2582-DB063B4AA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POM (Project Object Model)</a:t>
            </a:r>
          </a:p>
          <a:p>
            <a:r>
              <a:rPr lang="en-US" dirty="0"/>
              <a:t>Central configuration file: pom.xml.</a:t>
            </a:r>
          </a:p>
          <a:p>
            <a:r>
              <a:rPr lang="en-US" dirty="0"/>
              <a:t>Contains metadata and configurations, such as:</a:t>
            </a:r>
          </a:p>
          <a:p>
            <a:pPr lvl="1"/>
            <a:r>
              <a:rPr lang="en-US" dirty="0"/>
              <a:t>Project name, description, version.</a:t>
            </a:r>
          </a:p>
          <a:p>
            <a:pPr lvl="1"/>
            <a:r>
              <a:rPr lang="en-US" dirty="0"/>
              <a:t>Dependencies (libraries the project uses).</a:t>
            </a:r>
          </a:p>
          <a:p>
            <a:pPr lvl="1"/>
            <a:r>
              <a:rPr lang="en-US" dirty="0"/>
              <a:t>Plugins to execute tasks (e.g., packaging, deployment).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E00B3-24F7-E9D6-B519-19A0CD836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6FD27-8C4E-F61A-A15E-5C8468C64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91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842EA-3CDE-86F8-2948-3AD197F0D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34624-89F7-4F27-CF44-8D5E594DA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Core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8580F-715C-61EF-0085-FF2C671E2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Maven Life Cycle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Clean</a:t>
            </a:r>
            <a:r>
              <a:rPr lang="en-US" dirty="0"/>
              <a:t>: Cleans up the workspace (removes previous builds).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Default (Build)</a:t>
            </a:r>
            <a:r>
              <a:rPr lang="en-US" dirty="0"/>
              <a:t>: Handles the build process (compile, test, package, deploy).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Site</a:t>
            </a:r>
            <a:r>
              <a:rPr lang="en-US" dirty="0"/>
              <a:t>: Generates project documentation and reports.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6A07E-94A0-315F-F342-2E8C03AED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2404A-BA82-90F1-985E-FADFB762E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18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262B1-9043-C61A-2998-0B6F0C596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DB397-5D4E-1D05-385F-609060C9F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Core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0D8FE-1C4B-88C8-2DF2-0E3476D4D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Maven Repositories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Local Repository</a:t>
            </a:r>
            <a:r>
              <a:rPr lang="en-US" dirty="0"/>
              <a:t>: Stored on the developer's machine.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Central Repository</a:t>
            </a:r>
            <a:r>
              <a:rPr lang="en-US" dirty="0"/>
              <a:t>: Maintained by Maven (default source for dependencies).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Remote Repository</a:t>
            </a:r>
            <a:r>
              <a:rPr lang="en-US" dirty="0"/>
              <a:t>: Custom repositories for organizational needs.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2EB83-ED48-4354-AC12-BA5B9F77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A6F0A-22F6-B2B5-F0B5-0C7AC78AB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99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87571-ACB5-D7DE-47FE-FE3214162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5C7E2-0073-B90C-E2E8-BD43CA8D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E2692-D0F5-E13E-C83B-A73135EB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B9A95E-43A2-D6C7-572F-865222301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Maven Commands Used</a:t>
            </a:r>
          </a:p>
        </p:txBody>
      </p:sp>
      <p:graphicFrame>
        <p:nvGraphicFramePr>
          <p:cNvPr id="23" name="Table Placeholder 22">
            <a:extLst>
              <a:ext uri="{FF2B5EF4-FFF2-40B4-BE49-F238E27FC236}">
                <a16:creationId xmlns:a16="http://schemas.microsoft.com/office/drawing/2014/main" id="{352583D1-F723-3E27-31E5-7105DC69E7B3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461108812"/>
              </p:ext>
            </p:extLst>
          </p:nvPr>
        </p:nvGraphicFramePr>
        <p:xfrm>
          <a:off x="533400" y="1663700"/>
          <a:ext cx="1027112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8412">
                  <a:extLst>
                    <a:ext uri="{9D8B030D-6E8A-4147-A177-3AD203B41FA5}">
                      <a16:colId xmlns:a16="http://schemas.microsoft.com/office/drawing/2014/main" val="3290847773"/>
                    </a:ext>
                  </a:extLst>
                </a:gridCol>
                <a:gridCol w="6882712">
                  <a:extLst>
                    <a:ext uri="{9D8B030D-6E8A-4147-A177-3AD203B41FA5}">
                      <a16:colId xmlns:a16="http://schemas.microsoft.com/office/drawing/2014/main" val="1286078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464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latin typeface="Nunito" pitchFamily="2" charset="0"/>
                        </a:rPr>
                        <a:t>mvn</a:t>
                      </a:r>
                      <a:r>
                        <a:rPr lang="en-US" sz="2400" b="1" dirty="0">
                          <a:latin typeface="Nunito" pitchFamily="2" charset="0"/>
                        </a:rPr>
                        <a:t> 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Cleans the target directory.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560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latin typeface="Nunito" pitchFamily="2" charset="0"/>
                        </a:rPr>
                        <a:t>mvn</a:t>
                      </a:r>
                      <a:r>
                        <a:rPr lang="en-US" sz="2400" b="1" dirty="0">
                          <a:latin typeface="Nunito" pitchFamily="2" charset="0"/>
                        </a:rPr>
                        <a:t> compile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Compiles the source code.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785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latin typeface="Nunito" pitchFamily="2" charset="0"/>
                        </a:rPr>
                        <a:t>mvn</a:t>
                      </a:r>
                      <a:r>
                        <a:rPr lang="en-US" sz="2400" b="1" dirty="0">
                          <a:latin typeface="Nunito" pitchFamily="2" charset="0"/>
                        </a:rPr>
                        <a:t>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Runs tests using a testing framework.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150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latin typeface="Nunito" pitchFamily="2" charset="0"/>
                        </a:rPr>
                        <a:t>mvn</a:t>
                      </a:r>
                      <a:r>
                        <a:rPr lang="en-US" sz="2400" b="1" dirty="0">
                          <a:latin typeface="Nunito" pitchFamily="2" charset="0"/>
                        </a:rPr>
                        <a:t>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Packages the compiled code into a deployable format (e.g., JAR, WAR).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018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latin typeface="Nunito" pitchFamily="2" charset="0"/>
                        </a:rPr>
                        <a:t>mvn</a:t>
                      </a:r>
                      <a:r>
                        <a:rPr lang="en-US" sz="2400" b="1" dirty="0">
                          <a:latin typeface="Nunito" pitchFamily="2" charset="0"/>
                        </a:rPr>
                        <a:t> </a:t>
                      </a:r>
                      <a:r>
                        <a:rPr lang="en-US" sz="2400" b="1" dirty="0" err="1">
                          <a:latin typeface="Nunito" pitchFamily="2" charset="0"/>
                        </a:rPr>
                        <a:t>insall</a:t>
                      </a:r>
                      <a:endParaRPr lang="en-US" sz="2400" b="1" dirty="0"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Installs the package to the local repository.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888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latin typeface="Nunito" pitchFamily="2" charset="0"/>
                        </a:rPr>
                        <a:t>mvn</a:t>
                      </a:r>
                      <a:r>
                        <a:rPr lang="en-US" sz="2400" b="1" dirty="0">
                          <a:latin typeface="Nunito" pitchFamily="2" charset="0"/>
                        </a:rPr>
                        <a:t>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Deploys the package to a remote repository.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410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latin typeface="Nunito" pitchFamily="2" charset="0"/>
                        </a:rPr>
                        <a:t>mvn</a:t>
                      </a:r>
                      <a:r>
                        <a:rPr lang="en-US" sz="2400" b="1" dirty="0">
                          <a:latin typeface="Nunito" pitchFamily="2" charset="0"/>
                        </a:rPr>
                        <a:t> </a:t>
                      </a:r>
                      <a:r>
                        <a:rPr lang="en-US" sz="2400" b="1" dirty="0" err="1">
                          <a:latin typeface="Nunito" pitchFamily="2" charset="0"/>
                        </a:rPr>
                        <a:t>dependency:tree</a:t>
                      </a:r>
                      <a:endParaRPr lang="en-US" sz="2400" b="1" dirty="0"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Nunito" pitchFamily="2" charset="0"/>
                        </a:rPr>
                        <a:t>Displays the dependency hierarchy of the project.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78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713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DE0D3-13E0-81DB-25A7-CE32A7C68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6F83C-5377-7146-DA6D-5DBA29615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Integrating Maven with Jenkins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16665AA-3C71-5B1F-35BF-AF026224B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Install the </a:t>
            </a:r>
            <a:r>
              <a:rPr lang="en-US" b="1" dirty="0"/>
              <a:t>Maven Integration Plugin </a:t>
            </a:r>
            <a:r>
              <a:rPr lang="en-US" dirty="0"/>
              <a:t>in Jenkins.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Configure Maven in Jenkins:</a:t>
            </a:r>
          </a:p>
          <a:p>
            <a:pPr lvl="1"/>
            <a:r>
              <a:rPr lang="en-US" dirty="0"/>
              <a:t>Navigate to </a:t>
            </a:r>
            <a:r>
              <a:rPr lang="en-US" i="1" dirty="0"/>
              <a:t>Manage Jenkins → Global Tool Configuration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Add a Maven installation.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a Jenkins pipeline:</a:t>
            </a:r>
          </a:p>
          <a:p>
            <a:pPr lvl="1"/>
            <a:r>
              <a:rPr lang="en-US" dirty="0"/>
              <a:t>Use the Build Step: Invoke top-level Maven targets.</a:t>
            </a:r>
          </a:p>
          <a:p>
            <a:pPr lvl="1"/>
            <a:r>
              <a:rPr lang="en-US" dirty="0"/>
              <a:t>Specify the goals (e.g., clean package)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01CC2-8C2C-9516-F1E5-50B837F5A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FD969-561D-4C34-ACE2-FE44450DB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69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BB097-1901-EA9B-D2AF-5973113D9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740C3-721A-791D-7A0C-40E9F3477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330C7-D923-CDD6-BC54-064831A1E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A18578-4E4C-CA2D-3071-A131CAF4E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Jenkins provides the ability to create and manage jobs for automating various tasks, such as </a:t>
            </a:r>
            <a:r>
              <a:rPr lang="en-US" b="1" dirty="0"/>
              <a:t>building</a:t>
            </a:r>
            <a:r>
              <a:rPr lang="en-US" dirty="0"/>
              <a:t>, </a:t>
            </a:r>
            <a:r>
              <a:rPr lang="en-US" b="1" dirty="0"/>
              <a:t>testing</a:t>
            </a:r>
            <a:r>
              <a:rPr lang="en-US" dirty="0"/>
              <a:t>, and </a:t>
            </a:r>
            <a:r>
              <a:rPr lang="en-US" b="1" dirty="0"/>
              <a:t>deploying</a:t>
            </a:r>
            <a:r>
              <a:rPr lang="en-US" dirty="0"/>
              <a:t> applications.</a:t>
            </a:r>
          </a:p>
          <a:p>
            <a:r>
              <a:rPr lang="en-US" dirty="0"/>
              <a:t>Jobs are at the core of Jenkins' functionality, allowing users to define pipelines for </a:t>
            </a:r>
            <a:r>
              <a:rPr lang="en-US" b="1" dirty="0"/>
              <a:t>Continuous Integration </a:t>
            </a:r>
            <a:r>
              <a:rPr lang="en-US" dirty="0"/>
              <a:t>(CI) and </a:t>
            </a:r>
            <a:r>
              <a:rPr lang="en-US" b="1" dirty="0"/>
              <a:t>Continuous Delivery </a:t>
            </a:r>
            <a:r>
              <a:rPr lang="en-US" dirty="0"/>
              <a:t>(CD).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D1F754-B7FB-F7EE-9232-1EFB0CEE8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Jobs and Automatic Build Settings</a:t>
            </a:r>
          </a:p>
        </p:txBody>
      </p:sp>
    </p:spTree>
    <p:extLst>
      <p:ext uri="{BB962C8B-B14F-4D97-AF65-F5344CB8AC3E}">
        <p14:creationId xmlns:p14="http://schemas.microsoft.com/office/powerpoint/2010/main" val="3222066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D009C-83DD-BFB2-FB72-F694A06BA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B70C0-47EE-4545-F45C-360D4CC20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C7963-B6FA-2B06-C4D8-EDB2288E0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Freestyle Project:</a:t>
            </a:r>
          </a:p>
          <a:p>
            <a:pPr lvl="1"/>
            <a:r>
              <a:rPr lang="en-US" dirty="0"/>
              <a:t>A general-purpose job for simple builds.</a:t>
            </a:r>
          </a:p>
          <a:p>
            <a:pPr lvl="1"/>
            <a:r>
              <a:rPr lang="en-US" dirty="0"/>
              <a:t>Ideal for executing shell scripts, running tests, or compiling code.</a:t>
            </a:r>
          </a:p>
          <a:p>
            <a:r>
              <a:rPr lang="en-US" b="1" dirty="0"/>
              <a:t>Pipeline Project:</a:t>
            </a:r>
          </a:p>
          <a:p>
            <a:pPr lvl="1"/>
            <a:r>
              <a:rPr lang="en-US" dirty="0"/>
              <a:t>Allows defining build steps as code using </a:t>
            </a:r>
            <a:r>
              <a:rPr lang="en-US" dirty="0" err="1"/>
              <a:t>Jenkinsfile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Supports complex CI/CD workflows. (declarative or scripted)</a:t>
            </a:r>
          </a:p>
          <a:p>
            <a:r>
              <a:rPr lang="en-US" b="1" dirty="0"/>
              <a:t>Folder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Used for organizing and grouping multiple jobs.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8A724-CA8B-5531-0F1C-B863A8881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BDB3F-BA46-6304-D994-ED5D90AA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1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4A418-5754-91C3-6166-2EC955853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6756-ADF0-419C-D36A-9178CF81D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A55E7-6B91-48F2-5DC8-E0861C109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Multi-Branch Pipeline:</a:t>
            </a:r>
          </a:p>
          <a:p>
            <a:pPr lvl="1"/>
            <a:r>
              <a:rPr lang="en-US" dirty="0"/>
              <a:t>Automatically creates pipelines for branches in a source repository.</a:t>
            </a:r>
          </a:p>
          <a:p>
            <a:r>
              <a:rPr lang="en-US" b="1" dirty="0"/>
              <a:t>Organization Folder/External Job:</a:t>
            </a:r>
          </a:p>
          <a:p>
            <a:pPr lvl="1"/>
            <a:r>
              <a:rPr lang="en-US" dirty="0"/>
              <a:t>Tracks the execution of jobs run outside Jenkins.</a:t>
            </a:r>
          </a:p>
          <a:p>
            <a:r>
              <a:rPr lang="en-US" b="1" dirty="0"/>
              <a:t>Multi-Configuration Project:</a:t>
            </a:r>
          </a:p>
          <a:p>
            <a:pPr lvl="1"/>
            <a:r>
              <a:rPr lang="en-US" dirty="0"/>
              <a:t>Useful for testing different configurations (e.g., multiple OS environments).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30446-B937-E33C-6912-0B6CDD3D9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0D6B3-B78B-CD33-DFAC-9B5143586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73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13253-31B7-2E87-94F9-8C29D14CE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C8E50-B1FA-B692-EBF3-3750C944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CA645-8257-1855-8374-D217145E5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Log in to </a:t>
            </a:r>
            <a:r>
              <a:rPr lang="en-US" b="1" i="1" dirty="0"/>
              <a:t>Jenkins Dashboard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Open Jenkins in your browser (e.g., </a:t>
            </a:r>
            <a:r>
              <a:rPr lang="en-US" dirty="0">
                <a:hlinkClick r:id="rId2"/>
              </a:rPr>
              <a:t>http://localhost:8080</a:t>
            </a:r>
            <a:r>
              <a:rPr lang="en-US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Create a New Job:</a:t>
            </a:r>
          </a:p>
          <a:p>
            <a:pPr lvl="1"/>
            <a:r>
              <a:rPr lang="en-US" dirty="0"/>
              <a:t>Click on "</a:t>
            </a:r>
            <a:r>
              <a:rPr lang="en-US" i="1" dirty="0"/>
              <a:t>New Item</a:t>
            </a:r>
            <a:r>
              <a:rPr lang="en-US" dirty="0"/>
              <a:t>".</a:t>
            </a:r>
          </a:p>
          <a:p>
            <a:pPr lvl="1"/>
            <a:r>
              <a:rPr lang="en-US" dirty="0"/>
              <a:t>Enter the job name (e.g., </a:t>
            </a:r>
            <a:r>
              <a:rPr lang="en-US" dirty="0" err="1"/>
              <a:t>MyProject</a:t>
            </a:r>
            <a:r>
              <a:rPr lang="en-US" dirty="0"/>
              <a:t>-Build).</a:t>
            </a:r>
          </a:p>
          <a:p>
            <a:pPr lvl="1"/>
            <a:r>
              <a:rPr lang="en-US" dirty="0"/>
              <a:t>Select the type of job (e.g., Freestyle Project, Pipeline).</a:t>
            </a:r>
          </a:p>
          <a:p>
            <a:pPr lvl="1"/>
            <a:r>
              <a:rPr lang="en-US" dirty="0"/>
              <a:t>Click "OK".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63B73-024D-DFB6-91A5-E35DC909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5C114-2350-6789-A9F7-9D76B988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82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55F63-8E5E-FFBC-D8A2-0A428C044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6F8C-38C8-ACA9-F24B-675EBB82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E3402-1C25-C601-4EEA-54CCFB584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Configure the Job</a:t>
            </a:r>
            <a:r>
              <a:rPr lang="en-US" dirty="0"/>
              <a:t>:</a:t>
            </a:r>
          </a:p>
          <a:p>
            <a:pPr lvl="1"/>
            <a:r>
              <a:rPr lang="en-US" sz="2400" b="1" dirty="0"/>
              <a:t>Source Code Management</a:t>
            </a:r>
            <a:r>
              <a:rPr lang="en-US" sz="2400" dirty="0"/>
              <a:t>:</a:t>
            </a:r>
          </a:p>
          <a:p>
            <a:pPr lvl="2"/>
            <a:r>
              <a:rPr lang="en-US" sz="2400" dirty="0"/>
              <a:t>Select </a:t>
            </a:r>
            <a:r>
              <a:rPr lang="en-US" sz="2400" b="1" dirty="0"/>
              <a:t>Git</a:t>
            </a:r>
            <a:r>
              <a:rPr lang="en-US" sz="2400" dirty="0"/>
              <a:t> or other SCM tools. (Add the repository URL and credentials.)</a:t>
            </a:r>
          </a:p>
          <a:p>
            <a:pPr lvl="1"/>
            <a:r>
              <a:rPr lang="en-US" sz="2400" b="1" dirty="0"/>
              <a:t>Build Triggers</a:t>
            </a:r>
            <a:r>
              <a:rPr lang="en-US" sz="2400" dirty="0"/>
              <a:t>:</a:t>
            </a:r>
          </a:p>
          <a:p>
            <a:pPr lvl="2"/>
            <a:r>
              <a:rPr lang="en-US" sz="2400" dirty="0"/>
              <a:t>Enable automatic builds (e.g., Poll SCM, GitHub Webhook).</a:t>
            </a:r>
          </a:p>
          <a:p>
            <a:pPr lvl="1"/>
            <a:r>
              <a:rPr lang="en-US" sz="2400" b="1" dirty="0"/>
              <a:t>Build Steps</a:t>
            </a:r>
            <a:r>
              <a:rPr lang="en-US" sz="2400" dirty="0"/>
              <a:t>:</a:t>
            </a:r>
          </a:p>
          <a:p>
            <a:pPr lvl="2"/>
            <a:r>
              <a:rPr lang="en-US" sz="2400" dirty="0"/>
              <a:t>Add steps like </a:t>
            </a:r>
            <a:r>
              <a:rPr lang="en-US" sz="2400" b="1" dirty="0"/>
              <a:t>Execute Shell</a:t>
            </a:r>
            <a:r>
              <a:rPr lang="en-US" sz="2400" dirty="0"/>
              <a:t>, </a:t>
            </a:r>
            <a:r>
              <a:rPr lang="en-US" sz="2400" b="1" dirty="0"/>
              <a:t>Invoke Gradle</a:t>
            </a:r>
            <a:r>
              <a:rPr lang="en-US" sz="2400" dirty="0"/>
              <a:t>, or </a:t>
            </a:r>
            <a:r>
              <a:rPr lang="en-US" sz="2400" b="1" dirty="0"/>
              <a:t>Invoke Maven</a:t>
            </a:r>
            <a:r>
              <a:rPr lang="en-US" sz="2400" dirty="0"/>
              <a:t>.</a:t>
            </a:r>
          </a:p>
          <a:p>
            <a:pPr lvl="1"/>
            <a:r>
              <a:rPr lang="en-US" sz="2400" b="1" dirty="0"/>
              <a:t>Post-Build Actions</a:t>
            </a:r>
            <a:r>
              <a:rPr lang="en-US" sz="2400" dirty="0"/>
              <a:t>:</a:t>
            </a:r>
          </a:p>
          <a:p>
            <a:pPr lvl="2"/>
            <a:r>
              <a:rPr lang="en-US" sz="2400" dirty="0"/>
              <a:t>Define actions like archiving artifacts, sending notifications, or deploying.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93AB7-1E93-9953-E13E-B1F500D78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0D3BB-AF28-1FA3-7EAF-629A7B104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863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37444-AEC0-A008-E49C-61EE55689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5F2A-9179-3FD6-D5E8-B2DE943D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6435E-5F0A-4973-0B1A-A6ECA2A9D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b="1" dirty="0"/>
              <a:t>Save the Job:</a:t>
            </a:r>
          </a:p>
          <a:p>
            <a:pPr lvl="1"/>
            <a:r>
              <a:rPr lang="en-US" dirty="0"/>
              <a:t>Click "Save" to create the job.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b="1" dirty="0"/>
              <a:t>Run the Job:</a:t>
            </a:r>
          </a:p>
          <a:p>
            <a:pPr lvl="1"/>
            <a:r>
              <a:rPr lang="en-US" dirty="0"/>
              <a:t>Trigger the job manually by clicking "Build Now" or wait for an automated trigger.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BFBA7-C1F4-4EE5-DBC5-922AE112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1DAF1-CD49-22D4-B822-62D3C65C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985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955DB-F26F-CD59-1C8C-0F58FCF43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7C640-044F-9491-1DAF-59C766D31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Automatic Build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A8F1D-F8B2-8EE0-3B4D-E9E505B8B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Automation in Jenkins is enabled by defining triggers that initiate builds automatically.</a:t>
            </a:r>
          </a:p>
          <a:p>
            <a:r>
              <a:rPr lang="en-US" dirty="0"/>
              <a:t> </a:t>
            </a:r>
            <a:r>
              <a:rPr lang="en-US" b="1" dirty="0"/>
              <a:t>Poll SCM</a:t>
            </a:r>
          </a:p>
          <a:p>
            <a:pPr lvl="1"/>
            <a:r>
              <a:rPr lang="en-US" dirty="0"/>
              <a:t>Periodically checks the source repository for changes.</a:t>
            </a:r>
          </a:p>
          <a:p>
            <a:pPr lvl="1"/>
            <a:r>
              <a:rPr lang="en-US" b="1" dirty="0"/>
              <a:t>Configuration:</a:t>
            </a:r>
          </a:p>
          <a:p>
            <a:pPr lvl="2"/>
            <a:r>
              <a:rPr lang="en-US" dirty="0"/>
              <a:t>In the "Build Triggers" section, select </a:t>
            </a:r>
            <a:r>
              <a:rPr lang="en-US" b="1" dirty="0"/>
              <a:t>Poll SCM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Define a schedule in cron format (e.g., H/5 * * * * to check every 5 minutes).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06BFA-1BAB-D62A-F09A-5D1F4DCDF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3761C-BAD1-8DB0-6A0C-616CD6F5B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304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A66B9-5B1A-2841-601D-31050FB24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12607-2C7D-A1BC-CB70-CDF68D92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Automatic Build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D308C-3681-8BE8-F9FA-35A268348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Webhook Integration</a:t>
            </a:r>
          </a:p>
          <a:p>
            <a:pPr lvl="1"/>
            <a:r>
              <a:rPr lang="en-US" dirty="0"/>
              <a:t>Triggers build automatically when changes are pushed to the repository.</a:t>
            </a:r>
          </a:p>
          <a:p>
            <a:pPr lvl="1"/>
            <a:r>
              <a:rPr lang="en-US" b="1" dirty="0"/>
              <a:t>Configuration:</a:t>
            </a:r>
          </a:p>
          <a:p>
            <a:pPr lvl="2"/>
            <a:r>
              <a:rPr lang="en-US" dirty="0"/>
              <a:t>Configure a webhook in the version control system (e.g., GitHub).</a:t>
            </a:r>
          </a:p>
          <a:p>
            <a:pPr lvl="2"/>
            <a:r>
              <a:rPr lang="en-US" dirty="0"/>
              <a:t>Use Jenkins' webhook URL (e.g., </a:t>
            </a:r>
            <a:r>
              <a:rPr lang="en-US" i="1" dirty="0">
                <a:hlinkClick r:id="rId2"/>
              </a:rPr>
              <a:t>http://your-jenkins-server/github-webhook/</a:t>
            </a:r>
            <a:r>
              <a:rPr lang="en-US" dirty="0"/>
              <a:t>). (use ngrok for custom domain other than localhost)</a:t>
            </a:r>
          </a:p>
          <a:p>
            <a:pPr lvl="2"/>
            <a:r>
              <a:rPr lang="en-US" dirty="0"/>
              <a:t>Install the </a:t>
            </a:r>
            <a:r>
              <a:rPr lang="en-US" b="1" dirty="0"/>
              <a:t>GitHub Integration Plugin </a:t>
            </a:r>
            <a:r>
              <a:rPr lang="en-US" dirty="0"/>
              <a:t>if required.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0A8C8-5E13-E2B4-3B31-DBA98E57E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43D37-EF6A-A9EA-DB83-E3867A55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3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30AE-510E-9641-E555-C06B77C6C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B5EE-E469-0F7D-5AF0-C371049F8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Automatic Build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64EF3-EFB6-B864-B547-050F9032E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Build Periodically</a:t>
            </a:r>
          </a:p>
          <a:p>
            <a:pPr lvl="1"/>
            <a:r>
              <a:rPr lang="en-US" dirty="0"/>
              <a:t>Schedules builds at fixed intervals.</a:t>
            </a:r>
          </a:p>
          <a:p>
            <a:pPr lvl="1"/>
            <a:r>
              <a:rPr lang="en-US" b="1" dirty="0"/>
              <a:t>Configuration:</a:t>
            </a:r>
          </a:p>
          <a:p>
            <a:pPr lvl="2"/>
            <a:r>
              <a:rPr lang="en-US" dirty="0"/>
              <a:t>In the "Build Triggers" section, select </a:t>
            </a:r>
            <a:r>
              <a:rPr lang="en-US" b="1" dirty="0"/>
              <a:t>Build Periodically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Define a schedule in cron format (e.g., H 0 * * * to build every midnight).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AD83C-BA85-0FE5-A0C4-6A5370064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CB698-9081-7F9E-D383-6F9D451D1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5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DB3E5-6B05-6493-7B68-0D15FD15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1067-6515-4959-8556-6D14F3BCB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Automatic Build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29251-F3BE-5A6F-79A5-5B3DA45C6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Post-Commit Hooks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Directly triggers builds upon commits using hooks from version control systems like Git or SVN.</a:t>
            </a:r>
          </a:p>
          <a:p>
            <a:r>
              <a:rPr lang="en-US" b="1" dirty="0"/>
              <a:t>Dependency Triggers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Automatically starts a job if another job completes successfully.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F9819-6FE1-FE13-BEDC-647EB280B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2E84B-CE40-10F7-238D-3784D4A0D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43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CB1C5-43B5-3AAB-80FE-1B2D1E0E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62CF2-6ACB-93D2-DD6C-97A5433EA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Practical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DD09D-CC82-A736-B587-81A1F7E16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en-US" b="1" dirty="0"/>
              <a:t>Example 1: Freestyle Job</a:t>
            </a:r>
          </a:p>
          <a:p>
            <a:pPr lvl="0"/>
            <a:r>
              <a:rPr lang="en-US" altLang="en-US" b="1" dirty="0"/>
              <a:t>Objective</a:t>
            </a:r>
            <a:r>
              <a:rPr lang="en-US" altLang="en-US" dirty="0"/>
              <a:t>: Build a Java project with Maven.</a:t>
            </a:r>
          </a:p>
          <a:p>
            <a:pPr lvl="0"/>
            <a:r>
              <a:rPr lang="en-US" altLang="en-US" b="1" dirty="0"/>
              <a:t>Steps: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altLang="en-US" dirty="0"/>
              <a:t>Create a Freestyle Project.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altLang="en-US" dirty="0"/>
              <a:t>Configure Git as the source code management.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altLang="en-US" dirty="0"/>
              <a:t>Add a build step to invoke Maven:</a:t>
            </a:r>
          </a:p>
          <a:p>
            <a:pPr marL="548640" lvl="2" indent="0">
              <a:buNone/>
            </a:pPr>
            <a:r>
              <a:rPr lang="en-US" altLang="en-US" i="1" dirty="0">
                <a:solidFill>
                  <a:srgbClr val="FF0000"/>
                </a:solidFill>
              </a:rPr>
              <a:t>clean package 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altLang="en-US" dirty="0"/>
              <a:t>Enable Poll SCM with H/10 * * * * to trigger every 10 minutes.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BDC6A-B588-A82C-52A1-835D92920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93B61-C5A3-8567-DD7C-892257BB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88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D79E2-B762-0633-4C2B-AF4EFDF6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EF98E-D43F-83BC-499B-4ED72E8F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Practical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15737-7731-0AB2-42FF-E080B04A2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828805"/>
            <a:ext cx="4648198" cy="4663439"/>
          </a:xfrm>
        </p:spPr>
        <p:txBody>
          <a:bodyPr/>
          <a:lstStyle/>
          <a:p>
            <a:pPr lvl="0"/>
            <a:r>
              <a:rPr lang="en-US" altLang="en-US" b="1" dirty="0"/>
              <a:t>Example 2: Pipeline Job</a:t>
            </a:r>
          </a:p>
          <a:p>
            <a:pPr lvl="0"/>
            <a:r>
              <a:rPr lang="en-US" altLang="en-US" b="1" dirty="0"/>
              <a:t>Objective</a:t>
            </a:r>
            <a:r>
              <a:rPr lang="en-US" altLang="en-US" dirty="0"/>
              <a:t>: Define a CI/CD pipeline using </a:t>
            </a:r>
            <a:r>
              <a:rPr lang="en-US" altLang="en-US" i="1" dirty="0" err="1"/>
              <a:t>Jenkinsfile</a:t>
            </a:r>
            <a:r>
              <a:rPr lang="en-US" altLang="en-US" dirty="0"/>
              <a:t>.</a:t>
            </a:r>
          </a:p>
          <a:p>
            <a:pPr lvl="0"/>
            <a:r>
              <a:rPr lang="en-US" altLang="en-US" b="1" dirty="0"/>
              <a:t>Steps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Create a Pipeline job.</a:t>
            </a:r>
          </a:p>
          <a:p>
            <a:pPr lvl="1"/>
            <a:r>
              <a:rPr lang="en-US" altLang="en-US" dirty="0"/>
              <a:t>Set the repository to contain a </a:t>
            </a:r>
            <a:r>
              <a:rPr lang="en-US" altLang="en-US" i="1" dirty="0" err="1"/>
              <a:t>Jenkinsfile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Example </a:t>
            </a:r>
            <a:r>
              <a:rPr lang="en-US" altLang="en-US" i="1" dirty="0" err="1"/>
              <a:t>Jenkinsfile</a:t>
            </a:r>
            <a:endParaRPr lang="en-US" altLang="en-US" i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C5E68-B7DD-146F-8584-C46E2AEE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E1152-35CE-3222-CAD6-37785F2C2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9EC4C06-38FA-481F-A879-24A75B27C18C}"/>
              </a:ext>
            </a:extLst>
          </p:cNvPr>
          <p:cNvSpPr txBox="1">
            <a:spLocks/>
          </p:cNvSpPr>
          <p:nvPr/>
        </p:nvSpPr>
        <p:spPr>
          <a:xfrm>
            <a:off x="5486402" y="1600200"/>
            <a:ext cx="5333998" cy="46634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 spc="10" baseline="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3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1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pipeline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agent any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stages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    stage('Build')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        steps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            </a:t>
            </a:r>
            <a:r>
              <a:rPr lang="en-US" altLang="en-US" sz="1400" i="1" dirty="0" err="1">
                <a:solidFill>
                  <a:srgbClr val="FF0000"/>
                </a:solidFill>
              </a:rPr>
              <a:t>sh</a:t>
            </a:r>
            <a:r>
              <a:rPr lang="en-US" altLang="en-US" sz="1400" i="1" dirty="0">
                <a:solidFill>
                  <a:srgbClr val="FF0000"/>
                </a:solidFill>
              </a:rPr>
              <a:t> '</a:t>
            </a:r>
            <a:r>
              <a:rPr lang="en-US" altLang="en-US" sz="1400" i="1" dirty="0" err="1">
                <a:solidFill>
                  <a:srgbClr val="FF0000"/>
                </a:solidFill>
              </a:rPr>
              <a:t>mvn</a:t>
            </a:r>
            <a:r>
              <a:rPr lang="en-US" altLang="en-US" sz="1400" i="1" dirty="0">
                <a:solidFill>
                  <a:srgbClr val="FF0000"/>
                </a:solidFill>
              </a:rPr>
              <a:t> clean package'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    stage('Test')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        steps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            </a:t>
            </a:r>
            <a:r>
              <a:rPr lang="en-US" altLang="en-US" sz="1400" i="1" dirty="0" err="1">
                <a:solidFill>
                  <a:srgbClr val="FF0000"/>
                </a:solidFill>
              </a:rPr>
              <a:t>sh</a:t>
            </a:r>
            <a:r>
              <a:rPr lang="en-US" altLang="en-US" sz="1400" i="1" dirty="0">
                <a:solidFill>
                  <a:srgbClr val="FF0000"/>
                </a:solidFill>
              </a:rPr>
              <a:t> '</a:t>
            </a:r>
            <a:r>
              <a:rPr lang="en-US" altLang="en-US" sz="1400" i="1" dirty="0" err="1">
                <a:solidFill>
                  <a:srgbClr val="FF0000"/>
                </a:solidFill>
              </a:rPr>
              <a:t>mvn</a:t>
            </a:r>
            <a:r>
              <a:rPr lang="en-US" altLang="en-US" sz="1400" i="1" dirty="0">
                <a:solidFill>
                  <a:srgbClr val="FF0000"/>
                </a:solidFill>
              </a:rPr>
              <a:t> test'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    stage('Deploy')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        steps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            echo 'Deploying the application...'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1400" i="1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4436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3C775-6A52-0065-3843-02035D262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FE3FF-870D-9B7B-EE12-E172DC161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A8EF1-E650-CE8C-3E6A-486C6239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FC3CEE-AD36-CE00-5A28-E9F9CE738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delivery pipeline is an automated process.</a:t>
            </a:r>
          </a:p>
          <a:p>
            <a:r>
              <a:rPr lang="en-US" dirty="0"/>
              <a:t>It ensures code changes are tested, built, and deployed through different stages (build, test, and release) in a streamlined, repeatable, and reliable manner.</a:t>
            </a:r>
          </a:p>
          <a:p>
            <a:r>
              <a:rPr lang="en-US" dirty="0"/>
              <a:t>Jenkins supports creating delivery pipelines for Continuous Integration (CI) and Continuous Delivery (CD).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80BDB-C3C0-412A-3834-D9EC731E4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Delivery Pipeline</a:t>
            </a:r>
          </a:p>
        </p:txBody>
      </p:sp>
    </p:spTree>
    <p:extLst>
      <p:ext uri="{BB962C8B-B14F-4D97-AF65-F5344CB8AC3E}">
        <p14:creationId xmlns:p14="http://schemas.microsoft.com/office/powerpoint/2010/main" val="24933148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947F8-3BA4-1C6F-1A8A-E6587F33A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Components of Delivery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CF553-9398-3B44-CD5D-F5058C15C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 lnSpcReduction="10000"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altLang="en-US" b="1" dirty="0"/>
              <a:t>Source Control Management (SCM):</a:t>
            </a:r>
          </a:p>
          <a:p>
            <a:pPr lvl="1"/>
            <a:r>
              <a:rPr lang="en-US" altLang="en-US" dirty="0"/>
              <a:t>Tracks changes in the source code.</a:t>
            </a:r>
          </a:p>
          <a:p>
            <a:pPr lvl="1"/>
            <a:r>
              <a:rPr lang="en-US" altLang="en-US" dirty="0"/>
              <a:t>Example tools: Git, Bitbucket, GitHub, GitLab.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altLang="en-US" b="1" dirty="0"/>
              <a:t>Build Stage:</a:t>
            </a:r>
          </a:p>
          <a:p>
            <a:pPr lvl="1"/>
            <a:r>
              <a:rPr lang="en-US" altLang="en-US" dirty="0"/>
              <a:t>Compiles the source code into binaries or packages.</a:t>
            </a:r>
          </a:p>
          <a:p>
            <a:pPr lvl="1"/>
            <a:r>
              <a:rPr lang="en-US" altLang="en-US" dirty="0"/>
              <a:t>Example: Using Maven, Gradle, or npm.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altLang="en-US" b="1" dirty="0"/>
              <a:t>Test Stage:</a:t>
            </a:r>
          </a:p>
          <a:p>
            <a:pPr lvl="1"/>
            <a:r>
              <a:rPr lang="en-US" altLang="en-US" dirty="0"/>
              <a:t>Runs unit, integration, and functional tests to verify code quality.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altLang="en-US" b="1" dirty="0"/>
              <a:t>Release/Deploy Stage:</a:t>
            </a:r>
          </a:p>
          <a:p>
            <a:pPr lvl="1"/>
            <a:r>
              <a:rPr lang="en-US" altLang="en-US" dirty="0"/>
              <a:t>Deploys the application to different environments (e.g., staging, production).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48FAB-219D-AD02-2246-9E070388E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AD904-DE81-26EF-80E2-CC7DDFFC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/>
          <a:lstStyle/>
          <a:p>
            <a:fld id="{2D7BCAC6-6F2C-433A-BE87-D0A9451C880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231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6FF71-4B2D-BB76-9072-800EA560E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5EE6-2598-8E00-B45C-B7605286E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Building Delivery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A31F8-5A65-6BBE-450B-832E2CB40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Step 1: Set Up Prerequisites</a:t>
            </a:r>
          </a:p>
          <a:p>
            <a:pPr lvl="1"/>
            <a:r>
              <a:rPr lang="en-US" dirty="0"/>
              <a:t>Install Jenkins.</a:t>
            </a:r>
          </a:p>
          <a:p>
            <a:pPr lvl="1"/>
            <a:r>
              <a:rPr lang="en-US" dirty="0"/>
              <a:t>Install required plugins:</a:t>
            </a:r>
          </a:p>
          <a:p>
            <a:pPr marL="1074420" lvl="2" indent="-342900"/>
            <a:r>
              <a:rPr lang="en-US" b="1" dirty="0"/>
              <a:t>Pipeline</a:t>
            </a:r>
            <a:r>
              <a:rPr lang="en-US" dirty="0"/>
              <a:t>: To create scripted or declarative pipelines.</a:t>
            </a:r>
          </a:p>
          <a:p>
            <a:pPr marL="1074420" lvl="2" indent="-342900"/>
            <a:r>
              <a:rPr lang="en-US" b="1" dirty="0"/>
              <a:t>Git</a:t>
            </a:r>
            <a:r>
              <a:rPr lang="en-US" dirty="0"/>
              <a:t>: For source control integration.</a:t>
            </a:r>
          </a:p>
          <a:p>
            <a:pPr marL="1074420" lvl="2" indent="-342900"/>
            <a:r>
              <a:rPr lang="en-US" b="1" dirty="0"/>
              <a:t>Maven/Gradle/NPM</a:t>
            </a:r>
            <a:r>
              <a:rPr lang="en-US" dirty="0"/>
              <a:t>: For build tools.</a:t>
            </a:r>
          </a:p>
          <a:p>
            <a:pPr lvl="1"/>
            <a:r>
              <a:rPr lang="en-US" dirty="0"/>
              <a:t>Set up SCM access in Jenkins (e.g., GitHub credentials).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A6108-E65D-C458-84F1-4E0B73A8D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F8CA2-5E58-E6B2-75B7-F0B062246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/>
          <a:lstStyle/>
          <a:p>
            <a:fld id="{2D7BCAC6-6F2C-433A-BE87-D0A9451C880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07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E6DCA-E5A9-95D2-DC1F-B60449BFA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67B3-0E10-74D8-FD15-538DA05ED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Building Delivery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75962-6C24-E58D-F1E7-51758C002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Step 2: Create a New Pipeline Job</a:t>
            </a:r>
          </a:p>
          <a:p>
            <a:pPr lvl="1"/>
            <a:r>
              <a:rPr lang="en-US" dirty="0"/>
              <a:t>Log in to the Jenkins dashboard.</a:t>
            </a:r>
          </a:p>
          <a:p>
            <a:pPr lvl="1"/>
            <a:r>
              <a:rPr lang="en-US" dirty="0"/>
              <a:t>Click </a:t>
            </a:r>
            <a:r>
              <a:rPr lang="en-US" b="1" i="1" dirty="0"/>
              <a:t>New Item</a:t>
            </a:r>
            <a:r>
              <a:rPr lang="en-US" i="1" dirty="0"/>
              <a:t> &gt; Enter a name for the pipeline &gt; Select </a:t>
            </a:r>
            <a:r>
              <a:rPr lang="en-US" b="1" i="1" dirty="0"/>
              <a:t>Pipeline</a:t>
            </a:r>
            <a:r>
              <a:rPr lang="en-US" i="1" dirty="0"/>
              <a:t> &gt; Click </a:t>
            </a:r>
            <a:r>
              <a:rPr lang="en-US" b="1" i="1" dirty="0"/>
              <a:t>OK</a:t>
            </a:r>
            <a:r>
              <a:rPr lang="en-US" i="1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6C391-A29E-643F-7976-1272955DE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32ECD9-650C-B644-1D87-9DC0EFC8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/>
          <a:lstStyle/>
          <a:p>
            <a:fld id="{2D7BCAC6-6F2C-433A-BE87-D0A9451C880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958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E7C0C-C168-EDA9-A30D-667842D0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8B3B-BB1D-72D6-CF33-761BA1570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Building Delivery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E7140-8C99-E89A-97E0-B5C42547F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Step 3: Define the Pipeline Stages</a:t>
            </a:r>
          </a:p>
          <a:p>
            <a:pPr lvl="1"/>
            <a:r>
              <a:rPr lang="en-US" dirty="0"/>
              <a:t>Pipeline stages represent each step in the delivery process.</a:t>
            </a:r>
          </a:p>
          <a:p>
            <a:pPr lvl="1"/>
            <a:r>
              <a:rPr lang="en-US" dirty="0"/>
              <a:t>Use a </a:t>
            </a:r>
            <a:r>
              <a:rPr lang="en-US" i="1" dirty="0" err="1"/>
              <a:t>Jenkinsfile</a:t>
            </a:r>
            <a:r>
              <a:rPr lang="en-US" dirty="0"/>
              <a:t> to define the stages.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67FCD1-5255-A221-FC67-DDD5FD063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EEADA-3F28-93D8-14CE-C56338CA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/>
          <a:lstStyle/>
          <a:p>
            <a:fld id="{2D7BCAC6-6F2C-433A-BE87-D0A9451C880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801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BE82B-B8BE-E20F-F3B7-324E7387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14E2-B096-BE87-81A5-FC954B92C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Building Delivery Pipeline: Example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16B22-9F84-1E93-4C6F-6BBD5B208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1"/>
            <a:ext cx="6400800" cy="54864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pipeline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agent any // Specifies that the pipeline can run on any agent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stages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stage('Checkout')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    steps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        // Clone the source code from Git repository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        git branch: 'main', url: 'https://github.com/your-repo/</a:t>
            </a:r>
            <a:r>
              <a:rPr lang="en-US" sz="1300" i="1" dirty="0" err="1">
                <a:solidFill>
                  <a:srgbClr val="FF0000"/>
                </a:solidFill>
              </a:rPr>
              <a:t>project.git</a:t>
            </a:r>
            <a:r>
              <a:rPr lang="en-US" sz="1300" i="1" dirty="0">
                <a:solidFill>
                  <a:srgbClr val="FF0000"/>
                </a:solidFill>
              </a:rPr>
              <a:t>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stage('Build')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    steps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        // Build the project using Maven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        </a:t>
            </a:r>
            <a:r>
              <a:rPr lang="en-US" sz="1300" i="1" dirty="0" err="1">
                <a:solidFill>
                  <a:srgbClr val="FF0000"/>
                </a:solidFill>
              </a:rPr>
              <a:t>sh</a:t>
            </a:r>
            <a:r>
              <a:rPr lang="en-US" sz="1300" i="1" dirty="0">
                <a:solidFill>
                  <a:srgbClr val="FF0000"/>
                </a:solidFill>
              </a:rPr>
              <a:t> '</a:t>
            </a:r>
            <a:r>
              <a:rPr lang="en-US" sz="1300" i="1" dirty="0" err="1">
                <a:solidFill>
                  <a:srgbClr val="FF0000"/>
                </a:solidFill>
              </a:rPr>
              <a:t>mvn</a:t>
            </a:r>
            <a:r>
              <a:rPr lang="en-US" sz="1300" i="1" dirty="0">
                <a:solidFill>
                  <a:srgbClr val="FF0000"/>
                </a:solidFill>
              </a:rPr>
              <a:t> clean package'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stage('Test')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    steps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        // Run unit tests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        </a:t>
            </a:r>
            <a:r>
              <a:rPr lang="en-US" sz="1300" i="1" dirty="0" err="1">
                <a:solidFill>
                  <a:srgbClr val="FF0000"/>
                </a:solidFill>
              </a:rPr>
              <a:t>sh</a:t>
            </a:r>
            <a:r>
              <a:rPr lang="en-US" sz="1300" i="1" dirty="0">
                <a:solidFill>
                  <a:srgbClr val="FF0000"/>
                </a:solidFill>
              </a:rPr>
              <a:t> '</a:t>
            </a:r>
            <a:r>
              <a:rPr lang="en-US" sz="1300" i="1" dirty="0" err="1">
                <a:solidFill>
                  <a:srgbClr val="FF0000"/>
                </a:solidFill>
              </a:rPr>
              <a:t>mvn</a:t>
            </a:r>
            <a:r>
              <a:rPr lang="en-US" sz="1300" i="1" dirty="0">
                <a:solidFill>
                  <a:srgbClr val="FF0000"/>
                </a:solidFill>
              </a:rPr>
              <a:t> test'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0000"/>
                </a:solidFill>
              </a:rPr>
              <a:t>       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8AD8A-429D-4C2A-8A06-4C0179C3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DEBDE-8044-32A1-570C-C56C733A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/>
          <a:lstStyle/>
          <a:p>
            <a:fld id="{2D7BCAC6-6F2C-433A-BE87-D0A9451C8803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755F15-B86B-F814-E0F1-79A188EE75E1}"/>
              </a:ext>
            </a:extLst>
          </p:cNvPr>
          <p:cNvSpPr txBox="1">
            <a:spLocks/>
          </p:cNvSpPr>
          <p:nvPr/>
        </p:nvSpPr>
        <p:spPr>
          <a:xfrm>
            <a:off x="6400800" y="1447800"/>
            <a:ext cx="4495800" cy="50444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 spc="10" baseline="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3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1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stage('Package') {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    steps {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        // Archive the build artifacts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        </a:t>
            </a:r>
            <a:r>
              <a:rPr lang="en-US" sz="1400" i="1" dirty="0" err="1">
                <a:solidFill>
                  <a:srgbClr val="FF0000"/>
                </a:solidFill>
              </a:rPr>
              <a:t>archiveArtifacts</a:t>
            </a:r>
            <a:r>
              <a:rPr lang="en-US" sz="1400" i="1" dirty="0">
                <a:solidFill>
                  <a:srgbClr val="FF0000"/>
                </a:solidFill>
              </a:rPr>
              <a:t> artifacts: 'target/*.jar', fingerprint: true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stage('Deploy') {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    steps {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        // Deploy to staging environment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        echo 'Deploying to staging environment...'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post {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always {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    // Notify on build completion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    echo 'Pipeline completed!'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r>
              <a:rPr lang="en-US" sz="1400" i="1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02068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94E99-924F-708F-3F34-A85E0939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Delivery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A6084-8231-95BF-AD47-A963226D3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altLang="en-US" b="1" dirty="0"/>
              <a:t>Step 4: Trigger Builds Automatically</a:t>
            </a:r>
          </a:p>
          <a:p>
            <a:pPr lvl="1"/>
            <a:r>
              <a:rPr lang="en-US" altLang="en-US" dirty="0"/>
              <a:t>Set up triggers for automatic builds:</a:t>
            </a:r>
          </a:p>
          <a:p>
            <a:pPr lvl="1"/>
            <a:r>
              <a:rPr lang="en-US" altLang="en-US" b="1" dirty="0"/>
              <a:t>Poll SCM:</a:t>
            </a:r>
          </a:p>
          <a:p>
            <a:pPr lvl="2"/>
            <a:r>
              <a:rPr lang="en-US" altLang="en-US" dirty="0"/>
              <a:t>Check for code changes in the repository periodically.</a:t>
            </a:r>
          </a:p>
          <a:p>
            <a:pPr lvl="2"/>
            <a:r>
              <a:rPr lang="en-US" altLang="en-US" dirty="0"/>
              <a:t>Example: H/15 * * * * (every 15 minutes).</a:t>
            </a:r>
          </a:p>
          <a:p>
            <a:pPr lvl="1"/>
            <a:r>
              <a:rPr lang="en-US" altLang="en-US" b="1" dirty="0"/>
              <a:t>Webhooks:</a:t>
            </a:r>
          </a:p>
          <a:p>
            <a:pPr lvl="2"/>
            <a:r>
              <a:rPr lang="en-US" altLang="en-US" dirty="0"/>
              <a:t>Configure a webhook in the SCM to notify Jenkins of code changes.</a:t>
            </a:r>
          </a:p>
          <a:p>
            <a:pPr lvl="1"/>
            <a:r>
              <a:rPr lang="en-US" altLang="en-US" b="1" dirty="0"/>
              <a:t>Manual Trigger:</a:t>
            </a:r>
          </a:p>
          <a:p>
            <a:pPr lvl="2"/>
            <a:r>
              <a:rPr lang="en-US" altLang="en-US" dirty="0"/>
              <a:t>Manually start a pipeline by clicking Build Now.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64485-B850-E8E4-11DD-0FC10EE29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80BDA-DAB4-651E-087E-20C2F91E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286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DC546-9D6F-3AA1-C369-85BE0982A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AE37F-A54F-9A52-1C5F-A23C7BF09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Delivery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B4DA7-F562-4F49-9F29-6B9B18FCD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5: Monitor and Visualize the Pipeline</a:t>
            </a:r>
          </a:p>
          <a:p>
            <a:pPr lvl="1"/>
            <a:r>
              <a:rPr lang="en-US" dirty="0"/>
              <a:t>Use the Jenkins pipeline view to visualize the stages.</a:t>
            </a:r>
          </a:p>
          <a:p>
            <a:pPr marL="1074420" lvl="2" indent="-342900"/>
            <a:r>
              <a:rPr lang="en-US" dirty="0"/>
              <a:t>Install the </a:t>
            </a:r>
            <a:r>
              <a:rPr lang="en-US" b="1" dirty="0"/>
              <a:t>Pipeline Stage View Plugin</a:t>
            </a:r>
            <a:r>
              <a:rPr lang="en-US" dirty="0"/>
              <a:t> for better insights.</a:t>
            </a:r>
          </a:p>
          <a:p>
            <a:pPr lvl="1"/>
            <a:r>
              <a:rPr lang="en-US" dirty="0"/>
              <a:t>View build logs for troubleshooting.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339A8-5E3F-3153-3204-ADC0359CB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5CA18-37EC-2FB3-0918-EE07A773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795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C768B-CD08-93F0-A4F4-C57BED563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4496B-DC0C-8628-1D5D-CB87987A4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Delivery Pipeline: Advanced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8F359-78E2-291D-B4D5-7747DF07B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828805"/>
            <a:ext cx="4800598" cy="4663439"/>
          </a:xfrm>
        </p:spPr>
        <p:txBody>
          <a:bodyPr>
            <a:normAutofit/>
          </a:bodyPr>
          <a:lstStyle/>
          <a:p>
            <a:r>
              <a:rPr lang="en-US" b="1" dirty="0"/>
              <a:t>Parallel Stages</a:t>
            </a:r>
          </a:p>
          <a:p>
            <a:pPr lvl="1"/>
            <a:r>
              <a:rPr lang="en-US" dirty="0"/>
              <a:t>Run multiple tasks simultaneously to speed up the process.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AE0EB-91DD-EC59-3DFB-C12BC05AA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1E7C5-5188-D656-473C-380F5F23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566AD3-E428-9249-A11C-7D4D82CF8A2D}"/>
              </a:ext>
            </a:extLst>
          </p:cNvPr>
          <p:cNvSpPr txBox="1">
            <a:spLocks/>
          </p:cNvSpPr>
          <p:nvPr/>
        </p:nvSpPr>
        <p:spPr>
          <a:xfrm>
            <a:off x="5334000" y="1828800"/>
            <a:ext cx="4800598" cy="466343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 spc="10" baseline="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3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1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stage('Parallel Testing')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parallel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stage('Unit Tests')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    steps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        </a:t>
            </a:r>
            <a:r>
              <a:rPr lang="en-US" i="1" dirty="0" err="1">
                <a:solidFill>
                  <a:srgbClr val="FF0000"/>
                </a:solidFill>
              </a:rPr>
              <a:t>sh</a:t>
            </a:r>
            <a:r>
              <a:rPr lang="en-US" i="1" dirty="0">
                <a:solidFill>
                  <a:srgbClr val="FF0000"/>
                </a:solidFill>
              </a:rPr>
              <a:t> '</a:t>
            </a:r>
            <a:r>
              <a:rPr lang="en-US" i="1" dirty="0" err="1">
                <a:solidFill>
                  <a:srgbClr val="FF0000"/>
                </a:solidFill>
              </a:rPr>
              <a:t>mvn</a:t>
            </a:r>
            <a:r>
              <a:rPr lang="en-US" i="1" dirty="0">
                <a:solidFill>
                  <a:srgbClr val="FF0000"/>
                </a:solidFill>
              </a:rPr>
              <a:t> test'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stage('Integration Tests')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    steps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        </a:t>
            </a:r>
            <a:r>
              <a:rPr lang="en-US" i="1" dirty="0" err="1">
                <a:solidFill>
                  <a:srgbClr val="FF0000"/>
                </a:solidFill>
              </a:rPr>
              <a:t>sh</a:t>
            </a:r>
            <a:r>
              <a:rPr lang="en-US" i="1" dirty="0">
                <a:solidFill>
                  <a:srgbClr val="FF0000"/>
                </a:solidFill>
              </a:rPr>
              <a:t> './integration-tests.sh'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9684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A510F-42DE-EB92-1BA5-80D912A81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CAD8C-AB31-B0C0-C008-5D6EBFC2C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Delivery Pipeline: Advanced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D8344-6D63-2D4B-4E1E-D724A0A44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828805"/>
            <a:ext cx="4800598" cy="4663439"/>
          </a:xfrm>
        </p:spPr>
        <p:txBody>
          <a:bodyPr>
            <a:normAutofit/>
          </a:bodyPr>
          <a:lstStyle/>
          <a:p>
            <a:r>
              <a:rPr lang="en-US" b="1" dirty="0"/>
              <a:t>Deploy to Multiple Environments</a:t>
            </a:r>
          </a:p>
          <a:p>
            <a:pPr lvl="1"/>
            <a:r>
              <a:rPr lang="en-US" dirty="0"/>
              <a:t>Deploy builds to staging, testing, and production environments.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818A18-8AA1-8772-4EAD-82B3B5B49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81AB59-49AA-1DA9-EDCB-39E23C1A3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28549D-B3F5-689D-01D7-E9C7BF515773}"/>
              </a:ext>
            </a:extLst>
          </p:cNvPr>
          <p:cNvSpPr txBox="1">
            <a:spLocks/>
          </p:cNvSpPr>
          <p:nvPr/>
        </p:nvSpPr>
        <p:spPr>
          <a:xfrm>
            <a:off x="5334000" y="1828800"/>
            <a:ext cx="4800598" cy="466343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 spc="10" baseline="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3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1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stage('Deploy')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steps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script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    if (</a:t>
            </a:r>
            <a:r>
              <a:rPr lang="en-US" i="1" dirty="0" err="1">
                <a:solidFill>
                  <a:srgbClr val="FF0000"/>
                </a:solidFill>
              </a:rPr>
              <a:t>env.BRANCH_NAME</a:t>
            </a:r>
            <a:r>
              <a:rPr lang="en-US" i="1" dirty="0">
                <a:solidFill>
                  <a:srgbClr val="FF0000"/>
                </a:solidFill>
              </a:rPr>
              <a:t> == 'main')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        echo 'Deploying to Production...'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    } else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        echo 'Deploying to Staging...'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77905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7DD65-BF2E-8E9E-0264-32DC9F40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DD0D3-DA28-0ACA-C573-5616257F8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Delivery Pipeline: Advanced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417A5-B632-8BC4-C758-594C309E8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828805"/>
            <a:ext cx="4800598" cy="4663439"/>
          </a:xfrm>
        </p:spPr>
        <p:txBody>
          <a:bodyPr>
            <a:normAutofit/>
          </a:bodyPr>
          <a:lstStyle/>
          <a:p>
            <a:r>
              <a:rPr lang="en-US" b="1" dirty="0"/>
              <a:t>Notifications</a:t>
            </a:r>
          </a:p>
          <a:p>
            <a:pPr lvl="1"/>
            <a:r>
              <a:rPr lang="en-US" dirty="0"/>
              <a:t>Notify team members of pipeline status via email or chat tools (e.g., Slack).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Install the </a:t>
            </a:r>
            <a:r>
              <a:rPr lang="en-US" b="1" dirty="0"/>
              <a:t>Email Extension Plugin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590DA8-A16C-2677-0350-B658D53BA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E228D-E2F4-8869-4719-DF57F93A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304E2C-4ABC-3334-7573-6732D81645B3}"/>
              </a:ext>
            </a:extLst>
          </p:cNvPr>
          <p:cNvSpPr txBox="1">
            <a:spLocks/>
          </p:cNvSpPr>
          <p:nvPr/>
        </p:nvSpPr>
        <p:spPr>
          <a:xfrm>
            <a:off x="5334000" y="1828800"/>
            <a:ext cx="4800598" cy="466343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 spc="10" baseline="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3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1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post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failure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mail to: 'team@example.com',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     subject: "Build Failed: ${</a:t>
            </a:r>
            <a:r>
              <a:rPr lang="en-US" i="1" dirty="0" err="1">
                <a:solidFill>
                  <a:srgbClr val="FF0000"/>
                </a:solidFill>
              </a:rPr>
              <a:t>env.JOB_NAME</a:t>
            </a:r>
            <a:r>
              <a:rPr lang="en-US" i="1" dirty="0">
                <a:solidFill>
                  <a:srgbClr val="FF0000"/>
                </a:solidFill>
              </a:rPr>
              <a:t>} [${</a:t>
            </a:r>
            <a:r>
              <a:rPr lang="en-US" i="1" dirty="0" err="1">
                <a:solidFill>
                  <a:srgbClr val="FF0000"/>
                </a:solidFill>
              </a:rPr>
              <a:t>env.BUILD_NUMBER</a:t>
            </a:r>
            <a:r>
              <a:rPr lang="en-US" i="1" dirty="0">
                <a:solidFill>
                  <a:srgbClr val="FF0000"/>
                </a:solidFill>
              </a:rPr>
              <a:t>}]",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         body: "Check Jenkins for details: ${</a:t>
            </a:r>
            <a:r>
              <a:rPr lang="en-US" i="1" dirty="0" err="1">
                <a:solidFill>
                  <a:srgbClr val="FF0000"/>
                </a:solidFill>
              </a:rPr>
              <a:t>env.BUILD_URL</a:t>
            </a:r>
            <a:r>
              <a:rPr lang="en-US" i="1" dirty="0">
                <a:solidFill>
                  <a:srgbClr val="FF0000"/>
                </a:solidFill>
              </a:rPr>
              <a:t>}"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38135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7CD9A-015C-37C1-4329-E3F7CBC7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13D46-682D-9547-FDC3-EDE56722E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45B12-F2DB-1930-D848-A91DC6322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D7E3ED-AF75-37C7-1277-A276A321F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Jenkins is highly extensible.</a:t>
            </a:r>
          </a:p>
          <a:p>
            <a:r>
              <a:rPr lang="en-US" dirty="0"/>
              <a:t>It has a rich ecosystem of plugins that enable integration with various tools, platforms, and processes.</a:t>
            </a:r>
          </a:p>
          <a:p>
            <a:r>
              <a:rPr lang="en-US" dirty="0"/>
              <a:t>The Plugin Management System is central to configuring and managing these plugins, making Jenkins a versatile and customizable automation tool for DevOps and CI/CD workflows.</a:t>
            </a:r>
          </a:p>
          <a:p>
            <a:r>
              <a:rPr lang="en-US" dirty="0"/>
              <a:t>Jenkins allows developers to create and add custom plugins to extend its functionality.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74370D-0743-822A-82AF-80E3E71E1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>
            <a:normAutofit/>
          </a:bodyPr>
          <a:lstStyle/>
          <a:p>
            <a:r>
              <a:rPr lang="en-US" dirty="0"/>
              <a:t>Plugin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3365253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2BCC8-B746-1D32-531F-E5643F48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A0A4D-440D-7D66-1BE2-65A7EDEED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Plugin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6F977-C4BD-27C1-F706-5D2DBA07F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Access Plugin Manager: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Navigate to </a:t>
            </a:r>
            <a:r>
              <a:rPr lang="en-US" i="1" dirty="0"/>
              <a:t>Jenkins Dashboard &gt; Manage Jenkins &gt; Plugins</a:t>
            </a:r>
            <a:r>
              <a:rPr lang="en-US" dirty="0"/>
              <a:t>.</a:t>
            </a:r>
          </a:p>
          <a:p>
            <a:r>
              <a:rPr lang="en-US" b="1" dirty="0"/>
              <a:t>Tabs in Plugin Manager: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Updates</a:t>
            </a:r>
            <a:r>
              <a:rPr lang="en-US" dirty="0"/>
              <a:t>: Shows plugins that have updates available.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Available</a:t>
            </a:r>
            <a:r>
              <a:rPr lang="en-US" dirty="0"/>
              <a:t>: Displays plugins that are available for installation.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Installed</a:t>
            </a:r>
            <a:r>
              <a:rPr lang="en-US" dirty="0"/>
              <a:t>: Lists plugins currently installed on your Jenkins instance.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Advanced</a:t>
            </a:r>
            <a:r>
              <a:rPr lang="en-US" dirty="0"/>
              <a:t>: Offers advanced options like uploading plugins manually or configuring proxy settings.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248E0-C72B-DDF8-D850-EFB086849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45BDF-5D90-A597-B99D-4A323EE86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899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B7618-DA17-565C-6428-3D787288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F6D72-1936-39A1-D1AD-3DDF95AB7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Plugin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B821A-C18B-F8E7-D284-BABC0966B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Installing Plugins: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Go to the </a:t>
            </a:r>
            <a:r>
              <a:rPr lang="en-US" b="1" i="1" dirty="0"/>
              <a:t>Available</a:t>
            </a:r>
            <a:r>
              <a:rPr lang="en-US" dirty="0"/>
              <a:t> tab.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Search for the desired plugin using the search bar.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Select the plugin and click </a:t>
            </a:r>
            <a:r>
              <a:rPr lang="en-US" b="1" i="1" dirty="0"/>
              <a:t>Install without restart</a:t>
            </a:r>
            <a:r>
              <a:rPr lang="en-US" dirty="0"/>
              <a:t> or </a:t>
            </a:r>
            <a:r>
              <a:rPr lang="en-US" b="1" i="1" dirty="0"/>
              <a:t>Install and restart Jenkins</a:t>
            </a:r>
            <a:r>
              <a:rPr lang="en-US" dirty="0"/>
              <a:t>.</a:t>
            </a:r>
          </a:p>
          <a:p>
            <a:r>
              <a:rPr lang="en-US" b="1" dirty="0"/>
              <a:t>Updating Plugins: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Navigate to the </a:t>
            </a:r>
            <a:r>
              <a:rPr lang="en-US" b="1" i="1" dirty="0"/>
              <a:t>Updates</a:t>
            </a:r>
            <a:r>
              <a:rPr lang="en-US" dirty="0"/>
              <a:t> tab.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Select plugins that need updates and click </a:t>
            </a:r>
            <a:r>
              <a:rPr lang="en-US" b="1" i="1" dirty="0"/>
              <a:t>Update without restart</a:t>
            </a:r>
            <a:r>
              <a:rPr lang="en-US" i="1" dirty="0"/>
              <a:t> </a:t>
            </a:r>
            <a:r>
              <a:rPr lang="en-US" dirty="0"/>
              <a:t>or </a:t>
            </a:r>
            <a:r>
              <a:rPr lang="en-US" b="1" i="1" dirty="0"/>
              <a:t>Update and restart Jenkins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2F962-45C2-197B-B436-28CB5C017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45623-522E-B241-D8CF-674FC5641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4233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5E07A-69E1-C4A6-E2D4-62443B939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0C78-BDBF-3BD5-25E0-71ABBE58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Plugin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CD5D-E099-8A5A-07BB-137ADB75A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Uninstalling Plugins: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Go to the </a:t>
            </a:r>
            <a:r>
              <a:rPr lang="en-US" b="1" i="1" dirty="0"/>
              <a:t>Installed</a:t>
            </a:r>
            <a:r>
              <a:rPr lang="en-US" dirty="0"/>
              <a:t> tab.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Locate the plugin you want to uninstall and click </a:t>
            </a:r>
            <a:r>
              <a:rPr lang="en-US" b="1" i="1" dirty="0"/>
              <a:t>Uninstall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Restart Jenkins to complete the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Manual Installation: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Download the .</a:t>
            </a:r>
            <a:r>
              <a:rPr lang="en-US" dirty="0" err="1"/>
              <a:t>hpi</a:t>
            </a:r>
            <a:r>
              <a:rPr lang="en-US" dirty="0"/>
              <a:t> or .</a:t>
            </a:r>
            <a:r>
              <a:rPr lang="en-US" dirty="0" err="1"/>
              <a:t>jpi</a:t>
            </a:r>
            <a:r>
              <a:rPr lang="en-US" dirty="0"/>
              <a:t> file for the plugin.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Go to the </a:t>
            </a:r>
            <a:r>
              <a:rPr lang="en-US" b="1" i="1" dirty="0"/>
              <a:t>Advanced</a:t>
            </a:r>
            <a:r>
              <a:rPr lang="en-US" b="1" dirty="0"/>
              <a:t> tab </a:t>
            </a:r>
            <a:r>
              <a:rPr lang="en-US" dirty="0"/>
              <a:t>in Plugin Manager and upload the file under </a:t>
            </a:r>
            <a:r>
              <a:rPr lang="en-US" b="1" i="1" dirty="0"/>
              <a:t>Upload Plugin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E85B9-DCF5-E420-F9CC-6E6954958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17972-0CDF-7B7A-166D-C2F041F9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00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A5940-752D-340B-3406-7E2898885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7B8A9-446F-67BD-9238-B6549BCB9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Troubleshooting with Plugins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D0E02-C7EB-C2EF-5474-BC58D78A1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Plugin Conflicts</a:t>
            </a:r>
            <a:r>
              <a:rPr lang="en-US" dirty="0"/>
              <a:t>: Certain plugins may not work well together. Check the Jenkins Plugin Index or community forums for known issues.</a:t>
            </a:r>
          </a:p>
          <a:p>
            <a:r>
              <a:rPr lang="en-US" b="1" dirty="0"/>
              <a:t>Outdated Plugins</a:t>
            </a:r>
            <a:r>
              <a:rPr lang="en-US" dirty="0"/>
              <a:t>: If a plugin causes problems, check if an update is available. Or consider rolling back to the previous version if the issue persists.</a:t>
            </a:r>
          </a:p>
          <a:p>
            <a:r>
              <a:rPr lang="en-US" b="1" dirty="0"/>
              <a:t>Manual Dependency Issues</a:t>
            </a:r>
            <a:r>
              <a:rPr lang="en-US" dirty="0"/>
              <a:t>: Ensure all required dependencies for a plugin are installed.</a:t>
            </a:r>
          </a:p>
          <a:p>
            <a:r>
              <a:rPr lang="en-US" dirty="0"/>
              <a:t>Check logs at </a:t>
            </a:r>
            <a:r>
              <a:rPr lang="en-US" b="1" i="1" dirty="0"/>
              <a:t>Manage Jenkins </a:t>
            </a:r>
            <a:r>
              <a:rPr lang="en-US" i="1" dirty="0"/>
              <a:t>&gt;</a:t>
            </a:r>
            <a:r>
              <a:rPr lang="en-US" b="1" i="1" dirty="0"/>
              <a:t> System Log </a:t>
            </a:r>
            <a:r>
              <a:rPr lang="en-US" dirty="0"/>
              <a:t>to diagnose issues.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748D8-FD8E-BD91-DEE4-0ED5706C4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1AB8A-14D4-39CE-10CD-A086C3FAE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442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1FB5E-15A5-85B4-B3DE-E1D63E46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6B70D-35BD-3578-EB0D-488BE689B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3DB24-8AC2-C172-B2EE-FF56C248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2E5BDD-2E0F-49B1-69D6-D232400C2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important Jenkin’s feature is the notification system.</a:t>
            </a:r>
          </a:p>
          <a:p>
            <a:r>
              <a:rPr lang="en-US" dirty="0"/>
              <a:t>The </a:t>
            </a:r>
            <a:r>
              <a:rPr lang="en-US" b="1" dirty="0"/>
              <a:t>Notification System</a:t>
            </a:r>
            <a:r>
              <a:rPr lang="en-US" dirty="0"/>
              <a:t> in Jenkins enables teams to stay informed about the status of builds, pipelines, deployments, or other critical tasks.</a:t>
            </a:r>
          </a:p>
          <a:p>
            <a:r>
              <a:rPr lang="en-US" dirty="0"/>
              <a:t>It ensures prompt communication by integrating with tools like email, messaging platforms (e.g., Slack, Microsoft Teams), or custom webhooks.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BF2C05-2A70-7930-C8DD-064D48622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Notification System</a:t>
            </a:r>
          </a:p>
        </p:txBody>
      </p:sp>
    </p:spTree>
    <p:extLst>
      <p:ext uri="{BB962C8B-B14F-4D97-AF65-F5344CB8AC3E}">
        <p14:creationId xmlns:p14="http://schemas.microsoft.com/office/powerpoint/2010/main" val="10752142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61C0A-3119-4692-1234-1233B783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81445-ACDA-71C7-AEA3-12A4CC97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Notification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9B072-66D0-C359-3B94-5FD829980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Receive updates on success, failure, or unstable build states.</a:t>
            </a:r>
          </a:p>
          <a:p>
            <a:r>
              <a:rPr lang="en-US" dirty="0"/>
              <a:t>Tailor messages based on specific job events (e.g., job start, failure, or post-build actions, notify only on failure).</a:t>
            </a:r>
          </a:p>
          <a:p>
            <a:r>
              <a:rPr lang="en-US" dirty="0"/>
              <a:t>Send notifications via email, messaging apps, webhooks, or custom APIs.</a:t>
            </a:r>
          </a:p>
          <a:p>
            <a:r>
              <a:rPr lang="en-US" dirty="0"/>
              <a:t>Built-in and plugin-based support for platforms like Slack, Microsoft Teams, and Discord.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A831E-5663-E984-747F-DB64E53B3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AB066-ECF9-AF23-4A94-816F2930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766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1233F-1D16-D531-2772-46B82895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8B676-DA5D-C49E-F65C-92B755B07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Set Up Email Notifications?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7EE24-35CB-B4F1-66C4-7F6F38755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Jenkins has built-in email support to send notifications using SMTP.</a:t>
            </a:r>
          </a:p>
          <a:p>
            <a:r>
              <a:rPr lang="en-US" b="1" dirty="0"/>
              <a:t>Configure System Settings:</a:t>
            </a:r>
          </a:p>
          <a:p>
            <a:pPr lvl="1"/>
            <a:r>
              <a:rPr lang="en-US" dirty="0"/>
              <a:t>Go to </a:t>
            </a:r>
            <a:r>
              <a:rPr lang="en-US" b="1" i="1" dirty="0"/>
              <a:t>Manage Jenkins &gt; System &gt; Extended E-mail Notification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Provide SMTP server details, such as:</a:t>
            </a:r>
          </a:p>
          <a:p>
            <a:pPr lvl="2"/>
            <a:r>
              <a:rPr lang="en-US" dirty="0"/>
              <a:t>SMTP Server: smtp.example.com</a:t>
            </a:r>
          </a:p>
          <a:p>
            <a:pPr lvl="2"/>
            <a:r>
              <a:rPr lang="en-US" dirty="0"/>
              <a:t>Default User E-mail Suffix: @example.com</a:t>
            </a:r>
          </a:p>
          <a:p>
            <a:pPr lvl="2"/>
            <a:r>
              <a:rPr lang="en-US" dirty="0"/>
              <a:t>SMTP Authentication (if required): username and password.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FF9F7-57CE-1742-E789-3435A4F98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75FB5-5ED7-8BBC-C5F4-327B01CA1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971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1226-B4E8-D6D3-7DF0-ECAFE2656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6F4-8CBE-4E6B-C2E7-48B9D2CA9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Set Up Email Notifications?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12E50-2888-9880-4DAC-2D7DB6D5B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Set Up Email for Jobs:</a:t>
            </a:r>
          </a:p>
          <a:p>
            <a:pPr lvl="1"/>
            <a:r>
              <a:rPr lang="en-US" dirty="0"/>
              <a:t>In a job, navigate to </a:t>
            </a:r>
            <a:r>
              <a:rPr lang="en-US" b="1" i="1" dirty="0"/>
              <a:t>Post-build Actions &gt; E-mail Notification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Add recipient email addresses.</a:t>
            </a:r>
          </a:p>
          <a:p>
            <a:pPr lvl="1"/>
            <a:r>
              <a:rPr lang="en-US" dirty="0"/>
              <a:t>Optionally configure advanced options like success or failure triggers.</a:t>
            </a:r>
          </a:p>
          <a:p>
            <a:r>
              <a:rPr lang="en-US" b="1" dirty="0"/>
              <a:t>Test Configuration:</a:t>
            </a:r>
          </a:p>
          <a:p>
            <a:pPr lvl="1"/>
            <a:r>
              <a:rPr lang="en-US" dirty="0"/>
              <a:t>Use the </a:t>
            </a:r>
            <a:r>
              <a:rPr lang="en-US" b="1" i="1" dirty="0"/>
              <a:t>Test configuration by sending the test e-mail </a:t>
            </a:r>
            <a:r>
              <a:rPr lang="en-US" dirty="0"/>
              <a:t>button.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2D939-CCFA-88EE-9239-B691844C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72BCF-7C62-D124-F47F-DF7FE0B0E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708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CF014-EC0E-CD05-35C8-594080F83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772C2-70B2-D8FF-776C-587CCEA73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Set Up Slack Notifications?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ED4D-5232-5262-8905-2510B464E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Slack plugin to send build notifications directly to Slack channels.</a:t>
            </a:r>
          </a:p>
          <a:p>
            <a:r>
              <a:rPr lang="en-US" dirty="0"/>
              <a:t>Install the </a:t>
            </a:r>
            <a:r>
              <a:rPr lang="en-US" b="1" dirty="0"/>
              <a:t>Slack Notification Plugin</a:t>
            </a:r>
            <a:r>
              <a:rPr lang="en-US" dirty="0"/>
              <a:t> from </a:t>
            </a:r>
            <a:r>
              <a:rPr lang="en-US" b="1" i="1" dirty="0"/>
              <a:t>Manage Jenkins &gt; Manage Plugins</a:t>
            </a:r>
            <a:r>
              <a:rPr lang="en-US" i="1" dirty="0"/>
              <a:t>.</a:t>
            </a:r>
          </a:p>
          <a:p>
            <a:r>
              <a:rPr lang="en-US" dirty="0"/>
              <a:t>Go to </a:t>
            </a:r>
            <a:r>
              <a:rPr lang="en-US" b="1" i="1" dirty="0"/>
              <a:t>Manage Jenkins &gt; Configure System &gt; Slack</a:t>
            </a:r>
            <a:r>
              <a:rPr lang="en-US" dirty="0"/>
              <a:t>.</a:t>
            </a:r>
          </a:p>
          <a:p>
            <a:r>
              <a:rPr lang="en-US" dirty="0"/>
              <a:t>Add your Slack workspace details and credentials (e.g., token).</a:t>
            </a:r>
          </a:p>
          <a:p>
            <a:r>
              <a:rPr lang="en-US" dirty="0"/>
              <a:t>Configure a job with </a:t>
            </a:r>
            <a:r>
              <a:rPr lang="en-US" b="1" i="1" dirty="0"/>
              <a:t>Post-build Actions &gt; Slack Notifications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30018-1B55-486F-DB10-E2441C96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C37AB-E476-5A08-938A-BDAFCA26B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2547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8F9CB-F897-4AC0-BB45-C26F76F14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BFABB-FD67-5A47-98F2-D2B7B41E3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Set Up Custom Webhook Notifications?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0DFC7-8EB3-D054-9D27-1A05B13ED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Webhooks allow sending build status updates to external systems or APIs.</a:t>
            </a:r>
          </a:p>
          <a:p>
            <a:r>
              <a:rPr lang="en-US" dirty="0"/>
              <a:t>Install the </a:t>
            </a:r>
            <a:r>
              <a:rPr lang="en-US" b="1" dirty="0"/>
              <a:t>Notification Plugin</a:t>
            </a:r>
            <a:r>
              <a:rPr lang="en-US" dirty="0"/>
              <a:t>.</a:t>
            </a:r>
          </a:p>
          <a:p>
            <a:r>
              <a:rPr lang="en-US" dirty="0"/>
              <a:t>Go to </a:t>
            </a:r>
            <a:r>
              <a:rPr lang="en-US" b="1" i="1" dirty="0"/>
              <a:t>Manage Jenkins &gt; Configure System &gt; Build Notifications</a:t>
            </a:r>
            <a:r>
              <a:rPr lang="en-US" dirty="0"/>
              <a:t>.</a:t>
            </a:r>
          </a:p>
          <a:p>
            <a:r>
              <a:rPr lang="en-US" dirty="0"/>
              <a:t>Add a new endpoint for the webhook URL (e.g., a REST API endpoint).</a:t>
            </a:r>
          </a:p>
          <a:p>
            <a:r>
              <a:rPr lang="en-US" dirty="0"/>
              <a:t>Specify build status types (e.g., success, failure).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34B81-6CE7-7C8B-79C2-263EA756D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BF070-6116-2214-E03B-D3BF231DC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146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62EE4-7410-0EC6-19E7-370722E3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D482C-3BCE-6C5D-2315-53161B5BA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Set Up Other Notifications?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0DCF5-3CB9-1021-7F05-700E41CF5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Plugins are available for various platforms,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Microsoft Teams Notifications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Discord Notifier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Telegram Notifications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14267-1F2E-3785-7FCE-526005E16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21E82-5A7E-89CB-35BB-EB419259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917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E6B7-1CFA-0A14-2FBE-F74DD4158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83D5C-1E1B-EAFC-AAA5-5A2238AC0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Pipeline Specific Notifications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00A57-2D36-8E77-DDD8-03C638BEB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828805"/>
            <a:ext cx="4571997" cy="4663439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a Jenkins pipeline, you can configure notifications directly in the </a:t>
            </a:r>
            <a:r>
              <a:rPr lang="en-US" dirty="0" err="1"/>
              <a:t>Jenkinsfile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0000"/>
                </a:solidFill>
              </a:rPr>
              <a:t>pipeline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0000"/>
                </a:solidFill>
              </a:rPr>
              <a:t>    agent any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0000"/>
                </a:solidFill>
              </a:rPr>
              <a:t>    stages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0000"/>
                </a:solidFill>
              </a:rPr>
              <a:t>        stage('Build')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0000"/>
                </a:solidFill>
              </a:rPr>
              <a:t>            steps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0000"/>
                </a:solidFill>
              </a:rPr>
              <a:t>                echo 'Building...'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0000"/>
                </a:solidFill>
              </a:rPr>
              <a:t>    }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45534-9F2C-00E2-0E4D-FC065FAC8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5EA43-A1D1-D91A-0D17-5E378DA3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B4D983-B70D-946D-9B38-CD5EF445E5EC}"/>
              </a:ext>
            </a:extLst>
          </p:cNvPr>
          <p:cNvSpPr txBox="1">
            <a:spLocks/>
          </p:cNvSpPr>
          <p:nvPr/>
        </p:nvSpPr>
        <p:spPr>
          <a:xfrm>
            <a:off x="6019800" y="1828800"/>
            <a:ext cx="5029198" cy="46634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 spc="10" baseline="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3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1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post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success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    mail to: 'team@example.com',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         subject: "Build Successful: ${</a:t>
            </a:r>
            <a:r>
              <a:rPr lang="en-US" sz="2000" i="1" dirty="0" err="1">
                <a:solidFill>
                  <a:srgbClr val="FF0000"/>
                </a:solidFill>
              </a:rPr>
              <a:t>env.JOB_NAME</a:t>
            </a:r>
            <a:r>
              <a:rPr lang="en-US" sz="2000" i="1" dirty="0">
                <a:solidFill>
                  <a:srgbClr val="FF0000"/>
                </a:solidFill>
              </a:rPr>
              <a:t>}",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         body: "The build was successful!"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failure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    </a:t>
            </a:r>
            <a:r>
              <a:rPr lang="en-US" sz="2000" i="1" dirty="0" err="1">
                <a:solidFill>
                  <a:srgbClr val="FF0000"/>
                </a:solidFill>
              </a:rPr>
              <a:t>slackSend</a:t>
            </a:r>
            <a:r>
              <a:rPr lang="en-US" sz="2000" i="1" dirty="0">
                <a:solidFill>
                  <a:srgbClr val="FF0000"/>
                </a:solidFill>
              </a:rPr>
              <a:t> channel: '#build-failures', message: "Build failed: ${</a:t>
            </a:r>
            <a:r>
              <a:rPr lang="en-US" sz="2000" i="1" dirty="0" err="1">
                <a:solidFill>
                  <a:srgbClr val="FF0000"/>
                </a:solidFill>
              </a:rPr>
              <a:t>env.BUILD_URL</a:t>
            </a:r>
            <a:r>
              <a:rPr lang="en-US" sz="2000" i="1" dirty="0">
                <a:solidFill>
                  <a:srgbClr val="FF0000"/>
                </a:solidFill>
              </a:rPr>
              <a:t>}"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38744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6B9AB-0602-1935-F164-9CC4E5280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D7DE-A124-03DB-C54A-B6B93D84B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Troubleshooting with Notifications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4862D-8768-BCB1-DFD5-FDB566492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Email Not Sending: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Check SMTP server configuration.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Verify network/firewall settings that may block SMTP ports.</a:t>
            </a:r>
          </a:p>
          <a:p>
            <a:r>
              <a:rPr lang="en-US" b="1" dirty="0"/>
              <a:t>Slack Notifications Failing: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Ensure the Slack token is valid.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Check Jenkins logs for plugin errors.</a:t>
            </a:r>
          </a:p>
          <a:p>
            <a:r>
              <a:rPr lang="en-US" b="1" dirty="0"/>
              <a:t>Webhook Issues: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Verify the target webhook endpoint is accessible.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Check for the correct payload format.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0B84E-B1B3-CE35-CEAF-477F85238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6713E-A73F-96C3-130C-79638DF8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298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5BB76-40F0-BFDF-AA90-F486957A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85AD-DFE9-DE97-8187-D48A53BA6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Up a Pipeline for a Simple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1A005-D749-59FD-8C2C-3E7476210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828805"/>
            <a:ext cx="5257797" cy="4663439"/>
          </a:xfrm>
        </p:spPr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Open Jenkins and click </a:t>
            </a:r>
            <a:r>
              <a:rPr lang="en-US" i="1" dirty="0"/>
              <a:t>New Item &gt; Pipeline &gt; Name it "Simple Project" &gt; Click OK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Link it to a GitHub repository containing the project under </a:t>
            </a:r>
            <a:r>
              <a:rPr lang="en-US" i="1" dirty="0"/>
              <a:t>Pipeline &gt; Definition &gt; Pipeline script from SCM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Add the following </a:t>
            </a:r>
            <a:r>
              <a:rPr lang="en-US" i="1" dirty="0" err="1"/>
              <a:t>Jenkinsfile</a:t>
            </a:r>
            <a:r>
              <a:rPr lang="en-US" dirty="0"/>
              <a:t> to the root of your GitHub repository: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74D31-24D4-BAD3-53EE-B8BCF15C5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E574B-7D9F-11C4-89A6-5EB04F59A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381D566-2B86-9AEE-04F1-EEC0A2AAC5EC}"/>
              </a:ext>
            </a:extLst>
          </p:cNvPr>
          <p:cNvSpPr txBox="1">
            <a:spLocks/>
          </p:cNvSpPr>
          <p:nvPr/>
        </p:nvSpPr>
        <p:spPr>
          <a:xfrm>
            <a:off x="5791200" y="1828800"/>
            <a:ext cx="5257797" cy="466343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 spc="10" baseline="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3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1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pipeline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agent any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stages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stage('Build')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    steps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        echo 'Building the project...'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stage('Test')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    steps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        echo 'Running tests...'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stage('Deploy')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    steps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        echo 'Deploying the application...'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32576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9207D-B513-A9D7-CF35-BB132780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88C5-06AB-F9AA-12AC-0CAF05A61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Up a Pipeline for a Simple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C7E41-3326-0E9C-0ACF-733179D0A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828805"/>
            <a:ext cx="5257797" cy="466343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dirty="0"/>
              <a:t>Save the job and click </a:t>
            </a:r>
            <a:r>
              <a:rPr lang="en-US" b="1" dirty="0"/>
              <a:t>Build Now</a:t>
            </a:r>
            <a:r>
              <a:rPr lang="en-US" dirty="0"/>
              <a:t> to run the pipeline.</a:t>
            </a:r>
          </a:p>
          <a:p>
            <a:r>
              <a:rPr lang="en-US" dirty="0"/>
              <a:t>Expected Output:</a:t>
            </a:r>
          </a:p>
          <a:p>
            <a:r>
              <a:rPr lang="en-US" dirty="0"/>
              <a:t>Logs in Jenkins should display messages like: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0C90C-D1FC-DA18-CDBC-4F71A2CFB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74C42-4BF4-E72C-0666-506D9C09C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C863FB-F956-1187-5DE3-430AEB1C1F59}"/>
              </a:ext>
            </a:extLst>
          </p:cNvPr>
          <p:cNvSpPr txBox="1">
            <a:spLocks/>
          </p:cNvSpPr>
          <p:nvPr/>
        </p:nvSpPr>
        <p:spPr>
          <a:xfrm>
            <a:off x="5791200" y="1828800"/>
            <a:ext cx="5257797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 spc="10" baseline="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3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1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Nunito" pitchFamily="2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Building the project...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Running tests...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Deploying the application...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i="1" dirty="0">
                <a:solidFill>
                  <a:srgbClr val="FF0000"/>
                </a:solidFill>
              </a:rPr>
              <a:t>Finished: SUCCESS</a:t>
            </a:r>
          </a:p>
        </p:txBody>
      </p:sp>
    </p:spTree>
    <p:extLst>
      <p:ext uri="{BB962C8B-B14F-4D97-AF65-F5344CB8AC3E}">
        <p14:creationId xmlns:p14="http://schemas.microsoft.com/office/powerpoint/2010/main" val="39843315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E0869-A220-07A1-DD99-6DF41BE502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Jenkins | Lecture 11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E93EF0-C6A1-D794-6D90-9A4B4EF8B6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7A19DD-42F6-B2F5-0131-413CAEF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</a:t>
            </a:r>
            <a:br>
              <a:rPr lang="en-US" dirty="0"/>
            </a:br>
            <a:r>
              <a:rPr lang="en-US" dirty="0"/>
              <a:t>Lecture 11</a:t>
            </a:r>
          </a:p>
        </p:txBody>
      </p:sp>
    </p:spTree>
    <p:extLst>
      <p:ext uri="{BB962C8B-B14F-4D97-AF65-F5344CB8AC3E}">
        <p14:creationId xmlns:p14="http://schemas.microsoft.com/office/powerpoint/2010/main" val="6631980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A128-C4D8-E305-85C9-B03DF2031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0B853-FF2A-5B00-B111-DEB0FB5D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Jenkins | Lecture 11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041C-86CD-85A4-36FE-8ED62F85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1476"/>
      </p:ext>
    </p:extLst>
  </p:cSld>
  <p:clrMapOvr>
    <a:masterClrMapping/>
  </p:clrMapOvr>
</p:sld>
</file>

<file path=ppt/theme/theme1.xml><?xml version="1.0" encoding="utf-8"?>
<a:theme xmlns:a="http://schemas.openxmlformats.org/drawingml/2006/main" name="1_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790</TotalTime>
  <Words>3662</Words>
  <Application>Microsoft Office PowerPoint</Application>
  <PresentationFormat>Widescreen</PresentationFormat>
  <Paragraphs>601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Arial</vt:lpstr>
      <vt:lpstr>Calibri</vt:lpstr>
      <vt:lpstr>Century Schoolbook</vt:lpstr>
      <vt:lpstr>Nunito</vt:lpstr>
      <vt:lpstr>Roboto</vt:lpstr>
      <vt:lpstr>Wingdings 2</vt:lpstr>
      <vt:lpstr>1_View</vt:lpstr>
      <vt:lpstr>PowerPoint Presentation</vt:lpstr>
      <vt:lpstr>Unit 5: Jenkins (5hrs)</vt:lpstr>
      <vt:lpstr>Jenkins Workshop</vt:lpstr>
      <vt:lpstr>Jenkins Workshop</vt:lpstr>
      <vt:lpstr>Jenkins Workshop</vt:lpstr>
      <vt:lpstr>Jenkins Workshop</vt:lpstr>
      <vt:lpstr>Jenkins Workshop</vt:lpstr>
      <vt:lpstr>Jenkins Workshop</vt:lpstr>
      <vt:lpstr>Jenkins Workshop</vt:lpstr>
      <vt:lpstr>Jenkins Workshop</vt:lpstr>
      <vt:lpstr>Jenkins Workshop</vt:lpstr>
      <vt:lpstr>Jenkins Workshop</vt:lpstr>
      <vt:lpstr>Maven</vt:lpstr>
      <vt:lpstr>Features of Maven</vt:lpstr>
      <vt:lpstr>Maven Core Concepts</vt:lpstr>
      <vt:lpstr>Maven Core Concepts</vt:lpstr>
      <vt:lpstr>Maven Core Concepts</vt:lpstr>
      <vt:lpstr>Maven Commands Used</vt:lpstr>
      <vt:lpstr>Integrating Maven with Jenkins</vt:lpstr>
      <vt:lpstr>Creating Jobs and Automatic Build Settings</vt:lpstr>
      <vt:lpstr>Types of Jobs</vt:lpstr>
      <vt:lpstr>Types of Jobs</vt:lpstr>
      <vt:lpstr>Creating Jobs</vt:lpstr>
      <vt:lpstr>Creating Jobs</vt:lpstr>
      <vt:lpstr>Creating Jobs</vt:lpstr>
      <vt:lpstr>Automatic Build Settings</vt:lpstr>
      <vt:lpstr>Automatic Build Settings</vt:lpstr>
      <vt:lpstr>Automatic Build Settings</vt:lpstr>
      <vt:lpstr>Automatic Build Settings</vt:lpstr>
      <vt:lpstr>Practical Example</vt:lpstr>
      <vt:lpstr>Practical Example</vt:lpstr>
      <vt:lpstr>Delivery Pipeline</vt:lpstr>
      <vt:lpstr>Components of Delivery Pipeline</vt:lpstr>
      <vt:lpstr>Building Delivery Pipeline</vt:lpstr>
      <vt:lpstr>Building Delivery Pipeline</vt:lpstr>
      <vt:lpstr>Building Delivery Pipeline</vt:lpstr>
      <vt:lpstr>Building Delivery Pipeline: Example Script</vt:lpstr>
      <vt:lpstr>Building Delivery Pipeline</vt:lpstr>
      <vt:lpstr>Building Delivery Pipeline</vt:lpstr>
      <vt:lpstr>Building Delivery Pipeline: Advanced Features</vt:lpstr>
      <vt:lpstr>Building Delivery Pipeline: Advanced Features</vt:lpstr>
      <vt:lpstr>Building Delivery Pipeline: Advanced Features</vt:lpstr>
      <vt:lpstr>Plugin Management System</vt:lpstr>
      <vt:lpstr>Plugin Management System</vt:lpstr>
      <vt:lpstr>Plugin Management System</vt:lpstr>
      <vt:lpstr>Plugin Management System</vt:lpstr>
      <vt:lpstr>Troubleshooting with Plugins</vt:lpstr>
      <vt:lpstr>Notification System</vt:lpstr>
      <vt:lpstr>Notification System</vt:lpstr>
      <vt:lpstr>How to Set Up Email Notifications?</vt:lpstr>
      <vt:lpstr>How to Set Up Email Notifications?</vt:lpstr>
      <vt:lpstr>How to Set Up Slack Notifications?</vt:lpstr>
      <vt:lpstr>How to Set Up Custom Webhook Notifications?</vt:lpstr>
      <vt:lpstr>How to Set Up Other Notifications?</vt:lpstr>
      <vt:lpstr>Pipeline Specific Notifications</vt:lpstr>
      <vt:lpstr>Troubleshooting with Notifications</vt:lpstr>
      <vt:lpstr>Set Up a Pipeline for a Simple Project</vt:lpstr>
      <vt:lpstr>Set Up a Pipeline for a Simple Project</vt:lpstr>
      <vt:lpstr>End of Lecture 11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Shiva Kunwar</dc:creator>
  <cp:lastModifiedBy>Shiva Kunwar</cp:lastModifiedBy>
  <cp:revision>110</cp:revision>
  <dcterms:created xsi:type="dcterms:W3CDTF">2021-11-23T15:23:57Z</dcterms:created>
  <dcterms:modified xsi:type="dcterms:W3CDTF">2025-06-02T06:50:58Z</dcterms:modified>
</cp:coreProperties>
</file>