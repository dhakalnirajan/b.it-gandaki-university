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30"/>
  </p:notesMasterIdLst>
  <p:handoutMasterIdLst>
    <p:handoutMasterId r:id="rId31"/>
  </p:handoutMasterIdLst>
  <p:sldIdLst>
    <p:sldId id="296" r:id="rId2"/>
    <p:sldId id="299" r:id="rId3"/>
    <p:sldId id="300" r:id="rId4"/>
    <p:sldId id="298" r:id="rId5"/>
    <p:sldId id="301" r:id="rId6"/>
    <p:sldId id="302" r:id="rId7"/>
    <p:sldId id="303" r:id="rId8"/>
    <p:sldId id="306" r:id="rId9"/>
    <p:sldId id="307" r:id="rId10"/>
    <p:sldId id="305" r:id="rId11"/>
    <p:sldId id="309" r:id="rId12"/>
    <p:sldId id="312" r:id="rId13"/>
    <p:sldId id="317" r:id="rId14"/>
    <p:sldId id="311" r:id="rId15"/>
    <p:sldId id="313" r:id="rId16"/>
    <p:sldId id="314" r:id="rId17"/>
    <p:sldId id="315" r:id="rId18"/>
    <p:sldId id="310" r:id="rId19"/>
    <p:sldId id="308" r:id="rId20"/>
    <p:sldId id="319" r:id="rId21"/>
    <p:sldId id="320" r:id="rId22"/>
    <p:sldId id="321" r:id="rId23"/>
    <p:sldId id="322" r:id="rId24"/>
    <p:sldId id="324" r:id="rId25"/>
    <p:sldId id="323" r:id="rId26"/>
    <p:sldId id="325" r:id="rId27"/>
    <p:sldId id="285" r:id="rId28"/>
    <p:sldId id="28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3969" autoAdjust="0"/>
  </p:normalViewPr>
  <p:slideViewPr>
    <p:cSldViewPr>
      <p:cViewPr varScale="1">
        <p:scale>
          <a:sx n="65" d="100"/>
          <a:sy n="65" d="100"/>
        </p:scale>
        <p:origin x="83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FF0439C9-C611-4721-A64E-2E5011A7018B}" type="datetime1">
              <a:rPr lang="en-US" smtClean="0"/>
              <a:t>2/1/2025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Docker | Lecture 12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412-C23D-46CC-8B34-9F75612405FF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3CB5-5182-4885-92E2-5D1C24D4832E}" type="datetime1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D030-22F3-437B-96DA-77D9E4DF37A6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BD4A5-3843-426E-B7CA-59F61BF9E7AC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81C691D-1D50-4A97-948C-96554A44D94D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5BBD099-6587-940B-2326-C9DB71FE3F88}"/>
              </a:ext>
            </a:extLst>
          </p:cNvPr>
          <p:cNvSpPr txBox="1">
            <a:spLocks/>
          </p:cNvSpPr>
          <p:nvPr userDrawn="1"/>
        </p:nvSpPr>
        <p:spPr>
          <a:xfrm>
            <a:off x="4686299" y="5337659"/>
            <a:ext cx="6301740" cy="10471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b="1" dirty="0">
                <a:solidFill>
                  <a:schemeClr val="tx1"/>
                </a:solidFill>
                <a:latin typeface="Nunito" pitchFamily="2" charset="0"/>
              </a:rPr>
              <a:t>Google Classroom: </a:t>
            </a:r>
            <a:r>
              <a:rPr lang="en-US" sz="5200" b="1" dirty="0">
                <a:solidFill>
                  <a:schemeClr val="tx1"/>
                </a:solidFill>
                <a:latin typeface="Nunito" pitchFamily="2" charset="0"/>
              </a:rPr>
              <a:t>cifecy4</a:t>
            </a:r>
            <a:endParaRPr lang="en-US" sz="30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4C26FE-01AD-44A8-94E9-667323FE90AD}" type="datetime1">
              <a:rPr lang="en-US" smtClean="0"/>
              <a:t>2/1/2025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417-49A4-4927-AF3D-900E01E38147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09F69E33-CCFC-4F9D-8F35-BA4C18691D4A}" type="datetime1">
              <a:rPr lang="en-US" smtClean="0"/>
              <a:t>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6A36-5E1F-2312-15F6-59AE6D04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29CF-4072-767B-D274-5FB20EFA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6: Docker (8hrs)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F7A7-60B7-1868-1CA9-F461013DC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Introduction to Real World Transportation Challenges</a:t>
            </a:r>
          </a:p>
          <a:p>
            <a:r>
              <a:rPr lang="en-US" b="1" dirty="0"/>
              <a:t>Docker Introduction</a:t>
            </a:r>
          </a:p>
          <a:p>
            <a:r>
              <a:rPr lang="en-US" b="1" dirty="0"/>
              <a:t>Architecture of Docker</a:t>
            </a:r>
          </a:p>
          <a:p>
            <a:r>
              <a:rPr lang="en-US" dirty="0"/>
              <a:t>Docker Containers: Creation, Share and Publish</a:t>
            </a:r>
          </a:p>
          <a:p>
            <a:r>
              <a:rPr lang="en-US" dirty="0"/>
              <a:t>Docker Networking: Network Types, Docker Compose</a:t>
            </a:r>
          </a:p>
          <a:p>
            <a:r>
              <a:rPr lang="en-US" dirty="0"/>
              <a:t>Docker Swarm: Introduction, Creating and Scaling Docker Bundles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5DFC7-1C05-6438-0F5C-344263A6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31199-F045-C8E0-F22E-E1611BD0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0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Once upon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Somewhere in a bustling software company, </a:t>
            </a:r>
            <a:r>
              <a:rPr lang="en-US" b="1" dirty="0" err="1"/>
              <a:t>InnovateTechNepal</a:t>
            </a:r>
            <a:r>
              <a:rPr lang="en-US" dirty="0"/>
              <a:t>, a team of developers worked on a revolutionary new application.</a:t>
            </a:r>
          </a:p>
          <a:p>
            <a:r>
              <a:rPr lang="en-US" dirty="0"/>
              <a:t>The company had a </a:t>
            </a:r>
            <a:r>
              <a:rPr lang="en-US" b="1" dirty="0"/>
              <a:t>big problem</a:t>
            </a:r>
            <a:r>
              <a:rPr lang="en-US" dirty="0"/>
              <a:t>: their brilliant developers and diligent operations team couldn’t seem to get along.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0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BFF3-D5D8-A746-865A-EA587799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25BF-E275-D437-343E-FBEDA511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CHAOS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99809-57CB-C330-6C42-DE28A5756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The developers worked hard on building applications, ensuring everything ran perfectly on their laptops. But every time they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handed their code to the operations team for deployment</a:t>
            </a:r>
            <a:r>
              <a:rPr lang="en-US" dirty="0"/>
              <a:t>, disaster struck:</a:t>
            </a:r>
          </a:p>
          <a:p>
            <a:r>
              <a:rPr lang="en-US" b="1" dirty="0"/>
              <a:t>"It works on my machine!"</a:t>
            </a:r>
            <a:r>
              <a:rPr lang="en-US" dirty="0"/>
              <a:t>: A phrase often heard when the </a:t>
            </a:r>
            <a:r>
              <a:rPr lang="en-US" b="1" i="1" dirty="0">
                <a:solidFill>
                  <a:srgbClr val="00B050"/>
                </a:solidFill>
              </a:rPr>
              <a:t>app works locally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but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fails in the production </a:t>
            </a:r>
            <a:r>
              <a:rPr lang="en-US" dirty="0"/>
              <a:t>environment. Developers blamed the servers, and operations blamed the code.</a:t>
            </a:r>
          </a:p>
          <a:p>
            <a:r>
              <a:rPr lang="en-US" b="1" dirty="0"/>
              <a:t>Environment Differences</a:t>
            </a:r>
            <a:r>
              <a:rPr lang="en-US" dirty="0"/>
              <a:t>: The </a:t>
            </a:r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development team used one version </a:t>
            </a:r>
            <a:r>
              <a:rPr lang="en-US" dirty="0"/>
              <a:t>of a library, but the </a:t>
            </a:r>
            <a:r>
              <a:rPr lang="en-US" b="1" i="1" dirty="0">
                <a:solidFill>
                  <a:schemeClr val="bg2">
                    <a:lumMod val="75000"/>
                  </a:schemeClr>
                </a:solidFill>
              </a:rPr>
              <a:t>production server had a different </a:t>
            </a:r>
            <a:r>
              <a:rPr lang="en-US" dirty="0"/>
              <a:t>one.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A317B-5D5E-42BA-F155-92D5E762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F8975-6B6C-DE51-7023-AD004209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3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D22C-0183-BE54-54A5-AC4367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B326-0695-0C16-8787-4928A0AB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3116-BA3D-2846-FA46-3349AA2DF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Tedious Setup</a:t>
            </a:r>
            <a:r>
              <a:rPr lang="en-US" dirty="0"/>
              <a:t>: The operations team spent hours or even days manually installing software, configuring servers, and debugging </a:t>
            </a:r>
            <a:r>
              <a:rPr lang="en-US" b="1" i="1" dirty="0">
                <a:solidFill>
                  <a:srgbClr val="FFC000"/>
                </a:solidFill>
              </a:rPr>
              <a:t>strange errors caused by tiny differences in setup</a:t>
            </a:r>
            <a:r>
              <a:rPr lang="en-US" dirty="0"/>
              <a:t>.</a:t>
            </a:r>
          </a:p>
          <a:p>
            <a:r>
              <a:rPr lang="en-US" b="1" dirty="0"/>
              <a:t>Scaling Nightmare</a:t>
            </a:r>
            <a:r>
              <a:rPr lang="en-US" dirty="0"/>
              <a:t>: When the app gained popularity, the team tried to scale it to handle more users. But, setting up </a:t>
            </a:r>
            <a:r>
              <a:rPr lang="en-US" b="1" i="1" dirty="0">
                <a:solidFill>
                  <a:srgbClr val="C00000"/>
                </a:solidFill>
              </a:rPr>
              <a:t>additional servers with the exact same environment was painstakingly slow </a:t>
            </a:r>
            <a:r>
              <a:rPr lang="en-US" b="1" i="1" dirty="0"/>
              <a:t>and error-prone</a:t>
            </a:r>
            <a:r>
              <a:rPr lang="en-US" b="1" i="1" dirty="0">
                <a:solidFill>
                  <a:srgbClr val="C00000"/>
                </a:solidFill>
              </a:rPr>
              <a:t>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7854F-1D64-628E-E5A4-6BC558FA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FECB5-FFA1-ECA5-12F4-B3BB65ED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9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99D5-699A-68ED-3D9A-2D37A42C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D5B1-079C-82CB-D11A-73F22DFA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Enter Docker </a:t>
            </a:r>
            <a:r>
              <a:rPr lang="en-US"/>
              <a:t>: The Savior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7E7A-BB95-8096-0344-616EF34CA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One day, during a heated meeting, an engineer named Dammar (yes, Dammar again) introduced a tool called </a:t>
            </a:r>
            <a:r>
              <a:rPr lang="en-US" b="1" dirty="0"/>
              <a:t>Docker</a:t>
            </a:r>
            <a:r>
              <a:rPr lang="en-US" dirty="0"/>
              <a:t>.</a:t>
            </a:r>
          </a:p>
          <a:p>
            <a:r>
              <a:rPr lang="en-US" dirty="0"/>
              <a:t>“Imagine,” Dammar said, “if we could </a:t>
            </a:r>
            <a:r>
              <a:rPr lang="en-US" b="1" dirty="0">
                <a:solidFill>
                  <a:srgbClr val="00B050"/>
                </a:solidFill>
              </a:rPr>
              <a:t>package the application and all its dependencies into a single container</a:t>
            </a:r>
            <a:r>
              <a:rPr lang="en-US" dirty="0"/>
              <a:t>, like a box. </a:t>
            </a:r>
          </a:p>
          <a:p>
            <a:r>
              <a:rPr lang="en-US" dirty="0"/>
              <a:t>Wherever we take the box, the app works perfectly whether on our laptops, testing servers, or the production environment.”</a:t>
            </a:r>
          </a:p>
          <a:p>
            <a:r>
              <a:rPr lang="en-US" dirty="0"/>
              <a:t>The team was skeptical but decided to give it a try.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5BFF5-7189-F59E-94BD-31FBD460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5AD96-CDF3-FF4B-74F4-7F018AAE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1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360E-E734-94FD-6257-AFDE46F0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51A4-5961-24C3-9BBC-0D392C8F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FC42-169B-D575-7F8E-DB5F4E57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Dammar helped the team </a:t>
            </a:r>
            <a:r>
              <a:rPr lang="en-US" dirty="0" err="1"/>
              <a:t>Dockerize</a:t>
            </a:r>
            <a:r>
              <a:rPr lang="en-US" dirty="0"/>
              <a:t> their application. Here’s what happened:</a:t>
            </a:r>
          </a:p>
          <a:p>
            <a:r>
              <a:rPr lang="en-US" b="1" dirty="0"/>
              <a:t>Building Containers</a:t>
            </a:r>
            <a:r>
              <a:rPr lang="en-US" dirty="0"/>
              <a:t>:</a:t>
            </a:r>
          </a:p>
          <a:p>
            <a:r>
              <a:rPr lang="en-US" dirty="0"/>
              <a:t>The developers created a </a:t>
            </a:r>
            <a:r>
              <a:rPr lang="en-US" dirty="0" err="1"/>
              <a:t>Dockerfile</a:t>
            </a:r>
            <a:r>
              <a:rPr lang="en-US" dirty="0"/>
              <a:t>, specifying everything the app needed - libraries, runtime, and configurations. Using this, they built a container that worked the same way everywhere.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5FD40-57A8-CB07-5CB5-2560D18BC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F5E21-F273-8772-1216-84360E7B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1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9DE19-502A-8222-CDAA-EA1BEEAE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F98A-FE3B-CA48-B068-C6CB3AE85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A67B0-8585-C076-F8E5-217C3CA93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Consistent Environments</a:t>
            </a:r>
            <a:r>
              <a:rPr lang="en-US" dirty="0"/>
              <a:t>:</a:t>
            </a:r>
          </a:p>
          <a:p>
            <a:r>
              <a:rPr lang="en-US" dirty="0"/>
              <a:t>No more "It works on my machine." The container ran the application the same way on any system that supported Docker, solving the environment mismatch issues.</a:t>
            </a:r>
          </a:p>
          <a:p>
            <a:r>
              <a:rPr lang="en-US" b="1" dirty="0"/>
              <a:t>Easy Deployment</a:t>
            </a:r>
            <a:r>
              <a:rPr lang="en-US" dirty="0"/>
              <a:t>:</a:t>
            </a:r>
          </a:p>
          <a:p>
            <a:r>
              <a:rPr lang="en-US" dirty="0"/>
              <a:t>Instead of spending hours configuring servers, the operations team just ran a simple command: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chemeClr val="tx1"/>
                </a:solidFill>
                <a:highlight>
                  <a:srgbClr val="FFFF00"/>
                </a:highlight>
              </a:rPr>
              <a:t>docker run app-container</a:t>
            </a:r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C1E04-04AB-E270-9F32-6D886B8C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24BF2-2959-5D44-D02C-08BB3506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4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6D745-CFC3-72B6-DB5B-66D25572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61CDE-3B69-D594-E602-39BE85BA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0F91A-1389-BA0C-3896-3858FD9CE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Scalability:</a:t>
            </a:r>
          </a:p>
          <a:p>
            <a:r>
              <a:rPr lang="en-US" dirty="0"/>
              <a:t>When the app’s traffic increased, scaling became effortless. The operations team spun up multiple instances of the container in seconds.</a:t>
            </a:r>
          </a:p>
          <a:p>
            <a:r>
              <a:rPr lang="en-US" b="1" i="0" dirty="0">
                <a:solidFill>
                  <a:srgbClr val="0D0D0D"/>
                </a:solidFill>
                <a:effectLst/>
              </a:rPr>
              <a:t>Team Harmony</a:t>
            </a:r>
            <a:r>
              <a:rPr lang="en-US" b="0" i="0" dirty="0">
                <a:solidFill>
                  <a:srgbClr val="0D0D0D"/>
                </a:solidFill>
                <a:effectLst/>
              </a:rPr>
              <a:t>: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</a:rPr>
              <a:t>Developers and operations finally spoke the same language. The collaboration improved, and they started delivering new features faster.</a:t>
            </a:r>
          </a:p>
          <a:p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D8AF0-668B-23C5-FEAE-40C21FC2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F8599-CD83-8096-8514-A44DE8F5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1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HAPPY 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r>
              <a:rPr lang="en-US" dirty="0"/>
              <a:t>Soon, the chaos faded away:</a:t>
            </a:r>
          </a:p>
          <a:p>
            <a:r>
              <a:rPr lang="en-US" dirty="0"/>
              <a:t>Docker became the </a:t>
            </a:r>
            <a:r>
              <a:rPr lang="en-US" b="1" dirty="0">
                <a:solidFill>
                  <a:srgbClr val="00B050"/>
                </a:solidFill>
              </a:rPr>
              <a:t>team’s magic tool </a:t>
            </a:r>
            <a:r>
              <a:rPr lang="en-US" dirty="0"/>
              <a:t>- a portable, consistent environment that bridged the gap between development and production.</a:t>
            </a:r>
          </a:p>
          <a:p>
            <a:r>
              <a:rPr lang="en-US" dirty="0"/>
              <a:t>As </a:t>
            </a:r>
            <a:r>
              <a:rPr lang="en-US" b="1" dirty="0" err="1"/>
              <a:t>InnovateTechNepal</a:t>
            </a:r>
            <a:r>
              <a:rPr lang="en-US" dirty="0"/>
              <a:t> Inc.’s applications grew more complex, Docker also helped them adopt a microservices architecture, making their systems more modular and scalable.</a:t>
            </a:r>
          </a:p>
          <a:p>
            <a:r>
              <a:rPr lang="en-US" dirty="0"/>
              <a:t>And so, with Docker, the team transformed their workflows, delivering software with confidence and ease. From that day on, </a:t>
            </a:r>
            <a:r>
              <a:rPr lang="en-US" b="1" dirty="0" err="1"/>
              <a:t>InnovateTechNepal</a:t>
            </a:r>
            <a:r>
              <a:rPr lang="en-US" dirty="0"/>
              <a:t> Inc. became a shining example of DevOps excellence in Nepal.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4FBC3-2437-62D2-CDF1-5291BAE1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AC08-A61D-74FB-BF84-4D34F87D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0854-0A5A-046B-D0A3-D5501A0AC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Docker is a set of Platforms as a service (PaaS) products that use </a:t>
            </a:r>
            <a:r>
              <a:rPr lang="en-US" b="1" dirty="0"/>
              <a:t>Operating system-level virtualization </a:t>
            </a:r>
            <a:r>
              <a:rPr lang="en-US" dirty="0"/>
              <a:t>to deliver software in packages.</a:t>
            </a:r>
          </a:p>
          <a:p>
            <a:r>
              <a:rPr lang="en-US" dirty="0"/>
              <a:t>Docker is a </a:t>
            </a:r>
            <a:r>
              <a:rPr lang="en-US" b="1" dirty="0"/>
              <a:t>containerization platform </a:t>
            </a:r>
            <a:r>
              <a:rPr lang="en-US" dirty="0"/>
              <a:t>that allows developers to package applications and their dependencies into containers.</a:t>
            </a:r>
          </a:p>
          <a:p>
            <a:r>
              <a:rPr lang="en-US" dirty="0"/>
              <a:t>Containers are lightweight and portable.</a:t>
            </a:r>
          </a:p>
          <a:p>
            <a:r>
              <a:rPr lang="en-US" dirty="0"/>
              <a:t>Containers are </a:t>
            </a:r>
            <a:r>
              <a:rPr lang="en-US" b="1" dirty="0"/>
              <a:t>consistent across different environments</a:t>
            </a:r>
            <a:r>
              <a:rPr lang="en-US" dirty="0"/>
              <a:t>, making them an essential tool for modern software development.</a:t>
            </a:r>
          </a:p>
          <a:p>
            <a:r>
              <a:rPr lang="en-US" dirty="0"/>
              <a:t>This simplifies application deployment across different environments.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140F0-E7FE-4ADE-7444-031BE2D2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>
            <a:normAutofit/>
          </a:bodyPr>
          <a:lstStyle/>
          <a:p>
            <a:r>
              <a:rPr lang="en-US"/>
              <a:t>Docker | Lecture 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AA7C-9649-A053-44F1-2EAAC956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06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FAAD-C392-778C-2619-DC8AB9074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1B37-CD13-8432-0349-1B0477BF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Docker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0421A-D4D8-2C62-D87D-7D90E7E66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Portability</a:t>
            </a:r>
            <a:r>
              <a:rPr lang="en-US" dirty="0"/>
              <a:t>: Containers run consistently across development, testing, and production environments.</a:t>
            </a:r>
          </a:p>
          <a:p>
            <a:r>
              <a:rPr lang="en-US" b="1" dirty="0"/>
              <a:t>Efficiency</a:t>
            </a:r>
            <a:r>
              <a:rPr lang="en-US" dirty="0"/>
              <a:t>: Containers share the host OS kernel, making them lightweight compared to virtual machines (VMs).</a:t>
            </a:r>
          </a:p>
          <a:p>
            <a:r>
              <a:rPr lang="en-US" b="1" dirty="0"/>
              <a:t>Speed</a:t>
            </a:r>
            <a:r>
              <a:rPr lang="en-US" dirty="0"/>
              <a:t>: Quick to start, stop, and deploy compared to VMs.</a:t>
            </a:r>
          </a:p>
          <a:p>
            <a:r>
              <a:rPr lang="en-US" b="1" dirty="0"/>
              <a:t>Scalability</a:t>
            </a:r>
            <a:r>
              <a:rPr lang="en-US" dirty="0"/>
              <a:t>: Ideal for microservices architectures, allowing easy scaling of services.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0C188-9E50-9FD5-F8F7-F7F83397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946C-9DB3-0839-ABFC-36E0A78D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7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9A949-0565-EA51-D68F-3A812EA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525C-917C-22C7-3AC3-1B1CD6CD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E9A4F-DA8F-CBC5-0B85-B245CDE1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Developers can create isolated environments for testing applications.</a:t>
            </a:r>
            <a:endParaRPr lang="en-US" b="1" dirty="0"/>
          </a:p>
          <a:p>
            <a:r>
              <a:rPr lang="en-US" dirty="0"/>
              <a:t>Integrates with tools like Jenkins to automate builds, testing, and deployments.</a:t>
            </a:r>
          </a:p>
          <a:p>
            <a:r>
              <a:rPr lang="en-US" dirty="0"/>
              <a:t>Docker containers allow individual services to run independently, enabling scalability.</a:t>
            </a:r>
          </a:p>
          <a:p>
            <a:r>
              <a:rPr lang="en-US" dirty="0"/>
              <a:t>Cloud providers like AWS, Azure, and Google Cloud integrate Docker for scaling containerized applications.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5DF68-C2FA-6740-CD60-75E42425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B22A1-C32D-8C87-2CB3-7F4899B6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5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57CE-A060-9E0B-2859-1BEE9F71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3478-087F-FA75-E148-69AF26A2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Concepts in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B578-2267-EFB9-6273-F16029C3F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Images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Blueprint for containers; includes app code, runtime, libraries, and dependencies.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 A Python image contains Python runtime and libraries.</a:t>
            </a:r>
          </a:p>
          <a:p>
            <a:r>
              <a:rPr lang="en-US" b="1" dirty="0"/>
              <a:t>Containers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Running instances of images.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 Running a web server container using an Nginx image.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DEC82-5AE9-2FED-6EFA-6C719C49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1009D-3FBA-E059-507F-9B31F57E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60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324E-7418-35A5-EE01-D8FF2ED6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CC78-AF27-6F47-6C28-F199240B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Concepts in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B195-3853-7EFC-4C88-D716610FD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 err="1"/>
              <a:t>Dockerfile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Script with instructions to build an image.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FROM python:3.9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COPY . /app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WORKDIR /app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RUN pip install -r requirements.txt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CMD ["python", "app.py"]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FF748-E3C5-DF30-1A98-9EB5F958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628B6-F186-CAE4-B73C-B8AA2EC5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70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6DD47-62A6-783E-7AE8-7C392095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7F63-1CB5-2009-87CB-9C9E0EDBF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Concepts in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F7D32-B083-059D-D1BB-9CD76AB18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Docker Engine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runtime that builds and runs containers.</a:t>
            </a:r>
            <a:endParaRPr lang="en-US" b="1" dirty="0"/>
          </a:p>
          <a:p>
            <a:r>
              <a:rPr lang="en-US" b="1" dirty="0"/>
              <a:t>Docker Hub: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cloud-based registry to store and share Docker images.</a:t>
            </a:r>
          </a:p>
          <a:p>
            <a:r>
              <a:rPr lang="en-US" b="1" dirty="0"/>
              <a:t>Volumes: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Persist data generated by containers outside the container lifecycle.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 Storing a database in a volume so it’s not deleted when a container restarts.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C849B-5E31-8527-7380-8D867B12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21BDF-309B-B8B6-8F82-C2B49B5B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32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C8263-675F-11D0-FCED-6F0DBFBA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60B7-8B2E-A544-A021-AF5C0750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Commands in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73185-E916-5BFE-15FD-45575A456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i="1" dirty="0"/>
              <a:t>docker pull &lt;image&gt;</a:t>
            </a:r>
            <a:r>
              <a:rPr lang="en-US" dirty="0"/>
              <a:t>: Download an image from Docker Hub.</a:t>
            </a:r>
          </a:p>
          <a:p>
            <a:r>
              <a:rPr lang="en-US" i="1" dirty="0"/>
              <a:t>docker run &lt;image&gt;</a:t>
            </a:r>
            <a:r>
              <a:rPr lang="en-US" dirty="0"/>
              <a:t>: Create and run a container.</a:t>
            </a:r>
          </a:p>
          <a:p>
            <a:r>
              <a:rPr lang="en-US" i="1" dirty="0"/>
              <a:t>docker build -t &lt;name&gt;</a:t>
            </a:r>
            <a:r>
              <a:rPr lang="en-US" dirty="0"/>
              <a:t> .: Build an image using a </a:t>
            </a:r>
            <a:r>
              <a:rPr lang="en-US" dirty="0" err="1"/>
              <a:t>Dockerfile</a:t>
            </a:r>
            <a:r>
              <a:rPr lang="en-US" dirty="0"/>
              <a:t>.</a:t>
            </a:r>
          </a:p>
          <a:p>
            <a:r>
              <a:rPr lang="en-US" i="1" dirty="0"/>
              <a:t>docker </a:t>
            </a:r>
            <a:r>
              <a:rPr lang="en-US" i="1" dirty="0" err="1"/>
              <a:t>ps</a:t>
            </a:r>
            <a:r>
              <a:rPr lang="en-US" dirty="0"/>
              <a:t>: List running containers.</a:t>
            </a:r>
          </a:p>
          <a:p>
            <a:r>
              <a:rPr lang="en-US" i="1" dirty="0"/>
              <a:t>docker stop &lt;container&gt;</a:t>
            </a:r>
            <a:r>
              <a:rPr lang="en-US" dirty="0"/>
              <a:t>: Stop a running container.</a:t>
            </a:r>
          </a:p>
          <a:p>
            <a:r>
              <a:rPr lang="en-US" i="1" dirty="0"/>
              <a:t>docker rm &lt;container&gt;</a:t>
            </a:r>
            <a:r>
              <a:rPr lang="en-US" dirty="0"/>
              <a:t>: Remove a stopped container.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7DB93-2696-07DB-3763-FFE6688F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D7231-841D-ACD3-CA88-1BEB8771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54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0374-6DBC-A148-147C-199C47EA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BBF1-3F2A-8055-3CA6-E53FEF9C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Architecture of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33B8C-2E3F-0797-780D-1FCE6466F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Docker's architecture is designed around the client-server model.</a:t>
            </a:r>
          </a:p>
          <a:p>
            <a:r>
              <a:rPr lang="en-US" dirty="0"/>
              <a:t>Lightweight containers run on top of a host operating system.</a:t>
            </a:r>
          </a:p>
          <a:p>
            <a:r>
              <a:rPr lang="en-US" dirty="0"/>
              <a:t>This enables developers to build, ship, and run applications in isolated environments.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1260D-2B81-6BF3-C892-1FBE88A5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98A13-8C40-DD91-C5E2-E84F201E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55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4EB4-C1E7-53B1-D287-C8217F3F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F5D88-78E2-10DD-ECB5-A5210989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035FA-B3CE-ACF8-AABC-F18955F9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6" name="Picture 2" descr="Virtualization and containerization architecture">
            <a:extLst>
              <a:ext uri="{FF2B5EF4-FFF2-40B4-BE49-F238E27FC236}">
                <a16:creationId xmlns:a16="http://schemas.microsoft.com/office/drawing/2014/main" id="{F28072E8-C456-9D85-8D14-D79F71D494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4800"/>
            <a:ext cx="10091014" cy="630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10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669F-09AB-71F3-CD93-66FB3067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cker Architecture">
            <a:extLst>
              <a:ext uri="{FF2B5EF4-FFF2-40B4-BE49-F238E27FC236}">
                <a16:creationId xmlns:a16="http://schemas.microsoft.com/office/drawing/2014/main" id="{90885D57-8010-9F52-C5AB-9968B954EB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1066800"/>
            <a:ext cx="9929812" cy="5586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209DB1-B316-3A2E-5A7C-2B2BE988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Architecture of Docker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08530-1A05-D857-E0F5-47688ADB3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8BB43-F026-5A94-4D72-7E2CBCFB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07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3B9AA-1B0B-9B01-625D-B9AF3EE3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8274E-E46E-84AC-C7BF-40C591A2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Architecture of Docker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8E96E-74BA-BED4-4E6C-4922FA9F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061D5-5020-832B-CE8C-B2CC9297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9593-D245-1F2B-D32F-8F261FDC1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</a:rPr>
              <a:t>Docker uses a client-server architecture.</a:t>
            </a:r>
          </a:p>
          <a:p>
            <a:r>
              <a:rPr lang="en-US" b="0" i="0" dirty="0">
                <a:effectLst/>
              </a:rPr>
              <a:t>The </a:t>
            </a:r>
            <a:r>
              <a:rPr lang="en-US" b="1" i="0" dirty="0">
                <a:effectLst/>
              </a:rPr>
              <a:t>Docker client </a:t>
            </a:r>
            <a:r>
              <a:rPr lang="en-US" b="0" i="0" dirty="0">
                <a:effectLst/>
              </a:rPr>
              <a:t>talks to the </a:t>
            </a:r>
            <a:r>
              <a:rPr lang="en-US" b="1" i="0" dirty="0">
                <a:effectLst/>
              </a:rPr>
              <a:t>Docker daemon</a:t>
            </a:r>
            <a:r>
              <a:rPr lang="en-US" b="0" i="0" dirty="0">
                <a:effectLst/>
              </a:rPr>
              <a:t>, which does the heavy lifting of building, running, and distributing the Docker containers.</a:t>
            </a:r>
          </a:p>
          <a:p>
            <a:r>
              <a:rPr lang="en-US" b="0" i="0" dirty="0">
                <a:effectLst/>
              </a:rPr>
              <a:t>The </a:t>
            </a:r>
            <a:r>
              <a:rPr lang="en-US" b="1" i="0" dirty="0">
                <a:effectLst/>
              </a:rPr>
              <a:t>Docker client </a:t>
            </a:r>
            <a:r>
              <a:rPr lang="en-US" b="0" i="0" dirty="0">
                <a:effectLst/>
              </a:rPr>
              <a:t>and </a:t>
            </a:r>
            <a:r>
              <a:rPr lang="en-US" b="1" i="0" dirty="0">
                <a:effectLst/>
              </a:rPr>
              <a:t>daemon</a:t>
            </a:r>
            <a:r>
              <a:rPr lang="en-US" b="0" i="0" dirty="0">
                <a:effectLst/>
              </a:rPr>
              <a:t> can run on the same system, or you can connect a </a:t>
            </a:r>
            <a:r>
              <a:rPr lang="en-US" b="1" i="0" dirty="0">
                <a:effectLst/>
              </a:rPr>
              <a:t>Docker client </a:t>
            </a:r>
            <a:r>
              <a:rPr lang="en-US" b="0" i="0" dirty="0">
                <a:effectLst/>
              </a:rPr>
              <a:t>to a remote </a:t>
            </a:r>
            <a:r>
              <a:rPr lang="en-US" b="1" i="0" dirty="0">
                <a:effectLst/>
              </a:rPr>
              <a:t>Docker daemon</a:t>
            </a:r>
            <a:r>
              <a:rPr lang="en-US" b="0" i="0" dirty="0">
                <a:effectLst/>
              </a:rPr>
              <a:t>.</a:t>
            </a:r>
          </a:p>
          <a:p>
            <a:r>
              <a:rPr lang="en-US" b="0" i="0" dirty="0">
                <a:effectLst/>
              </a:rPr>
              <a:t>Another </a:t>
            </a:r>
            <a:r>
              <a:rPr lang="en-US" b="1" i="0" dirty="0">
                <a:effectLst/>
              </a:rPr>
              <a:t>Docker client </a:t>
            </a:r>
            <a:r>
              <a:rPr lang="en-US" b="0" i="0" dirty="0">
                <a:effectLst/>
              </a:rPr>
              <a:t>is Docker Compose, that lets you work with applications consisting of a set of containers.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717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DFE9-8216-9276-58E3-43AAEB87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2083-7D70-6A90-C9EA-99B11BC6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Docker Daemon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273DD-03F9-A01D-4878-50C026A5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260AA-D7CA-E667-AA23-1C0BFD45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2656F-A9F2-48F0-8160-98DEEFC4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Docker daemon (</a:t>
            </a:r>
            <a:r>
              <a:rPr lang="en-US" i="1" dirty="0" err="1"/>
              <a:t>dockerd</a:t>
            </a:r>
            <a:r>
              <a:rPr lang="en-US" dirty="0"/>
              <a:t>) listens for Docker API requests and manages Docker objects such as images, containers, networks, and volumes.</a:t>
            </a:r>
          </a:p>
          <a:p>
            <a:r>
              <a:rPr lang="en-US" dirty="0"/>
              <a:t>A daemon can also communicate with other daemons to manage Docker services.</a:t>
            </a:r>
          </a:p>
        </p:txBody>
      </p:sp>
    </p:spTree>
    <p:extLst>
      <p:ext uri="{BB962C8B-B14F-4D97-AF65-F5344CB8AC3E}">
        <p14:creationId xmlns:p14="http://schemas.microsoft.com/office/powerpoint/2010/main" val="34045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1721-97A4-538E-3D71-CEC59C40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FF6C-FA7F-BA34-18FF-6115AE90A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Docker Client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30D7F-B48C-5BA0-3ED2-83702970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94822-3EC7-5915-2A5D-E2BCAFAF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4654-2CCE-9799-0E34-2EBE965BE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Docker client (docker) is the primary way that many Docker users interact with Docker.</a:t>
            </a:r>
          </a:p>
          <a:p>
            <a:r>
              <a:rPr lang="en-US" dirty="0"/>
              <a:t>When you use commands such as </a:t>
            </a:r>
            <a:r>
              <a:rPr lang="en-US" i="1" dirty="0"/>
              <a:t>docker run</a:t>
            </a:r>
            <a:r>
              <a:rPr lang="en-US" dirty="0"/>
              <a:t>, the client sends these commands to </a:t>
            </a:r>
            <a:r>
              <a:rPr lang="en-US" i="1" dirty="0" err="1"/>
              <a:t>dockerd</a:t>
            </a:r>
            <a:r>
              <a:rPr lang="en-US" dirty="0"/>
              <a:t>, which carries them out.</a:t>
            </a:r>
          </a:p>
          <a:p>
            <a:r>
              <a:rPr lang="en-US" dirty="0"/>
              <a:t>The docker command uses the Docker API.</a:t>
            </a:r>
          </a:p>
          <a:p>
            <a:r>
              <a:rPr lang="en-US" dirty="0">
                <a:solidFill>
                  <a:srgbClr val="FF0000"/>
                </a:solidFill>
              </a:rPr>
              <a:t>The Docker client can communicate with more than one daemon.</a:t>
            </a:r>
          </a:p>
          <a:p>
            <a:r>
              <a:rPr lang="en-US" dirty="0"/>
              <a:t>Docker daemon receives these commands from the docker client through command and REST API's request.</a:t>
            </a:r>
          </a:p>
        </p:txBody>
      </p:sp>
    </p:spTree>
    <p:extLst>
      <p:ext uri="{BB962C8B-B14F-4D97-AF65-F5344CB8AC3E}">
        <p14:creationId xmlns:p14="http://schemas.microsoft.com/office/powerpoint/2010/main" val="3638074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63FC0-B979-24A9-124D-1EE36A49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AA58-A7AF-BD36-AEEA-DF54B38F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Docker Client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4D408-9943-8C37-0FE3-CFA85CB2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E5F6F-B419-7AE9-6B36-C4252CF1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730D-C31F-BADD-CF8C-3B94F255B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Docker Client uses Command Line Interface (CLI) to run the following commands: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docker build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docker pull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docker run</a:t>
            </a:r>
          </a:p>
        </p:txBody>
      </p:sp>
    </p:spTree>
    <p:extLst>
      <p:ext uri="{BB962C8B-B14F-4D97-AF65-F5344CB8AC3E}">
        <p14:creationId xmlns:p14="http://schemas.microsoft.com/office/powerpoint/2010/main" val="2943953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85ED-C9CE-1760-64E4-E4EC4586E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6FB2-D1BF-F925-57C4-99400164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Docker Host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28A9B-B58B-AFEC-9763-163B8FEA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E7A1F-F9DC-B548-895D-CE31AB3B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76176-44D8-B9E9-F227-C2C7B6D9D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Docker Host provides an environment for executing and running applications.</a:t>
            </a:r>
          </a:p>
          <a:p>
            <a:r>
              <a:rPr lang="en-US" dirty="0"/>
              <a:t>It contains the docker daemon, images, containers, networks, and storage.</a:t>
            </a:r>
          </a:p>
        </p:txBody>
      </p:sp>
    </p:spTree>
    <p:extLst>
      <p:ext uri="{BB962C8B-B14F-4D97-AF65-F5344CB8AC3E}">
        <p14:creationId xmlns:p14="http://schemas.microsoft.com/office/powerpoint/2010/main" val="3129230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A41B-4AF1-A28B-005F-95BF7A78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7E457-C59C-DA6E-B0D2-2A88426C0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Docker Registry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48EAA-46E7-D68F-C855-A84FC591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 dirty="0"/>
              <a:t>Docker | Lecture 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A784C-AC05-32B8-9E89-206F9D2D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0A77-2A50-0A23-7A7E-C1D4A0903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Docker registry manages and stores Docker images.</a:t>
            </a:r>
          </a:p>
          <a:p>
            <a:r>
              <a:rPr lang="en-US" dirty="0"/>
              <a:t>Docker Hub is a </a:t>
            </a:r>
            <a:r>
              <a:rPr lang="en-US" b="1" dirty="0"/>
              <a:t>public registry </a:t>
            </a:r>
            <a:r>
              <a:rPr lang="en-US" dirty="0"/>
              <a:t>that anyone can use, and Docker looks for images on Docker Hub by default. </a:t>
            </a:r>
          </a:p>
          <a:p>
            <a:r>
              <a:rPr lang="en-US" b="1" dirty="0"/>
              <a:t>Private Registry </a:t>
            </a:r>
            <a:r>
              <a:rPr lang="en-US" dirty="0"/>
              <a:t>is used to share images within the enterprise.</a:t>
            </a:r>
          </a:p>
          <a:p>
            <a:r>
              <a:rPr lang="en-US" dirty="0"/>
              <a:t>When the </a:t>
            </a:r>
            <a:r>
              <a:rPr lang="en-US" i="1" dirty="0">
                <a:solidFill>
                  <a:srgbClr val="FF0000"/>
                </a:solidFill>
              </a:rPr>
              <a:t>docker pull </a:t>
            </a:r>
            <a:r>
              <a:rPr lang="en-US" dirty="0"/>
              <a:t>or </a:t>
            </a:r>
            <a:r>
              <a:rPr lang="en-US" i="1" dirty="0">
                <a:solidFill>
                  <a:srgbClr val="FF0000"/>
                </a:solidFill>
              </a:rPr>
              <a:t>docker run</a:t>
            </a:r>
            <a:r>
              <a:rPr lang="en-US" dirty="0"/>
              <a:t> commands are used, Docker pulls the required images from the configured registry.</a:t>
            </a:r>
          </a:p>
          <a:p>
            <a:r>
              <a:rPr lang="en-US" dirty="0"/>
              <a:t>When the docker push command is used, Docker pushes the image to the configured registry.</a:t>
            </a:r>
          </a:p>
        </p:txBody>
      </p:sp>
    </p:spTree>
    <p:extLst>
      <p:ext uri="{BB962C8B-B14F-4D97-AF65-F5344CB8AC3E}">
        <p14:creationId xmlns:p14="http://schemas.microsoft.com/office/powerpoint/2010/main" val="4089100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Docker | Lecture 12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12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Containers</a:t>
            </a:r>
          </a:p>
          <a:p>
            <a:r>
              <a:rPr lang="en-US" dirty="0"/>
              <a:t>Docker Networking</a:t>
            </a:r>
          </a:p>
          <a:p>
            <a:r>
              <a:rPr lang="en-US" dirty="0"/>
              <a:t>Docker Swarm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</TotalTime>
  <Words>1508</Words>
  <Application>Microsoft Office PowerPoint</Application>
  <PresentationFormat>Widescreen</PresentationFormat>
  <Paragraphs>180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6: Docker (8hrs)</vt:lpstr>
      <vt:lpstr>Once upon a time</vt:lpstr>
      <vt:lpstr>The CHAOS</vt:lpstr>
      <vt:lpstr>The PROBLEM</vt:lpstr>
      <vt:lpstr>Enter Docker : The Savior</vt:lpstr>
      <vt:lpstr>The Transformation</vt:lpstr>
      <vt:lpstr>The Transformation</vt:lpstr>
      <vt:lpstr>The Transformation</vt:lpstr>
      <vt:lpstr>The HAPPY ENDING</vt:lpstr>
      <vt:lpstr>Docker</vt:lpstr>
      <vt:lpstr>Docker Benefits</vt:lpstr>
      <vt:lpstr>Docker</vt:lpstr>
      <vt:lpstr>Concepts in Docker</vt:lpstr>
      <vt:lpstr>Concepts in Docker</vt:lpstr>
      <vt:lpstr>Concepts in Docker</vt:lpstr>
      <vt:lpstr>Commands in Docker</vt:lpstr>
      <vt:lpstr>Architecture of Docker</vt:lpstr>
      <vt:lpstr>PowerPoint Presentation</vt:lpstr>
      <vt:lpstr>Architecture of Docker</vt:lpstr>
      <vt:lpstr>Architecture of Docker</vt:lpstr>
      <vt:lpstr>Docker Daemon</vt:lpstr>
      <vt:lpstr>Docker Client</vt:lpstr>
      <vt:lpstr>Docker Client</vt:lpstr>
      <vt:lpstr>Docker Host</vt:lpstr>
      <vt:lpstr>Docker Registry</vt:lpstr>
      <vt:lpstr>End of Lecture 12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95</cp:revision>
  <dcterms:created xsi:type="dcterms:W3CDTF">2021-11-23T15:23:57Z</dcterms:created>
  <dcterms:modified xsi:type="dcterms:W3CDTF">2025-02-01T13:07:53Z</dcterms:modified>
</cp:coreProperties>
</file>