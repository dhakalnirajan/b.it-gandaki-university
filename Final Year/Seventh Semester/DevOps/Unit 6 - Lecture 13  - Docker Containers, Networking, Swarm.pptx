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51"/>
  </p:notesMasterIdLst>
  <p:handoutMasterIdLst>
    <p:handoutMasterId r:id="rId52"/>
  </p:handoutMasterIdLst>
  <p:sldIdLst>
    <p:sldId id="296" r:id="rId2"/>
    <p:sldId id="299" r:id="rId3"/>
    <p:sldId id="305" r:id="rId4"/>
    <p:sldId id="306" r:id="rId5"/>
    <p:sldId id="307" r:id="rId6"/>
    <p:sldId id="308" r:id="rId7"/>
    <p:sldId id="317" r:id="rId8"/>
    <p:sldId id="309" r:id="rId9"/>
    <p:sldId id="310" r:id="rId10"/>
    <p:sldId id="314" r:id="rId11"/>
    <p:sldId id="311" r:id="rId12"/>
    <p:sldId id="315" r:id="rId13"/>
    <p:sldId id="312" r:id="rId14"/>
    <p:sldId id="313" r:id="rId15"/>
    <p:sldId id="316" r:id="rId16"/>
    <p:sldId id="318" r:id="rId17"/>
    <p:sldId id="320" r:id="rId18"/>
    <p:sldId id="323" r:id="rId19"/>
    <p:sldId id="328" r:id="rId20"/>
    <p:sldId id="329" r:id="rId21"/>
    <p:sldId id="319" r:id="rId22"/>
    <p:sldId id="321" r:id="rId23"/>
    <p:sldId id="324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27" r:id="rId33"/>
    <p:sldId id="338" r:id="rId34"/>
    <p:sldId id="339" r:id="rId35"/>
    <p:sldId id="340" r:id="rId36"/>
    <p:sldId id="341" r:id="rId37"/>
    <p:sldId id="325" r:id="rId38"/>
    <p:sldId id="326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285" r:id="rId49"/>
    <p:sldId id="286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69" d="100"/>
          <a:sy n="69" d="100"/>
        </p:scale>
        <p:origin x="756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D6CA6297-D004-4033-8250-BF6E1748EE67}" type="datetime1">
              <a:rPr lang="en-US" smtClean="0"/>
              <a:t>7/15/2025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Docker | Lecture 13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E2CF1-CF84-4EE0-989C-77B3F1D54381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2C78-6E07-4F02-A2CB-69C80BE1CABF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C669-EE56-4437-B4E1-F555B8B44E86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37A0B-CC91-4A9A-8AC4-B70F2BC61F07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5B76369-4AA9-4407-8F23-1315991BBA21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9EB558-C024-43FE-9ACA-E52DA587F9C9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F0ABE-507F-43DE-9762-789828C58CEE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81FB0D3D-DDD8-448A-9DE1-B2A9A16ADDEC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6A36-5E1F-2312-15F6-59AE6D04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29CF-4072-767B-D274-5FB20EFA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6: Docker (8hrs)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F7A7-60B7-1868-1CA9-F461013DC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Introduction to Real World Transportation Challenges</a:t>
            </a:r>
          </a:p>
          <a:p>
            <a:r>
              <a:rPr lang="en-US" dirty="0"/>
              <a:t>Docker Introduction</a:t>
            </a:r>
          </a:p>
          <a:p>
            <a:r>
              <a:rPr lang="en-US" dirty="0"/>
              <a:t>Architecture of Docker</a:t>
            </a:r>
          </a:p>
          <a:p>
            <a:r>
              <a:rPr lang="en-US" b="1" dirty="0"/>
              <a:t>Docker Containers: Creation, Share and Publish</a:t>
            </a:r>
          </a:p>
          <a:p>
            <a:r>
              <a:rPr lang="en-US" b="1" dirty="0"/>
              <a:t>Docker Networking: Network Types, Docker Compose</a:t>
            </a:r>
          </a:p>
          <a:p>
            <a:r>
              <a:rPr lang="en-US" b="1" dirty="0"/>
              <a:t>Docker Swarm: Introduction, Creating and Scaling Docker Bundles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5DFC7-1C05-6438-0F5C-344263A6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31199-F045-C8E0-F22E-E1611BD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0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Docker containers are the </a:t>
            </a:r>
            <a:r>
              <a:rPr lang="en-US" b="1" dirty="0"/>
              <a:t>core building blocks </a:t>
            </a:r>
            <a:r>
              <a:rPr lang="en-US" dirty="0"/>
              <a:t>of Docker.</a:t>
            </a:r>
          </a:p>
          <a:p>
            <a:r>
              <a:rPr lang="en-US" dirty="0"/>
              <a:t>Docker containers are lightweight, portable, and self-sufficient environments that allow applications to run consistently across different computing environments.</a:t>
            </a:r>
          </a:p>
          <a:p>
            <a:r>
              <a:rPr lang="en-US" dirty="0"/>
              <a:t>They allow applications to run in isolated environments with all dependencies bundled together.</a:t>
            </a:r>
          </a:p>
          <a:p>
            <a:r>
              <a:rPr lang="en-US" dirty="0"/>
              <a:t>They encapsulate the application code, runtime, system tools, libraries, and settings into a single unit.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/>
          <a:p>
            <a:r>
              <a:rPr lang="en-US"/>
              <a:t>Docker Containers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44905-A005-E613-1659-98086A1E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94806-C0A8-20A6-8B82-8AF46077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C0E38-1C09-E812-48D6-61BF8222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FF1B82A9-6322-9C64-BF30-B22831FFE1C9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793880069"/>
              </p:ext>
            </p:extLst>
          </p:nvPr>
        </p:nvGraphicFramePr>
        <p:xfrm>
          <a:off x="609600" y="609600"/>
          <a:ext cx="10149841" cy="56692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23745">
                  <a:extLst>
                    <a:ext uri="{9D8B030D-6E8A-4147-A177-3AD203B41FA5}">
                      <a16:colId xmlns:a16="http://schemas.microsoft.com/office/drawing/2014/main" val="3816285178"/>
                    </a:ext>
                  </a:extLst>
                </a:gridCol>
                <a:gridCol w="4113048">
                  <a:extLst>
                    <a:ext uri="{9D8B030D-6E8A-4147-A177-3AD203B41FA5}">
                      <a16:colId xmlns:a16="http://schemas.microsoft.com/office/drawing/2014/main" val="807463145"/>
                    </a:ext>
                  </a:extLst>
                </a:gridCol>
                <a:gridCol w="4113048">
                  <a:extLst>
                    <a:ext uri="{9D8B030D-6E8A-4147-A177-3AD203B41FA5}">
                      <a16:colId xmlns:a16="http://schemas.microsoft.com/office/drawing/2014/main" val="40550548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Features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Docker Images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Docker Containers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4156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Definition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A </a:t>
                      </a:r>
                      <a:r>
                        <a:rPr lang="en-US" b="1" dirty="0">
                          <a:latin typeface="Nunito" pitchFamily="2" charset="0"/>
                        </a:rPr>
                        <a:t>blueprint</a:t>
                      </a:r>
                      <a:r>
                        <a:rPr lang="en-US" dirty="0">
                          <a:latin typeface="Nunito" pitchFamily="2" charset="0"/>
                        </a:rPr>
                        <a:t> or template for creating a container.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A </a:t>
                      </a:r>
                      <a:r>
                        <a:rPr lang="en-US" b="1" dirty="0">
                          <a:latin typeface="Nunito" pitchFamily="2" charset="0"/>
                        </a:rPr>
                        <a:t>running instance </a:t>
                      </a:r>
                      <a:r>
                        <a:rPr lang="en-US" dirty="0">
                          <a:latin typeface="Nunito" pitchFamily="2" charset="0"/>
                        </a:rPr>
                        <a:t>of an image.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282827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State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Nunito" pitchFamily="2" charset="0"/>
                        </a:rPr>
                        <a:t>Static</a:t>
                      </a:r>
                      <a:r>
                        <a:rPr lang="en-US" dirty="0">
                          <a:latin typeface="Nunito" pitchFamily="2" charset="0"/>
                        </a:rPr>
                        <a:t> – does not change when executed.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Nunito" pitchFamily="2" charset="0"/>
                        </a:rPr>
                        <a:t>Dynamic</a:t>
                      </a:r>
                      <a:r>
                        <a:rPr lang="en-US" dirty="0">
                          <a:latin typeface="Nunito" pitchFamily="2" charset="0"/>
                        </a:rPr>
                        <a:t> – can change as it runs.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359619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Purpose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Serves as a base to create containers.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Runs an application in an isolated environment.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980269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Persistence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Cannot be modified once built.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Changes made inside a running container are lost when it is removed (unless committed to a new image).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894009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Storage Location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Stored in a </a:t>
                      </a:r>
                      <a:r>
                        <a:rPr lang="en-US" b="1" dirty="0">
                          <a:latin typeface="Nunito" pitchFamily="2" charset="0"/>
                        </a:rPr>
                        <a:t>Docker registry </a:t>
                      </a:r>
                      <a:r>
                        <a:rPr lang="en-US" dirty="0">
                          <a:latin typeface="Nunito" pitchFamily="2" charset="0"/>
                        </a:rPr>
                        <a:t>(like Docker Hub) or locally.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Runs in </a:t>
                      </a:r>
                      <a:r>
                        <a:rPr lang="en-US" b="1" dirty="0">
                          <a:latin typeface="Nunito" pitchFamily="2" charset="0"/>
                        </a:rPr>
                        <a:t>RAM</a:t>
                      </a:r>
                      <a:r>
                        <a:rPr lang="en-US" dirty="0">
                          <a:latin typeface="Nunito" pitchFamily="2" charset="0"/>
                        </a:rPr>
                        <a:t> and is only stored temporarily unless explicitly saved.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7786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Creation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Created using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docker build </a:t>
                      </a:r>
                      <a:r>
                        <a:rPr lang="en-US" dirty="0">
                          <a:latin typeface="Nunito" pitchFamily="2" charset="0"/>
                        </a:rPr>
                        <a:t>from a </a:t>
                      </a:r>
                      <a:r>
                        <a:rPr lang="en-US" b="1" dirty="0">
                          <a:latin typeface="Nunito" pitchFamily="2" charset="0"/>
                        </a:rPr>
                        <a:t>Dockerfile</a:t>
                      </a:r>
                      <a:r>
                        <a:rPr lang="en-US" dirty="0">
                          <a:latin typeface="Nunito" pitchFamily="2" charset="0"/>
                        </a:rPr>
                        <a:t>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Created using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docker run </a:t>
                      </a:r>
                      <a:r>
                        <a:rPr lang="en-US" dirty="0">
                          <a:latin typeface="Nunito" pitchFamily="2" charset="0"/>
                        </a:rPr>
                        <a:t>from an </a:t>
                      </a:r>
                      <a:r>
                        <a:rPr lang="en-US" b="1" dirty="0">
                          <a:latin typeface="Nunito" pitchFamily="2" charset="0"/>
                        </a:rPr>
                        <a:t>image</a:t>
                      </a:r>
                      <a:r>
                        <a:rPr lang="en-US" dirty="0">
                          <a:latin typeface="Nunito" pitchFamily="2" charset="0"/>
                        </a:rPr>
                        <a:t>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121519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Lifespan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Exists until deleted.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Exists only while running (unless restarted or committed).</a:t>
                      </a:r>
                      <a:endParaRPr lang="en-US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5115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Nunito" pitchFamily="2" charset="0"/>
                        </a:rPr>
                        <a:t>Command</a:t>
                      </a:r>
                      <a:endParaRPr lang="en-US" b="1" dirty="0"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docker build -t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my_image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 .</a:t>
                      </a:r>
                      <a:endParaRPr lang="en-US" i="1" dirty="0">
                        <a:solidFill>
                          <a:srgbClr val="FF0000"/>
                        </a:solidFill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docker run -d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Nunito" pitchFamily="2" charset="0"/>
                        </a:rPr>
                        <a:t>my_image</a:t>
                      </a:r>
                      <a:endParaRPr lang="en-US" i="1" dirty="0">
                        <a:solidFill>
                          <a:srgbClr val="FF0000"/>
                        </a:solidFill>
                        <a:latin typeface="Nunito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62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53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1239-DA64-E8C4-4168-D6B93C9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8996-0020-72D4-7CEF-15942261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Benefits of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15C6-3DB4-DB6D-90D6-A0D51D7D6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Lightweight</a:t>
            </a:r>
          </a:p>
          <a:p>
            <a:r>
              <a:rPr lang="en-US" dirty="0"/>
              <a:t>Fast</a:t>
            </a:r>
          </a:p>
          <a:p>
            <a:r>
              <a:rPr lang="en-US" dirty="0"/>
              <a:t>Portable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1738-AEDB-FF7B-7E01-BBE44FC3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B9618-C0E2-1FB4-C9C8-E81D01AC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2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B37E-7265-E278-244F-F0E2F658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291DD-3617-005B-F41C-57B2B242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B93A-EF25-CC4E-603E-266436BD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C3AAF-A31D-CCE5-884C-3F107591D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Pull an existing image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pull nginx</a:t>
            </a:r>
          </a:p>
          <a:p>
            <a:r>
              <a:rPr lang="en-US" dirty="0"/>
              <a:t>Run a container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-d -p 8080:80 nginx</a:t>
            </a:r>
          </a:p>
          <a:p>
            <a:r>
              <a:rPr lang="en-US" dirty="0"/>
              <a:t>View running containers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</a:t>
            </a:r>
            <a:r>
              <a:rPr lang="en-US" dirty="0" err="1">
                <a:solidFill>
                  <a:srgbClr val="FF0000"/>
                </a:solidFill>
              </a:rPr>
              <a:t>ps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Access the container’s shell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exec -it &lt;</a:t>
            </a:r>
            <a:r>
              <a:rPr lang="en-US" dirty="0" err="1">
                <a:solidFill>
                  <a:srgbClr val="FF0000"/>
                </a:solidFill>
              </a:rPr>
              <a:t>container_id</a:t>
            </a:r>
            <a:r>
              <a:rPr lang="en-US" dirty="0">
                <a:solidFill>
                  <a:srgbClr val="FF0000"/>
                </a:solidFill>
              </a:rPr>
              <a:t>&gt; /bin/bash</a:t>
            </a:r>
          </a:p>
          <a:p>
            <a:r>
              <a:rPr lang="en-US" dirty="0"/>
              <a:t>Stop and remove a container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stop &lt;</a:t>
            </a:r>
            <a:r>
              <a:rPr lang="en-US" dirty="0" err="1">
                <a:solidFill>
                  <a:srgbClr val="FF0000"/>
                </a:solidFill>
              </a:rPr>
              <a:t>container_id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rm &lt;</a:t>
            </a:r>
            <a:r>
              <a:rPr lang="en-US" dirty="0" err="1">
                <a:solidFill>
                  <a:srgbClr val="FF0000"/>
                </a:solidFill>
              </a:rPr>
              <a:t>container_id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90278-F2E4-E6D6-F6AF-62D7671C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Docker Containers</a:t>
            </a:r>
          </a:p>
        </p:txBody>
      </p:sp>
    </p:spTree>
    <p:extLst>
      <p:ext uri="{BB962C8B-B14F-4D97-AF65-F5344CB8AC3E}">
        <p14:creationId xmlns:p14="http://schemas.microsoft.com/office/powerpoint/2010/main" val="188301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8E5B-B273-D41B-9E97-9A4CB634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871B-A10B-F5CA-53BC-CF01B3B6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Creating Docker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E0BEB-EB87-A204-C21B-0B4242328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Step 1: Install Docker </a:t>
            </a:r>
          </a:p>
          <a:p>
            <a:r>
              <a:rPr lang="en-US" dirty="0"/>
              <a:t>Before creating a container, ensure Docker is installed on your machine. You can download it from Docker's official website. https://www.docker.com/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A7AFC-BF6A-E775-4FB5-40D7DF78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7FCDE-512F-223C-8466-12EE6906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7D0F-43C5-D355-FD74-457B2B61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A1B2-8EA4-3C86-C079-3F32CE60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Building Custom Docker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907B-88B5-91B2-17DC-781CF8164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Writing a basic Dockerfile (blueprint for the image):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FROM node:18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WORKDIR /app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COPY . .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RUN </a:t>
            </a:r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 install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CMD ["node", "index.js"]</a:t>
            </a:r>
          </a:p>
          <a:p>
            <a:r>
              <a:rPr lang="en-US" dirty="0"/>
              <a:t>Building and running the image: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build -t my-app .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-d -p 3000:3000 my-app 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tx1"/>
                </a:solidFill>
              </a:rPr>
              <a:t>	#-d run in detached mode  #-it run in interactive mode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DCCF6-104A-E341-E75A-8F5E810A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1163-1FB2-ED07-47FB-F366B7AB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62F5F-D858-2EEC-963F-89B73CC26D21}"/>
              </a:ext>
            </a:extLst>
          </p:cNvPr>
          <p:cNvSpPr txBox="1"/>
          <p:nvPr/>
        </p:nvSpPr>
        <p:spPr>
          <a:xfrm>
            <a:off x="5105400" y="2362200"/>
            <a:ext cx="6019800" cy="2123658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B0F0"/>
                </a:solidFill>
                <a:latin typeface="Nunito" pitchFamily="2" charset="0"/>
              </a:rPr>
              <a:t>FROM ubuntu:22.04         </a:t>
            </a:r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B0F0"/>
                </a:solidFill>
                <a:latin typeface="Nunito" pitchFamily="2" charset="0"/>
              </a:rPr>
              <a:t>RUN apt update &amp;&amp; apt install -y python3</a:t>
            </a:r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B0F0"/>
                </a:solidFill>
                <a:latin typeface="Nunito" pitchFamily="2" charset="0"/>
              </a:rPr>
              <a:t>COPY app.py /app</a:t>
            </a:r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B0F0"/>
                </a:solidFill>
                <a:latin typeface="Nunito" pitchFamily="2" charset="0"/>
              </a:rPr>
              <a:t>CMD ["python3", "/app/app.py"]</a:t>
            </a:r>
          </a:p>
        </p:txBody>
      </p:sp>
    </p:spTree>
    <p:extLst>
      <p:ext uri="{BB962C8B-B14F-4D97-AF65-F5344CB8AC3E}">
        <p14:creationId xmlns:p14="http://schemas.microsoft.com/office/powerpoint/2010/main" val="193349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1E77-E76C-58C4-0C17-925C0E7E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B33D-08EA-4B42-96E9-BC4A2A3D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Interact with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AB2B-5F1D-75B4-8B26-7A02E286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Start/Stop Containers: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start my-container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stop my-container</a:t>
            </a:r>
          </a:p>
          <a:p>
            <a:r>
              <a:rPr lang="en-US" dirty="0"/>
              <a:t>Execute Commands Inside a Container: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exec -it my-container bash  # Open a shell inside the container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AEBD5-C21A-5E6E-FF32-190BC4D7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5B85-95FD-CAED-E026-ECA38457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6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CC2C-F826-7D76-4B53-5A00E791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E2B2-9D3E-6A68-3305-6D6C8F39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C118A-7642-9D24-917C-AC2E0358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DD5D-016F-C1EE-08F9-A64EFAA9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Saving and Loading Docker Images Locally:</a:t>
            </a:r>
          </a:p>
          <a:p>
            <a:pPr lvl="1"/>
            <a:r>
              <a:rPr lang="en-US" dirty="0"/>
              <a:t>Save an image to a file named “my-app.tar” for offline sharing: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save -o my-app.tar my-app</a:t>
            </a:r>
          </a:p>
          <a:p>
            <a:pPr lvl="1"/>
            <a:r>
              <a:rPr lang="en-US" dirty="0"/>
              <a:t>Load an image from a file on another machine: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load 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my-app.tar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3C01F-4883-F3C1-52E5-17B7AD9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Docker Container</a:t>
            </a:r>
          </a:p>
        </p:txBody>
      </p:sp>
    </p:spTree>
    <p:extLst>
      <p:ext uri="{BB962C8B-B14F-4D97-AF65-F5344CB8AC3E}">
        <p14:creationId xmlns:p14="http://schemas.microsoft.com/office/powerpoint/2010/main" val="366724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3AC6-02CB-D38D-5F32-D1F6F04C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8F9F-1894-5EB0-6C3E-9269D9641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Sharing via Docker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33F08-7002-983A-7D6C-365515BEE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Log in to Docker Hub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login</a:t>
            </a:r>
          </a:p>
          <a:p>
            <a:r>
              <a:rPr lang="en-US" dirty="0"/>
              <a:t>Tag the image for the registry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tag my-app </a:t>
            </a:r>
            <a:r>
              <a:rPr lang="en-US" dirty="0" err="1">
                <a:solidFill>
                  <a:srgbClr val="FF0000"/>
                </a:solidFill>
              </a:rPr>
              <a:t>shivajigree</a:t>
            </a:r>
            <a:r>
              <a:rPr lang="en-US" dirty="0">
                <a:solidFill>
                  <a:srgbClr val="FF0000"/>
                </a:solidFill>
              </a:rPr>
              <a:t>/my-app:1.0</a:t>
            </a:r>
          </a:p>
          <a:p>
            <a:r>
              <a:rPr lang="en-US" dirty="0"/>
              <a:t>Login to Docker Hub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docker login</a:t>
            </a:r>
          </a:p>
          <a:p>
            <a:r>
              <a:rPr lang="en-US" dirty="0"/>
              <a:t>Push to Docker Hub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push </a:t>
            </a:r>
            <a:r>
              <a:rPr lang="en-US" dirty="0" err="1">
                <a:solidFill>
                  <a:srgbClr val="FF0000"/>
                </a:solidFill>
              </a:rPr>
              <a:t>shivajigree</a:t>
            </a:r>
            <a:r>
              <a:rPr lang="en-US" dirty="0">
                <a:solidFill>
                  <a:srgbClr val="FF0000"/>
                </a:solidFill>
              </a:rPr>
              <a:t>/my-app:1.0</a:t>
            </a:r>
          </a:p>
          <a:p>
            <a:r>
              <a:rPr lang="en-US" dirty="0"/>
              <a:t>Pull the image from another machine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pull </a:t>
            </a:r>
            <a:r>
              <a:rPr lang="en-US" dirty="0" err="1">
                <a:solidFill>
                  <a:srgbClr val="FF0000"/>
                </a:solidFill>
              </a:rPr>
              <a:t>shivajigree</a:t>
            </a:r>
            <a:r>
              <a:rPr lang="en-US" dirty="0">
                <a:solidFill>
                  <a:srgbClr val="FF0000"/>
                </a:solidFill>
              </a:rPr>
              <a:t>/my-app:1.0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0D162-17FA-A16B-AE6E-27A61717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92F8B-6A91-B0B8-12CC-B94EA94F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7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41E0-45A6-CA76-650A-D0A49E88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B676D-DA7C-42B2-2D28-9672D64A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996F8-C484-E4DE-2EBF-2922A454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BF99E-CF1B-805E-2BC0-9DD98246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Publishing involves making your image publicly accessible or available to a team via a registry.</a:t>
            </a:r>
          </a:p>
          <a:p>
            <a:pPr algn="l"/>
            <a:r>
              <a:rPr lang="en-US" b="1" i="0" dirty="0">
                <a:solidFill>
                  <a:srgbClr val="404040"/>
                </a:solidFill>
                <a:effectLst/>
              </a:rPr>
              <a:t>Step 1: Choose a Registry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</a:rPr>
              <a:t>Public Registries</a:t>
            </a:r>
            <a:r>
              <a:rPr lang="en-US" b="0" i="0" dirty="0">
                <a:solidFill>
                  <a:srgbClr val="404040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</a:rPr>
              <a:t>Docker Hub</a:t>
            </a:r>
            <a:r>
              <a:rPr lang="en-US" b="0" i="0" dirty="0">
                <a:solidFill>
                  <a:srgbClr val="404040"/>
                </a:solidFill>
                <a:effectLst/>
              </a:rPr>
              <a:t>: Default registry for public/private images.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</a:rPr>
              <a:t>GitHub Packages</a:t>
            </a:r>
            <a:r>
              <a:rPr lang="en-US" b="0" i="0" dirty="0">
                <a:solidFill>
                  <a:srgbClr val="404040"/>
                </a:solidFill>
                <a:effectLst/>
              </a:rPr>
              <a:t>: Integrated with GitHub repositories.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</a:rPr>
              <a:t>Private Registries</a:t>
            </a:r>
            <a:r>
              <a:rPr lang="en-US" b="0" i="0" dirty="0">
                <a:solidFill>
                  <a:srgbClr val="404040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</a:rPr>
              <a:t>AWS ECR</a:t>
            </a:r>
            <a:r>
              <a:rPr lang="en-US" b="0" i="0" dirty="0">
                <a:solidFill>
                  <a:srgbClr val="404040"/>
                </a:solidFill>
                <a:effectLst/>
              </a:rPr>
              <a:t>, </a:t>
            </a:r>
            <a:r>
              <a:rPr lang="en-US" b="1" i="0" dirty="0">
                <a:solidFill>
                  <a:srgbClr val="404040"/>
                </a:solidFill>
                <a:effectLst/>
              </a:rPr>
              <a:t>Google GCR</a:t>
            </a:r>
            <a:r>
              <a:rPr lang="en-US" b="0" i="0" dirty="0">
                <a:solidFill>
                  <a:srgbClr val="404040"/>
                </a:solidFill>
                <a:effectLst/>
              </a:rPr>
              <a:t>, </a:t>
            </a:r>
            <a:r>
              <a:rPr lang="en-US" b="1" i="0" dirty="0">
                <a:solidFill>
                  <a:srgbClr val="404040"/>
                </a:solidFill>
                <a:effectLst/>
              </a:rPr>
              <a:t>Azure Container Registry</a:t>
            </a:r>
            <a:r>
              <a:rPr lang="en-US" b="0" i="0" dirty="0">
                <a:solidFill>
                  <a:srgbClr val="404040"/>
                </a:solidFill>
                <a:effectLst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</a:rPr>
              <a:t>Self-hosted registries (e.g., Docker Registry v2).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F14C23-83FD-5E03-CCCB-F42FF052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Docker Containers</a:t>
            </a:r>
          </a:p>
        </p:txBody>
      </p:sp>
    </p:spTree>
    <p:extLst>
      <p:ext uri="{BB962C8B-B14F-4D97-AF65-F5344CB8AC3E}">
        <p14:creationId xmlns:p14="http://schemas.microsoft.com/office/powerpoint/2010/main" val="318399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64EB-CCEA-5E0D-7343-2AC42EA01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C362-0B6E-F969-DC84-730AC5B1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Publishing Docker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51D8-1CD6-AB6F-17EB-FB8B09571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Using Private Docker Registries:</a:t>
            </a:r>
          </a:p>
          <a:p>
            <a:pPr lvl="1"/>
            <a:r>
              <a:rPr lang="en-US" dirty="0"/>
              <a:t>Set up a local registry: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-d -p 5000:5000 --name registry registry:2</a:t>
            </a:r>
          </a:p>
          <a:p>
            <a:pPr lvl="1"/>
            <a:r>
              <a:rPr lang="en-US" dirty="0"/>
              <a:t>Tagging and pushing to a local registry: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tag my-app localhost:5000/my-app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push localhost:5000/my-</a:t>
            </a:r>
            <a:r>
              <a:rPr lang="en-US" dirty="0" err="1">
                <a:solidFill>
                  <a:srgbClr val="FF0000"/>
                </a:solidFill>
              </a:rPr>
              <a:t>appS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23CE0-DE51-62B1-CCC7-891951FB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1EEA0-A5DA-9802-0256-A6478B2B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5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4B52-C893-4D36-B049-572295E3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E4F9-9BCE-78D4-877F-251B064C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/>
            <a:r>
              <a:rPr lang="en-US" i="0" dirty="0">
                <a:effectLst/>
              </a:rPr>
              <a:t>DevOp</a:t>
            </a:r>
            <a:r>
              <a:rPr lang="en-US" dirty="0"/>
              <a:t>s </a:t>
            </a:r>
            <a:r>
              <a:rPr lang="en-US" i="0" dirty="0">
                <a:effectLst/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7775-FF14-D461-20EA-51F1896AB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Develop → Write code and Dockerfile.</a:t>
            </a:r>
          </a:p>
          <a:p>
            <a:endParaRPr lang="en-US" b="1" dirty="0"/>
          </a:p>
          <a:p>
            <a:r>
              <a:rPr lang="en-US" b="1" dirty="0"/>
              <a:t>Build → Create a Docker image.</a:t>
            </a:r>
          </a:p>
          <a:p>
            <a:endParaRPr lang="en-US" b="1" dirty="0"/>
          </a:p>
          <a:p>
            <a:r>
              <a:rPr lang="en-US" b="1" dirty="0"/>
              <a:t>Test → Run containers locally.</a:t>
            </a:r>
          </a:p>
          <a:p>
            <a:endParaRPr lang="en-US" b="1" dirty="0"/>
          </a:p>
          <a:p>
            <a:r>
              <a:rPr lang="en-US" b="1" dirty="0"/>
              <a:t>Share/Publish → Push to a registry.</a:t>
            </a:r>
          </a:p>
          <a:p>
            <a:endParaRPr lang="en-US" b="1" dirty="0"/>
          </a:p>
          <a:p>
            <a:r>
              <a:rPr lang="en-US" b="1" dirty="0"/>
              <a:t>Deploy → Pull the image on servers and run containers.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FC8F8-8EF4-7DB9-E4BE-3586BB2B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D35A-B4F9-72FD-421C-FEC281EE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9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2DEC-AEC7-059E-128C-AFC7409C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2D12-A325-D3FB-D9AA-8EA413F9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A7F8-A9E9-BC4A-C6A3-FC7E6501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Automate builds </a:t>
            </a:r>
            <a:r>
              <a:rPr lang="en-US" dirty="0"/>
              <a:t>with CI/CD pipelines (Jenkins, GitHub Actions, GitLab CI)</a:t>
            </a:r>
          </a:p>
          <a:p>
            <a:r>
              <a:rPr lang="en-US" dirty="0"/>
              <a:t>Use </a:t>
            </a:r>
            <a:r>
              <a:rPr lang="en-US" b="1" dirty="0"/>
              <a:t>.</a:t>
            </a:r>
            <a:r>
              <a:rPr lang="en-US" b="1" dirty="0" err="1"/>
              <a:t>dockerignore</a:t>
            </a:r>
            <a:r>
              <a:rPr lang="en-US" dirty="0"/>
              <a:t> to exclude unnecessary files like </a:t>
            </a:r>
            <a:r>
              <a:rPr lang="en-US" dirty="0" err="1"/>
              <a:t>node_modules</a:t>
            </a:r>
            <a:r>
              <a:rPr lang="en-US" dirty="0"/>
              <a:t>, .git, etc.</a:t>
            </a:r>
          </a:p>
          <a:p>
            <a:r>
              <a:rPr lang="en-US" b="1" dirty="0"/>
              <a:t>Minimize Image Size:</a:t>
            </a:r>
          </a:p>
          <a:p>
            <a:pPr lvl="1"/>
            <a:r>
              <a:rPr lang="en-US" dirty="0"/>
              <a:t>Use small base images (e.g., alpine).</a:t>
            </a:r>
          </a:p>
          <a:p>
            <a:pPr lvl="1"/>
            <a:r>
              <a:rPr lang="en-US" dirty="0"/>
              <a:t>Clean up temporary files in the same RUN layer.</a:t>
            </a:r>
          </a:p>
          <a:p>
            <a:r>
              <a:rPr lang="en-US" b="1" dirty="0"/>
              <a:t>Image Tagging:</a:t>
            </a:r>
          </a:p>
          <a:p>
            <a:pPr lvl="1"/>
            <a:r>
              <a:rPr lang="en-US" dirty="0"/>
              <a:t>Use semantic versioning (e.g., my-app:1.0, </a:t>
            </a:r>
            <a:r>
              <a:rPr lang="en-US" dirty="0" err="1"/>
              <a:t>my-app:latest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Avoid using latest in production.</a:t>
            </a:r>
          </a:p>
          <a:p>
            <a:r>
              <a:rPr lang="en-US" b="1" dirty="0"/>
              <a:t>Security:</a:t>
            </a:r>
          </a:p>
          <a:p>
            <a:pPr lvl="1"/>
            <a:r>
              <a:rPr lang="en-US" dirty="0"/>
              <a:t>Avoid running containers as root.</a:t>
            </a:r>
          </a:p>
          <a:p>
            <a:pPr lvl="1"/>
            <a:r>
              <a:rPr lang="en-US" dirty="0"/>
              <a:t>Scan images for vulnerabilities (e.g., docker scan my-app:1.0).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780AD-CEBF-BF0B-08D5-5AEA68B4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F6A19-E75D-34A3-B006-FD9A46A1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0D6B-B966-120D-EC3B-D0E786A2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75F3-67E1-F966-C039-81FA3A98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Automating Container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E348-9ACF-DF6D-00B8-0AD3F95EC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For production use, it is possible to automate the deployment process. This can be done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 Compose</a:t>
            </a:r>
            <a:r>
              <a:rPr lang="en-US" dirty="0"/>
              <a:t>: To manage multi-container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CI/CD Pipelines</a:t>
            </a:r>
            <a:r>
              <a:rPr lang="en-US" dirty="0"/>
              <a:t>: Automate building, testing, and pushing Docker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Kubernetes</a:t>
            </a:r>
            <a:r>
              <a:rPr lang="en-US" dirty="0"/>
              <a:t>: For orchestrating large-scale container deployments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B3DE9-7908-5BA9-C480-66CB36B8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571E-BE29-A72A-81EC-99DE0DA8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68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960B-B38E-69F4-95E8-E5AD7C67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98810-3970-4864-FBE0-ED1BE69E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B8A28-6067-B8FF-5C60-89AD3C81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2917-C7B0-D6C9-07C1-A655E885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tool to define and </a:t>
            </a:r>
            <a:r>
              <a:rPr lang="en-US" b="1" dirty="0"/>
              <a:t>manage multi-container Docker applications</a:t>
            </a:r>
            <a:r>
              <a:rPr lang="en-US" dirty="0"/>
              <a:t>.</a:t>
            </a:r>
          </a:p>
          <a:p>
            <a:r>
              <a:rPr lang="en-US" dirty="0"/>
              <a:t>It allows developers to describe an application's services, networks, and volumes in a </a:t>
            </a:r>
            <a:r>
              <a:rPr lang="en-US" b="1" dirty="0"/>
              <a:t>single docker-</a:t>
            </a:r>
            <a:r>
              <a:rPr lang="en-US" b="1" dirty="0" err="1"/>
              <a:t>compose.yml</a:t>
            </a:r>
            <a:r>
              <a:rPr lang="en-US" b="1" dirty="0"/>
              <a:t> file</a:t>
            </a:r>
            <a:r>
              <a:rPr lang="en-US" dirty="0"/>
              <a:t>, simplifying the deployment and orchestration of complex applications.</a:t>
            </a:r>
          </a:p>
          <a:p>
            <a:r>
              <a:rPr lang="en-US" dirty="0">
                <a:solidFill>
                  <a:srgbClr val="FF0000"/>
                </a:solidFill>
              </a:rPr>
              <a:t>Instead of manually running multiple </a:t>
            </a:r>
            <a:r>
              <a:rPr lang="en-US" b="1" i="1" dirty="0">
                <a:solidFill>
                  <a:srgbClr val="FF0000"/>
                </a:solidFill>
              </a:rPr>
              <a:t>docker run </a:t>
            </a:r>
            <a:r>
              <a:rPr lang="en-US" dirty="0">
                <a:solidFill>
                  <a:srgbClr val="FF0000"/>
                </a:solidFill>
              </a:rPr>
              <a:t>commands, Compose lets you define all configurations in a YAML file and start everything with a single command.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266E1-9FD4-D602-3D5B-28074F81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</p:spTree>
    <p:extLst>
      <p:ext uri="{BB962C8B-B14F-4D97-AF65-F5344CB8AC3E}">
        <p14:creationId xmlns:p14="http://schemas.microsoft.com/office/powerpoint/2010/main" val="259620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2B28-F492-AE9F-0E22-66DABB68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AAA3-72E3-2BF3-1F77-40C8810B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Multi-Container Management</a:t>
            </a:r>
            <a:r>
              <a:rPr lang="en-US" dirty="0"/>
              <a:t>: Helps run multiple containers as a single service.</a:t>
            </a:r>
          </a:p>
          <a:p>
            <a:r>
              <a:rPr lang="en-US" b="1" dirty="0"/>
              <a:t>Service Definition</a:t>
            </a:r>
            <a:r>
              <a:rPr lang="en-US" dirty="0"/>
              <a:t>: Allows defining application services with their dependencies in docker-</a:t>
            </a:r>
            <a:r>
              <a:rPr lang="en-US" dirty="0" err="1"/>
              <a:t>compose.yml</a:t>
            </a:r>
            <a:r>
              <a:rPr lang="en-US" dirty="0"/>
              <a:t>.</a:t>
            </a:r>
          </a:p>
          <a:p>
            <a:r>
              <a:rPr lang="en-US" b="1" dirty="0"/>
              <a:t>Networking</a:t>
            </a:r>
            <a:r>
              <a:rPr lang="en-US" dirty="0"/>
              <a:t>: Creates a shared network for containers to communicate seamlessly.</a:t>
            </a:r>
          </a:p>
          <a:p>
            <a:r>
              <a:rPr lang="en-US" b="1" dirty="0"/>
              <a:t>Volume Management</a:t>
            </a:r>
            <a:r>
              <a:rPr lang="en-US" dirty="0"/>
              <a:t>: Manages persistent data across containers.</a:t>
            </a:r>
          </a:p>
          <a:p>
            <a:r>
              <a:rPr lang="en-US" b="1" dirty="0"/>
              <a:t>Scaling</a:t>
            </a:r>
            <a:r>
              <a:rPr lang="en-US" dirty="0"/>
              <a:t>: Easily scales services by specifying the number of running container instances.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6CDD6-9900-BC05-6E60-46D01306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1A1D4-ABED-E131-EF2E-78E2607C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24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5D3F-B9AC-E45E-6884-5E2A21AD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3ABE-1E1D-A97A-4FF2-0001EC60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Docker Compose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49A5-4979-E344-CB76-89FC0C30F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Define Services</a:t>
            </a:r>
            <a:r>
              <a:rPr lang="en-US" dirty="0"/>
              <a:t>: Create a docker-</a:t>
            </a:r>
            <a:r>
              <a:rPr lang="en-US" dirty="0" err="1"/>
              <a:t>compose.yml</a:t>
            </a:r>
            <a:r>
              <a:rPr lang="en-US" dirty="0"/>
              <a:t> file specifying the application's services.</a:t>
            </a:r>
          </a:p>
          <a:p>
            <a:r>
              <a:rPr lang="en-US" b="1" dirty="0"/>
              <a:t>Start Containers</a:t>
            </a:r>
            <a:r>
              <a:rPr lang="en-US" dirty="0"/>
              <a:t>: Use docker-compose up to start all services.</a:t>
            </a:r>
          </a:p>
          <a:p>
            <a:r>
              <a:rPr lang="en-US" b="1" dirty="0"/>
              <a:t>Manage Containers</a:t>
            </a:r>
            <a:r>
              <a:rPr lang="en-US" dirty="0"/>
              <a:t>: Stop, restart, or scale services with Docker Compose commands.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C2AB7-014C-3362-337B-EA27B302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43F79-045C-F5E0-B56F-8A114425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09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5DE0-EA65-8C1E-1791-4359025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D1DBE-80C0-ACA6-A89C-8466E92D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00452-AD0A-7129-C0B1-9F317122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F01FC-8890-DD26-F546-C3F7E767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Docker Compose Commands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F67991AB-2EF3-A8DD-3041-3CAD8763EF9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254591442"/>
              </p:ext>
            </p:extLst>
          </p:nvPr>
        </p:nvGraphicFramePr>
        <p:xfrm>
          <a:off x="685800" y="1663700"/>
          <a:ext cx="9982200" cy="4389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916134775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1445756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6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Starts all services defined in docker-</a:t>
                      </a:r>
                      <a:r>
                        <a:rPr lang="en-US" sz="2400" dirty="0" err="1">
                          <a:latin typeface="Nunito" pitchFamily="2" charset="0"/>
                        </a:rPr>
                        <a:t>compose.yml</a:t>
                      </a:r>
                      <a:r>
                        <a:rPr lang="en-US" sz="2400" dirty="0">
                          <a:latin typeface="Nunito" pitchFamily="2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784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up -d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Starts services in detached (background) mode.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86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Stops and removes all services.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18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</a:t>
                      </a:r>
                      <a:r>
                        <a:rPr lang="en-US" sz="2400" dirty="0" err="1">
                          <a:latin typeface="Nunito" pitchFamily="2" charset="0"/>
                        </a:rPr>
                        <a:t>ps</a:t>
                      </a:r>
                      <a:endParaRPr lang="en-US" sz="2400" dirty="0">
                        <a:latin typeface="Nunito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Lists running containers.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39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logs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Shows logs of running services.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6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restart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Restarts all containers.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8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docker-compose build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Builds images before running the services.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7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50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C947A-B11E-22BC-1E0C-BE712140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36BBA-6903-1496-710B-689E6CDF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118CE-EC87-8144-CF39-37831DF9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599D-3EDB-5804-C7E6-47D07EE19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Docker networking allows containers to communicate with each other and with external systems.</a:t>
            </a:r>
          </a:p>
          <a:p>
            <a:r>
              <a:rPr lang="en-US" dirty="0"/>
              <a:t>By default, Docker provides various networking options to suit different use cases, such as container-to-container communication, internet access, and connecting to non-Docker applications.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B6A5F-1EB5-2945-63D3-F420820D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Networking</a:t>
            </a:r>
          </a:p>
        </p:txBody>
      </p:sp>
    </p:spTree>
    <p:extLst>
      <p:ext uri="{BB962C8B-B14F-4D97-AF65-F5344CB8AC3E}">
        <p14:creationId xmlns:p14="http://schemas.microsoft.com/office/powerpoint/2010/main" val="415894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8B0AE-86DC-EFB9-C51F-D2651A26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D41C7-752B-7873-21F7-EADF744C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69197-CCB9-381A-1B62-2DC25906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1BF9-47B4-0A6A-C057-691CE8E4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Docker provides different network drivers to manage communication between containers.</a:t>
            </a:r>
          </a:p>
          <a:p>
            <a:r>
              <a:rPr lang="en-US" dirty="0"/>
              <a:t>The key network types are:</a:t>
            </a:r>
          </a:p>
          <a:p>
            <a:r>
              <a:rPr lang="en-US" b="1" dirty="0"/>
              <a:t>Bridge Network (Default)</a:t>
            </a:r>
          </a:p>
          <a:p>
            <a:r>
              <a:rPr lang="en-US" b="1" dirty="0"/>
              <a:t>Host Network</a:t>
            </a:r>
          </a:p>
          <a:p>
            <a:r>
              <a:rPr lang="en-US" b="1" dirty="0"/>
              <a:t>None Network</a:t>
            </a:r>
          </a:p>
          <a:p>
            <a:r>
              <a:rPr lang="en-US" b="1" dirty="0"/>
              <a:t>Overlay Network</a:t>
            </a:r>
          </a:p>
          <a:p>
            <a:r>
              <a:rPr lang="en-US" b="1" dirty="0" err="1"/>
              <a:t>Macvlan</a:t>
            </a:r>
            <a:r>
              <a:rPr lang="en-US" b="1" dirty="0"/>
              <a:t> Network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A8FD0-26D8-3329-CE05-A205B68E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 Types</a:t>
            </a:r>
          </a:p>
        </p:txBody>
      </p:sp>
    </p:spTree>
    <p:extLst>
      <p:ext uri="{BB962C8B-B14F-4D97-AF65-F5344CB8AC3E}">
        <p14:creationId xmlns:p14="http://schemas.microsoft.com/office/powerpoint/2010/main" val="1781093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A0E7-EA03-71FC-B42A-E9E7FC9F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Network (Default)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3A7B-9D48-3A01-6B48-A2D033324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on the same bridge network can communicate using container names.</a:t>
            </a:r>
          </a:p>
          <a:p>
            <a:r>
              <a:rPr lang="en-US" dirty="0"/>
              <a:t>Useful for applications where multiple services run together (e.g., web and database).</a:t>
            </a:r>
          </a:p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network create </a:t>
            </a:r>
            <a:r>
              <a:rPr lang="en-US" dirty="0" err="1">
                <a:solidFill>
                  <a:srgbClr val="FF0000"/>
                </a:solidFill>
              </a:rPr>
              <a:t>my_bridge</a:t>
            </a:r>
            <a:endParaRPr lang="en-US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-d --name web --network </a:t>
            </a:r>
            <a:r>
              <a:rPr lang="en-US" dirty="0" err="1">
                <a:solidFill>
                  <a:srgbClr val="FF0000"/>
                </a:solidFill>
              </a:rPr>
              <a:t>my_bridge</a:t>
            </a:r>
            <a:r>
              <a:rPr lang="en-US" dirty="0">
                <a:solidFill>
                  <a:srgbClr val="FF0000"/>
                </a:solidFill>
              </a:rPr>
              <a:t> nginx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-d --name </a:t>
            </a:r>
            <a:r>
              <a:rPr lang="en-US" dirty="0" err="1">
                <a:solidFill>
                  <a:srgbClr val="FF0000"/>
                </a:solidFill>
              </a:rPr>
              <a:t>db</a:t>
            </a:r>
            <a:r>
              <a:rPr lang="en-US" dirty="0">
                <a:solidFill>
                  <a:srgbClr val="FF0000"/>
                </a:solidFill>
              </a:rPr>
              <a:t> --network </a:t>
            </a:r>
            <a:r>
              <a:rPr lang="en-US" dirty="0" err="1">
                <a:solidFill>
                  <a:srgbClr val="FF0000"/>
                </a:solidFill>
              </a:rPr>
              <a:t>my_bridge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mysql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339B0-CDD5-51B1-E6B6-6183BC9B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4B607-46CE-1D67-303B-4038EC6D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95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E6E2-C500-65DF-408B-64087956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AB63-DE4F-181A-D319-ED1F9C33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1ACD-867B-FE35-A4B3-638CFA90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container shares the host's network stack.</a:t>
            </a:r>
          </a:p>
          <a:p>
            <a:r>
              <a:rPr lang="en-US" dirty="0"/>
              <a:t>No network isolation—useful when you want maximum performance.</a:t>
            </a:r>
          </a:p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run --rm --network host nginx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35ECC-582B-4989-5DB1-2FFC1C11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FAB2E-22ED-C683-ECEC-2C5757B5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93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1698-D84F-7972-C118-D7311E21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883F-D951-A7A6-CA9A-30A37A17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E2707-B5C5-EDEC-20C0-1D7436DB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Completely isolates the container from any network.</a:t>
            </a:r>
          </a:p>
          <a:p>
            <a:r>
              <a:rPr lang="en-US" dirty="0"/>
              <a:t>Useful for security-sensitive applications.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docker run --rm --network none nginx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49BD0-35CD-8CCF-DE31-A4EF43B9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73A2C-0542-B080-E8A7-C3CAC600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59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B9CF-4BA7-CDC1-BA72-DAE502B2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69B9-FFEB-B4FD-E81A-73960991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Overlay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2EB0F-8645-ED31-1B6D-2DA03C05E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Docker Swarm for multi-host networking.</a:t>
            </a:r>
          </a:p>
          <a:p>
            <a:r>
              <a:rPr lang="en-US" dirty="0"/>
              <a:t>Allows containers across multiple hosts to communicate.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docker network create --driver overlay </a:t>
            </a:r>
            <a:r>
              <a:rPr lang="en-US" dirty="0" err="1">
                <a:solidFill>
                  <a:srgbClr val="FF0000"/>
                </a:solidFill>
              </a:rPr>
              <a:t>my_overlay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A9537-67C2-8857-FC63-F1F891DA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BA23-E4F5-8CF8-3C9B-0420853C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01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68E96-030D-D566-9A02-10FD6D8B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D442-8DA7-C835-96EF-602096EE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Macvlan</a:t>
            </a:r>
            <a:r>
              <a:rPr lang="en-US" dirty="0"/>
              <a:t>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2643-4148-602C-636A-86BCC1AF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Assigns a unique MAC address to each container, making it appear as a physical device on the network.</a:t>
            </a:r>
          </a:p>
          <a:p>
            <a:r>
              <a:rPr lang="en-US" dirty="0"/>
              <a:t>Useful for scenarios where containers need to be treated like real machines.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docker network create -d </a:t>
            </a:r>
            <a:r>
              <a:rPr lang="en-US" dirty="0" err="1">
                <a:solidFill>
                  <a:srgbClr val="FF0000"/>
                </a:solidFill>
              </a:rPr>
              <a:t>macvlan</a:t>
            </a:r>
            <a:r>
              <a:rPr lang="en-US" dirty="0">
                <a:solidFill>
                  <a:srgbClr val="FF0000"/>
                </a:solidFill>
              </a:rPr>
              <a:t> --subnet=192.168.1.0/24 </a:t>
            </a:r>
            <a:r>
              <a:rPr lang="en-US" dirty="0" err="1">
                <a:solidFill>
                  <a:srgbClr val="FF0000"/>
                </a:solidFill>
              </a:rPr>
              <a:t>my_macvlan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54966-FEEF-3E48-43AA-2BF75C52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E12E1-EDAD-7A15-C3CB-EB1E0ECA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489F-E949-F513-C63E-53374A76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DDE1-6C97-5C0B-D54E-0ADBA46B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Example: Connecting Web and Database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46B6-8ED2-8195-EAD6-5C40E71A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use case for Docker networking is setting up a </a:t>
            </a:r>
            <a:r>
              <a:rPr lang="en-US" b="1" dirty="0"/>
              <a:t>web server </a:t>
            </a:r>
            <a:r>
              <a:rPr lang="en-US" dirty="0"/>
              <a:t>and </a:t>
            </a:r>
            <a:r>
              <a:rPr lang="en-US" b="1" dirty="0"/>
              <a:t>a database </a:t>
            </a:r>
            <a:r>
              <a:rPr lang="en-US" dirty="0"/>
              <a:t>that can talk to each other.</a:t>
            </a:r>
          </a:p>
          <a:p>
            <a:r>
              <a:rPr lang="en-US" dirty="0"/>
              <a:t>Docker Compose Example</a:t>
            </a:r>
          </a:p>
          <a:p>
            <a:r>
              <a:rPr lang="en-US" dirty="0"/>
              <a:t>We can define a WordPress + MySQL setup using docker-</a:t>
            </a:r>
            <a:r>
              <a:rPr lang="en-US" dirty="0" err="1"/>
              <a:t>compose.yml</a:t>
            </a:r>
            <a:r>
              <a:rPr lang="en-US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C2A1F-C9CD-C065-739D-8079FD86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084F6-FE7B-721A-66FF-BB4ED2BF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61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E0D81-34A8-3AD9-F65B-25C5B90E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04AA-98F6-557C-A1F8-9157D89F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Example: Connecting Web and Database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841E2-67A6-37FC-8D4E-E1E7E12C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5105397" cy="4663439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version: "3.9"</a:t>
            </a:r>
          </a:p>
          <a:p>
            <a:r>
              <a:rPr lang="en-US" sz="1600" dirty="0"/>
              <a:t>services: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wordpress</a:t>
            </a:r>
            <a:r>
              <a:rPr lang="en-US" sz="1600" dirty="0"/>
              <a:t>:</a:t>
            </a:r>
          </a:p>
          <a:p>
            <a:r>
              <a:rPr lang="en-US" sz="1600" dirty="0"/>
              <a:t>    image: </a:t>
            </a:r>
            <a:r>
              <a:rPr lang="en-US" sz="1600" dirty="0" err="1"/>
              <a:t>wordpress:latest</a:t>
            </a:r>
            <a:endParaRPr lang="en-US" sz="1600" dirty="0"/>
          </a:p>
          <a:p>
            <a:r>
              <a:rPr lang="en-US" sz="1600" dirty="0"/>
              <a:t>    restart: always</a:t>
            </a:r>
          </a:p>
          <a:p>
            <a:r>
              <a:rPr lang="en-US" sz="1600" dirty="0"/>
              <a:t>    ports:</a:t>
            </a:r>
          </a:p>
          <a:p>
            <a:r>
              <a:rPr lang="en-US" sz="1600" dirty="0"/>
              <a:t>      - "8080:80"</a:t>
            </a:r>
          </a:p>
          <a:p>
            <a:r>
              <a:rPr lang="en-US" sz="1600" dirty="0"/>
              <a:t>    environment:</a:t>
            </a:r>
          </a:p>
          <a:p>
            <a:r>
              <a:rPr lang="en-US" sz="1600" dirty="0"/>
              <a:t>      WORDPRESS_DB_HOST: </a:t>
            </a:r>
            <a:r>
              <a:rPr lang="en-US" sz="1600" dirty="0" err="1"/>
              <a:t>db</a:t>
            </a:r>
            <a:endParaRPr lang="en-US" sz="1600" dirty="0"/>
          </a:p>
          <a:p>
            <a:r>
              <a:rPr lang="en-US" sz="1600" dirty="0"/>
              <a:t>      WORDPRESS_DB_PASSWORD: example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depends_on</a:t>
            </a:r>
            <a:r>
              <a:rPr lang="en-US" sz="1600" dirty="0"/>
              <a:t>:</a:t>
            </a:r>
          </a:p>
          <a:p>
            <a:r>
              <a:rPr lang="en-US" sz="1600" dirty="0"/>
              <a:t>      - </a:t>
            </a:r>
            <a:r>
              <a:rPr lang="en-US" sz="1600" dirty="0" err="1"/>
              <a:t>db</a:t>
            </a:r>
            <a:endParaRPr lang="en-US" sz="1600" dirty="0"/>
          </a:p>
          <a:p>
            <a:r>
              <a:rPr lang="en-US" sz="1600" dirty="0"/>
              <a:t>    networks:</a:t>
            </a:r>
          </a:p>
          <a:p>
            <a:r>
              <a:rPr lang="en-US" sz="1600" dirty="0"/>
              <a:t>      - </a:t>
            </a:r>
            <a:r>
              <a:rPr lang="en-US" sz="1600" dirty="0" err="1"/>
              <a:t>my_network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01499-B892-2D78-D5B9-E61B012A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054FB-31CE-EC88-CF52-5B49E987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7A609D-48C5-14A8-29E5-5E40A24CEBEA}"/>
              </a:ext>
            </a:extLst>
          </p:cNvPr>
          <p:cNvSpPr txBox="1">
            <a:spLocks/>
          </p:cNvSpPr>
          <p:nvPr/>
        </p:nvSpPr>
        <p:spPr>
          <a:xfrm>
            <a:off x="5562600" y="1828800"/>
            <a:ext cx="5334000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  <a:p>
            <a:r>
              <a:rPr lang="en-US" sz="1800" dirty="0"/>
              <a:t> </a:t>
            </a:r>
            <a:r>
              <a:rPr lang="en-US" sz="1800" dirty="0" err="1"/>
              <a:t>db</a:t>
            </a:r>
            <a:r>
              <a:rPr lang="en-US" sz="1800" dirty="0"/>
              <a:t>:</a:t>
            </a:r>
          </a:p>
          <a:p>
            <a:r>
              <a:rPr lang="en-US" sz="1800" dirty="0"/>
              <a:t>    image: </a:t>
            </a:r>
            <a:r>
              <a:rPr lang="en-US" sz="1800" dirty="0" err="1"/>
              <a:t>mysql:latest</a:t>
            </a:r>
            <a:endParaRPr lang="en-US" sz="1800" dirty="0"/>
          </a:p>
          <a:p>
            <a:r>
              <a:rPr lang="en-US" sz="1800" dirty="0"/>
              <a:t>    restart: always</a:t>
            </a:r>
          </a:p>
          <a:p>
            <a:r>
              <a:rPr lang="en-US" sz="1800" dirty="0"/>
              <a:t>    environment:</a:t>
            </a:r>
          </a:p>
          <a:p>
            <a:r>
              <a:rPr lang="en-US" sz="1800" dirty="0"/>
              <a:t>      MYSQL_ROOT_PASSWORD: example</a:t>
            </a:r>
          </a:p>
          <a:p>
            <a:r>
              <a:rPr lang="en-US" sz="1800" dirty="0"/>
              <a:t>    networks:</a:t>
            </a:r>
          </a:p>
          <a:p>
            <a:r>
              <a:rPr lang="en-US" sz="1800" dirty="0"/>
              <a:t>      - </a:t>
            </a:r>
            <a:r>
              <a:rPr lang="en-US" sz="1800" dirty="0" err="1"/>
              <a:t>my_network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networks: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my_network</a:t>
            </a:r>
            <a:r>
              <a:rPr lang="en-US" sz="1800" dirty="0"/>
              <a:t>:</a:t>
            </a:r>
          </a:p>
          <a:p>
            <a:r>
              <a:rPr lang="en-US" sz="1800" dirty="0"/>
              <a:t>    driver: bridge</a:t>
            </a:r>
          </a:p>
        </p:txBody>
      </p:sp>
    </p:spTree>
    <p:extLst>
      <p:ext uri="{BB962C8B-B14F-4D97-AF65-F5344CB8AC3E}">
        <p14:creationId xmlns:p14="http://schemas.microsoft.com/office/powerpoint/2010/main" val="2169266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C6F3-5954-4174-051E-B1E8F7F7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B3B4-F737-6303-2254-74F23FB7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Real-World Example: Connecting Web and Database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BBE53-38CA-CB73-7716-FD137193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How It Works?</a:t>
            </a:r>
          </a:p>
          <a:p>
            <a:r>
              <a:rPr lang="en-US" dirty="0"/>
              <a:t>A custom </a:t>
            </a:r>
            <a:r>
              <a:rPr lang="en-US" b="1" dirty="0"/>
              <a:t>bridge network </a:t>
            </a:r>
            <a:r>
              <a:rPr lang="en-US" dirty="0"/>
              <a:t>(</a:t>
            </a:r>
            <a:r>
              <a:rPr lang="en-US" i="1" dirty="0" err="1"/>
              <a:t>my_network</a:t>
            </a:r>
            <a:r>
              <a:rPr lang="en-US" dirty="0"/>
              <a:t>) is created.</a:t>
            </a:r>
          </a:p>
          <a:p>
            <a:r>
              <a:rPr lang="en-US" dirty="0"/>
              <a:t>The </a:t>
            </a:r>
            <a:r>
              <a:rPr lang="en-US" b="1" dirty="0"/>
              <a:t>MySQL container </a:t>
            </a:r>
            <a:r>
              <a:rPr lang="en-US" dirty="0"/>
              <a:t>(</a:t>
            </a:r>
            <a:r>
              <a:rPr lang="en-US" i="1" dirty="0" err="1"/>
              <a:t>db</a:t>
            </a:r>
            <a:r>
              <a:rPr lang="en-US" dirty="0"/>
              <a:t>) is connected to </a:t>
            </a:r>
            <a:r>
              <a:rPr lang="en-US" i="1" dirty="0" err="1"/>
              <a:t>my_network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WordPress container </a:t>
            </a:r>
            <a:r>
              <a:rPr lang="en-US" dirty="0"/>
              <a:t>(</a:t>
            </a:r>
            <a:r>
              <a:rPr lang="en-US" i="1" dirty="0" err="1"/>
              <a:t>wordpress</a:t>
            </a:r>
            <a:r>
              <a:rPr lang="en-US" dirty="0"/>
              <a:t>) is also in </a:t>
            </a:r>
            <a:r>
              <a:rPr lang="en-US" i="1" dirty="0" err="1"/>
              <a:t>my_network</a:t>
            </a:r>
            <a:r>
              <a:rPr lang="en-US" i="1" dirty="0"/>
              <a:t> </a:t>
            </a:r>
            <a:r>
              <a:rPr lang="en-US" dirty="0"/>
              <a:t>and can reach </a:t>
            </a:r>
            <a:r>
              <a:rPr lang="en-US" i="1" dirty="0" err="1"/>
              <a:t>db</a:t>
            </a:r>
            <a:r>
              <a:rPr lang="en-US" dirty="0"/>
              <a:t> by its container name (WORDPRESS_DB_HOST: </a:t>
            </a:r>
            <a:r>
              <a:rPr lang="en-US" i="1" dirty="0" err="1"/>
              <a:t>db</a:t>
            </a:r>
            <a:r>
              <a:rPr lang="en-US" dirty="0"/>
              <a:t>).</a:t>
            </a:r>
          </a:p>
          <a:p>
            <a:r>
              <a:rPr lang="en-US" dirty="0"/>
              <a:t>The WordPress site is accessible at </a:t>
            </a:r>
            <a:r>
              <a:rPr lang="en-US" i="1" dirty="0"/>
              <a:t>http://localhost:8080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B5C3C-6C92-E2CB-AA3B-710595E4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DC300-8CC0-39D6-BDE7-D2FFDB01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07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591C-CAD9-A88B-B041-2E0B610C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DF4F-A204-8499-67C0-9271A07C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Inspecting Docker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82FF-3B7A-5737-6A40-44B71FB13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You can view existing networks using: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network ls</a:t>
            </a:r>
          </a:p>
          <a:p>
            <a:r>
              <a:rPr lang="en-US" dirty="0"/>
              <a:t>To inspect a specific network: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network inspect </a:t>
            </a:r>
            <a:r>
              <a:rPr lang="en-US" dirty="0" err="1">
                <a:solidFill>
                  <a:srgbClr val="FF0000"/>
                </a:solidFill>
              </a:rPr>
              <a:t>my_network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0568A-882C-13D4-459D-80693A14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B7B2E-141D-A26E-FBD4-5CAA2CFD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50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FE34-1FF5-40BB-C5B2-420C6C65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04D62-406B-A80C-A1B1-791A5973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AF2DB-107B-C28E-CF03-7875890C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AE67-6655-61C6-EA5E-F08A0256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bundles are a way to </a:t>
            </a:r>
            <a:r>
              <a:rPr lang="en-US" b="1" dirty="0"/>
              <a:t>package and distribute multi-container applications</a:t>
            </a:r>
            <a:r>
              <a:rPr lang="en-US" dirty="0"/>
              <a:t> along with their dependencies, configurations, and settings. </a:t>
            </a:r>
          </a:p>
          <a:p>
            <a:r>
              <a:rPr lang="en-US" dirty="0"/>
              <a:t>These bundles are essential when you want to deploy and share complex Docker setups with multiple containers that need to work together in an isolated environment.</a:t>
            </a:r>
          </a:p>
          <a:p>
            <a:r>
              <a:rPr lang="en-US" dirty="0"/>
              <a:t>A bundle can contain not only Docker images but also configurations, secrets, and other essential resources.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4D7BE-EE19-392F-3F62-3A1926AA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Bundles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6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59C1-9712-9C5B-A658-52753687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5A9-8BF1-4A56-0C5D-CC512BD8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Bundle vs 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A7B3-A4B8-8C4B-9C65-DF8F13A2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en-US" b="1" dirty="0"/>
              <a:t>Docker Compose</a:t>
            </a:r>
            <a:r>
              <a:rPr lang="en-US" dirty="0"/>
              <a:t> is commonly used for defining and running multi-container Docker applications, </a:t>
            </a:r>
            <a:r>
              <a:rPr lang="en-US" b="1" dirty="0"/>
              <a:t>Docker Bundles</a:t>
            </a:r>
            <a:r>
              <a:rPr lang="en-US" dirty="0"/>
              <a:t> go one step further by packaging the application with all its dependencies, configurations, and orchestrations for deployment on a specific Docker platform (like Docker Swarm or Docker Enterprise).</a:t>
            </a:r>
          </a:p>
          <a:p>
            <a:r>
              <a:rPr lang="en-US" dirty="0"/>
              <a:t>Docker bundles are used in a more </a:t>
            </a:r>
            <a:r>
              <a:rPr lang="en-US" b="1" dirty="0"/>
              <a:t>production-ready</a:t>
            </a:r>
            <a:r>
              <a:rPr lang="en-US" dirty="0"/>
              <a:t> setting for orchestrating, sharing, and managing </a:t>
            </a:r>
            <a:r>
              <a:rPr lang="en-US" dirty="0" err="1"/>
              <a:t>Dockerized</a:t>
            </a:r>
            <a:r>
              <a:rPr lang="en-US" dirty="0"/>
              <a:t> applications.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08DA0-A47D-A712-DBAE-FD9B7448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15713-E454-E18E-CDE6-C1BA7545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30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0057-7AAC-B94B-7C60-08A75A44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2029-D65D-3634-0FC9-78CB3E35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Docker Bundle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41154-C91D-029D-B683-4393070F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Docker bundle typically consists of the following elements: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Docker Images</a:t>
            </a:r>
            <a:r>
              <a:rPr lang="en-US" dirty="0"/>
              <a:t>: These are the container images that contain the application and all of its dependencies.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Configuration Files</a:t>
            </a:r>
            <a:r>
              <a:rPr lang="en-US" dirty="0"/>
              <a:t>: This includes settings, environment variables, ports, and other configurations needed to run the application.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Secrets</a:t>
            </a:r>
            <a:r>
              <a:rPr lang="en-US" dirty="0"/>
              <a:t>: Sensitive data such as passwords or API keys that should be securely managed and provided to containers when they run.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Docker Swarm or Docker Enterprise Setup</a:t>
            </a:r>
            <a:r>
              <a:rPr lang="en-US" dirty="0"/>
              <a:t>: Bundles are usually used in Docker Swarm clusters or Docker Enterprise, where services and networks are defined and orchestrated.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DB10A-2CA4-A873-9D02-E49B0E58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C3B96-7E0E-E4F1-5976-F8554F52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4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9136-E604-C48F-F5D7-85572A1F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B17C-25FA-A40F-2249-F24F444E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Involved in Creating a Docker Bundle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C96E-F667-8EB9-A18B-E7245D7F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Create Your Docker Compose File:</a:t>
            </a:r>
          </a:p>
          <a:p>
            <a:pPr lvl="1"/>
            <a:r>
              <a:rPr lang="en-US" dirty="0"/>
              <a:t>Define a multi-container application using docker-</a:t>
            </a:r>
            <a:r>
              <a:rPr lang="en-US" dirty="0" err="1"/>
              <a:t>compose.yml</a:t>
            </a:r>
            <a:r>
              <a:rPr lang="en-US" dirty="0"/>
              <a:t>, specifying services, networks, volumes, and other settings.</a:t>
            </a:r>
          </a:p>
          <a:p>
            <a:r>
              <a:rPr lang="en-US" b="1" dirty="0"/>
              <a:t>Convert the Compose File into a Bundle:</a:t>
            </a:r>
          </a:p>
          <a:p>
            <a:pPr lvl="1"/>
            <a:r>
              <a:rPr lang="en-US" dirty="0"/>
              <a:t>You use the docker-compose CLI tool to convert a compose file into a bundle that can be deployed to Docker Swarm or Docker Enterprise.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docker-compose bundle</a:t>
            </a:r>
          </a:p>
          <a:p>
            <a:pPr lvl="1"/>
            <a:r>
              <a:rPr lang="en-US" dirty="0"/>
              <a:t>This command will package your application into a .tar bundle file.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1F502-A91A-788E-0CBF-300F90E3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03373-6420-FC82-DF80-9A346D1B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12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27DB-3041-7B68-3E11-F182A885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9346-526F-D7EC-5422-87D44126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Involved in Creating a Docker Bundle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741-55EE-ABB2-F818-F98EAB4E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Push the Bundle to Docker Hub or a Private Registry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can then push the bundle file to a Docker registry or a private registry for distribution.</a:t>
            </a:r>
          </a:p>
          <a:p>
            <a:r>
              <a:rPr lang="en-US" b="1" dirty="0"/>
              <a:t>Deploy the Bundle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On Docker Swarm or Docker Enterprise, you can deploy the bundle using commands like: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docker deploy my_bundle.tar</a:t>
            </a:r>
          </a:p>
          <a:p>
            <a:pPr lvl="1"/>
            <a:r>
              <a:rPr lang="en-US" dirty="0"/>
              <a:t>This command takes the bundle, extracts the services, and deploys the containerized applications on the cluster nodes.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661EB-EBEE-F508-8BF6-2ACDAB8D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6220C-7932-5FEA-B080-EFCF109D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55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C87D-5A08-DF0F-E591-5CBB70B0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74FE0-239D-4C0D-AEFF-5EEFC9EB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93BCD-3B1C-F445-7F0A-24C87FAA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40002-C6A1-AF24-EADA-5CE92D516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Docker Swarm is a container orchestration tool </a:t>
            </a:r>
            <a:r>
              <a:rPr lang="en-US" dirty="0"/>
              <a:t>built into Docker that allows you to manage a cluster of Docker nodes (machines) as a single virtual system.</a:t>
            </a:r>
          </a:p>
          <a:p>
            <a:r>
              <a:rPr lang="en-US" dirty="0"/>
              <a:t>It is used to deploy, scale, and manage containerized applications across multiple hosts, automating the distribution of workloads and services. </a:t>
            </a:r>
          </a:p>
          <a:p>
            <a:r>
              <a:rPr lang="en-US" dirty="0"/>
              <a:t>Docker Swarm simplifies container management and ensures that your applications run in a high-availability, fault-tolerant environment.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615CD-9ABC-8ED4-1105-A54F64CF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Swarm</a:t>
            </a:r>
          </a:p>
        </p:txBody>
      </p:sp>
    </p:spTree>
    <p:extLst>
      <p:ext uri="{BB962C8B-B14F-4D97-AF65-F5344CB8AC3E}">
        <p14:creationId xmlns:p14="http://schemas.microsoft.com/office/powerpoint/2010/main" val="3425548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C8B5-C3FA-38AD-DBC3-A21280E2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02C0-2961-A1B1-BA98-5F6C386A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8A4E-6B73-5E58-A638-2CB348DB9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 Management</a:t>
            </a:r>
            <a:r>
              <a:rPr lang="en-US" dirty="0"/>
              <a:t>: Docker Swarm allows you to manage a cluster of Docker nodes. A node can be a physical or virtual machine running Docker. In a Swarm, nodes are classified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Manager Nodes</a:t>
            </a:r>
            <a:r>
              <a:rPr lang="en-US" dirty="0"/>
              <a:t>: These nodes are responsible for managing the cluster, maintaining the desired state of the services, and orchestrating tasks across the worker nodes.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Worker Nodes</a:t>
            </a:r>
            <a:r>
              <a:rPr lang="en-US" dirty="0"/>
              <a:t>: These nodes execute the tasks assigned by the manager nodes.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289FD-B318-292A-CE4E-7995AA69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4E367-F428-2F54-E4AC-0A81A0FC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68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327D-AEA7-1499-0B81-2275EBEA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76D9-3B70-6BE4-6400-31C8708E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CE18-8811-98BD-FC41-0F43AEC13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Discovery</a:t>
            </a:r>
            <a:r>
              <a:rPr lang="en-US" dirty="0"/>
              <a:t>: Swarm mode comes with built-in service discovery. Each container gets a DNS name, and containers can automatically discover and communicate with each other within the swarm.</a:t>
            </a:r>
          </a:p>
          <a:p>
            <a:r>
              <a:rPr lang="en-US" b="1" dirty="0"/>
              <a:t>Load Balancing</a:t>
            </a:r>
            <a:r>
              <a:rPr lang="en-US" dirty="0"/>
              <a:t>: Docker Swarm provides built-in load balancing, distributing requests across containers within a service. When a service is accessed, Swarm automatically routes traffic to the available containers.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837CE-F811-0391-08D7-C07D50DE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B490D-1044-A0C0-70CC-EEF6825F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26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E96A1-84C2-6E84-8F34-613FFB82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2FCD-EA4C-5434-BEF0-78A1A1ED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D07C-1D26-24F9-F7B3-57894C238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Fault Tolerance and High Availability</a:t>
            </a:r>
            <a:r>
              <a:rPr lang="en-US" dirty="0"/>
              <a:t>: Docker Swarm ensures that your services remain available even in the event of a node failure. If a node goes down, Swarm automatically reschedules tasks to other available nodes to maintain the desired state.</a:t>
            </a:r>
          </a:p>
          <a:p>
            <a:r>
              <a:rPr lang="en-US" b="1" dirty="0"/>
              <a:t>Scaling</a:t>
            </a:r>
            <a:r>
              <a:rPr lang="en-US" dirty="0"/>
              <a:t>: Swarm mode allows you to scale services up or down with a single command. You can increase or decrease the number of replicas (instances) of a service based on demand.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B75AA-DD82-1ACA-C4DA-D15979CC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024DE-05DD-BF57-ABC3-A6CD7017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3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88D8-CE93-254E-32F1-F33D37B1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5990-B7AA-3C45-D285-885BFD5E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E6A1-4F36-234B-55FA-10E1A70BA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Rolling Updates</a:t>
            </a:r>
            <a:r>
              <a:rPr lang="en-US" dirty="0"/>
              <a:t>: Docker Swarm supports rolling updates, meaning you can update a service without downtime. Swarm gradually replaces old containers with new ones, ensuring that some containers always remain up and running.</a:t>
            </a:r>
          </a:p>
          <a:p>
            <a:r>
              <a:rPr lang="en-US" b="1" dirty="0"/>
              <a:t>Security</a:t>
            </a:r>
            <a:r>
              <a:rPr lang="en-US" dirty="0"/>
              <a:t>: Docker Swarm encrypts communication between nodes using Transport Layer Security (TLS). Additionally, it has built-in authentication for manager nodes and supports secrets management to securely handle sensitive data.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798FF-9E53-B4FD-E6D1-31CC86B7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ED243-8459-CC89-625E-83BAE061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35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0816-C8B4-A0F5-72C2-255A1C9A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AC7-E6CA-AAEF-F44A-C4F4FC8E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Docker Swarm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BF17-0CEA-4470-B2BB-77D818208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Initialization</a:t>
            </a:r>
            <a:r>
              <a:rPr lang="en-US" dirty="0"/>
              <a:t>: You start by creating a Swarm cluster. You initialize the swarm on a manager node with the command: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swarm </a:t>
            </a:r>
            <a:r>
              <a:rPr lang="en-US" dirty="0" err="1">
                <a:solidFill>
                  <a:srgbClr val="FF0000"/>
                </a:solidFill>
              </a:rPr>
              <a:t>init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Adding Worker Nodes</a:t>
            </a:r>
            <a:r>
              <a:rPr lang="en-US" dirty="0"/>
              <a:t>: After initializing the swarm, you can add worker nodes by using the token provided by the manager node: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swarm join --token &lt;worker-token&gt; &lt;manager-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&gt;:2377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1324C-2485-914D-BF7D-1D9C4D87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D2353-2098-DCBD-941D-7EEF1F0A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29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A09A-274D-1D28-5CC4-0BFBA91CC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DAD4-2D59-96D7-02CA-0814E9FD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Docker Swarm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3C77-838C-643B-D679-364E4D72F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Deploying Services</a:t>
            </a:r>
            <a:r>
              <a:rPr lang="en-US" dirty="0"/>
              <a:t>: Services are the main building blocks in Docker Swarm. A service represents a long-running task, such as a container that runs a web server. You deploy a service with a specified number of replicas, like this: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create --name </a:t>
            </a:r>
            <a:r>
              <a:rPr lang="en-US" dirty="0" err="1">
                <a:solidFill>
                  <a:srgbClr val="FF0000"/>
                </a:solidFill>
              </a:rPr>
              <a:t>myservice</a:t>
            </a:r>
            <a:r>
              <a:rPr lang="en-US" dirty="0">
                <a:solidFill>
                  <a:srgbClr val="FF0000"/>
                </a:solidFill>
              </a:rPr>
              <a:t> --replicas 3 </a:t>
            </a:r>
            <a:r>
              <a:rPr lang="en-US" dirty="0" err="1">
                <a:solidFill>
                  <a:srgbClr val="FF0000"/>
                </a:solidFill>
              </a:rPr>
              <a:t>myimage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AD828-D0B9-76D0-AB84-22F6F7B3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B2D23-2350-1F71-00DC-52A3D009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237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0B33-57D0-8B7A-EF62-31DF5623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91A1-F10D-6942-E2FE-5B9D06F6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Docker Swarm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B7082-20BD-CE6B-7B99-C204CE94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Scaling Services</a:t>
            </a:r>
            <a:r>
              <a:rPr lang="en-US" dirty="0"/>
              <a:t>: Swarm allows you to scale services up or down easily by changing the number of replicas: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scale </a:t>
            </a:r>
            <a:r>
              <a:rPr lang="en-US" dirty="0" err="1">
                <a:solidFill>
                  <a:srgbClr val="FF0000"/>
                </a:solidFill>
              </a:rPr>
              <a:t>myservice</a:t>
            </a:r>
            <a:r>
              <a:rPr lang="en-US" dirty="0">
                <a:solidFill>
                  <a:srgbClr val="FF0000"/>
                </a:solidFill>
              </a:rPr>
              <a:t>=5</a:t>
            </a:r>
          </a:p>
          <a:p>
            <a:r>
              <a:rPr lang="en-US" b="1" dirty="0"/>
              <a:t>Rolling Updates</a:t>
            </a:r>
            <a:r>
              <a:rPr lang="en-US" dirty="0"/>
              <a:t>: To update a service, you can run: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update --image </a:t>
            </a:r>
            <a:r>
              <a:rPr lang="en-US" dirty="0" err="1">
                <a:solidFill>
                  <a:srgbClr val="FF0000"/>
                </a:solidFill>
              </a:rPr>
              <a:t>mynewimage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myservice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309CB-972A-4E29-3AD8-1C88A256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7D790-2F08-1A82-7DBB-00D7EDA4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85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D0A-B2B2-5AA3-23BF-3CAF5EFC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1F10-6B78-7331-0940-16C28B6C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Docker Swarm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08847-D53B-81F2-FE45-07B3D8508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Discovery: </a:t>
            </a:r>
            <a:r>
              <a:rPr lang="en-US" dirty="0"/>
              <a:t>Once a service is deployed in the swarm, Docker automatically provides internal DNS so that services can communicate using their service names (e.g., </a:t>
            </a:r>
            <a:r>
              <a:rPr lang="en-US" dirty="0" err="1"/>
              <a:t>myservice</a:t>
            </a:r>
            <a:r>
              <a:rPr lang="en-US" dirty="0"/>
              <a:t>).</a:t>
            </a:r>
          </a:p>
          <a:p>
            <a:r>
              <a:rPr lang="en-US" b="1" dirty="0"/>
              <a:t>Failover and Load Balancing</a:t>
            </a:r>
            <a:r>
              <a:rPr lang="en-US" dirty="0"/>
              <a:t>: Docker Swarm automatically handles load balancing and failover. If a node fails, Swarm will reschedule tasks to healthy nodes.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5595D-FF0E-3245-D9F7-FDF715B5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7BFFF-128D-1444-FE52-CDEF3D6C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24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FCA6-B1F6-717A-5D7C-828DB2CD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AFB3-D655-EEF9-AF0F-7828924E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Swarm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C925A-2CE4-6BB6-7CA0-52CC4DB85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you are deploying a web application with a front-end and a back-end, and you want it to scale across multiple servers.</a:t>
            </a:r>
          </a:p>
          <a:p>
            <a:r>
              <a:rPr lang="en-US" dirty="0"/>
              <a:t>With Docker Swarm, you can:</a:t>
            </a:r>
          </a:p>
          <a:p>
            <a:r>
              <a:rPr lang="en-US" b="1" dirty="0"/>
              <a:t>Create a Service for the Front-end</a:t>
            </a:r>
            <a:r>
              <a:rPr lang="en-US" dirty="0"/>
              <a:t>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create --name frontend --replicas 3 -p 80:80 </a:t>
            </a:r>
            <a:r>
              <a:rPr lang="en-US" dirty="0" err="1">
                <a:solidFill>
                  <a:srgbClr val="FF0000"/>
                </a:solidFill>
              </a:rPr>
              <a:t>frontend_image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Create a Service for the Back-end</a:t>
            </a:r>
            <a:r>
              <a:rPr lang="en-US" dirty="0"/>
              <a:t>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create --name backend --replicas 3 </a:t>
            </a:r>
            <a:r>
              <a:rPr lang="en-US" dirty="0" err="1">
                <a:solidFill>
                  <a:srgbClr val="FF0000"/>
                </a:solidFill>
              </a:rPr>
              <a:t>backend_image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F8002-DEF4-0C29-7472-5D446053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974ED-DEE7-3111-5C59-FA8CF94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351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290E-2B4D-422C-54D3-09920C7CB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8CA2-31D4-97C0-3CFE-6A3118EA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Swarm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19C1-23C8-19C5-D21C-8A2A84D45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Automatically Balance the Load</a:t>
            </a:r>
            <a:r>
              <a:rPr lang="en-US" dirty="0"/>
              <a:t>: Docker Swarm will automatically route traffic to the front-end and back-end services, balancing the load across the replicas.</a:t>
            </a:r>
          </a:p>
          <a:p>
            <a:r>
              <a:rPr lang="en-US" b="1" dirty="0"/>
              <a:t>Scale as Needed</a:t>
            </a:r>
            <a:r>
              <a:rPr lang="en-US" dirty="0"/>
              <a:t>: If traffic increases, you can scale the services with a simple command: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scale frontend=5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docker service scale backend=5</a:t>
            </a:r>
          </a:p>
          <a:p>
            <a:r>
              <a:rPr lang="en-US" b="1" dirty="0"/>
              <a:t>Automatic Failover</a:t>
            </a:r>
            <a:r>
              <a:rPr lang="en-US" dirty="0"/>
              <a:t>: If any node goes down, Swarm reschedules the services on healthy nodes.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4A615-E3F6-C029-21C7-FA9D0905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783C2-9371-966D-67DC-2D3F773B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51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Docker | Lecture 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13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KUBERNETES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Docker | Lecture 13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3160</Words>
  <Application>Microsoft Office PowerPoint</Application>
  <PresentationFormat>Widescreen</PresentationFormat>
  <Paragraphs>421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6: Docker (8hrs)</vt:lpstr>
      <vt:lpstr>Docker Containers</vt:lpstr>
      <vt:lpstr>PowerPoint Presentation</vt:lpstr>
      <vt:lpstr>Benefits of Containers</vt:lpstr>
      <vt:lpstr>Creating Docker Containers</vt:lpstr>
      <vt:lpstr>Creating Docker Containers</vt:lpstr>
      <vt:lpstr>Building Custom Docker Container</vt:lpstr>
      <vt:lpstr>Interact with Containers</vt:lpstr>
      <vt:lpstr>Sharing Docker Container</vt:lpstr>
      <vt:lpstr>Sharing via Docker Hub</vt:lpstr>
      <vt:lpstr>Publishing Docker Containers</vt:lpstr>
      <vt:lpstr>Publishing Docker Containers</vt:lpstr>
      <vt:lpstr>DevOps Workflow</vt:lpstr>
      <vt:lpstr>Best Practices</vt:lpstr>
      <vt:lpstr>Automating Container Deployment</vt:lpstr>
      <vt:lpstr>Docker Compose</vt:lpstr>
      <vt:lpstr>Docker Compose</vt:lpstr>
      <vt:lpstr>Basic Docker Compose Workflow</vt:lpstr>
      <vt:lpstr>Common Docker Compose Commands</vt:lpstr>
      <vt:lpstr>Docker Networking</vt:lpstr>
      <vt:lpstr>Docker Network Types</vt:lpstr>
      <vt:lpstr>Bridge Network (Default)</vt:lpstr>
      <vt:lpstr>Host Network</vt:lpstr>
      <vt:lpstr>None Network</vt:lpstr>
      <vt:lpstr>Overlay Network</vt:lpstr>
      <vt:lpstr>Macvlan Network</vt:lpstr>
      <vt:lpstr>Real-World Example: Connecting Web and Database Containers</vt:lpstr>
      <vt:lpstr>Real-World Example: Connecting Web and Database Containers</vt:lpstr>
      <vt:lpstr>Real-World Example: Connecting Web and Database Containers</vt:lpstr>
      <vt:lpstr>Inspecting Docker Networks</vt:lpstr>
      <vt:lpstr>Docker Bundles</vt:lpstr>
      <vt:lpstr>Docker Bundle vs Docker Compose</vt:lpstr>
      <vt:lpstr>Structure of a Docker Bundle</vt:lpstr>
      <vt:lpstr>Steps Involved in Creating a Docker Bundle</vt:lpstr>
      <vt:lpstr>Steps Involved in Creating a Docker Bundle</vt:lpstr>
      <vt:lpstr>Docker Swarm</vt:lpstr>
      <vt:lpstr>Key Features of Docker Swarm</vt:lpstr>
      <vt:lpstr>Key Features of Docker Swarm</vt:lpstr>
      <vt:lpstr>Key Features of Docker Swarm</vt:lpstr>
      <vt:lpstr>Key Features of Docker Swarm</vt:lpstr>
      <vt:lpstr>How Docker Swarm Works?</vt:lpstr>
      <vt:lpstr>How Docker Swarm Works?</vt:lpstr>
      <vt:lpstr>How Docker Swarm Works?</vt:lpstr>
      <vt:lpstr>How Docker Swarm Works?</vt:lpstr>
      <vt:lpstr>Docker Swarm Use Case</vt:lpstr>
      <vt:lpstr>Docker Swarm Use Case</vt:lpstr>
      <vt:lpstr>End of Lecture 13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105</cp:revision>
  <dcterms:created xsi:type="dcterms:W3CDTF">2021-11-23T15:23:57Z</dcterms:created>
  <dcterms:modified xsi:type="dcterms:W3CDTF">2025-07-15T06:49:39Z</dcterms:modified>
</cp:coreProperties>
</file>