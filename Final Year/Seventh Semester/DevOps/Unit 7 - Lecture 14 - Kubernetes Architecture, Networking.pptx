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</p:sldMasterIdLst>
  <p:notesMasterIdLst>
    <p:notesMasterId r:id="rId34"/>
  </p:notesMasterIdLst>
  <p:handoutMasterIdLst>
    <p:handoutMasterId r:id="rId35"/>
  </p:handoutMasterIdLst>
  <p:sldIdLst>
    <p:sldId id="296" r:id="rId2"/>
    <p:sldId id="300" r:id="rId3"/>
    <p:sldId id="301" r:id="rId4"/>
    <p:sldId id="298" r:id="rId5"/>
    <p:sldId id="299" r:id="rId6"/>
    <p:sldId id="306" r:id="rId7"/>
    <p:sldId id="302" r:id="rId8"/>
    <p:sldId id="304" r:id="rId9"/>
    <p:sldId id="307" r:id="rId10"/>
    <p:sldId id="308" r:id="rId11"/>
    <p:sldId id="305" r:id="rId12"/>
    <p:sldId id="309" r:id="rId13"/>
    <p:sldId id="310" r:id="rId14"/>
    <p:sldId id="313" r:id="rId15"/>
    <p:sldId id="312" r:id="rId16"/>
    <p:sldId id="314" r:id="rId17"/>
    <p:sldId id="315" r:id="rId18"/>
    <p:sldId id="319" r:id="rId19"/>
    <p:sldId id="316" r:id="rId20"/>
    <p:sldId id="320" r:id="rId21"/>
    <p:sldId id="318" r:id="rId22"/>
    <p:sldId id="321" r:id="rId23"/>
    <p:sldId id="317" r:id="rId24"/>
    <p:sldId id="322" r:id="rId25"/>
    <p:sldId id="323" r:id="rId26"/>
    <p:sldId id="325" r:id="rId27"/>
    <p:sldId id="326" r:id="rId28"/>
    <p:sldId id="324" r:id="rId29"/>
    <p:sldId id="327" r:id="rId30"/>
    <p:sldId id="328" r:id="rId31"/>
    <p:sldId id="285" r:id="rId32"/>
    <p:sldId id="286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8" autoAdjust="0"/>
    <p:restoredTop sz="93969" autoAdjust="0"/>
  </p:normalViewPr>
  <p:slideViewPr>
    <p:cSldViewPr>
      <p:cViewPr varScale="1">
        <p:scale>
          <a:sx n="69" d="100"/>
          <a:sy n="69" d="100"/>
        </p:scale>
        <p:origin x="756" y="2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962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0" d="100"/>
          <a:sy n="50" d="100"/>
        </p:scale>
        <p:origin x="2886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F85BD65-9D91-7DFC-53E1-8BF243DCEC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4F2D22-E7AC-06AB-426E-E65713B850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78692-3B52-472B-A27C-0D21D13EB902}" type="datetimeFigureOut">
              <a:rPr lang="en-US" smtClean="0"/>
              <a:t>7/15/2025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2CE5EB-28FA-61BC-7A31-808FF0DFF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E243D-0898-4319-31D8-7F9CA9078C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C52B39-A1FA-438D-A2A1-97F4EC1FFB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829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01F557-E2B4-4866-84E9-3A03F70F82EF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254-F383-4531-8078-930439348C7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mailto:shiva.kunwar@hotmail.com" TargetMode="External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4D63A80-F8C6-CA7A-5944-D04C4A793A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414" y="0"/>
            <a:ext cx="1218117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17F26AF4-532D-43C6-871E-C9EADEC11517}" type="datetime1">
              <a:rPr lang="en-US" smtClean="0"/>
              <a:t>7/15/2025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Kubernetes | Lecture 14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E038DB-111F-FA38-FE8F-D77C73697FD2}"/>
              </a:ext>
            </a:extLst>
          </p:cNvPr>
          <p:cNvSpPr txBox="1"/>
          <p:nvPr userDrawn="1"/>
        </p:nvSpPr>
        <p:spPr>
          <a:xfrm>
            <a:off x="1261872" y="554183"/>
            <a:ext cx="9418320" cy="4154984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Software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Development &amp;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Operations</a:t>
            </a:r>
          </a:p>
          <a:p>
            <a:r>
              <a:rPr lang="en-US" sz="6600" dirty="0">
                <a:latin typeface="Roboto" panose="02000000000000000000" pitchFamily="2" charset="0"/>
                <a:ea typeface="Roboto" panose="02000000000000000000" pitchFamily="2" charset="0"/>
              </a:rPr>
              <a:t>(DevOps)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693262-3052-AECD-5F8E-C91BF4B8F021}"/>
              </a:ext>
            </a:extLst>
          </p:cNvPr>
          <p:cNvSpPr txBox="1"/>
          <p:nvPr userDrawn="1"/>
        </p:nvSpPr>
        <p:spPr>
          <a:xfrm>
            <a:off x="1261872" y="5156541"/>
            <a:ext cx="941832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dirty="0">
                <a:latin typeface="Nunito" pitchFamily="2" charset="0"/>
              </a:rPr>
              <a:t>Er. Shiva Kunwar</a:t>
            </a:r>
          </a:p>
          <a:p>
            <a:r>
              <a:rPr lang="en-US" sz="2000" dirty="0">
                <a:latin typeface="Nunito" pitchFamily="2" charset="0"/>
              </a:rPr>
              <a:t>Lecturer</a:t>
            </a:r>
          </a:p>
          <a:p>
            <a:r>
              <a:rPr lang="en-US" sz="2000" dirty="0">
                <a:latin typeface="Nunito" pitchFamily="2" charset="0"/>
              </a:rPr>
              <a:t>Gandaki University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7A367200-0314-B11E-6A5A-163495D7B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74427"/>
            <a:ext cx="177165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8881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9346A-5B26-4D02-A7F6-EEBFAE48E673}" type="datetime1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73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828805"/>
            <a:ext cx="5132832" cy="4663439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6B9C1-512F-444C-A3AD-427228264908}" type="datetime1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521BE1-5CE3-05CF-232A-5D29123BF52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791200" y="1828805"/>
            <a:ext cx="5132832" cy="4663439"/>
          </a:xfrm>
        </p:spPr>
        <p:txBody>
          <a:bodyPr/>
          <a:lstStyle>
            <a:lvl1pPr>
              <a:defRPr sz="2200"/>
            </a:lvl1pPr>
            <a:lvl2pPr>
              <a:defRPr sz="2100"/>
            </a:lvl2pPr>
            <a:lvl3pPr>
              <a:defRPr sz="2000"/>
            </a:lvl3pPr>
            <a:lvl4pPr>
              <a:defRPr sz="1900"/>
            </a:lvl4pPr>
            <a:lvl5pPr>
              <a:defRPr sz="18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9209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73543D8F-399D-6DF8-DE86-76C3FD2D8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9749"/>
            <a:ext cx="12191999" cy="4267200"/>
            <a:chOff x="7467600" y="0"/>
            <a:chExt cx="4724400" cy="685800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17F1944-3532-0024-BA7E-7D1E45E78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63463AE-09F4-6357-D5D1-E78C1CBFD4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7BB7FBAC-7B68-830D-1EA5-32DE32721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F9BDF-83DC-4C29-BD45-2D84874B0808}" type="datetime1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0D67507-A4B1-3C41-5B9A-FA01D257F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0500043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D1CD890-A10F-8D93-4D3F-349A90E7C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8" y="483735"/>
            <a:ext cx="10271441" cy="10427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1" name="Table Placeholder 4">
            <a:extLst>
              <a:ext uri="{FF2B5EF4-FFF2-40B4-BE49-F238E27FC236}">
                <a16:creationId xmlns:a16="http://schemas.microsoft.com/office/drawing/2014/main" id="{AD49D11B-7BF8-7119-747E-673152D1DCD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85800" y="1663021"/>
            <a:ext cx="10271441" cy="455680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2319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2808-13B3-45C5-B1D6-CD9355B3B079}" type="datetime1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144A146-5A21-714C-4148-9B75C4D15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1276" y="365757"/>
            <a:ext cx="6688349" cy="61264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63D1E3-CA84-C4BA-1C88-EF714A56C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93E526-3EF6-897C-D064-1128F72E7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C96C1C-AD28-8189-3789-8E7159CBC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FEAD847-82C9-9DA1-0634-152DE5F83C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6415FC-6975-9499-950F-56CE60A5A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38DA2C-54B4-789F-C3D3-F07479138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74" y="365756"/>
            <a:ext cx="3206326" cy="3624504"/>
          </a:xfrm>
        </p:spPr>
        <p:txBody>
          <a:bodyPr anchor="b"/>
          <a:lstStyle>
            <a:lvl1pPr algn="r"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6456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254B254-511A-6515-8705-1D0D3406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ABD7EF-2A2D-B804-3B1E-B408D2D5B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41081C-CE25-B752-8AAC-0457A91D4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EAA02E-86E8-D1C1-AD64-8C15047A0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D4514C8-E28E-494B-8399-E1F349F900BB}" type="datetime1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FC2281F-1654-0C11-471A-B274D452D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3144"/>
            <a:ext cx="10515600" cy="4433819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AAD270F-67BD-E509-0A2E-A3B9C1D13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7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665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92F3501-C5BE-DCD4-3BD1-B507D99055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520553" cy="685800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B41E4C10-80E2-9528-D06C-844994E73F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62B407C-2DBD-4C26-B15B-1BC575A78559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E26CC335-6CDD-0FF3-AEE1-EF5D8A5EAAA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B22EDF1-4FF3-208C-0E13-2DE282F059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293C9641-88F7-FC3E-DC98-140269105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33" y="694282"/>
            <a:ext cx="6301740" cy="2444401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F0BA8A-DB8F-5584-7EA4-49FB667D63C5}"/>
              </a:ext>
            </a:extLst>
          </p:cNvPr>
          <p:cNvSpPr txBox="1"/>
          <p:nvPr userDrawn="1"/>
        </p:nvSpPr>
        <p:spPr>
          <a:xfrm>
            <a:off x="4520553" y="4114800"/>
            <a:ext cx="6301740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dirty="0">
                <a:latin typeface="Nunito" pitchFamily="2" charset="0"/>
                <a:hlinkClick r:id="rId3"/>
              </a:rPr>
              <a:t>shiva.kunwar@hotmail.com</a:t>
            </a:r>
            <a:br>
              <a:rPr lang="en-US" sz="3000" dirty="0">
                <a:latin typeface="Nunito" pitchFamily="2" charset="0"/>
              </a:rPr>
            </a:br>
            <a:r>
              <a:rPr lang="en-US" sz="3000" dirty="0">
                <a:latin typeface="Nunito" pitchFamily="2" charset="0"/>
              </a:rPr>
              <a:t>+977-9819123654</a:t>
            </a:r>
          </a:p>
        </p:txBody>
      </p:sp>
    </p:spTree>
    <p:extLst>
      <p:ext uri="{BB962C8B-B14F-4D97-AF65-F5344CB8AC3E}">
        <p14:creationId xmlns:p14="http://schemas.microsoft.com/office/powerpoint/2010/main" val="304267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ew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81200" y="1752600"/>
            <a:ext cx="8823960" cy="3352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40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B26E-89ED-4BF6-8688-9B70E600EFDB}" type="datetime1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98743D-1F23-BB62-C246-CD2EC3D767DE}"/>
              </a:ext>
            </a:extLst>
          </p:cNvPr>
          <p:cNvSpPr txBox="1">
            <a:spLocks/>
          </p:cNvSpPr>
          <p:nvPr userDrawn="1"/>
        </p:nvSpPr>
        <p:spPr>
          <a:xfrm>
            <a:off x="1981200" y="417727"/>
            <a:ext cx="9372600" cy="1042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PREVIEW FOR NEXT LECTURE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728C91-D586-79A1-E0BB-9D8A46CCD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6997" y="2666995"/>
            <a:ext cx="6858000" cy="1524009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F1F0A4-9C8A-1861-8B9C-5AF948ACF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0" y="2677132"/>
            <a:ext cx="6857999" cy="152401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15F4F22-2928-48B3-6F55-1BB688BCF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88993" y="4844999"/>
            <a:ext cx="2501979" cy="152401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985817F0-3E71-F53B-A83E-0DB732029D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454256" y="1305931"/>
            <a:ext cx="147212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564781E-F74C-69A3-86EC-66CE155CF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667007" y="2656855"/>
            <a:ext cx="6858003" cy="15240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10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24260" y="0"/>
            <a:ext cx="975360" cy="6858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828805"/>
            <a:ext cx="10340023" cy="4663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59445" y="998540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0">
                <a:solidFill>
                  <a:schemeClr val="tx1"/>
                </a:solidFill>
              </a:defRPr>
            </a:lvl1pPr>
          </a:lstStyle>
          <a:p>
            <a:fld id="{106A6D63-1716-4BD7-8E1A-D64934981486}" type="datetime1">
              <a:rPr lang="en-US" smtClean="0"/>
              <a:t>7/15/2025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21240" y="4046540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AF6C3CA-BFE1-3007-0D60-E69A73AE4945}"/>
              </a:ext>
            </a:extLst>
          </p:cNvPr>
          <p:cNvSpPr/>
          <p:nvPr userDrawn="1"/>
        </p:nvSpPr>
        <p:spPr>
          <a:xfrm>
            <a:off x="11394452" y="6172200"/>
            <a:ext cx="634976" cy="63497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4740" y="6172206"/>
            <a:ext cx="9144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D7BCAC6-6F2C-433A-BE87-D0A9451C880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 descr="Modern DevOps Certifications">
            <a:extLst>
              <a:ext uri="{FF2B5EF4-FFF2-40B4-BE49-F238E27FC236}">
                <a16:creationId xmlns:a16="http://schemas.microsoft.com/office/drawing/2014/main" id="{B2AEC855-8EAB-F2F2-74ED-5A557BFDB3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0"/>
            <a:ext cx="120142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501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3" r:id="rId3"/>
    <p:sldLayoutId id="2147483687" r:id="rId4"/>
    <p:sldLayoutId id="2147483686" r:id="rId5"/>
    <p:sldLayoutId id="2147483688" r:id="rId6"/>
    <p:sldLayoutId id="2147483684" r:id="rId7"/>
    <p:sldLayoutId id="2147483685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SzPct val="80000"/>
        <a:buFont typeface="Arial" pitchFamily="34" charset="0"/>
        <a:buChar char="•"/>
        <a:defRPr sz="2400" kern="1200" spc="10" baseline="0">
          <a:solidFill>
            <a:schemeClr val="tx1"/>
          </a:solidFill>
          <a:latin typeface="Nunito" pitchFamily="2" charset="0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3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1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85000"/>
              <a:lumOff val="15000"/>
            </a:schemeClr>
          </a:solidFill>
          <a:latin typeface="Nunito" pitchFamily="2" charset="0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6408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D0D61-7BFA-3A00-9926-329BE8E52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66174-147B-33AC-349D-24C67931D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Unit 7: Kubernetes (4hrs)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A8C79-170E-A3FC-A3D3-097D25A28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Introduction to Kubernetes. Kubernetes Cluster Architecture - Brief Overview</a:t>
            </a:r>
          </a:p>
          <a:p>
            <a:r>
              <a:rPr lang="en-US" b="1" dirty="0"/>
              <a:t>Concepts: Pods, Replica Sets, Deployments and Namespaces</a:t>
            </a:r>
          </a:p>
          <a:p>
            <a:r>
              <a:rPr lang="en-US" b="1" dirty="0"/>
              <a:t>Kubernetes Services and Networking</a:t>
            </a:r>
          </a:p>
          <a:p>
            <a:r>
              <a:rPr lang="en-US" dirty="0"/>
              <a:t>Persistent volumes and persistent volume claims - An Overview</a:t>
            </a:r>
          </a:p>
          <a:p>
            <a:r>
              <a:rPr lang="en-US" dirty="0"/>
              <a:t>Design of PODS</a:t>
            </a:r>
          </a:p>
          <a:p>
            <a:r>
              <a:rPr lang="en-US" dirty="0"/>
              <a:t>Understanding labels, selectors, jobs, and schedulers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7681C6-EAAC-3B58-B740-22B4CF00E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991F0E-B036-9438-1795-AFB9E14CD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01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Once upon a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In a bustling software company, </a:t>
            </a:r>
            <a:r>
              <a:rPr lang="en-US" b="1" dirty="0"/>
              <a:t>InnovateTechNepal</a:t>
            </a:r>
            <a:r>
              <a:rPr lang="en-US" dirty="0"/>
              <a:t>, a team of developers worked on a revolutionary new application.</a:t>
            </a:r>
          </a:p>
          <a:p>
            <a:r>
              <a:rPr lang="en-US" dirty="0"/>
              <a:t>They were known for building cutting-edge applications loved by users worldwide. However, as its user base grew, the company ran into serious </a:t>
            </a:r>
            <a:r>
              <a:rPr lang="en-US" b="1" dirty="0">
                <a:solidFill>
                  <a:srgbClr val="FF0000"/>
                </a:solidFill>
              </a:rPr>
              <a:t>challenges managing its infrastructure</a:t>
            </a:r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B8562-561F-CEA4-A309-D1167EE3A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891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FBFF3-D5D8-A746-865A-EA5877991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125BF-E275-D437-343E-FBEDA5116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The CHAOS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99809-57CB-C330-6C42-DE28A5756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The team recently </a:t>
            </a:r>
            <a:r>
              <a:rPr lang="en-US" b="1" dirty="0">
                <a:solidFill>
                  <a:srgbClr val="FF0000"/>
                </a:solidFill>
              </a:rPr>
              <a:t>adopted containerization with Docker</a:t>
            </a:r>
            <a:r>
              <a:rPr lang="en-US" dirty="0"/>
              <a:t>. While containers helped streamline application development and deployment, the operations team faced a new set of problems:</a:t>
            </a:r>
          </a:p>
          <a:p>
            <a:r>
              <a:rPr lang="en-US" b="1" dirty="0"/>
              <a:t>Scaling Pains: </a:t>
            </a:r>
            <a:r>
              <a:rPr lang="en-US" dirty="0"/>
              <a:t>During peak hours, the app needed more containers to handle the traffic. </a:t>
            </a:r>
            <a:r>
              <a:rPr lang="en-US" b="1" i="1" dirty="0">
                <a:solidFill>
                  <a:srgbClr val="0070C0"/>
                </a:solidFill>
              </a:rPr>
              <a:t>Manually starting and stopping containers </a:t>
            </a:r>
            <a:r>
              <a:rPr lang="en-US" dirty="0"/>
              <a:t>was exhausting, and they are often over- or under-provisioned resources.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A317B-5D5E-42BA-F155-92D5E762B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F8975-6B6C-DE51-7023-AD0042091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435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3D22C-0183-BE54-54A5-AC4367109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6B326-0695-0C16-8787-4928A0AB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33116-BA3D-2846-FA46-3349AA2DF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Unreliable Uptime: </a:t>
            </a:r>
            <a:r>
              <a:rPr lang="en-US" b="1" i="1" dirty="0">
                <a:solidFill>
                  <a:srgbClr val="FFC000"/>
                </a:solidFill>
              </a:rPr>
              <a:t>Containers sometimes crash</a:t>
            </a:r>
            <a:r>
              <a:rPr lang="en-US" dirty="0"/>
              <a:t>. Without an automated system to replace them, users experienced downtime, leading to frustrated customers.</a:t>
            </a:r>
          </a:p>
          <a:p>
            <a:r>
              <a:rPr lang="en-US" b="1" dirty="0"/>
              <a:t>Complex Deployments: </a:t>
            </a:r>
            <a:r>
              <a:rPr lang="en-US" b="1" i="1" dirty="0">
                <a:solidFill>
                  <a:schemeClr val="accent5">
                    <a:lumMod val="75000"/>
                  </a:schemeClr>
                </a:solidFill>
              </a:rPr>
              <a:t>Rolling out updates </a:t>
            </a:r>
            <a:r>
              <a:rPr lang="en-US" dirty="0"/>
              <a:t>across hundreds of containers was chaotic. Some containers ended up running old versions while others ran new ones, causing inconsistencies.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7854F-1D64-628E-E5A4-6BC558FA8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FECB5-FFA1-ECA5-12F4-B3BB65ED8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591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89F9F-FAB3-C0D5-EB31-79F3AFB3A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0FB07-C0DA-1CDB-B65D-4A4B0D196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F93FD-6950-2533-4165-EF3277261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Load Distribution Problems: </a:t>
            </a:r>
            <a:r>
              <a:rPr lang="en-US" dirty="0"/>
              <a:t>Traffic wasn’t evenly distributed across containers. </a:t>
            </a:r>
            <a:r>
              <a:rPr lang="en-US" b="1" i="1" dirty="0">
                <a:solidFill>
                  <a:srgbClr val="C00000"/>
                </a:solidFill>
              </a:rPr>
              <a:t>Some servers were overloaded while others were idle</a:t>
            </a:r>
            <a:r>
              <a:rPr lang="en-US" dirty="0"/>
              <a:t>, leading to performance issues.</a:t>
            </a:r>
          </a:p>
          <a:p>
            <a:r>
              <a:rPr lang="en-US" dirty="0"/>
              <a:t>The team realized they needed a smarter way to manage their growing fleet of containers. That’s when an engineer named Softee spoke up: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D7CE7-9BC7-2F5C-99A5-32228F150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824C3-D2F5-8E7C-DA38-F2C4C0C91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26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E99D5-699A-68ED-3D9A-2D37A42CF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4D5B1-079C-82CB-D11A-73F22DFA3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>
            <a:normAutofit/>
          </a:bodyPr>
          <a:lstStyle/>
          <a:p>
            <a:pPr algn="l"/>
            <a:r>
              <a:rPr lang="en-US" sz="4000" i="0" dirty="0">
                <a:solidFill>
                  <a:srgbClr val="0D0D0D"/>
                </a:solidFill>
                <a:effectLst/>
              </a:rPr>
              <a:t>Enter Kubernetes: The Orchestration Wizard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A7E7A-BB95-8096-0344-616EF34CA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“Imagine,” Softee said, “</a:t>
            </a:r>
            <a:r>
              <a:rPr lang="en-US" b="1" dirty="0">
                <a:solidFill>
                  <a:srgbClr val="00B050"/>
                </a:solidFill>
              </a:rPr>
              <a:t>if we had an orchestra conductor for our containers</a:t>
            </a:r>
            <a:r>
              <a:rPr lang="en-US" dirty="0"/>
              <a:t>.</a:t>
            </a:r>
          </a:p>
          <a:p>
            <a:r>
              <a:rPr lang="en-US" dirty="0"/>
              <a:t>This conductor could:</a:t>
            </a:r>
          </a:p>
          <a:p>
            <a:pPr lvl="1"/>
            <a:r>
              <a:rPr lang="en-US" b="1" dirty="0"/>
              <a:t>Ensure the right number of containers are always running.</a:t>
            </a:r>
          </a:p>
          <a:p>
            <a:pPr lvl="1"/>
            <a:r>
              <a:rPr lang="en-US" b="1" dirty="0"/>
              <a:t>Automatically restart any that fail.</a:t>
            </a:r>
          </a:p>
          <a:p>
            <a:pPr lvl="1"/>
            <a:r>
              <a:rPr lang="en-US" b="1" dirty="0"/>
              <a:t>Scale up or down based on user demand.</a:t>
            </a:r>
          </a:p>
          <a:p>
            <a:pPr lvl="1"/>
            <a:r>
              <a:rPr lang="en-US" b="1" dirty="0"/>
              <a:t>Distribute traffic evenly across all containers</a:t>
            </a:r>
            <a:r>
              <a:rPr lang="en-US" dirty="0"/>
              <a:t>.</a:t>
            </a:r>
          </a:p>
          <a:p>
            <a:r>
              <a:rPr lang="en-US" dirty="0"/>
              <a:t>We wouldn’t have to manage containers manually anymore.”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5BFF5-7189-F59E-94BD-31FBD4606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 dirty="0"/>
              <a:t>Kubernetes | Lecture 14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5AD96-CDF3-FF4B-74F4-7F018AAE3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12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4B04F-7745-16DE-0419-6140996E7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50160-7959-820D-603A-40CB5F78C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The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28EAE-E856-8CEF-0C98-AFD405142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The team was intrigued. Softee introduced them to </a:t>
            </a:r>
            <a:r>
              <a:rPr lang="en-US" b="1" dirty="0"/>
              <a:t>Kubernetes</a:t>
            </a:r>
            <a:r>
              <a:rPr lang="en-US" dirty="0"/>
              <a:t>, a powerful container orchestration platform.</a:t>
            </a:r>
          </a:p>
          <a:p>
            <a:r>
              <a:rPr lang="en-US" dirty="0"/>
              <a:t>Softee set up </a:t>
            </a:r>
            <a:r>
              <a:rPr lang="en-US" b="1" dirty="0"/>
              <a:t>Kubernetes</a:t>
            </a:r>
            <a:r>
              <a:rPr lang="en-US" dirty="0"/>
              <a:t>, and the team began to see the magic unfold:</a:t>
            </a:r>
          </a:p>
          <a:p>
            <a:r>
              <a:rPr lang="en-US" b="1" dirty="0"/>
              <a:t>Automated Scaling</a:t>
            </a:r>
            <a:r>
              <a:rPr lang="en-US" dirty="0"/>
              <a:t>:</a:t>
            </a:r>
          </a:p>
          <a:p>
            <a:r>
              <a:rPr lang="en-US" dirty="0"/>
              <a:t>Kubernetes monitored traffic and automatically spun up more containers during peak hours and scaled-down during quieter times. No more late-night panic sessions.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73A6F-8DDC-5859-D98A-3B4E97BFC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BA426-D4F0-C160-7A6A-C575C39B4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467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7D51A-3181-EEB9-E907-52F6F5F4E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88688-54A1-108D-193D-6C92B579F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The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4622F-2C0F-B418-93F9-D62FA5A4B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Self-Healing Applications</a:t>
            </a:r>
            <a:r>
              <a:rPr lang="en-US" dirty="0"/>
              <a:t>:</a:t>
            </a:r>
          </a:p>
          <a:p>
            <a:r>
              <a:rPr lang="en-US" dirty="0"/>
              <a:t>When a container failed, Kubernetes detected the issue and replaced it instantly, keeping the app running smoothly.</a:t>
            </a:r>
          </a:p>
          <a:p>
            <a:r>
              <a:rPr lang="en-US" b="1" dirty="0"/>
              <a:t>Seamless Updates</a:t>
            </a:r>
            <a:r>
              <a:rPr lang="en-US" dirty="0"/>
              <a:t>:</a:t>
            </a:r>
          </a:p>
          <a:p>
            <a:r>
              <a:rPr lang="en-US" dirty="0"/>
              <a:t>Rolling out updates became a breeze. Kubernetes performed rolling updates, gradually replacing old containers with new ones without any downtime. If something went wrong, it rolled back to the previous version automatically.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1550D6-94CB-9085-E579-08A521A8F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7663F-EC83-C1F4-8BEB-6B7235FD0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281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D20A9-D09E-DA12-1173-8E0A86C5F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F4F0D-976C-4E01-1329-B9FBB129A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The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DECF60-6FF9-8D5F-CC12-8D1F7D6F2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1" dirty="0"/>
              <a:t>Load Balancing:</a:t>
            </a:r>
          </a:p>
          <a:p>
            <a:r>
              <a:rPr lang="en-US" dirty="0"/>
              <a:t>Kubernetes ensured traffic was evenly distributed across containers, optimizing performance and preventing traffic jams.</a:t>
            </a:r>
            <a:endParaRPr lang="en-US" b="1" dirty="0"/>
          </a:p>
          <a:p>
            <a:r>
              <a:rPr lang="en-US" b="1" dirty="0"/>
              <a:t>Resource Optimization:</a:t>
            </a:r>
          </a:p>
          <a:p>
            <a:r>
              <a:rPr lang="en-US" dirty="0"/>
              <a:t>Kubernetes allocated just the right amount of CPU and memory to each container, making the most of the company’s infrastructure.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4CEE1-5C08-1881-7A5D-EFBCE145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254FC-6D6E-BEC8-6E07-4DD14D998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810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9528A-9D0D-0266-DAA0-21741D27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7AFE-3CB2-B795-D11B-F2DACFD3D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The HAPPY ENDING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7634-9E70-1A12-7441-686195A07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Soon, the chaos faded away:</a:t>
            </a:r>
          </a:p>
          <a:p>
            <a:r>
              <a:rPr lang="en-US" b="1" dirty="0"/>
              <a:t>InnovateTechNepal</a:t>
            </a:r>
            <a:r>
              <a:rPr lang="en-US" dirty="0"/>
              <a:t> changed its </a:t>
            </a:r>
            <a:r>
              <a:rPr lang="en-US" b="1" dirty="0">
                <a:solidFill>
                  <a:srgbClr val="00B050"/>
                </a:solidFill>
              </a:rPr>
              <a:t>infrastructure into a self-managing system</a:t>
            </a:r>
            <a:r>
              <a:rPr lang="en-US" dirty="0"/>
              <a:t>.</a:t>
            </a:r>
          </a:p>
          <a:p>
            <a:r>
              <a:rPr lang="en-US" dirty="0"/>
              <a:t>Developers no longer have deployment headaches, and the operations team could sleep soundly. The company scaled easily, delighting users with a fast and reliable application.</a:t>
            </a:r>
          </a:p>
          <a:p>
            <a:r>
              <a:rPr lang="en-US" dirty="0"/>
              <a:t>From that day, Kubernetes became the backbone of </a:t>
            </a:r>
            <a:r>
              <a:rPr lang="en-US" b="1" dirty="0"/>
              <a:t>InnovateTechNepal</a:t>
            </a:r>
            <a:r>
              <a:rPr lang="en-US" dirty="0"/>
              <a:t> infrastructure, empowering them to focus on growth and innovation.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B031C5-3E7F-C9E3-DE85-DCB55211B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2646A-2B8A-4C53-B46C-786262B7A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74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CE7CE-E005-98A7-FF0E-EFAEB9A20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D13BA-49FB-41B5-E48B-AF03FAA93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Kubernetes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5631A-1A5A-01DF-85F4-5AFC7FE89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dirty="0"/>
              <a:t>Kubernetes (K8s) is an </a:t>
            </a:r>
            <a:r>
              <a:rPr lang="en-US" b="1" dirty="0"/>
              <a:t>open-source container orchestration platform </a:t>
            </a:r>
            <a:r>
              <a:rPr lang="en-US" dirty="0"/>
              <a:t>that automates the deployment, scaling, and management of containerized applications.</a:t>
            </a:r>
          </a:p>
          <a:p>
            <a:r>
              <a:rPr lang="en-US" dirty="0"/>
              <a:t>Originally developed by Google and now maintained by the Cloud Native Computing Foundation (CNCF), Kubernetes helps manage clusters of containers efficiently.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744A78-F7B6-40FC-C36A-805BB4F6F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E7D78-B472-2CF8-6AEB-0DF64ECCD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327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B58F4-CD41-9037-0FB1-861E9D116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B8934-80F4-D7C9-19F7-6A39B6316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Why Kubernetes?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6E0ED-3C1D-CB85-C370-38785986B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As modern applications move toward </a:t>
            </a:r>
            <a:r>
              <a:rPr lang="en-US" b="1" dirty="0"/>
              <a:t>microservices architecture</a:t>
            </a:r>
            <a:r>
              <a:rPr lang="en-US" dirty="0"/>
              <a:t>, managing many containers manually becomes complex.</a:t>
            </a:r>
          </a:p>
          <a:p>
            <a:r>
              <a:rPr lang="en-US" dirty="0"/>
              <a:t>Kubernetes provides: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Automated Scaling</a:t>
            </a:r>
            <a:r>
              <a:rPr lang="en-US" dirty="0"/>
              <a:t> – Adjusts resources based on demand.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Self-Healing</a:t>
            </a:r>
            <a:r>
              <a:rPr lang="en-US" dirty="0"/>
              <a:t> – Automatically restarts failed containers.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Load Balancing</a:t>
            </a:r>
            <a:r>
              <a:rPr lang="en-US" dirty="0"/>
              <a:t> – Distributes network traffic efficiently.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Declarative Configuration</a:t>
            </a:r>
            <a:r>
              <a:rPr lang="en-US" dirty="0"/>
              <a:t> – Uses YAML manifests for easy management.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Multi-Cloud &amp; Hybrid Deployments</a:t>
            </a:r>
            <a:r>
              <a:rPr lang="en-US" dirty="0"/>
              <a:t> – Works across cloud providers and on-premises environments.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BFBCA-9CEA-9FD0-18FE-723B06C24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44DAB-95B1-9431-F087-0648711E8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098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8DE15-271B-39D7-F3EA-8AA1D7E28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7FCC1-B257-C9EC-0D4C-CA3C69A43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Kubernetes Cluster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C79C4-1CC8-DB8D-6435-129BDFCA4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/>
          </a:bodyPr>
          <a:lstStyle/>
          <a:p>
            <a:r>
              <a:rPr lang="en-US" b="0" i="0" dirty="0">
                <a:effectLst/>
                <a:latin typeface="Nunito" pitchFamily="2" charset="0"/>
              </a:rPr>
              <a:t>Kubernetes comes with a </a:t>
            </a:r>
            <a:r>
              <a:rPr lang="en-US" b="1" i="0" dirty="0">
                <a:effectLst/>
                <a:latin typeface="Nunito" pitchFamily="2" charset="0"/>
              </a:rPr>
              <a:t>client-server architecture</a:t>
            </a:r>
            <a:r>
              <a:rPr lang="en-US" b="0" i="0" dirty="0">
                <a:effectLst/>
                <a:latin typeface="Nunito" pitchFamily="2" charset="0"/>
              </a:rPr>
              <a:t>.</a:t>
            </a:r>
          </a:p>
          <a:p>
            <a:r>
              <a:rPr lang="en-US" b="0" i="0" dirty="0">
                <a:effectLst/>
                <a:latin typeface="Nunito" pitchFamily="2" charset="0"/>
              </a:rPr>
              <a:t>It consists of master and worker nodes, with the master being installed on a single Linux system and the nodes on many Linux workstations.</a:t>
            </a:r>
          </a:p>
          <a:p>
            <a:r>
              <a:rPr lang="en-US" b="0" i="0" dirty="0">
                <a:effectLst/>
                <a:latin typeface="Nunito" pitchFamily="2" charset="0"/>
              </a:rPr>
              <a:t>Kubernetes Cluster mainly consists of Worker Machines called Nodes and a Control Plane.</a:t>
            </a:r>
          </a:p>
          <a:p>
            <a:r>
              <a:rPr lang="en-US" b="0" i="0" dirty="0">
                <a:effectLst/>
                <a:latin typeface="Nunito" pitchFamily="2" charset="0"/>
              </a:rPr>
              <a:t>In a cluster, there is at least one worker node.</a:t>
            </a:r>
          </a:p>
          <a:p>
            <a:r>
              <a:rPr lang="en-US" b="0" i="0" dirty="0">
                <a:effectLst/>
                <a:latin typeface="Nunito" pitchFamily="2" charset="0"/>
              </a:rPr>
              <a:t>The </a:t>
            </a:r>
            <a:r>
              <a:rPr lang="en-US" b="0" i="0" dirty="0" err="1">
                <a:effectLst/>
                <a:latin typeface="Nunito" pitchFamily="2" charset="0"/>
              </a:rPr>
              <a:t>Kubectl</a:t>
            </a:r>
            <a:r>
              <a:rPr lang="en-US" b="0" i="0" dirty="0">
                <a:effectLst/>
                <a:latin typeface="Nunito" pitchFamily="2" charset="0"/>
              </a:rPr>
              <a:t> CLI communicates with the Control Plane and the Control Plane manages the Worker Nodes. 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5DA1C-8462-C909-FB14-D2214FD7F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19897-AEC0-D9B2-1D24-8B4035E8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70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841E1-8EFC-CA96-108A-A6591DE35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2811B-BE27-17ED-C2F0-86F17D33E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760"/>
            <a:ext cx="10344912" cy="1325562"/>
          </a:xfrm>
        </p:spPr>
        <p:txBody>
          <a:bodyPr/>
          <a:lstStyle/>
          <a:p>
            <a:r>
              <a:rPr lang="en-US" dirty="0"/>
              <a:t>Kubernetes Cluster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1206B-7C17-D914-0763-44BF146942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2" y="1828805"/>
            <a:ext cx="10340023" cy="466343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Kubernetes follows a </a:t>
            </a:r>
            <a:r>
              <a:rPr lang="en-US" b="1" dirty="0"/>
              <a:t>master-worker</a:t>
            </a:r>
            <a:r>
              <a:rPr lang="en-US" dirty="0"/>
              <a:t> architecture: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Control Plane (Master Node)</a:t>
            </a:r>
            <a:endParaRPr lang="en-US" dirty="0"/>
          </a:p>
          <a:p>
            <a:pPr marL="800100" lvl="1" indent="-342900"/>
            <a:r>
              <a:rPr lang="en-US" b="1" dirty="0"/>
              <a:t>API Server</a:t>
            </a:r>
            <a:r>
              <a:rPr lang="en-US" dirty="0"/>
              <a:t>: Acts as the entry point for all Kubernetes commands.</a:t>
            </a:r>
          </a:p>
          <a:p>
            <a:pPr marL="800100" lvl="1" indent="-342900"/>
            <a:r>
              <a:rPr lang="en-US" b="1" dirty="0"/>
              <a:t>Scheduler</a:t>
            </a:r>
            <a:r>
              <a:rPr lang="en-US" dirty="0"/>
              <a:t>: Assigns workloads (Pods) to worker nodes.</a:t>
            </a:r>
          </a:p>
          <a:p>
            <a:pPr marL="800100" lvl="1" indent="-342900"/>
            <a:r>
              <a:rPr lang="en-US" b="1" dirty="0"/>
              <a:t>Controller Manager</a:t>
            </a:r>
            <a:r>
              <a:rPr lang="en-US" dirty="0"/>
              <a:t>: Ensures the desired state of the system is maintained.</a:t>
            </a:r>
          </a:p>
          <a:p>
            <a:pPr marL="800100" lvl="1" indent="-342900"/>
            <a:r>
              <a:rPr lang="en-US" b="1" dirty="0" err="1"/>
              <a:t>etcd</a:t>
            </a:r>
            <a:r>
              <a:rPr lang="en-US" dirty="0"/>
              <a:t>: Stores cluster state and configuration data.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Worker Nodes</a:t>
            </a:r>
            <a:endParaRPr lang="en-US" dirty="0"/>
          </a:p>
          <a:p>
            <a:pPr marL="800100" lvl="1" indent="-342900"/>
            <a:r>
              <a:rPr lang="en-US" b="1" dirty="0" err="1"/>
              <a:t>Kubelet</a:t>
            </a:r>
            <a:r>
              <a:rPr lang="en-US" dirty="0"/>
              <a:t>: Runs on each worker node, ensuring that containers are running.</a:t>
            </a:r>
          </a:p>
          <a:p>
            <a:pPr marL="800100" lvl="1" indent="-342900"/>
            <a:r>
              <a:rPr lang="en-US" b="1" dirty="0"/>
              <a:t>Container Runtime</a:t>
            </a:r>
            <a:r>
              <a:rPr lang="en-US" dirty="0"/>
              <a:t>: Such as Docker or </a:t>
            </a:r>
            <a:r>
              <a:rPr lang="en-US" dirty="0" err="1"/>
              <a:t>containerd</a:t>
            </a:r>
            <a:r>
              <a:rPr lang="en-US" dirty="0"/>
              <a:t>, responsible for running containers.</a:t>
            </a:r>
          </a:p>
          <a:p>
            <a:pPr marL="800100" lvl="1" indent="-342900"/>
            <a:r>
              <a:rPr lang="en-US" b="1" dirty="0"/>
              <a:t>Kube Proxy</a:t>
            </a:r>
            <a:r>
              <a:rPr lang="en-US" dirty="0"/>
              <a:t>: Manages networking and load balancing.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547BE-E87C-C644-F1C2-D74363359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0B379-9C01-D459-4A83-FE36CDE14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75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91FD2-4D98-7172-D5DB-FFD32F524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9C370035-FBF3-0AA5-99E3-1CAF02E30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0"/>
            <a:ext cx="10901265" cy="685800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DFD0D9-2F93-921B-3ECA-A9C1DBEA6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57B53-DD28-F040-6DC9-C5AE4F983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337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A75E6-F6D7-701C-004A-0900D71B1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640A78B-CD46-4BCC-AB89-3CE0F5AFD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Pods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B8AA646-F6F6-C361-BD13-F20A5656A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Pod is the smallest and most basic deployable unit in Kubernetes.</a:t>
            </a:r>
          </a:p>
          <a:p>
            <a:r>
              <a:rPr lang="en-US" dirty="0"/>
              <a:t>A Pod can </a:t>
            </a:r>
            <a:r>
              <a:rPr lang="en-US" b="1" dirty="0"/>
              <a:t>contain one or more containers </a:t>
            </a:r>
            <a:r>
              <a:rPr lang="en-US" dirty="0"/>
              <a:t>that share networking and storage.</a:t>
            </a:r>
          </a:p>
          <a:p>
            <a:r>
              <a:rPr lang="en-US" dirty="0"/>
              <a:t>Containers within a Pod can communicate with each other using localhost.</a:t>
            </a:r>
          </a:p>
          <a:p>
            <a:r>
              <a:rPr lang="en-US" dirty="0"/>
              <a:t>Pods are temporary, meaning they can be created and destroyed as needed.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8BB924-61C9-4F0C-88F6-16E498A93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86258-2D22-1A12-4C47-4AA410433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779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93414-518D-C2F8-440E-9138FA3B3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CF67AC0-A4AA-EF46-A76B-38FA091AA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Pod running an Nginx container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FC807-42B2-DAF7-B285-217339550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apiVersion: v1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kind: Pod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metadata: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name: nginx-pod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spec: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containers: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  - name: nginx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    image: </a:t>
            </a:r>
            <a:r>
              <a:rPr lang="en-US" b="1" i="1" dirty="0" err="1">
                <a:solidFill>
                  <a:srgbClr val="FF0000"/>
                </a:solidFill>
              </a:rPr>
              <a:t>nginx:latest</a:t>
            </a:r>
            <a:endParaRPr lang="en-US" b="1" i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    ports: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      - </a:t>
            </a:r>
            <a:r>
              <a:rPr lang="en-US" b="1" i="1" dirty="0" err="1">
                <a:solidFill>
                  <a:srgbClr val="FF0000"/>
                </a:solidFill>
              </a:rPr>
              <a:t>containerPort</a:t>
            </a:r>
            <a:r>
              <a:rPr lang="en-US" b="1" i="1" dirty="0">
                <a:solidFill>
                  <a:srgbClr val="FF0000"/>
                </a:solidFill>
              </a:rPr>
              <a:t>: 80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A9767-6C7B-66DF-F47A-230736BC5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921240" y="4046540"/>
            <a:ext cx="3581400" cy="365125"/>
          </a:xfrm>
        </p:spPr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4B175-1843-07CF-DC7C-CE11C6F60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4740" y="6172206"/>
            <a:ext cx="914400" cy="593725"/>
          </a:xfrm>
        </p:spPr>
        <p:txBody>
          <a:bodyPr>
            <a:normAutofit/>
          </a:bodyPr>
          <a:lstStyle/>
          <a:p>
            <a:fld id="{2D7BCAC6-6F2C-433A-BE87-D0A9451C880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90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63B8-11E2-8067-7B69-91DBA93B5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Replica Sets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2D811-30AA-ABE6-DEE2-3F9107D76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ReplicaSet</a:t>
            </a:r>
            <a:r>
              <a:rPr lang="en-US" dirty="0"/>
              <a:t> ensures that a specified number of </a:t>
            </a:r>
            <a:r>
              <a:rPr lang="en-US" b="1" dirty="0"/>
              <a:t>identical Pods are always running.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a Pod fails, the </a:t>
            </a:r>
            <a:r>
              <a:rPr lang="en-US" dirty="0" err="1"/>
              <a:t>ReplicaSet</a:t>
            </a:r>
            <a:r>
              <a:rPr lang="en-US" dirty="0"/>
              <a:t> automatically replaces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commonly used with Deployments rather than directly.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B2ECF6-C76B-E1C9-1FBB-8EBCBCF12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1D120-B06A-72C4-F506-00EC6C16F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752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FE852-CEF8-8388-4797-6EC146866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80CC0-D485-D06F-DF72-83D6C2FF3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ReplicaSet</a:t>
            </a:r>
            <a:r>
              <a:rPr lang="en-US" dirty="0"/>
              <a:t> maintaining 3 Nginx Pods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E4582-2B23-0C2C-BA18-F089F31CE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apiVersion: apps/v1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kind: </a:t>
            </a:r>
            <a:r>
              <a:rPr lang="en-US" b="1" i="1" dirty="0" err="1">
                <a:solidFill>
                  <a:srgbClr val="FF0000"/>
                </a:solidFill>
              </a:rPr>
              <a:t>ReplicaSet</a:t>
            </a:r>
            <a:endParaRPr lang="en-US" b="1" i="1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metadata: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name: nginx-</a:t>
            </a:r>
            <a:r>
              <a:rPr lang="en-US" b="1" i="1" dirty="0" err="1">
                <a:solidFill>
                  <a:srgbClr val="FF0000"/>
                </a:solidFill>
              </a:rPr>
              <a:t>replicaset</a:t>
            </a:r>
            <a:endParaRPr lang="en-US" b="1" i="1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spec: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replicas: 3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selector: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</a:t>
            </a:r>
            <a:r>
              <a:rPr lang="en-US" b="1" i="1" dirty="0" err="1">
                <a:solidFill>
                  <a:srgbClr val="FF0000"/>
                </a:solidFill>
              </a:rPr>
              <a:t>matchLabels</a:t>
            </a:r>
            <a:r>
              <a:rPr lang="en-US" b="1" i="1" dirty="0">
                <a:solidFill>
                  <a:srgbClr val="FF0000"/>
                </a:solidFill>
              </a:rPr>
              <a:t>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app: nginx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template: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metadata: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labels: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  app: nginx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spec: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containers: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  - name: nginx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    image: </a:t>
            </a:r>
            <a:r>
              <a:rPr lang="en-US" b="1" i="1" dirty="0" err="1">
                <a:solidFill>
                  <a:srgbClr val="FF0000"/>
                </a:solidFill>
              </a:rPr>
              <a:t>nginx:latest</a:t>
            </a:r>
            <a:endParaRPr lang="en-US" b="1" i="1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    ports: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      - </a:t>
            </a:r>
            <a:r>
              <a:rPr lang="en-US" b="1" i="1" dirty="0" err="1">
                <a:solidFill>
                  <a:srgbClr val="FF0000"/>
                </a:solidFill>
              </a:rPr>
              <a:t>containerPort</a:t>
            </a:r>
            <a:r>
              <a:rPr lang="en-US" b="1" i="1" dirty="0">
                <a:solidFill>
                  <a:srgbClr val="FF0000"/>
                </a:solidFill>
              </a:rPr>
              <a:t>: 80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4190E1-EE4E-4E61-1D0A-004078CB2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01F53E-AF74-AB37-316F-EC506199C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22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A9A41-D6ED-3AD4-1721-766D5FF6A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37ED1-C3FC-432A-3E74-011EAD19C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Deployments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65EC2-06CC-A38E-B1EF-109ECAAE1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Deployment is a higher-level abstraction that </a:t>
            </a:r>
            <a:r>
              <a:rPr lang="en-US" b="1" dirty="0"/>
              <a:t>manages </a:t>
            </a:r>
            <a:r>
              <a:rPr lang="en-US" b="1" dirty="0" err="1"/>
              <a:t>ReplicaSets</a:t>
            </a:r>
            <a:r>
              <a:rPr lang="en-US" b="1" dirty="0"/>
              <a:t> </a:t>
            </a:r>
            <a:r>
              <a:rPr lang="en-US" dirty="0"/>
              <a:t>and provides: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Rolling updates to deploy new versions without downtime.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Rollback functionality in case of failure.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Scaling up/down based on demand.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FBDF00-6A6C-BF43-F6C5-1B7F855B0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824C3-61F9-A6A1-AADC-84F2EEB05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202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74D16-5D78-246B-3700-C9DC33AA9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55B0-7BD1-5DA4-DE59-364F79474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Deployments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FB1C5-00E5-45F0-7524-76CCA31F8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apiVersion: apps/v1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kind: Deployment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metadata: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name: nginx-deployment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spec: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replicas: 3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selector: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</a:t>
            </a:r>
            <a:r>
              <a:rPr lang="en-US" b="1" i="1" dirty="0" err="1">
                <a:solidFill>
                  <a:srgbClr val="FF0000"/>
                </a:solidFill>
              </a:rPr>
              <a:t>matchLabels</a:t>
            </a:r>
            <a:r>
              <a:rPr lang="en-US" b="1" i="1" dirty="0">
                <a:solidFill>
                  <a:srgbClr val="FF0000"/>
                </a:solidFill>
              </a:rPr>
              <a:t>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app: nginx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template: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metadata: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labels: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  app: nginx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spec: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containers: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  - name: nginx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    image: </a:t>
            </a:r>
            <a:r>
              <a:rPr lang="en-US" b="1" i="1" dirty="0" err="1">
                <a:solidFill>
                  <a:srgbClr val="FF0000"/>
                </a:solidFill>
              </a:rPr>
              <a:t>nginx:latest</a:t>
            </a:r>
            <a:endParaRPr lang="en-US" b="1" i="1" dirty="0">
              <a:solidFill>
                <a:srgbClr val="FF0000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    ports: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b="1" i="1" dirty="0">
                <a:solidFill>
                  <a:srgbClr val="FF0000"/>
                </a:solidFill>
              </a:rPr>
              <a:t>            - </a:t>
            </a:r>
            <a:r>
              <a:rPr lang="en-US" b="1" i="1" dirty="0" err="1">
                <a:solidFill>
                  <a:srgbClr val="FF0000"/>
                </a:solidFill>
              </a:rPr>
              <a:t>containerPort</a:t>
            </a:r>
            <a:r>
              <a:rPr lang="en-US" b="1" i="1" dirty="0">
                <a:solidFill>
                  <a:srgbClr val="FF0000"/>
                </a:solidFill>
              </a:rPr>
              <a:t>: 80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212A71-8418-A6D4-6BC6-08B77F0B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B0D0D6-29B1-1445-F560-1147C5167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2080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5BE44-56D6-E2F8-1F58-1AE76C8E4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670CA-955F-1D83-768A-B7B08DFE3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Namespaces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D01DA-0D1D-6E15-7ACF-DA2C49FED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Namespace is used to logically separate different resources within a Kubernetes cluster.</a:t>
            </a:r>
          </a:p>
          <a:p>
            <a:r>
              <a:rPr lang="en-US" dirty="0"/>
              <a:t>Helps in organizing environments like dev, staging, and production.</a:t>
            </a:r>
          </a:p>
          <a:p>
            <a:r>
              <a:rPr lang="en-US" dirty="0"/>
              <a:t>By default, Kubernetes has namespaces like default, </a:t>
            </a:r>
            <a:r>
              <a:rPr lang="en-US" dirty="0" err="1"/>
              <a:t>kube</a:t>
            </a:r>
            <a:r>
              <a:rPr lang="en-US" dirty="0"/>
              <a:t>-system, and </a:t>
            </a:r>
            <a:r>
              <a:rPr lang="en-US" dirty="0" err="1"/>
              <a:t>kube</a:t>
            </a:r>
            <a:r>
              <a:rPr lang="en-US" dirty="0"/>
              <a:t>-public.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B599AD-4069-13BB-2B7D-3249B3457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0E158B-3363-D4E6-2D9F-B08EDAC0B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4783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8DACF-5317-1C8B-BEB5-DFD560342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DFF34-3747-76DD-AF9A-0592A1DA6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Namespace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7EDE6-88F8-DF8F-C9C1-054791FA0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apiVersion: v1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kind: Namespace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metadata: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FF0000"/>
                </a:solidFill>
              </a:rPr>
              <a:t>  name: my-namespace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ADEB48-C1FB-44D7-A15A-53E249A3A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C764EF-F274-FD30-41E9-5A513D183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0349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DF77C-1319-0526-FEA0-C00646EF8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3C298-158D-99B7-653F-7014A6378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Kubernetes networking allows communication between different components inside the cluster and with the outside world.</a:t>
            </a:r>
          </a:p>
          <a:p>
            <a:r>
              <a:rPr lang="en-US" dirty="0"/>
              <a:t>Since Pods are ephemeral, their IPs change frequently, making it necessary to have stable communication mechanisms.</a:t>
            </a:r>
          </a:p>
          <a:p>
            <a:r>
              <a:rPr lang="en-US" dirty="0"/>
              <a:t>A Service provides a </a:t>
            </a:r>
            <a:r>
              <a:rPr lang="en-US" b="1" dirty="0"/>
              <a:t>stable IP address and DNS</a:t>
            </a:r>
            <a:r>
              <a:rPr lang="en-US" dirty="0"/>
              <a:t> name to a set of Pods, allowing them to communicate even if individual Pod IPs change.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F57B7-0D29-977D-CC06-B63C0BAD9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63FB09-E9EF-8B37-2ED3-712DF7067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256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1ABBF-E147-7C01-9424-0B9454A08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16BF0-7F37-1BD2-102E-EC374212E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Kubernetes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4F16A-7F37-B389-EF5A-F3FCCE5AC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 err="1"/>
              <a:t>ClusterIP</a:t>
            </a:r>
            <a:r>
              <a:rPr lang="en-US" b="1" dirty="0"/>
              <a:t> (Default)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Accessible only within the cluster.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Used for internal communication between Pods.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err="1"/>
              <a:t>NodePort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Exposes the service on a static port on each node’s IP.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Allows access from outside the cluster via </a:t>
            </a:r>
            <a:r>
              <a:rPr lang="en-US" dirty="0" err="1"/>
              <a:t>NodeIP:NodePort</a:t>
            </a:r>
            <a:r>
              <a:rPr lang="en-US" dirty="0"/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9D742-4034-F9A6-FAD6-F4C601728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80B122-9EDB-D1C4-F0F5-4F055C4EE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779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5504D-F903-C646-C80E-D6B40C693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C8E08-DC67-9A96-CE86-F8C224811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Kubernetes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0B486-CE85-36A0-E1CB-F963C3A003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US" b="1" dirty="0" err="1"/>
              <a:t>LoadBalancer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Exposes the service externally using a cloud provider’s load balancer (AWS, GCP, Azure, etc.).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Distributes traffic to backend Pods.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b="1" dirty="0" err="1"/>
              <a:t>ExternalName</a:t>
            </a:r>
            <a:endParaRPr lang="en-US" b="1" dirty="0"/>
          </a:p>
          <a:p>
            <a:pPr lvl="1"/>
            <a:r>
              <a:rPr lang="en-US" dirty="0"/>
              <a:t>Maps a Kubernetes service to an external DNS name (e.g., database.example.com).</a:t>
            </a:r>
          </a:p>
          <a:p>
            <a:pPr lvl="1"/>
            <a:r>
              <a:rPr lang="en-US" dirty="0"/>
              <a:t>Used for connecting to external services.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A01B26-4D85-EBFE-181F-275E5FA4F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4C69E6-E746-FA04-4F08-B4C067D87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8164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65BBA-24A2-65B6-2F70-84CBC594A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40C4F-F248-06BB-FB36-BD3042BF7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Kubernetes Networking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1EB43-114F-CFDA-72A6-A1DBA76D0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Kubernetes networking allows communication within the cluster and to the outside world.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E660E0-8059-E33D-8D84-A4472DC0D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9BFE20-EE47-2762-38CA-559204E75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391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811E6-EB8E-BD82-411B-04187CC3E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B88DC-ED57-2715-B850-C51398F1C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Networking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3EE0D-2E45-10CC-7743-E998765A8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Pod-to-Pod Communication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Each Pod gets a unique IP address.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Pods in the same node communicate directly.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Pods in different nodes communicate through a CNI (Container Network Interface) plugin.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62F52C-F60B-9BED-F587-47CDD73DF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17ECBC-C6AC-064C-BBD2-08CC037F8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31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C6F7C-46C7-050A-2DA7-D2E84626C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9F9F3-AFA5-1A6D-BE84-AD45A290B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Networking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4A9BD-480C-691C-28AC-B56B3DDFC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Pod-to-Service Communication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Services provide a </a:t>
            </a:r>
            <a:r>
              <a:rPr lang="en-US" b="1" dirty="0"/>
              <a:t>stable IP</a:t>
            </a:r>
            <a:r>
              <a:rPr lang="en-US" dirty="0"/>
              <a:t> to route traffic to Pods.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 err="1"/>
              <a:t>kube</a:t>
            </a:r>
            <a:r>
              <a:rPr lang="en-US" b="1" dirty="0"/>
              <a:t>-proxy</a:t>
            </a:r>
            <a:r>
              <a:rPr lang="en-US" dirty="0"/>
              <a:t> handles the routing.</a:t>
            </a:r>
          </a:p>
          <a:p>
            <a:r>
              <a:rPr lang="en-US" b="1" dirty="0"/>
              <a:t>Ingress Controller</a:t>
            </a:r>
            <a:r>
              <a:rPr lang="en-US" dirty="0"/>
              <a:t> (for external traffic)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Ingress manages HTTP/HTTPS traffic from </a:t>
            </a:r>
            <a:r>
              <a:rPr lang="en-US" b="1" dirty="0"/>
              <a:t>outside</a:t>
            </a:r>
            <a:r>
              <a:rPr lang="en-US" dirty="0"/>
              <a:t> the cluster.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Routes traffic to different services based on rules.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223B52-5AF6-4D3E-6DF4-253B82D88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1306B5-4E71-ECD0-A2F5-467DB5E02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5270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3E0869-A220-07A1-DD99-6DF41BE502B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Kubernetes | Lecture 14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E93EF0-C6A1-D794-6D90-9A4B4EF8B6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7A19DD-42F6-B2F5-0131-413CAEF17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</a:t>
            </a:r>
            <a:br>
              <a:rPr lang="en-US" dirty="0"/>
            </a:br>
            <a:r>
              <a:rPr lang="en-US" dirty="0"/>
              <a:t>Lecture 14</a:t>
            </a:r>
          </a:p>
        </p:txBody>
      </p:sp>
    </p:spTree>
    <p:extLst>
      <p:ext uri="{BB962C8B-B14F-4D97-AF65-F5344CB8AC3E}">
        <p14:creationId xmlns:p14="http://schemas.microsoft.com/office/powerpoint/2010/main" val="6631980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B3FA128-C4D8-E305-85C9-B03DF2031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Kubernetes Practical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B0B853-FF2A-5B00-B111-DEB0FB5D6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Kubernetes | Lecture 14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9041C-86CD-85A4-36FE-8ED62F85F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BCAC6-6F2C-433A-BE87-D0A9451C8803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21476"/>
      </p:ext>
    </p:extLst>
  </p:cSld>
  <p:clrMapOvr>
    <a:masterClrMapping/>
  </p:clrMapOvr>
</p:sld>
</file>

<file path=ppt/theme/theme1.xml><?xml version="1.0" encoding="utf-8"?>
<a:theme xmlns:a="http://schemas.openxmlformats.org/drawingml/2006/main" name="1_View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612</TotalTime>
  <Words>1674</Words>
  <Application>Microsoft Office PowerPoint</Application>
  <PresentationFormat>Widescreen</PresentationFormat>
  <Paragraphs>245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Calibri</vt:lpstr>
      <vt:lpstr>Century Schoolbook</vt:lpstr>
      <vt:lpstr>Nunito</vt:lpstr>
      <vt:lpstr>Open Sans</vt:lpstr>
      <vt:lpstr>Roboto</vt:lpstr>
      <vt:lpstr>Wingdings 2</vt:lpstr>
      <vt:lpstr>1_View</vt:lpstr>
      <vt:lpstr>PowerPoint Presentation</vt:lpstr>
      <vt:lpstr>Unit 7: Kubernetes (4hrs)</vt:lpstr>
      <vt:lpstr>Once upon a time</vt:lpstr>
      <vt:lpstr>The CHAOS</vt:lpstr>
      <vt:lpstr>The PROBLEM</vt:lpstr>
      <vt:lpstr>The PROBLEM</vt:lpstr>
      <vt:lpstr>Enter Kubernetes: The Orchestration Wizard</vt:lpstr>
      <vt:lpstr>The Transformation</vt:lpstr>
      <vt:lpstr>The Transformation</vt:lpstr>
      <vt:lpstr>The Transformation</vt:lpstr>
      <vt:lpstr>The HAPPY ENDING</vt:lpstr>
      <vt:lpstr>Kubernetes</vt:lpstr>
      <vt:lpstr>Why Kubernetes?</vt:lpstr>
      <vt:lpstr>Kubernetes Cluster Architecture</vt:lpstr>
      <vt:lpstr>Kubernetes Cluster Architecture</vt:lpstr>
      <vt:lpstr>PowerPoint Presentation</vt:lpstr>
      <vt:lpstr>Pods</vt:lpstr>
      <vt:lpstr>A Pod running an Nginx container</vt:lpstr>
      <vt:lpstr>Replica Sets</vt:lpstr>
      <vt:lpstr>A ReplicaSet maintaining 3 Nginx Pods</vt:lpstr>
      <vt:lpstr>Deployments</vt:lpstr>
      <vt:lpstr>Deployments</vt:lpstr>
      <vt:lpstr>Namespaces</vt:lpstr>
      <vt:lpstr>Creating a Namespace</vt:lpstr>
      <vt:lpstr>Kubernetes Services</vt:lpstr>
      <vt:lpstr>Types of Kubernetes Services</vt:lpstr>
      <vt:lpstr>Types of Kubernetes Services</vt:lpstr>
      <vt:lpstr>Kubernetes Networking</vt:lpstr>
      <vt:lpstr>Networking Components</vt:lpstr>
      <vt:lpstr>Networking Components</vt:lpstr>
      <vt:lpstr>End of Lecture 14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</dc:title>
  <dc:creator>Shiva Kunwar</dc:creator>
  <cp:lastModifiedBy>Shiva Kunwar</cp:lastModifiedBy>
  <cp:revision>95</cp:revision>
  <dcterms:created xsi:type="dcterms:W3CDTF">2021-11-23T15:23:57Z</dcterms:created>
  <dcterms:modified xsi:type="dcterms:W3CDTF">2025-07-15T06:49:12Z</dcterms:modified>
</cp:coreProperties>
</file>