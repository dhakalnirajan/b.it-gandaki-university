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47"/>
  </p:notesMasterIdLst>
  <p:handoutMasterIdLst>
    <p:handoutMasterId r:id="rId48"/>
  </p:handoutMasterIdLst>
  <p:sldIdLst>
    <p:sldId id="296" r:id="rId2"/>
    <p:sldId id="300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06" r:id="rId11"/>
    <p:sldId id="305" r:id="rId12"/>
    <p:sldId id="344" r:id="rId13"/>
    <p:sldId id="345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16" r:id="rId36"/>
    <p:sldId id="330" r:id="rId37"/>
    <p:sldId id="329" r:id="rId38"/>
    <p:sldId id="331" r:id="rId39"/>
    <p:sldId id="332" r:id="rId40"/>
    <p:sldId id="333" r:id="rId41"/>
    <p:sldId id="334" r:id="rId42"/>
    <p:sldId id="335" r:id="rId43"/>
    <p:sldId id="336" r:id="rId44"/>
    <p:sldId id="285" r:id="rId45"/>
    <p:sldId id="286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3969" autoAdjust="0"/>
  </p:normalViewPr>
  <p:slideViewPr>
    <p:cSldViewPr>
      <p:cViewPr varScale="1">
        <p:scale>
          <a:sx n="65" d="100"/>
          <a:sy n="65" d="100"/>
        </p:scale>
        <p:origin x="86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AB699775-A32C-43D4-A100-54ED8FC7317D}" type="datetime1">
              <a:rPr lang="en-US" smtClean="0"/>
              <a:t>2/26/2025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Kubernetes | Lecture 15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F6CE-553D-4695-B524-A94497ECE2C5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1413-A667-4EF6-8526-AA3973F4329A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3AB7-3625-46D7-861B-181E7678BCD8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A37F-0425-4371-9ED4-E2385BAEAB08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F115911-5101-432D-AA7B-4598FE2AFF73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5BBD099-6587-940B-2326-C9DB71FE3F88}"/>
              </a:ext>
            </a:extLst>
          </p:cNvPr>
          <p:cNvSpPr txBox="1">
            <a:spLocks/>
          </p:cNvSpPr>
          <p:nvPr userDrawn="1"/>
        </p:nvSpPr>
        <p:spPr>
          <a:xfrm>
            <a:off x="4686299" y="5337659"/>
            <a:ext cx="6301740" cy="10471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b="1" dirty="0">
                <a:solidFill>
                  <a:schemeClr val="tx1"/>
                </a:solidFill>
                <a:latin typeface="Nunito" pitchFamily="2" charset="0"/>
              </a:rPr>
              <a:t>Google Classroom</a:t>
            </a:r>
            <a:r>
              <a:rPr lang="en-US" sz="3000" b="1">
                <a:solidFill>
                  <a:schemeClr val="tx1"/>
                </a:solidFill>
                <a:latin typeface="Nunito" pitchFamily="2" charset="0"/>
              </a:rPr>
              <a:t>: </a:t>
            </a:r>
            <a:r>
              <a:rPr lang="en-US" sz="5200" b="1">
                <a:solidFill>
                  <a:schemeClr val="tx1"/>
                </a:solidFill>
                <a:latin typeface="Nunito" pitchFamily="2" charset="0"/>
              </a:rPr>
              <a:t>cifecy4</a:t>
            </a:r>
            <a:endParaRPr lang="en-US" sz="30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CF8CD2-6540-41DE-A218-FA7FDDCC224D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019C-215F-498D-95AD-33D6C7F81018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AE940687-4A5A-42C5-AB45-4E61B2E959D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0D61-7BFA-3A00-9926-329BE8E5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6174-147B-33AC-349D-24C67931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7: Kubernetes (4hrs)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8C79-170E-A3FC-A3D3-097D25A2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Introduction to Kubernetes. Kubernetes Cluster Architecture - Brief Overview</a:t>
            </a:r>
          </a:p>
          <a:p>
            <a:r>
              <a:rPr lang="en-US" dirty="0"/>
              <a:t>Concepts: Pods, Replica Sets, Deployments and Namespaces</a:t>
            </a:r>
          </a:p>
          <a:p>
            <a:r>
              <a:rPr lang="en-US" dirty="0"/>
              <a:t>Kubernetes Services and Networking</a:t>
            </a:r>
          </a:p>
          <a:p>
            <a:r>
              <a:rPr lang="en-US" b="1" dirty="0"/>
              <a:t>Persistent volumes and persistent volume claims - An Overview</a:t>
            </a:r>
          </a:p>
          <a:p>
            <a:r>
              <a:rPr lang="en-US" b="1" dirty="0"/>
              <a:t>Design of PODS</a:t>
            </a:r>
          </a:p>
          <a:p>
            <a:r>
              <a:rPr lang="en-US" dirty="0"/>
              <a:t>Understanding labels, selectors, jobs, and schedulers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681C6-EAAC-3B58-B740-22B4CF00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91F0E-B036-9438-1795-AFB9E14C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6F45A-F878-F5A6-BDD7-66EAD190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8460D-E7E0-8086-BF29-65217908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F32BC-D8AA-B7C6-E814-38D91D9B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F987-8A09-C05B-AAAC-554A223C5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provides </a:t>
            </a:r>
            <a:r>
              <a:rPr lang="en-US" b="1" dirty="0"/>
              <a:t>ephemeral storage</a:t>
            </a:r>
            <a:r>
              <a:rPr lang="en-US" dirty="0"/>
              <a:t> by default, meaning that any data stored inside a Pod’s filesystem is lost if the Pod restarts or is deleted.</a:t>
            </a:r>
          </a:p>
          <a:p>
            <a:r>
              <a:rPr lang="en-US" dirty="0"/>
              <a:t>To address this limitation, Kubernetes introduces </a:t>
            </a:r>
            <a:r>
              <a:rPr lang="en-US" b="1" dirty="0"/>
              <a:t>Persistent Volumes (PVs) and Persistent Volume Claims (PVCs)</a:t>
            </a:r>
            <a:r>
              <a:rPr lang="en-US" dirty="0"/>
              <a:t>, which allow data to persist beyond the Pod's lifecycle.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94540-1790-E411-D047-15D4F869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Volumes</a:t>
            </a:r>
          </a:p>
        </p:txBody>
      </p:sp>
    </p:spTree>
    <p:extLst>
      <p:ext uri="{BB962C8B-B14F-4D97-AF65-F5344CB8AC3E}">
        <p14:creationId xmlns:p14="http://schemas.microsoft.com/office/powerpoint/2010/main" val="177415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E034-AED8-5252-3EE1-7AE4AB3C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AB45-D5CA-DA3A-5C2E-9843F5341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Persistent Volumes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4F71C-C047-54EC-D0D5-79D551FB8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It is a </a:t>
            </a:r>
            <a:r>
              <a:rPr lang="en-US" b="1" dirty="0"/>
              <a:t>storage resource</a:t>
            </a:r>
            <a:r>
              <a:rPr lang="en-US" dirty="0"/>
              <a:t> in Kubernetes that provides a durable storage solution independent of the Pod lifecycle.</a:t>
            </a:r>
          </a:p>
          <a:p>
            <a:r>
              <a:rPr lang="en-US" dirty="0"/>
              <a:t>Created by an administrator or dynamically provisioned by Kubernetes.</a:t>
            </a:r>
          </a:p>
          <a:p>
            <a:r>
              <a:rPr lang="en-US" dirty="0"/>
              <a:t>Supports various storage backends (NFS, AWS EBS, Azure Disk, GCE Persistent Disk, </a:t>
            </a:r>
            <a:r>
              <a:rPr lang="en-US" dirty="0" err="1"/>
              <a:t>Ceph</a:t>
            </a:r>
            <a:r>
              <a:rPr lang="en-US" dirty="0"/>
              <a:t>, etc.).</a:t>
            </a:r>
          </a:p>
          <a:p>
            <a:r>
              <a:rPr lang="en-US" dirty="0"/>
              <a:t>Defined as a Kubernetes resource with its own lifecycle.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0AA5F-F337-0BE4-4A4C-CFA7AC86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18229-8F5B-7F38-1CEA-D7D8FEBA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2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3735-1399-D551-17F1-A1FD80FBA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AAD2-AC34-C636-ECFD-FCC8B0D5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6D2D2-C185-7051-0654-0A7CB790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1EF9B-C4A8-739B-CC33-7EEFCB359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Persistent Volume Claim (PVC)</a:t>
            </a:r>
            <a:r>
              <a:rPr lang="en-US" dirty="0"/>
              <a:t> is a request for storage made by a Pod.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(developers) do not manage PVs directly but instead create </a:t>
            </a:r>
            <a:r>
              <a:rPr lang="en-US" b="1" dirty="0"/>
              <a:t>PVCs</a:t>
            </a:r>
            <a:r>
              <a:rPr lang="en-US" dirty="0"/>
              <a:t> to request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Kubernetes automatically </a:t>
            </a:r>
            <a:r>
              <a:rPr lang="en-US" b="1" dirty="0"/>
              <a:t>binds</a:t>
            </a:r>
            <a:r>
              <a:rPr lang="en-US" dirty="0"/>
              <a:t> a PVC to an available PV based on requested storage size and access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no suitable PV exists, Kubernetes </a:t>
            </a:r>
            <a:r>
              <a:rPr lang="en-US" b="1" dirty="0"/>
              <a:t>dynamically provisions</a:t>
            </a:r>
            <a:r>
              <a:rPr lang="en-US" dirty="0"/>
              <a:t> a new one if a </a:t>
            </a:r>
            <a:r>
              <a:rPr lang="en-US" dirty="0" err="1"/>
              <a:t>StorageClass</a:t>
            </a:r>
            <a:r>
              <a:rPr lang="en-US" dirty="0"/>
              <a:t> is defined.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5583D-978F-BB15-FDBB-C8339292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Volume Claim</a:t>
            </a:r>
          </a:p>
        </p:txBody>
      </p:sp>
    </p:spTree>
    <p:extLst>
      <p:ext uri="{BB962C8B-B14F-4D97-AF65-F5344CB8AC3E}">
        <p14:creationId xmlns:p14="http://schemas.microsoft.com/office/powerpoint/2010/main" val="23450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106D-89E7-6A46-55F2-5B5A6F8A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2893-F7F9-71EA-26DC-7AE0D150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Persistent Volume Claim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7BD22-A105-57DE-6F1D-C88E4C85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After a </a:t>
            </a:r>
            <a:r>
              <a:rPr lang="en-US" b="1" dirty="0"/>
              <a:t>PVC is bound to a PV</a:t>
            </a:r>
            <a:r>
              <a:rPr lang="en-US" dirty="0"/>
              <a:t>, a Pod can mount the PVC as a </a:t>
            </a:r>
            <a:r>
              <a:rPr lang="en-US" b="1" dirty="0"/>
              <a:t>volume</a:t>
            </a:r>
            <a:r>
              <a:rPr lang="en-US" dirty="0"/>
              <a:t> to store persistent data.</a:t>
            </a:r>
          </a:p>
          <a:p>
            <a:r>
              <a:rPr lang="en-US" dirty="0"/>
              <a:t>The data inside the path remains </a:t>
            </a:r>
            <a:r>
              <a:rPr lang="en-US" b="1" dirty="0"/>
              <a:t>persistent</a:t>
            </a:r>
            <a:r>
              <a:rPr lang="en-US" dirty="0"/>
              <a:t> even if the Pod is deleted or restarted.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E855-4ED8-75B2-8665-A5A2EAF2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CF802-0EFA-B5DF-3966-75413F8F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9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10A6-57E6-9265-4AA0-727474E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56E4-18D2-19F6-25E2-7B9778F5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Persistent Volume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6C60-ADEA-D604-0B98-9A19A453C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Provisioning</a:t>
            </a:r>
            <a:r>
              <a:rPr lang="en-US" dirty="0"/>
              <a:t>:</a:t>
            </a:r>
          </a:p>
          <a:p>
            <a:pPr lvl="1"/>
            <a:r>
              <a:rPr lang="en-US" sz="2400" dirty="0"/>
              <a:t>Manually (Admin creates PVs).</a:t>
            </a:r>
          </a:p>
          <a:p>
            <a:pPr lvl="1"/>
            <a:r>
              <a:rPr lang="en-US" sz="2400" dirty="0"/>
              <a:t>Dynamically (</a:t>
            </a:r>
            <a:r>
              <a:rPr lang="en-US" sz="2400" dirty="0" err="1"/>
              <a:t>StorageClass</a:t>
            </a:r>
            <a:r>
              <a:rPr lang="en-US" sz="2400" dirty="0"/>
              <a:t> provisions PVs automatically).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Binding</a:t>
            </a:r>
            <a:r>
              <a:rPr lang="en-US" dirty="0"/>
              <a:t>: PVC requests storage → Kubernetes finds and binds to an available PV.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Using the Volume</a:t>
            </a:r>
            <a:r>
              <a:rPr lang="en-US" dirty="0"/>
              <a:t>: The PVC is attached to a Pod as a volume.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Releasing</a:t>
            </a:r>
            <a:r>
              <a:rPr lang="en-US" dirty="0"/>
              <a:t>: When a Pod is deleted, the PVC is released, but the PV still exists.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Reclaiming</a:t>
            </a:r>
            <a:r>
              <a:rPr lang="en-US" dirty="0"/>
              <a:t>:</a:t>
            </a:r>
          </a:p>
          <a:p>
            <a:pPr lvl="1"/>
            <a:r>
              <a:rPr lang="en-US" sz="2400" dirty="0"/>
              <a:t>Retain → Data remains for manual reuse.</a:t>
            </a:r>
          </a:p>
          <a:p>
            <a:pPr lvl="1"/>
            <a:r>
              <a:rPr lang="en-US" sz="2400" dirty="0"/>
              <a:t>Recycle → Data is erased and PV is reused.</a:t>
            </a:r>
          </a:p>
          <a:p>
            <a:pPr lvl="1"/>
            <a:r>
              <a:rPr lang="en-US" sz="2400" dirty="0"/>
              <a:t>Delete → PV is removed permanently.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23A4E-67E9-D6D0-1D26-4661D51E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B50DB-A7E7-CD18-DB8D-63174E05C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7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A676-67F1-91DB-307C-70ACA7E4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EDC7-4813-D1BD-8332-1443DE18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Do We Need Persistent Volumes?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06BE5-468D-7C5C-09C9-D5BFBF8BC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By default, when a </a:t>
            </a:r>
            <a:r>
              <a:rPr lang="en-US" b="1" dirty="0"/>
              <a:t>Pod</a:t>
            </a:r>
            <a:r>
              <a:rPr lang="en-US" dirty="0"/>
              <a:t> stops or gets deleted, all its data is </a:t>
            </a:r>
            <a:r>
              <a:rPr lang="en-US" b="1" dirty="0"/>
              <a:t>lost</a:t>
            </a:r>
            <a:r>
              <a:rPr lang="en-US" dirty="0"/>
              <a:t> because Kubernetes uses temporary storage. But what if you need to store: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Logs 📜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Database data (MySQL, PostgreSQL) 📊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Configuration files ⚙️</a:t>
            </a:r>
          </a:p>
          <a:p>
            <a:r>
              <a:rPr lang="en-US" dirty="0"/>
              <a:t>Persistent Volumes help solve this problem by keeping data even when a Pod restarts or moves to a new Node.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EB530-B46B-B4F2-C854-FC904E9D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7FFE4-9F79-88A8-F5FE-8EBF852C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9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A8E93-6AAA-89E1-61C5-CF806AB1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0730-D87D-FC6E-89A3-6C992F92D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How Persistent Volumes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4E12D-C058-F862-16A7-275E899B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Admin Creates a Persistent Volume (PV)</a:t>
            </a:r>
            <a:r>
              <a:rPr lang="en-US" dirty="0"/>
              <a:t> – Defines a storage space in the cluster.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User Requests Storage via Persistent Volume Claim (PVC)</a:t>
            </a:r>
            <a:r>
              <a:rPr lang="en-US" dirty="0"/>
              <a:t> – A Pod asks for storage.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Kubernetes Matches PVC to a PV</a:t>
            </a:r>
            <a:r>
              <a:rPr lang="en-US" dirty="0"/>
              <a:t> – The requested storage is assigned to the Pod.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Pod Uses the Persistent Volume</a:t>
            </a:r>
            <a:r>
              <a:rPr lang="en-US" dirty="0"/>
              <a:t> – The Pod can read/write files, and data remains even if the Pod is deleted.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D39B3-DFA8-D0F9-7C3E-894BE8FF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69F33-657F-DE78-2B02-A637D0F3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1E5F-FB6A-3CF3-11D0-0B8EE9B0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0969C-9FC2-7F2C-EB43-20DFECEE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BEDF4-9AEF-61AF-1DCA-7DEEEF1B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BA6FB-4D4B-99DB-A6AD-19B88AD8C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>
            <a:normAutofit/>
          </a:bodyPr>
          <a:lstStyle/>
          <a:p>
            <a:r>
              <a:rPr lang="en-US" dirty="0"/>
              <a:t>A Pod is the smallest deployable unit in Kubernetes.</a:t>
            </a:r>
          </a:p>
          <a:p>
            <a:r>
              <a:rPr lang="en-US" dirty="0"/>
              <a:t>It represents a logical host for one or more containers that share the same network, storage, and lifecycle.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0026D-CBDA-65FF-13D6-8C6D19F8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/>
          <a:p>
            <a:r>
              <a:rPr lang="en-US" dirty="0"/>
              <a:t>Pods</a:t>
            </a:r>
          </a:p>
        </p:txBody>
      </p:sp>
    </p:spTree>
    <p:extLst>
      <p:ext uri="{BB962C8B-B14F-4D97-AF65-F5344CB8AC3E}">
        <p14:creationId xmlns:p14="http://schemas.microsoft.com/office/powerpoint/2010/main" val="110408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Key Characteristics of Pods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Single or Multiple Containers:</a:t>
            </a:r>
            <a:r>
              <a:rPr lang="en-US"/>
              <a:t> A Pod can have one main container or multiple tightly coupled containers.</a:t>
            </a:r>
          </a:p>
          <a:p>
            <a:r>
              <a:rPr lang="en-US" b="1"/>
              <a:t>Shared Network Namespace:</a:t>
            </a:r>
            <a:r>
              <a:rPr lang="en-US"/>
              <a:t> All containers in a Pod share the same IP address and ports.</a:t>
            </a:r>
          </a:p>
          <a:p>
            <a:r>
              <a:rPr lang="en-US" b="1"/>
              <a:t>Shared Storage:</a:t>
            </a:r>
            <a:r>
              <a:rPr lang="en-US"/>
              <a:t> Pods can use PersistentVolumes (PVs) for data storage.</a:t>
            </a:r>
          </a:p>
          <a:p>
            <a:r>
              <a:rPr lang="en-US" b="1"/>
              <a:t>Ephemeral Nature:</a:t>
            </a:r>
            <a:r>
              <a:rPr lang="en-US"/>
              <a:t> Pods are not permanent and can be restarted or rescheduled by Kubernetes.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9F04-4D40-DC8C-F479-6AC2E9CC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7D47-4184-79CA-0C2E-FEEED819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Pods?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CA99B-0389-6CFC-00F5-7AC5E37CD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Pods make deployment easy</a:t>
            </a:r>
            <a:r>
              <a:rPr lang="en-US" dirty="0"/>
              <a:t> – You can deploy and manage groups of containers together.</a:t>
            </a:r>
          </a:p>
          <a:p>
            <a:r>
              <a:rPr lang="en-US" b="1" dirty="0"/>
              <a:t>Pods can work together</a:t>
            </a:r>
            <a:r>
              <a:rPr lang="en-US" dirty="0"/>
              <a:t> – Multiple containers in a Pod can </a:t>
            </a:r>
            <a:r>
              <a:rPr lang="en-US" b="1" dirty="0"/>
              <a:t>share files and communicate</a:t>
            </a:r>
            <a:r>
              <a:rPr lang="en-US" dirty="0"/>
              <a:t> easily.</a:t>
            </a:r>
          </a:p>
          <a:p>
            <a:r>
              <a:rPr lang="en-US" b="1" dirty="0"/>
              <a:t>Scalability</a:t>
            </a:r>
            <a:r>
              <a:rPr lang="en-US" dirty="0"/>
              <a:t> – You can create </a:t>
            </a:r>
            <a:r>
              <a:rPr lang="en-US" b="1" dirty="0"/>
              <a:t>multiple copies</a:t>
            </a:r>
            <a:r>
              <a:rPr lang="en-US" dirty="0"/>
              <a:t> of the same Pod to handle high traffic.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B0A8A-2E81-E1EF-0C48-DE45D273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95360-0097-6BA3-44D7-375E9608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9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CACA-57D4-A724-AD11-949DC96A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9CEF-34B0-DD41-128E-ABA25AC6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Pod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A52DA-8244-7221-FD42-96ABBC134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</a:t>
            </a:r>
            <a:r>
              <a:rPr lang="en-US" b="1" dirty="0"/>
              <a:t>define</a:t>
            </a:r>
            <a:r>
              <a:rPr lang="en-US" dirty="0"/>
              <a:t> a Pod in a YAML file</a:t>
            </a:r>
          </a:p>
          <a:p>
            <a:r>
              <a:rPr lang="en-US" dirty="0"/>
              <a:t>Kubernetes </a:t>
            </a:r>
            <a:r>
              <a:rPr lang="en-US" b="1" dirty="0"/>
              <a:t>creates</a:t>
            </a:r>
            <a:r>
              <a:rPr lang="en-US" dirty="0"/>
              <a:t> the Pod</a:t>
            </a:r>
          </a:p>
          <a:p>
            <a:r>
              <a:rPr lang="en-US" dirty="0"/>
              <a:t>The Pod </a:t>
            </a:r>
            <a:r>
              <a:rPr lang="en-US" b="1" dirty="0"/>
              <a:t>runs the container(s)</a:t>
            </a:r>
            <a:r>
              <a:rPr lang="en-US" dirty="0"/>
              <a:t> inside it</a:t>
            </a:r>
          </a:p>
          <a:p>
            <a:r>
              <a:rPr lang="en-US" dirty="0"/>
              <a:t>If a Pod </a:t>
            </a:r>
            <a:r>
              <a:rPr lang="en-US" b="1" dirty="0"/>
              <a:t>fails</a:t>
            </a:r>
            <a:r>
              <a:rPr lang="en-US" dirty="0"/>
              <a:t>, Kubernetes </a:t>
            </a:r>
            <a:r>
              <a:rPr lang="en-US" b="1" dirty="0"/>
              <a:t>restarts</a:t>
            </a:r>
            <a:r>
              <a:rPr lang="en-US" dirty="0"/>
              <a:t> or replaces it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07EB2-1672-FA57-0FF2-D09FD8745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CECF6-70D5-CD36-04E8-690421CA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37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FF88-FECA-BF80-6298-1E63B639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5837-04F1-7397-1104-6B54D271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ABF25-1019-A122-59ED-46415539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1. Single-Container Pod (Simple Pod)</a:t>
            </a:r>
          </a:p>
          <a:p>
            <a:pPr lvl="1"/>
            <a:r>
              <a:rPr lang="en-US" b="1" dirty="0"/>
              <a:t>Best for</a:t>
            </a:r>
            <a:r>
              <a:rPr lang="en-US" dirty="0"/>
              <a:t>: Running a single application in isolation.</a:t>
            </a:r>
          </a:p>
          <a:p>
            <a:pPr lvl="1"/>
            <a:r>
              <a:rPr lang="en-US" b="1" dirty="0"/>
              <a:t>Use case</a:t>
            </a:r>
            <a:r>
              <a:rPr lang="en-US" dirty="0"/>
              <a:t>: Web server, database, or API service.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Simplicity and ease of scaling using </a:t>
            </a:r>
            <a:r>
              <a:rPr lang="en-US" dirty="0" err="1"/>
              <a:t>ReplicaSets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584E0-6F51-3572-1864-FFA24FF8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469FF-30BF-0434-02EC-CC79B8B0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2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7DB9-C12D-403B-78A5-98BBAF11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46CB-EACC-FF26-397D-3E97AEB0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BFE1-57AA-8F7A-1BE0-A574CFBC2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Single-Container Pod (Simple Pod running Nginx)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nginx-pod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nginx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nginx: latest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ports: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</a:t>
            </a:r>
            <a:r>
              <a:rPr lang="en-US" b="1" i="1" dirty="0" err="1">
                <a:solidFill>
                  <a:srgbClr val="FF0000"/>
                </a:solidFill>
              </a:rPr>
              <a:t>containerPort</a:t>
            </a:r>
            <a:r>
              <a:rPr lang="en-US" b="1" i="1" dirty="0">
                <a:solidFill>
                  <a:srgbClr val="FF0000"/>
                </a:solidFill>
              </a:rPr>
              <a:t>: 80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91797-4A33-487A-F544-ECED0737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81BF3-EB27-4B93-B069-46638112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1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928B-7351-8741-3A58-D7D46E98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C0E5-29DA-3E85-DDE6-E15DA1B3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53A3-6A20-E973-AA32-20CA18CAA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2. Multi-Container Pod (Sidecar Pattern)</a:t>
            </a:r>
          </a:p>
          <a:p>
            <a:pPr lvl="1"/>
            <a:r>
              <a:rPr lang="en-US" b="1" dirty="0"/>
              <a:t>Best for</a:t>
            </a:r>
            <a:r>
              <a:rPr lang="en-US" dirty="0"/>
              <a:t>: Running supporting services like logging, monitoring, or caching.</a:t>
            </a:r>
          </a:p>
          <a:p>
            <a:pPr lvl="1"/>
            <a:r>
              <a:rPr lang="en-US" b="1" dirty="0"/>
              <a:t>Use case</a:t>
            </a:r>
            <a:r>
              <a:rPr lang="en-US" dirty="0"/>
              <a:t>: A primary app container and a logging sidecar.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DEF84-A23D-9AA8-C4B2-0A8F3211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4E03D-5E3B-9BD9-8B4E-71E0A040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1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2EB7-2A0C-E4DF-591E-667E103F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D108-4FCC-959E-7F66-A304BB043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E8C7-F260-AC4E-88F7-7EA6E371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Pod with </a:t>
            </a:r>
            <a:r>
              <a:rPr lang="en-US" b="1" dirty="0"/>
              <a:t>Apache Web Server</a:t>
            </a:r>
            <a:r>
              <a:rPr lang="en-US" dirty="0"/>
              <a:t> and a </a:t>
            </a:r>
            <a:r>
              <a:rPr lang="en-US" b="1" dirty="0"/>
              <a:t>log collector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</a:t>
            </a:r>
            <a:r>
              <a:rPr lang="en-US" b="1" i="1" dirty="0" err="1">
                <a:solidFill>
                  <a:srgbClr val="FF0000"/>
                </a:solidFill>
              </a:rPr>
              <a:t>apache</a:t>
            </a:r>
            <a:r>
              <a:rPr lang="en-US" b="1" i="1" dirty="0">
                <a:solidFill>
                  <a:srgbClr val="FF0000"/>
                </a:solidFill>
              </a:rPr>
              <a:t>-log-pod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</a:t>
            </a:r>
            <a:r>
              <a:rPr lang="en-US" b="1" i="1" dirty="0" err="1">
                <a:solidFill>
                  <a:srgbClr val="FF0000"/>
                </a:solidFill>
              </a:rPr>
              <a:t>apache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</a:t>
            </a:r>
            <a:r>
              <a:rPr lang="en-US" b="1" i="1" dirty="0" err="1">
                <a:solidFill>
                  <a:srgbClr val="FF0000"/>
                </a:solidFill>
              </a:rPr>
              <a:t>httpd:latest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ports: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</a:t>
            </a:r>
            <a:r>
              <a:rPr lang="en-US" b="1" i="1" dirty="0" err="1">
                <a:solidFill>
                  <a:srgbClr val="FF0000"/>
                </a:solidFill>
              </a:rPr>
              <a:t>containerPort</a:t>
            </a:r>
            <a:r>
              <a:rPr lang="en-US" b="1" i="1" dirty="0">
                <a:solidFill>
                  <a:srgbClr val="FF0000"/>
                </a:solidFill>
              </a:rPr>
              <a:t>: 80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log-collector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</a:t>
            </a:r>
            <a:r>
              <a:rPr lang="en-US" b="1" i="1" dirty="0" err="1">
                <a:solidFill>
                  <a:srgbClr val="FF0000"/>
                </a:solidFill>
              </a:rPr>
              <a:t>busybox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</a:t>
            </a:r>
            <a:r>
              <a:rPr lang="en-US" b="1" i="1" dirty="0" err="1">
                <a:solidFill>
                  <a:srgbClr val="FF0000"/>
                </a:solidFill>
              </a:rPr>
              <a:t>args</a:t>
            </a:r>
            <a:r>
              <a:rPr lang="en-US" b="1" i="1" dirty="0">
                <a:solidFill>
                  <a:srgbClr val="FF0000"/>
                </a:solidFill>
              </a:rPr>
              <a:t>: ["</a:t>
            </a:r>
            <a:r>
              <a:rPr lang="en-US" b="1" i="1" dirty="0" err="1">
                <a:solidFill>
                  <a:srgbClr val="FF0000"/>
                </a:solidFill>
              </a:rPr>
              <a:t>sh</a:t>
            </a:r>
            <a:r>
              <a:rPr lang="en-US" b="1" i="1" dirty="0">
                <a:solidFill>
                  <a:srgbClr val="FF0000"/>
                </a:solidFill>
              </a:rPr>
              <a:t>", "-c", "tail -f /var/log/apache.log"]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73502-3211-AE65-01E2-7F537E85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128CA-189F-0205-0E1C-71941158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42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3BBAB-DAB7-380F-21F1-03091054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B04E-1A55-0A92-ED4F-98CA1191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505DD-E2C2-6133-C62F-7B3061CD4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3. Init Containers (Pre-start Containers)</a:t>
            </a:r>
          </a:p>
          <a:p>
            <a:pPr lvl="1"/>
            <a:r>
              <a:rPr lang="en-US" b="1" dirty="0"/>
              <a:t>Best for</a:t>
            </a:r>
            <a:r>
              <a:rPr lang="en-US" dirty="0"/>
              <a:t>: Running </a:t>
            </a:r>
            <a:r>
              <a:rPr lang="en-US" b="1" dirty="0"/>
              <a:t>setup tasks</a:t>
            </a:r>
            <a:r>
              <a:rPr lang="en-US" dirty="0"/>
              <a:t> before the main app starts.</a:t>
            </a:r>
          </a:p>
          <a:p>
            <a:pPr lvl="1"/>
            <a:r>
              <a:rPr lang="en-US" b="1" dirty="0"/>
              <a:t>Use case</a:t>
            </a:r>
            <a:r>
              <a:rPr lang="en-US" dirty="0"/>
              <a:t>: A database container that waits for </a:t>
            </a:r>
            <a:r>
              <a:rPr lang="en-US" b="1" dirty="0"/>
              <a:t>data migration</a:t>
            </a:r>
            <a:r>
              <a:rPr lang="en-US" dirty="0"/>
              <a:t> before starting.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6C897-0ED5-B1E9-B6ED-CAE8CF60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CDFD-B46A-2C03-B484-0A8A8B90E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41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AECD-5673-D031-D292-18035ED3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6C04-C1B0-CC3E-3D96-B54125EFA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70C39-DC7E-CC03-6EE0-32D33055F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Pod with an </a:t>
            </a:r>
            <a:r>
              <a:rPr lang="en-US" b="1" dirty="0" err="1"/>
              <a:t>init</a:t>
            </a:r>
            <a:r>
              <a:rPr lang="en-US" b="1" dirty="0"/>
              <a:t> container</a:t>
            </a:r>
            <a:r>
              <a:rPr lang="en-US" dirty="0"/>
              <a:t> to fetch configuration before running the app</a:t>
            </a:r>
            <a:endParaRPr lang="en-US" b="1" dirty="0"/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</a:t>
            </a:r>
            <a:r>
              <a:rPr lang="en-US" b="1" i="1" dirty="0" err="1">
                <a:solidFill>
                  <a:srgbClr val="FF0000"/>
                </a:solidFill>
              </a:rPr>
              <a:t>init</a:t>
            </a:r>
            <a:r>
              <a:rPr lang="en-US" b="1" i="1" dirty="0">
                <a:solidFill>
                  <a:srgbClr val="FF0000"/>
                </a:solidFill>
              </a:rPr>
              <a:t>-demo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</a:t>
            </a:r>
            <a:r>
              <a:rPr lang="en-US" b="1" i="1" dirty="0" err="1">
                <a:solidFill>
                  <a:srgbClr val="FF0000"/>
                </a:solidFill>
              </a:rPr>
              <a:t>initContainers</a:t>
            </a:r>
            <a:r>
              <a:rPr lang="en-US" b="1" i="1" dirty="0">
                <a:solidFill>
                  <a:srgbClr val="FF0000"/>
                </a:solidFill>
              </a:rPr>
              <a:t>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</a:t>
            </a:r>
            <a:r>
              <a:rPr lang="en-US" b="1" i="1" dirty="0" err="1">
                <a:solidFill>
                  <a:srgbClr val="FF0000"/>
                </a:solidFill>
              </a:rPr>
              <a:t>init</a:t>
            </a:r>
            <a:r>
              <a:rPr lang="en-US" b="1" i="1" dirty="0">
                <a:solidFill>
                  <a:srgbClr val="FF0000"/>
                </a:solidFill>
              </a:rPr>
              <a:t>-container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</a:t>
            </a:r>
            <a:r>
              <a:rPr lang="en-US" b="1" i="1" dirty="0" err="1">
                <a:solidFill>
                  <a:srgbClr val="FF0000"/>
                </a:solidFill>
              </a:rPr>
              <a:t>busybox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command: ['</a:t>
            </a:r>
            <a:r>
              <a:rPr lang="en-US" b="1" i="1" dirty="0" err="1">
                <a:solidFill>
                  <a:srgbClr val="FF0000"/>
                </a:solidFill>
              </a:rPr>
              <a:t>sh</a:t>
            </a:r>
            <a:r>
              <a:rPr lang="en-US" b="1" i="1" dirty="0">
                <a:solidFill>
                  <a:srgbClr val="FF0000"/>
                </a:solidFill>
              </a:rPr>
              <a:t>', '-c', 'echo "Initializing..." &amp;&amp; sleep 5']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app-container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nginx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4F0DA-CABA-38D8-F8A1-DD3B2C14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BE901-9A79-3586-A813-92E60546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04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ABFB-297A-02E4-BCFC-7C1C5776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D0A1-B64B-DB3F-A6A0-4FB91162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326E-FC25-BF46-8CCC-5D33A05A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4. Pods with Persistent Storage (Stateful Pods)</a:t>
            </a:r>
          </a:p>
          <a:p>
            <a:pPr lvl="1"/>
            <a:r>
              <a:rPr lang="en-US" b="1" dirty="0"/>
              <a:t>Best for</a:t>
            </a:r>
            <a:r>
              <a:rPr lang="en-US" dirty="0"/>
              <a:t>: Running databases or applications that require </a:t>
            </a:r>
            <a:r>
              <a:rPr lang="en-US" b="1" dirty="0"/>
              <a:t>data persistence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Use case</a:t>
            </a:r>
            <a:r>
              <a:rPr lang="en-US" dirty="0"/>
              <a:t>: A </a:t>
            </a:r>
            <a:r>
              <a:rPr lang="en-US" b="1" dirty="0"/>
              <a:t>MySQL database</a:t>
            </a:r>
            <a:r>
              <a:rPr lang="en-US" dirty="0"/>
              <a:t> that needs a persistent volume.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F593E-27B8-6861-57AC-903CAC6A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02EF7-AE93-E001-5167-8F461EF4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07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096D-8C08-B70F-CC9D-44B900D7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46AC-2F18-0623-5E93-741F4321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Types of Pod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7CAFD-73D0-24F7-9B19-86A0F105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Pod with a </a:t>
            </a:r>
            <a:r>
              <a:rPr lang="en-US" b="1" dirty="0" err="1"/>
              <a:t>PersistentVolumeClaim</a:t>
            </a:r>
            <a:r>
              <a:rPr lang="en-US" b="1" dirty="0"/>
              <a:t> (PVC)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name: </a:t>
            </a:r>
            <a:r>
              <a:rPr lang="en-US" b="1" i="1" dirty="0" err="1">
                <a:solidFill>
                  <a:srgbClr val="FF0000"/>
                </a:solidFill>
              </a:rPr>
              <a:t>mysql</a:t>
            </a:r>
            <a:r>
              <a:rPr lang="en-US" b="1" i="1" dirty="0">
                <a:solidFill>
                  <a:srgbClr val="FF0000"/>
                </a:solidFill>
              </a:rPr>
              <a:t>-pod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</a:t>
            </a:r>
            <a:r>
              <a:rPr lang="en-US" b="1" i="1" dirty="0" err="1">
                <a:solidFill>
                  <a:srgbClr val="FF0000"/>
                </a:solidFill>
              </a:rPr>
              <a:t>mysql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mysql:5.7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env: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name: MYSQL_ROOT_PASSWORD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value: "password"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</a:t>
            </a:r>
            <a:r>
              <a:rPr lang="en-US" b="1" i="1" dirty="0" err="1">
                <a:solidFill>
                  <a:srgbClr val="FF0000"/>
                </a:solidFill>
              </a:rPr>
              <a:t>volumeMounts</a:t>
            </a:r>
            <a:r>
              <a:rPr lang="en-US" b="1" i="1" dirty="0">
                <a:solidFill>
                  <a:srgbClr val="FF0000"/>
                </a:solidFill>
              </a:rPr>
              <a:t>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</a:t>
            </a:r>
            <a:r>
              <a:rPr lang="en-US" b="1" i="1" dirty="0" err="1">
                <a:solidFill>
                  <a:srgbClr val="FF0000"/>
                </a:solidFill>
              </a:rPr>
              <a:t>mountPath</a:t>
            </a:r>
            <a:r>
              <a:rPr lang="en-US" b="1" i="1" dirty="0">
                <a:solidFill>
                  <a:srgbClr val="FF0000"/>
                </a:solidFill>
              </a:rPr>
              <a:t>: "/var/lib/</a:t>
            </a:r>
            <a:r>
              <a:rPr lang="en-US" b="1" i="1" dirty="0" err="1">
                <a:solidFill>
                  <a:srgbClr val="FF0000"/>
                </a:solidFill>
              </a:rPr>
              <a:t>mysql</a:t>
            </a:r>
            <a:r>
              <a:rPr lang="en-US" b="1" i="1" dirty="0">
                <a:solidFill>
                  <a:srgbClr val="FF0000"/>
                </a:solidFill>
              </a:rPr>
              <a:t>"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name: </a:t>
            </a:r>
            <a:r>
              <a:rPr lang="en-US" b="1" i="1" dirty="0" err="1">
                <a:solidFill>
                  <a:srgbClr val="FF0000"/>
                </a:solidFill>
              </a:rPr>
              <a:t>mysql</a:t>
            </a:r>
            <a:r>
              <a:rPr lang="en-US" b="1" i="1" dirty="0">
                <a:solidFill>
                  <a:srgbClr val="FF0000"/>
                </a:solidFill>
              </a:rPr>
              <a:t>-storage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volumes: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</a:t>
            </a:r>
            <a:r>
              <a:rPr lang="en-US" b="1" i="1" dirty="0" err="1">
                <a:solidFill>
                  <a:srgbClr val="FF0000"/>
                </a:solidFill>
              </a:rPr>
              <a:t>mysql</a:t>
            </a:r>
            <a:r>
              <a:rPr lang="en-US" b="1" i="1" dirty="0">
                <a:solidFill>
                  <a:srgbClr val="FF0000"/>
                </a:solidFill>
              </a:rPr>
              <a:t>-storage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</a:t>
            </a:r>
            <a:r>
              <a:rPr lang="en-US" b="1" i="1" dirty="0" err="1">
                <a:solidFill>
                  <a:srgbClr val="FF0000"/>
                </a:solidFill>
              </a:rPr>
              <a:t>persistentVolumeClaim</a:t>
            </a:r>
            <a:r>
              <a:rPr lang="en-US" b="1" i="1" dirty="0">
                <a:solidFill>
                  <a:srgbClr val="FF0000"/>
                </a:solidFill>
              </a:rPr>
              <a:t>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</a:t>
            </a:r>
            <a:r>
              <a:rPr lang="en-US" b="1" i="1" dirty="0" err="1">
                <a:solidFill>
                  <a:srgbClr val="FF0000"/>
                </a:solidFill>
              </a:rPr>
              <a:t>claimName</a:t>
            </a:r>
            <a:r>
              <a:rPr lang="en-US" b="1" i="1" dirty="0">
                <a:solidFill>
                  <a:srgbClr val="FF0000"/>
                </a:solidFill>
              </a:rPr>
              <a:t>: </a:t>
            </a:r>
            <a:r>
              <a:rPr lang="en-US" b="1" i="1" dirty="0" err="1">
                <a:solidFill>
                  <a:srgbClr val="FF0000"/>
                </a:solidFill>
              </a:rPr>
              <a:t>mysql-pvc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62B1A-3BB9-C46D-0CC6-D8B6BD44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2CA3-3046-E3E9-08C0-4EC79B68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11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C825F-758D-7322-FDAC-14371EE8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A0CDC-6965-626C-E060-5C62A4BD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DF2E5-1B03-1304-CD05-E74628B7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8C7B-7342-D5B4-B5ED-3E51F1D7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Pods in Kubernetes go through various lifecycle phases from creation to termination.</a:t>
            </a:r>
          </a:p>
          <a:p>
            <a:r>
              <a:rPr lang="en-US" dirty="0"/>
              <a:t>Understanding the lifecycle is crucial for monitoring, debugging, and scaling applications efficiently.</a:t>
            </a:r>
          </a:p>
          <a:p>
            <a:r>
              <a:rPr lang="en-US" dirty="0"/>
              <a:t>Pods go through different </a:t>
            </a:r>
            <a:r>
              <a:rPr lang="en-US" b="1" dirty="0"/>
              <a:t>phases</a:t>
            </a:r>
            <a:r>
              <a:rPr lang="en-US" dirty="0"/>
              <a:t> during their lifecycle:</a:t>
            </a:r>
          </a:p>
          <a:p>
            <a:pPr lvl="1"/>
            <a:r>
              <a:rPr lang="en-US" b="1" dirty="0"/>
              <a:t>Pending</a:t>
            </a:r>
            <a:r>
              <a:rPr lang="en-US" dirty="0"/>
              <a:t> → </a:t>
            </a:r>
            <a:r>
              <a:rPr lang="en-US" b="1" dirty="0"/>
              <a:t>Scheduled</a:t>
            </a:r>
            <a:r>
              <a:rPr lang="en-US" dirty="0"/>
              <a:t> → </a:t>
            </a:r>
            <a:r>
              <a:rPr lang="en-US" b="1" dirty="0"/>
              <a:t>ContainerCreating</a:t>
            </a:r>
            <a:r>
              <a:rPr lang="en-US" dirty="0"/>
              <a:t> → </a:t>
            </a:r>
            <a:r>
              <a:rPr lang="en-US" b="1" dirty="0"/>
              <a:t>Running</a:t>
            </a:r>
            <a:r>
              <a:rPr lang="en-US" dirty="0"/>
              <a:t> → </a:t>
            </a:r>
            <a:r>
              <a:rPr lang="en-US" b="1" dirty="0"/>
              <a:t>Succeeded/Failed </a:t>
            </a:r>
            <a:r>
              <a:rPr lang="en-US" dirty="0"/>
              <a:t>→ </a:t>
            </a:r>
            <a:r>
              <a:rPr lang="en-US" b="1" dirty="0"/>
              <a:t>Termination</a:t>
            </a:r>
          </a:p>
          <a:p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03ECC-3377-1430-2417-8A390D4F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 Lifecycle</a:t>
            </a:r>
          </a:p>
        </p:txBody>
      </p:sp>
    </p:spTree>
    <p:extLst>
      <p:ext uri="{BB962C8B-B14F-4D97-AF65-F5344CB8AC3E}">
        <p14:creationId xmlns:p14="http://schemas.microsoft.com/office/powerpoint/2010/main" val="302126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1E96-5C1F-2957-FF18-9ED1C9E9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C5E3-440D-3A93-7130-B5651675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A658-0482-516B-CBC0-083C8212D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Pod is created but not yet scheduled to a node.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 may be waiting for resource allocation or for containers to be pulled.</a:t>
            </a:r>
          </a:p>
          <a:p>
            <a:r>
              <a:rPr lang="en-US" b="1" dirty="0"/>
              <a:t>Possible reasons for delay: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Insufficient node resources.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Image download delays.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PVC (</a:t>
            </a:r>
            <a:r>
              <a:rPr lang="en-US" dirty="0" err="1"/>
              <a:t>PersistentVolumeClaim</a:t>
            </a:r>
            <a:r>
              <a:rPr lang="en-US" dirty="0"/>
              <a:t>) is not bound yet.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7012D-3339-B20A-6A7F-91F22F89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35956-92A0-2164-AAC0-BCFD604A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16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32B0-E7A2-87B7-F3F0-98EE391D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4846-87DD-8909-7F91-2096472C1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E623-2CE8-7C83-69AB-5F496873D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Troubleshooting Command: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describe pod &lt;pod-name&gt;</a:t>
            </a:r>
          </a:p>
          <a:p>
            <a:pPr lvl="1"/>
            <a:r>
              <a:rPr lang="en-US" dirty="0"/>
              <a:t>Example Status:</a:t>
            </a:r>
          </a:p>
          <a:p>
            <a:pPr marL="548640" lvl="2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Status: Pending</a:t>
            </a:r>
          </a:p>
          <a:p>
            <a:pPr marL="548640" lvl="2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Reason: ContainerCreating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01194-6777-64BA-E70B-DB11EABE5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2FC67-9A5D-7481-1D99-BA026577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86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2C76-BC0F-6F8C-B41C-4B05DA728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7941-A7A6-E248-07E4-23F58735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Scheduled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31C12-D95B-136B-0959-52A1D9DBA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Kubernetes Scheduler assigns the Pod to a node.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is a transient state before container creation.</a:t>
            </a:r>
          </a:p>
          <a:p>
            <a:r>
              <a:rPr lang="en-US" b="1" dirty="0"/>
              <a:t>Potential Issues: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If a node selector is used and no matching node is found.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If anything prevents scheduling.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assigned node: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 &lt;pod-name&gt; -o wide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72C3-4A5E-9214-ED4C-FE72944C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45F53-2150-AC40-C0FF-B44DFCA0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43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B139-1454-F555-4889-AF6029B9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41EF-F210-8D47-0F6D-59E03C00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ContainerCreating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13E6E-054C-6189-F72F-502FF65ED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Kubernetes starts pulling images, creating network settings, and attaching volumes.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Potential Issues: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Image pull failures (</a:t>
            </a:r>
            <a:r>
              <a:rPr lang="en-US" dirty="0" err="1"/>
              <a:t>ErrImagePull</a:t>
            </a:r>
            <a:r>
              <a:rPr lang="en-US" dirty="0"/>
              <a:t>, </a:t>
            </a:r>
            <a:r>
              <a:rPr lang="en-US" dirty="0" err="1"/>
              <a:t>ImagePullBackOff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Volume mounting delays.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events: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describe pod &lt;pod-name&gt;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3656B-200A-816A-2E69-4FA97FB2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0B04C-AEF1-D596-37B1-1834B407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30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9B6B-A33F-68C6-ECCC-FB33193A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BDDC-5B2A-D40E-D264-41C527A3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32B2-C724-DA6C-3AA0-044FE8EDC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All </a:t>
            </a:r>
            <a:r>
              <a:rPr lang="en-US" dirty="0">
                <a:solidFill>
                  <a:schemeClr val="tx1"/>
                </a:solidFill>
              </a:rPr>
              <a:t>containers in the Pod are running.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Pod is fully functional </a:t>
            </a:r>
            <a:r>
              <a:rPr lang="en-US" dirty="0"/>
              <a:t>and ready to serve requests.</a:t>
            </a:r>
          </a:p>
          <a:p>
            <a:pPr lvl="1"/>
            <a:r>
              <a:rPr lang="en-US" dirty="0"/>
              <a:t>Check running pods: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</a:t>
            </a:r>
          </a:p>
          <a:p>
            <a:pPr lvl="1"/>
            <a:r>
              <a:rPr lang="en-US" dirty="0"/>
              <a:t>Example Output:</a:t>
            </a:r>
          </a:p>
          <a:p>
            <a:pPr marL="548640" lvl="2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NAME          	READY  	 STATUS    	RESTARTS   	AGE</a:t>
            </a:r>
          </a:p>
          <a:p>
            <a:pPr marL="548640" lvl="2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my-app-pod    	1/1     		Running  	 0          	5m</a:t>
            </a:r>
          </a:p>
          <a:p>
            <a:pPr lvl="1"/>
            <a:r>
              <a:rPr lang="en-US" dirty="0"/>
              <a:t>"READY" 1/1 means all containers in the Pod are running successfully.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764DE-B005-0197-851C-58212989C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BF460-C218-93E3-4AA4-609DC6B5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66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BFB9D-9720-B98E-8C59-200A1579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DC3C-324D-96B2-97D4-6CA927E4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Failed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54511-46D9-B1FB-8422-DFDDAE7D1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</a:p>
          <a:p>
            <a:pPr lvl="1"/>
            <a:r>
              <a:rPr lang="en-US" dirty="0"/>
              <a:t>A Pod is marked Failed if one or more containers terminate with a non-zero exit code (error) and the </a:t>
            </a:r>
            <a:r>
              <a:rPr lang="en-US" dirty="0" err="1"/>
              <a:t>restartPolicy</a:t>
            </a:r>
            <a:r>
              <a:rPr lang="en-US" dirty="0"/>
              <a:t> is Never or </a:t>
            </a:r>
            <a:r>
              <a:rPr lang="en-US" dirty="0" err="1"/>
              <a:t>OnFailure</a:t>
            </a:r>
            <a:r>
              <a:rPr lang="en-US" dirty="0"/>
              <a:t>.</a:t>
            </a:r>
          </a:p>
          <a:p>
            <a:r>
              <a:rPr lang="en-US" b="1" dirty="0"/>
              <a:t>Common Reasons:</a:t>
            </a:r>
          </a:p>
          <a:p>
            <a:pPr lvl="1"/>
            <a:r>
              <a:rPr lang="en-US" dirty="0"/>
              <a:t>The application crashed due to an error.</a:t>
            </a:r>
          </a:p>
          <a:p>
            <a:pPr lvl="1"/>
            <a:r>
              <a:rPr lang="en-US" dirty="0"/>
              <a:t>A required dependency (e.g., database) is unavailable.</a:t>
            </a:r>
          </a:p>
          <a:p>
            <a:pPr lvl="1"/>
            <a:r>
              <a:rPr lang="en-US" dirty="0"/>
              <a:t>Out-of-memory (OOMKilled).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938F6-7F53-BDCB-A754-82B98C94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D5D7-17DF-A37C-4DFA-1672E5EF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41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47136-E9D1-C20C-8803-737D0898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EF1-6421-C382-9B39-01CEE07F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Failed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B60C1-7916-8E5B-E346-F821ED9AC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Check Pod logs: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logs &lt;pod-name&gt;</a:t>
            </a:r>
          </a:p>
          <a:p>
            <a:pPr lvl="1"/>
            <a:r>
              <a:rPr lang="en-US" dirty="0"/>
              <a:t>Check termination reason: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describe pod &lt;pod-name&gt;</a:t>
            </a: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CA2F0-596B-1937-C13A-E40ADB32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FC960-F168-0B80-8620-6806607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13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2A74E-BB93-2515-B606-EEE6D917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EA9D-515C-14B8-1B2B-59C7DA22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Succeeded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057B9-6EF4-CBD3-7E3C-CE1976B03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Pod completes execution successfully and does not restart.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Applies mostly to batch jobs or cron jobs.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If a data migration script runs and exits successfully, the Pod moves to the Succeeded state.</a:t>
            </a:r>
          </a:p>
          <a:p>
            <a:pPr lvl="1"/>
            <a:r>
              <a:rPr lang="en-US" dirty="0"/>
              <a:t>Check Completed Pods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 --field-selector=</a:t>
            </a:r>
            <a:r>
              <a:rPr lang="en-US" b="1" i="1" dirty="0" err="1">
                <a:solidFill>
                  <a:srgbClr val="FF0000"/>
                </a:solidFill>
              </a:rPr>
              <a:t>status.phase</a:t>
            </a:r>
            <a:r>
              <a:rPr lang="en-US" b="1" i="1" dirty="0">
                <a:solidFill>
                  <a:srgbClr val="FF0000"/>
                </a:solidFill>
              </a:rPr>
              <a:t>=Succeeded</a:t>
            </a: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50D5C-ABA5-96CB-AA36-15DC40D2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73A02-2A38-5A2B-8A71-5485A67F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68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C15CD-01E3-B550-EAF5-C3DE0BCB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C4FB-4DE6-1513-9662-43CA0C044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</a:t>
            </a:r>
            <a:r>
              <a:rPr lang="en-US" dirty="0" err="1"/>
              <a:t>CrashLoopBackOff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93171-BA25-D8BE-7BC2-54DF0A3BE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container keeps failing and restarting continuously.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Kubernetes attempts to restart it but applies a backoff timer (delays increase progressively).</a:t>
            </a:r>
          </a:p>
          <a:p>
            <a:r>
              <a:rPr lang="en-US" b="1" dirty="0"/>
              <a:t>Common Causes: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application crashes due to misconfiguration.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Missing environment variables.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Startup scripts failing.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AEC6C-0419-8851-F405-7AA04035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10D17-F531-986E-C376-BC7C68DE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96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E252-6086-6E92-586D-691FFDD6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E972-0F3B-90C3-E36A-1AF7F6A8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</a:t>
            </a:r>
            <a:r>
              <a:rPr lang="en-US" dirty="0" err="1"/>
              <a:t>CrashLoopBackOff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3A54-C867-0A99-8A59-FAC451CD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Check restart attempts: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</a:t>
            </a:r>
          </a:p>
          <a:p>
            <a:r>
              <a:rPr lang="en-US" dirty="0"/>
              <a:t>Example Output: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NAME          	READY   	STATUS             	RESTARTS   	AGE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my-app-pod   	 0/1     		</a:t>
            </a:r>
            <a:r>
              <a:rPr lang="en-US" b="1" i="1" dirty="0" err="1">
                <a:solidFill>
                  <a:srgbClr val="FF0000"/>
                </a:solidFill>
              </a:rPr>
              <a:t>CrashLoopBackOff</a:t>
            </a:r>
            <a:r>
              <a:rPr lang="en-US" b="1" i="1" dirty="0">
                <a:solidFill>
                  <a:srgbClr val="FF0000"/>
                </a:solidFill>
              </a:rPr>
              <a:t>   	5          		10m</a:t>
            </a:r>
          </a:p>
          <a:p>
            <a:r>
              <a:rPr lang="en-US" dirty="0"/>
              <a:t>Check logs for errors: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logs &lt;pod-name&gt;</a:t>
            </a:r>
          </a:p>
          <a:p>
            <a:r>
              <a:rPr lang="en-US" dirty="0"/>
              <a:t>Describe Pod: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describe pod &lt;pod-name&gt;</a:t>
            </a:r>
          </a:p>
          <a:p>
            <a:r>
              <a:rPr lang="en-US" b="1" dirty="0"/>
              <a:t>Solution</a:t>
            </a:r>
            <a:r>
              <a:rPr lang="en-US" dirty="0"/>
              <a:t>: Identify and fix the root cause, then delete the Pod to restart it fresh.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9B94E-2E0C-497B-297D-CD4D804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4A4BA-72D2-5540-F6E6-B287165B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09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C718-3D08-5552-AF6C-D53F234D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F2167-0685-4CFA-DB47-32DA0BF8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Terminating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14969-66EF-A9C4-A384-A8A7BDBF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When?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Pod enters Terminating when deleted or when the node it runs on is shutting down.</a:t>
            </a:r>
          </a:p>
          <a:p>
            <a:r>
              <a:rPr lang="en-US" b="1" dirty="0"/>
              <a:t>What happens?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Kubernetes sends a SIGTERM signal to containers.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If the Pod does not gracefully shut down within the termination grace period (default 30s), Kubernetes forcefully kills it with </a:t>
            </a:r>
            <a:r>
              <a:rPr lang="en-US" b="1" dirty="0"/>
              <a:t>SIGKILL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6E288-88D4-5C6E-DBB6-5F9E59C3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9E568-54F0-510A-D2F6-CD4406D4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80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3762B-9B93-9F5A-F7AA-957F6A60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83ED-3F89-0EE4-E7AD-B07B92F9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Pod Lifecycle - Terminating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A367B-FF68-D021-ABFD-E69B5D39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Check terminating Pods: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</a:t>
            </a:r>
          </a:p>
          <a:p>
            <a:r>
              <a:rPr lang="en-US" dirty="0"/>
              <a:t>Force delete a stuck Pod: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delete pod &lt;pod-name&gt; --force --grace-period=0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0B00E-B32B-F924-BC2F-4E4B8FCB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47BE6-C1B8-D0ED-DF60-DC01E3B9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04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6BAF-2965-D163-B8C0-80AF0B51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BD7F-D195-06AD-1B66-EE960510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Pod Lifecycle Policy: Restart Policies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D32A-7149-7451-20D0-5A50258AE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algn="l" rtl="0" fontAlgn="base"/>
            <a:r>
              <a:rPr lang="en-US" dirty="0"/>
              <a:t>Pods have different </a:t>
            </a:r>
            <a:r>
              <a:rPr lang="en-US" b="1" dirty="0"/>
              <a:t>restart policies</a:t>
            </a:r>
            <a:r>
              <a:rPr lang="en-US" dirty="0"/>
              <a:t> to control behavior when containers fail: </a:t>
            </a:r>
          </a:p>
          <a:p>
            <a:pPr marL="457200" indent="-457200" algn="l" rtl="0" fontAlgn="base">
              <a:buFont typeface="+mj-lt"/>
              <a:buAutoNum type="arabicPeriod"/>
            </a:pPr>
            <a:r>
              <a:rPr lang="en-US" b="1" i="0" dirty="0">
                <a:effectLst/>
                <a:latin typeface="Nunito" pitchFamily="2" charset="0"/>
              </a:rPr>
              <a:t>Always</a:t>
            </a:r>
            <a:r>
              <a:rPr lang="en-US" i="0" dirty="0">
                <a:effectLst/>
                <a:latin typeface="Nunito" pitchFamily="2" charset="0"/>
              </a:rPr>
              <a:t> (default): Restarts the Pod no matter what. Used for Deployments and </a:t>
            </a:r>
            <a:r>
              <a:rPr lang="en-US" i="0" dirty="0" err="1">
                <a:effectLst/>
                <a:latin typeface="Nunito" pitchFamily="2" charset="0"/>
              </a:rPr>
              <a:t>ReplicaSets</a:t>
            </a:r>
            <a:r>
              <a:rPr lang="en-US" i="0" dirty="0">
                <a:effectLst/>
                <a:latin typeface="Nunito" pitchFamily="2" charset="0"/>
              </a:rPr>
              <a:t>.</a:t>
            </a:r>
          </a:p>
          <a:p>
            <a:pPr marL="457200" indent="-457200" algn="l" rtl="0" fontAlgn="base">
              <a:buFont typeface="+mj-lt"/>
              <a:buAutoNum type="arabicPeriod"/>
            </a:pPr>
            <a:r>
              <a:rPr lang="en-US" b="1" i="0" dirty="0" err="1">
                <a:effectLst/>
                <a:latin typeface="Nunito" pitchFamily="2" charset="0"/>
              </a:rPr>
              <a:t>OnFailure</a:t>
            </a:r>
            <a:r>
              <a:rPr lang="en-US" i="0" dirty="0">
                <a:effectLst/>
                <a:latin typeface="Nunito" pitchFamily="2" charset="0"/>
              </a:rPr>
              <a:t>: Restarts the Pod only if it fails. Used for Jobs.</a:t>
            </a:r>
          </a:p>
          <a:p>
            <a:pPr marL="457200" indent="-457200" algn="l" rtl="0" fontAlgn="base">
              <a:buFont typeface="+mj-lt"/>
              <a:buAutoNum type="arabicPeriod"/>
            </a:pPr>
            <a:r>
              <a:rPr lang="en-US" b="1" i="0" dirty="0">
                <a:effectLst/>
                <a:latin typeface="Nunito" pitchFamily="2" charset="0"/>
              </a:rPr>
              <a:t>Never</a:t>
            </a:r>
            <a:r>
              <a:rPr lang="en-US" i="0" dirty="0">
                <a:effectLst/>
                <a:latin typeface="Nunito" pitchFamily="2" charset="0"/>
              </a:rPr>
              <a:t>: Never restarts the Pod. Used for one-time batch jobs.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D2E28-2547-522D-DF63-8A0B9684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CD60C-B836-0252-0926-BBF27759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88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B105-2053-A7D6-1510-AEE6DC19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D2AC-7D27-4529-B179-D892D7E5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A Pod with </a:t>
            </a:r>
            <a:r>
              <a:rPr lang="en-US" dirty="0" err="1"/>
              <a:t>RestartPolicy</a:t>
            </a:r>
            <a:r>
              <a:rPr lang="en-US" dirty="0"/>
              <a:t> "</a:t>
            </a:r>
            <a:r>
              <a:rPr lang="en-US" dirty="0" err="1"/>
              <a:t>OnFailure</a:t>
            </a:r>
            <a:r>
              <a:rPr lang="en-US" dirty="0"/>
              <a:t>"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E9D33-D179-4387-AFEA-DF35F344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job-pod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  </a:t>
            </a:r>
            <a:r>
              <a:rPr lang="en-US" b="1" i="1" dirty="0" err="1">
                <a:solidFill>
                  <a:srgbClr val="FF0000"/>
                </a:solidFill>
              </a:rPr>
              <a:t>restartPolicy</a:t>
            </a:r>
            <a:r>
              <a:rPr lang="en-US" b="1" i="1" dirty="0">
                <a:solidFill>
                  <a:srgbClr val="FF0000"/>
                </a:solidFill>
              </a:rPr>
              <a:t>: </a:t>
            </a:r>
            <a:r>
              <a:rPr lang="en-US" b="1" i="1" dirty="0" err="1">
                <a:solidFill>
                  <a:srgbClr val="FF0000"/>
                </a:solidFill>
              </a:rPr>
              <a:t>OnFailure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job-container</a:t>
            </a: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</a:t>
            </a:r>
            <a:r>
              <a:rPr lang="en-US" b="1" i="1" dirty="0" err="1">
                <a:solidFill>
                  <a:srgbClr val="FF0000"/>
                </a:solidFill>
              </a:rPr>
              <a:t>busybox</a:t>
            </a:r>
            <a:endParaRPr lang="en-US" b="1" i="1" dirty="0">
              <a:solidFill>
                <a:srgbClr val="FF0000"/>
              </a:solidFill>
            </a:endParaRPr>
          </a:p>
          <a:p>
            <a:pPr marL="274320" lvl="1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      command: ["</a:t>
            </a:r>
            <a:r>
              <a:rPr lang="en-US" b="1" i="1" dirty="0" err="1">
                <a:solidFill>
                  <a:srgbClr val="FF0000"/>
                </a:solidFill>
              </a:rPr>
              <a:t>sh</a:t>
            </a:r>
            <a:r>
              <a:rPr lang="en-US" b="1" i="1" dirty="0">
                <a:solidFill>
                  <a:srgbClr val="FF0000"/>
                </a:solidFill>
              </a:rPr>
              <a:t>", "-c", "echo Job is running &amp;&amp; exit 1"]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AA003-393B-2B40-18CF-A4ABBF83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FF2F-1C40-98DD-40BE-6A1081B6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22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FB84-AF3C-933C-F64A-357CB1D4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F880-D6EB-58A9-120D-A207D60E6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Container Lifecycle Inside a Pod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71837-5477-55FC-3AAE-921DAFF10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Each container inside a Pod also follows a lifecycle:</a:t>
            </a:r>
          </a:p>
          <a:p>
            <a:r>
              <a:rPr lang="en-US" b="1" dirty="0"/>
              <a:t>Container Lifecycle States</a:t>
            </a:r>
          </a:p>
          <a:p>
            <a:pPr lvl="1"/>
            <a:r>
              <a:rPr lang="en-US" b="1" dirty="0"/>
              <a:t>Waiting</a:t>
            </a:r>
            <a:r>
              <a:rPr lang="en-US" dirty="0"/>
              <a:t> → The container is waiting for resources or startup conditions.</a:t>
            </a:r>
          </a:p>
          <a:p>
            <a:pPr lvl="1"/>
            <a:r>
              <a:rPr lang="en-US" b="1" dirty="0"/>
              <a:t>Running</a:t>
            </a:r>
            <a:r>
              <a:rPr lang="en-US" dirty="0"/>
              <a:t> → The container is actively running.</a:t>
            </a:r>
          </a:p>
          <a:p>
            <a:pPr lvl="1"/>
            <a:r>
              <a:rPr lang="en-US" b="1" dirty="0"/>
              <a:t>Terminated</a:t>
            </a:r>
            <a:r>
              <a:rPr lang="en-US" dirty="0"/>
              <a:t> → The container has exited successfully or failed.</a:t>
            </a:r>
          </a:p>
          <a:p>
            <a:pPr lvl="1"/>
            <a:r>
              <a:rPr lang="en-US" dirty="0"/>
              <a:t>Check container states in a Pod:</a:t>
            </a:r>
          </a:p>
          <a:p>
            <a:pPr marL="548640" lvl="2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 -o </a:t>
            </a:r>
            <a:r>
              <a:rPr lang="en-US" b="1" i="1" dirty="0" err="1">
                <a:solidFill>
                  <a:srgbClr val="FF0000"/>
                </a:solidFill>
              </a:rPr>
              <a:t>jsonpath</a:t>
            </a:r>
            <a:r>
              <a:rPr lang="en-US" b="1" i="1" dirty="0">
                <a:solidFill>
                  <a:srgbClr val="FF0000"/>
                </a:solidFill>
              </a:rPr>
              <a:t>='{.</a:t>
            </a:r>
            <a:r>
              <a:rPr lang="en-US" b="1" i="1" dirty="0" err="1">
                <a:solidFill>
                  <a:srgbClr val="FF0000"/>
                </a:solidFill>
              </a:rPr>
              <a:t>status.containerStatuses</a:t>
            </a:r>
            <a:r>
              <a:rPr lang="en-US" b="1" i="1" dirty="0">
                <a:solidFill>
                  <a:srgbClr val="FF0000"/>
                </a:solidFill>
              </a:rPr>
              <a:t>}'</a:t>
            </a:r>
          </a:p>
          <a:p>
            <a:pPr lvl="2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B339E-7572-DDB5-71E0-A24DEADE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27863-7187-610F-5F30-90B208AC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32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39C13-3B09-3E29-5C9A-1A7065BB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7EE8-1540-D014-9B49-D50B8705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Running Pods in Kubernetes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0F08-C279-79AF-8DE9-38729FB07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Running a Pod using </a:t>
            </a:r>
            <a:r>
              <a:rPr lang="en-US" dirty="0" err="1"/>
              <a:t>kubectl</a:t>
            </a:r>
            <a:r>
              <a:rPr lang="en-US" dirty="0"/>
              <a:t> run (Imperative Approach)</a:t>
            </a:r>
          </a:p>
          <a:p>
            <a:r>
              <a:rPr lang="en-US" dirty="0"/>
              <a:t>Running a Pod using a YAML Manifest (Declarative Approach)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D286C-49FD-7EAE-652D-8F91A97A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1480E-4196-B2C6-2656-EE2F0294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80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9F8C8-CD3D-3A6C-2DE5-D280F1F6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48E6-FD19-0133-26F9-606D1574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Running a Pod Using </a:t>
            </a:r>
            <a:r>
              <a:rPr lang="en-US" dirty="0" err="1"/>
              <a:t>kubectl</a:t>
            </a:r>
            <a:r>
              <a:rPr lang="en-US" dirty="0"/>
              <a:t> run (Imperative Approach)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8E829-ACE9-F6ED-471D-9E5C45080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the simplest way to create and run a Pod.</a:t>
            </a:r>
          </a:p>
          <a:p>
            <a:r>
              <a:rPr lang="en-US" b="1" dirty="0"/>
              <a:t>Example</a:t>
            </a:r>
            <a:r>
              <a:rPr lang="en-US" dirty="0"/>
              <a:t>: Run an Nginx Pod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run my-nginx --image=nginx --restart=Never</a:t>
            </a:r>
          </a:p>
          <a:p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run : Command to create a Pod.</a:t>
            </a:r>
          </a:p>
          <a:p>
            <a:pPr lvl="1"/>
            <a:r>
              <a:rPr lang="en-US" dirty="0"/>
              <a:t>my-nginx : Name of the Pod.</a:t>
            </a:r>
          </a:p>
          <a:p>
            <a:pPr lvl="1"/>
            <a:r>
              <a:rPr lang="en-US" dirty="0"/>
              <a:t>--image=nginx : Pulls the nginx image from Docker Hub.</a:t>
            </a:r>
          </a:p>
          <a:p>
            <a:pPr lvl="1"/>
            <a:r>
              <a:rPr lang="en-US" dirty="0"/>
              <a:t>--restart=Never : Ensures it runs as a Pod (without a higher-level controller like a Deployment).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36B0E-02E5-663D-750C-FD535CD2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13897-76CA-EDF4-C889-7189C0BC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00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2DCE-B5AE-64C7-4A34-0666F0AC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CC9C-92B3-378F-6175-3C791E0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Running a Pod Using </a:t>
            </a:r>
            <a:r>
              <a:rPr lang="en-US" dirty="0" err="1"/>
              <a:t>kubectl</a:t>
            </a:r>
            <a:r>
              <a:rPr lang="en-US" dirty="0"/>
              <a:t> run (Imperative Approach)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636E-1414-6CBB-61D5-028DED3CE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Check if the Pod is running: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</a:t>
            </a:r>
          </a:p>
          <a:p>
            <a:r>
              <a:rPr lang="en-US" dirty="0"/>
              <a:t>View Pod details: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describe pod my-nginx</a:t>
            </a:r>
          </a:p>
          <a:p>
            <a:r>
              <a:rPr lang="en-US" dirty="0"/>
              <a:t>Access Pod logs: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logs my-nginx</a:t>
            </a:r>
          </a:p>
          <a:p>
            <a:r>
              <a:rPr lang="en-US" dirty="0"/>
              <a:t>Delete the Pod: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delete pod my-nginx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DBA57-C4C3-3CBD-6782-F2CE54A2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8C3A-C173-84E0-D382-7B90BC03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844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9035-BCC5-A716-69FB-D09D0616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167E-BD1B-D37A-C47B-787B6A41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Running a Pod Using a YAML Manifest (Declarative Approach)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1572-825C-D15B-3DD4-964B6A244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This method is recommended for production as it allows version control and repeatability.</a:t>
            </a:r>
          </a:p>
          <a:p>
            <a:r>
              <a:rPr lang="en-US" dirty="0"/>
              <a:t>Example: YAML File for an Nginx Pod</a:t>
            </a:r>
          </a:p>
          <a:p>
            <a:r>
              <a:rPr lang="en-US" dirty="0"/>
              <a:t>Create a file called nginx-</a:t>
            </a:r>
            <a:r>
              <a:rPr lang="en-US" dirty="0" err="1"/>
              <a:t>pod.yaml</a:t>
            </a:r>
            <a:r>
              <a:rPr lang="en-US" dirty="0"/>
              <a:t>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555C4-33BC-2ECD-D38A-1DEE6D8B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C2620-B080-2C6A-345A-4C9F2E91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2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669E1-5798-8D80-4A8D-5898FA2A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97AF-4ECC-74ED-AEA0-32E005A8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Running a Pod Using a YAML Manifest (Declarative Approach)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FD878-EFD5-C842-F959-04B8D9A16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my-nginx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labels: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app: nginx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nginx-container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nginx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ports: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</a:t>
            </a:r>
            <a:r>
              <a:rPr lang="en-US" b="1" i="1" dirty="0" err="1">
                <a:solidFill>
                  <a:srgbClr val="FF0000"/>
                </a:solidFill>
              </a:rPr>
              <a:t>containerPort</a:t>
            </a:r>
            <a:r>
              <a:rPr lang="en-US" b="1" i="1" dirty="0">
                <a:solidFill>
                  <a:srgbClr val="FF0000"/>
                </a:solidFill>
              </a:rPr>
              <a:t>: 80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08153-F3D2-6022-E00D-B63ECC6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B8095-E1BE-05A8-3F8C-A3C287F9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70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D3C2-56D3-8518-8207-FECDF9A9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826A-A7D5-4E06-13BD-1FC159E6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Running a Pod Using a YAML Manifest (Declarative Approach)</a:t>
            </a:r>
            <a:endParaRPr lang="en-US" i="0" dirty="0">
              <a:effectLst/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351F9-9A8F-29FB-4B89-B81951139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Apply the YAML file to create the Pod: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apply -f nginx-</a:t>
            </a:r>
            <a:r>
              <a:rPr lang="en-US" b="1" i="1" dirty="0" err="1">
                <a:solidFill>
                  <a:srgbClr val="FF0000"/>
                </a:solidFill>
              </a:rPr>
              <a:t>pod.yaml</a:t>
            </a:r>
            <a:endParaRPr lang="en-US" b="1" i="1" dirty="0">
              <a:solidFill>
                <a:srgbClr val="FF0000"/>
              </a:solidFill>
            </a:endParaRPr>
          </a:p>
          <a:p>
            <a:r>
              <a:rPr lang="en-US" dirty="0"/>
              <a:t>Verify the Pod is running: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get pods</a:t>
            </a:r>
          </a:p>
          <a:p>
            <a:r>
              <a:rPr lang="en-US" dirty="0"/>
              <a:t>Describe the Pod: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describe pod my-nginx</a:t>
            </a:r>
          </a:p>
          <a:p>
            <a:r>
              <a:rPr lang="en-US" dirty="0"/>
              <a:t>Delete the Pod:</a:t>
            </a:r>
          </a:p>
          <a:p>
            <a:pPr marL="274320" lvl="1" indent="0">
              <a:buNone/>
            </a:pPr>
            <a:r>
              <a:rPr lang="en-US" b="1" i="1" dirty="0" err="1">
                <a:solidFill>
                  <a:srgbClr val="FF0000"/>
                </a:solidFill>
              </a:rPr>
              <a:t>kubectl</a:t>
            </a:r>
            <a:r>
              <a:rPr lang="en-US" b="1" i="1" dirty="0">
                <a:solidFill>
                  <a:srgbClr val="FF0000"/>
                </a:solidFill>
              </a:rPr>
              <a:t> delete -f nginx-</a:t>
            </a:r>
            <a:r>
              <a:rPr lang="en-US" b="1" i="1" dirty="0" err="1">
                <a:solidFill>
                  <a:srgbClr val="FF0000"/>
                </a:solidFill>
              </a:rPr>
              <a:t>pod.yaml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29B4A-EC86-1B15-87B5-4A3FED88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16C06-A114-C44D-A91E-A1F8FB90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4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Kubernetes | Lecture 15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15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ANSIBLE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</TotalTime>
  <Words>2541</Words>
  <Application>Microsoft Office PowerPoint</Application>
  <PresentationFormat>Widescreen</PresentationFormat>
  <Paragraphs>397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7: Kubernetes (4hrs)</vt:lpstr>
      <vt:lpstr>Persistent Volumes</vt:lpstr>
      <vt:lpstr>Persistent Volumes</vt:lpstr>
      <vt:lpstr>Persistent Volume Claim</vt:lpstr>
      <vt:lpstr>Persistent Volume Claim</vt:lpstr>
      <vt:lpstr>Persistent Volume Lifecycle</vt:lpstr>
      <vt:lpstr>Why Do We Need Persistent Volumes?</vt:lpstr>
      <vt:lpstr>How Persistent Volumes Work</vt:lpstr>
      <vt:lpstr>Pods</vt:lpstr>
      <vt:lpstr>Key Characteristics of Pods</vt:lpstr>
      <vt:lpstr>Why Use Pods?</vt:lpstr>
      <vt:lpstr>How a Pod Works</vt:lpstr>
      <vt:lpstr>Types of Pod Design Patterns</vt:lpstr>
      <vt:lpstr>Types of Pod Design Patterns</vt:lpstr>
      <vt:lpstr>Types of Pod Design Patterns</vt:lpstr>
      <vt:lpstr>Types of Pod Design Patterns</vt:lpstr>
      <vt:lpstr>Types of Pod Design Patterns</vt:lpstr>
      <vt:lpstr>Types of Pod Design Patterns</vt:lpstr>
      <vt:lpstr>Types of Pod Design Patterns</vt:lpstr>
      <vt:lpstr>Types of Pod Design Patterns</vt:lpstr>
      <vt:lpstr>Pod Lifecycle</vt:lpstr>
      <vt:lpstr>Pod Lifecycle - Pending</vt:lpstr>
      <vt:lpstr>Pod Lifecycle - Pending</vt:lpstr>
      <vt:lpstr>Pod Lifecycle - Scheduled</vt:lpstr>
      <vt:lpstr>Pod Lifecycle - ContainerCreating</vt:lpstr>
      <vt:lpstr>Pod Lifecycle - Running</vt:lpstr>
      <vt:lpstr>Pod Lifecycle - Failed</vt:lpstr>
      <vt:lpstr>Pod Lifecycle - Failed</vt:lpstr>
      <vt:lpstr>Pod Lifecycle - Succeeded</vt:lpstr>
      <vt:lpstr>Pod Lifecycle - CrashLoopBackOff</vt:lpstr>
      <vt:lpstr>Pod Lifecycle - CrashLoopBackOff</vt:lpstr>
      <vt:lpstr>Pod Lifecycle - Terminating</vt:lpstr>
      <vt:lpstr>Pod Lifecycle - Terminating</vt:lpstr>
      <vt:lpstr>Pod Lifecycle Policy: Restart Policies</vt:lpstr>
      <vt:lpstr>A Pod with RestartPolicy "OnFailure"</vt:lpstr>
      <vt:lpstr>Container Lifecycle Inside a Pod</vt:lpstr>
      <vt:lpstr>Running Pods in Kubernetes</vt:lpstr>
      <vt:lpstr>Running a Pod Using kubectl run (Imperative Approach)</vt:lpstr>
      <vt:lpstr>Running a Pod Using kubectl run (Imperative Approach)</vt:lpstr>
      <vt:lpstr>Running a Pod Using a YAML Manifest (Declarative Approach)</vt:lpstr>
      <vt:lpstr>Running a Pod Using a YAML Manifest (Declarative Approach)</vt:lpstr>
      <vt:lpstr>Running a Pod Using a YAML Manifest (Declarative Approach)</vt:lpstr>
      <vt:lpstr>End of Lecture 15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100</cp:revision>
  <dcterms:created xsi:type="dcterms:W3CDTF">2021-11-23T15:23:57Z</dcterms:created>
  <dcterms:modified xsi:type="dcterms:W3CDTF">2025-02-26T15:23:44Z</dcterms:modified>
</cp:coreProperties>
</file>