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38"/>
  </p:notesMasterIdLst>
  <p:handoutMasterIdLst>
    <p:handoutMasterId r:id="rId39"/>
  </p:handoutMasterIdLst>
  <p:sldIdLst>
    <p:sldId id="296" r:id="rId2"/>
    <p:sldId id="301" r:id="rId3"/>
    <p:sldId id="299" r:id="rId4"/>
    <p:sldId id="300" r:id="rId5"/>
    <p:sldId id="302" r:id="rId6"/>
    <p:sldId id="308" r:id="rId7"/>
    <p:sldId id="303" r:id="rId8"/>
    <p:sldId id="304" r:id="rId9"/>
    <p:sldId id="306" r:id="rId10"/>
    <p:sldId id="309" r:id="rId11"/>
    <p:sldId id="305" r:id="rId12"/>
    <p:sldId id="310" r:id="rId13"/>
    <p:sldId id="311" r:id="rId14"/>
    <p:sldId id="312" r:id="rId15"/>
    <p:sldId id="317" r:id="rId16"/>
    <p:sldId id="313" r:id="rId17"/>
    <p:sldId id="318" r:id="rId18"/>
    <p:sldId id="314" r:id="rId19"/>
    <p:sldId id="315" r:id="rId20"/>
    <p:sldId id="316" r:id="rId21"/>
    <p:sldId id="319" r:id="rId22"/>
    <p:sldId id="320" r:id="rId23"/>
    <p:sldId id="321" r:id="rId24"/>
    <p:sldId id="322" r:id="rId25"/>
    <p:sldId id="323" r:id="rId26"/>
    <p:sldId id="324" r:id="rId27"/>
    <p:sldId id="326" r:id="rId28"/>
    <p:sldId id="325" r:id="rId29"/>
    <p:sldId id="327" r:id="rId30"/>
    <p:sldId id="328" r:id="rId31"/>
    <p:sldId id="329" r:id="rId32"/>
    <p:sldId id="330" r:id="rId33"/>
    <p:sldId id="331" r:id="rId34"/>
    <p:sldId id="332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69" d="100"/>
          <a:sy n="69" d="100"/>
        </p:scale>
        <p:origin x="756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A0BE454D-F3D3-4E8A-A0BD-6CFDF2C2575C}" type="datetime1">
              <a:rPr lang="en-US" smtClean="0"/>
              <a:t>7/22/2025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Ansible | Lecture 16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0FA8-E642-4595-AC75-A654B3255872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EEFEA-ABB7-4A8B-89DE-2B2F7A39A376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9EB7-CD33-46DE-9C6D-02B4B5159953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85AF2-9FE4-4BE2-BA71-C7E8DC6AABE5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FD9DB6D-E60D-4CA6-A786-CA185B509453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82D04C-0EF6-4320-BD79-FCFF74AFBDB3}" type="datetime1">
              <a:rPr lang="en-US" smtClean="0"/>
              <a:t>7/22/2025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59EF-60F6-47C7-B5EC-3A310C286F26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04B52100-B8FC-4F5A-AAC5-48E67A2C3A80}" type="datetime1">
              <a:rPr lang="en-US" smtClean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D570-4111-B277-5732-1297C2F8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11A6-F389-6CAD-8009-8B2E6503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8: Ansible (8hrs)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6898F-EA5F-B877-557B-9CC0E1291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Introduction to Ansible: Basics and Architecture of Ansible. Control Machine and Managed Node Requirements</a:t>
            </a:r>
          </a:p>
          <a:p>
            <a:r>
              <a:rPr lang="en-US" b="1" dirty="0"/>
              <a:t>Inventory: Hosts, Groups</a:t>
            </a:r>
          </a:p>
          <a:p>
            <a:r>
              <a:rPr lang="en-US" b="1" dirty="0"/>
              <a:t>Ansible Modules</a:t>
            </a:r>
          </a:p>
          <a:p>
            <a:r>
              <a:rPr lang="en-US" dirty="0"/>
              <a:t>Ad hoc Commands</a:t>
            </a:r>
          </a:p>
          <a:p>
            <a:r>
              <a:rPr lang="en-US" dirty="0"/>
              <a:t>YAML script</a:t>
            </a:r>
          </a:p>
          <a:p>
            <a:r>
              <a:rPr lang="en-US" b="1" dirty="0"/>
              <a:t>Playbook: Handlers and Variables, Tasks, Privilege Escalation</a:t>
            </a:r>
          </a:p>
          <a:p>
            <a:r>
              <a:rPr lang="en-US" dirty="0"/>
              <a:t>Roles: Directory Structure, Duplication and Execution, Default Variables, Dependencies, Search Path, Ansible Galaxy</a:t>
            </a:r>
          </a:p>
          <a:p>
            <a:r>
              <a:rPr lang="en-US" dirty="0"/>
              <a:t>Including and Importing: Playbooks, Task Files, and Roles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00CB3-C688-B3BC-C9DE-D3926632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D5BCD-986C-4B24-4FAE-CBBDCD41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upon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bustling software company, </a:t>
            </a:r>
            <a:r>
              <a:rPr lang="en-US" b="1" dirty="0"/>
              <a:t>InnovateTechNepal</a:t>
            </a:r>
            <a:r>
              <a:rPr lang="en-US" dirty="0"/>
              <a:t>, a team of developers worked on a revolutionary new application.</a:t>
            </a:r>
          </a:p>
          <a:p>
            <a:r>
              <a:rPr lang="en-US" dirty="0"/>
              <a:t>They were growing rapidly, managing applications across dozens of servers in their data center and the cloud. </a:t>
            </a:r>
          </a:p>
          <a:p>
            <a:r>
              <a:rPr lang="en-US" dirty="0"/>
              <a:t>But with </a:t>
            </a:r>
            <a:r>
              <a:rPr lang="en-US" b="1" dirty="0">
                <a:solidFill>
                  <a:srgbClr val="FF0000"/>
                </a:solidFill>
              </a:rPr>
              <a:t>growth, came challenges </a:t>
            </a:r>
            <a:r>
              <a:rPr lang="en-US" dirty="0"/>
              <a:t>that threatened their efficiency.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3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BFF3-D5D8-A746-865A-EA587799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25BF-E275-D437-343E-FBEDA511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99809-57CB-C330-6C42-DE28A5756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the team expanded, their </a:t>
            </a:r>
            <a:r>
              <a:rPr lang="en-US" b="1" dirty="0">
                <a:solidFill>
                  <a:srgbClr val="FF0000"/>
                </a:solidFill>
              </a:rPr>
              <a:t>infrastructure management </a:t>
            </a:r>
            <a:r>
              <a:rPr lang="en-US" dirty="0"/>
              <a:t>process became chaotic:</a:t>
            </a:r>
          </a:p>
          <a:p>
            <a:r>
              <a:rPr lang="en-US" b="1" dirty="0"/>
              <a:t>Manual Configurations:</a:t>
            </a:r>
          </a:p>
          <a:p>
            <a:r>
              <a:rPr lang="en-US" dirty="0"/>
              <a:t>Each server had to be configured by hand. Developers like Ram and Gita spent hours installing dependencies, setting up services, and tweaking configurations. </a:t>
            </a:r>
            <a:r>
              <a:rPr lang="en-US" b="1" i="1" dirty="0">
                <a:solidFill>
                  <a:srgbClr val="FF0000"/>
                </a:solidFill>
              </a:rPr>
              <a:t>Mistakes were common, leading to inconsistencies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A317B-5D5E-42BA-F155-92D5E762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F8975-6B6C-DE51-7023-AD004209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3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D22C-0183-BE54-54A5-AC4367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B326-0695-0C16-8787-4928A0AB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3116-BA3D-2846-FA46-3349AA2DF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Scaling Woes: </a:t>
            </a:r>
            <a:r>
              <a:rPr lang="en-US" dirty="0"/>
              <a:t>During a big product launch, they needed to </a:t>
            </a:r>
            <a:r>
              <a:rPr lang="en-US" b="1" i="1" dirty="0">
                <a:solidFill>
                  <a:srgbClr val="FFC000"/>
                </a:solidFill>
              </a:rPr>
              <a:t>add 50 more servers.</a:t>
            </a:r>
            <a:r>
              <a:rPr lang="en-US" dirty="0"/>
              <a:t> Setting them up </a:t>
            </a:r>
            <a:r>
              <a:rPr lang="en-US" b="1" i="1" dirty="0">
                <a:solidFill>
                  <a:srgbClr val="FFC000"/>
                </a:solidFill>
              </a:rPr>
              <a:t>manually took days, causing delays </a:t>
            </a:r>
            <a:r>
              <a:rPr lang="en-US" dirty="0"/>
              <a:t>and lost revenue.</a:t>
            </a:r>
          </a:p>
          <a:p>
            <a:r>
              <a:rPr lang="en-US" b="1" dirty="0"/>
              <a:t>Environment Inconsistencies: </a:t>
            </a:r>
            <a:r>
              <a:rPr lang="en-US" dirty="0"/>
              <a:t>The staging environment never matched production perfectly. </a:t>
            </a:r>
            <a:r>
              <a:rPr lang="en-US" b="1" i="1" dirty="0">
                <a:solidFill>
                  <a:srgbClr val="C00000"/>
                </a:solidFill>
              </a:rPr>
              <a:t>Bugs kept appearing in production </a:t>
            </a:r>
            <a:r>
              <a:rPr lang="en-US" dirty="0"/>
              <a:t>that weren’t caught during testing.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854F-1D64-628E-E5A4-6BC558FA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FECB5-FFA1-ECA5-12F4-B3BB65ED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9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808E6-9A0E-1C17-999C-AE128255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003E-2950-E4AA-6CD4-47892D96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ACEE6-9A77-2883-39E5-E5A1C6AAA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Repetitive Tasks: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Routine updates</a:t>
            </a:r>
            <a:r>
              <a:rPr lang="en-US" dirty="0"/>
              <a:t>, like applying security patches or restarting services,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consumed hours </a:t>
            </a:r>
            <a:r>
              <a:rPr lang="en-US" dirty="0"/>
              <a:t>every week. The team wished they could focus more on innovation than maintenance.</a:t>
            </a:r>
            <a:endParaRPr lang="en-US" b="1" dirty="0"/>
          </a:p>
          <a:p>
            <a:r>
              <a:rPr lang="en-US" b="1" dirty="0"/>
              <a:t>Complex Workflows: </a:t>
            </a:r>
            <a:r>
              <a:rPr lang="en-US" dirty="0"/>
              <a:t>Deploying a </a:t>
            </a:r>
            <a:r>
              <a:rPr lang="en-US" b="1" i="1" dirty="0">
                <a:solidFill>
                  <a:srgbClr val="7030A0"/>
                </a:solidFill>
              </a:rPr>
              <a:t>single update required coordinating </a:t>
            </a:r>
            <a:r>
              <a:rPr lang="en-US" dirty="0"/>
              <a:t>steps across multiple servers. The process was error-prone and often resulted in downtime.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A3108-A4EB-AAFB-2C13-23335D89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25DA9-5BB6-3A3A-FDF6-A6468230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61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99D5-699A-68ED-3D9A-2D37A42C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D5B1-079C-82CB-D11A-73F22DFA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Ansible: The Automation Wizard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7E7A-BB95-8096-0344-616EF34C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knew they needed a better way. That’s when Softee (yes, Softee again!) proposed using a tool he’d read about </a:t>
            </a:r>
            <a:r>
              <a:rPr lang="en-US" b="1" dirty="0"/>
              <a:t>Ansible</a:t>
            </a:r>
            <a:r>
              <a:rPr lang="en-US" dirty="0"/>
              <a:t>.</a:t>
            </a:r>
          </a:p>
          <a:p>
            <a:r>
              <a:rPr lang="en-US" dirty="0"/>
              <a:t>Softee explained, “Ansible can manage all our servers from a single control point.”</a:t>
            </a:r>
          </a:p>
          <a:p>
            <a:r>
              <a:rPr lang="en-US" b="1" dirty="0">
                <a:solidFill>
                  <a:srgbClr val="00B050"/>
                </a:solidFill>
              </a:rPr>
              <a:t>We’ll write Playbooks to define what we want, and Ansible will ensure every server matches that definition</a:t>
            </a:r>
            <a:r>
              <a:rPr lang="en-US" dirty="0"/>
              <a:t>. And the best part? It doesn’t need any extra software on the servers - just </a:t>
            </a:r>
            <a:r>
              <a:rPr lang="en-US" b="1" dirty="0"/>
              <a:t>SSH</a:t>
            </a:r>
            <a:r>
              <a:rPr lang="en-US" dirty="0"/>
              <a:t>!”</a:t>
            </a:r>
          </a:p>
          <a:p>
            <a:r>
              <a:rPr lang="en-US" dirty="0"/>
              <a:t>The team was intrigued and decided to give it a try.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5BFF5-7189-F59E-94BD-31FBD460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5AD96-CDF3-FF4B-74F4-7F018AAE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1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B04F-7745-16DE-0419-6140996E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0160-7959-820D-603A-40CB5F78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8EAE-E856-8CEF-0C98-AFD405142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Softee set up </a:t>
            </a:r>
            <a:r>
              <a:rPr lang="en-US" b="1" dirty="0"/>
              <a:t>Ansible</a:t>
            </a:r>
            <a:r>
              <a:rPr lang="en-US" dirty="0"/>
              <a:t> and created their first Playbook. Here’s what happened next:</a:t>
            </a:r>
          </a:p>
          <a:p>
            <a:r>
              <a:rPr lang="en-US" b="1" dirty="0"/>
              <a:t>Automated Server Setup</a:t>
            </a:r>
            <a:r>
              <a:rPr lang="en-US" dirty="0"/>
              <a:t>:</a:t>
            </a:r>
          </a:p>
          <a:p>
            <a:r>
              <a:rPr lang="en-US" dirty="0"/>
              <a:t>Ansible installed all the necessary software, configured services, and set up users on every server. Tasks that took hours now take minutes.</a:t>
            </a:r>
          </a:p>
          <a:p>
            <a:r>
              <a:rPr lang="en-US" b="1" dirty="0"/>
              <a:t>Scaling Made Easy:</a:t>
            </a:r>
          </a:p>
          <a:p>
            <a:r>
              <a:rPr lang="en-US" dirty="0"/>
              <a:t>When they needed to add more servers, all they had to do was run the Ansible Playbook. New servers were up and running in no time.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73A6F-8DDC-5859-D98A-3B4E97BF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A426-D4F0-C160-7A6A-C575C39B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6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D86F-4530-D8E2-7E03-96EEF51C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3761-F415-FA64-0C44-E01196CF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777C-3BAA-5899-6F60-B30205F7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Simplified Maintenance:</a:t>
            </a:r>
          </a:p>
          <a:p>
            <a:r>
              <a:rPr lang="en-US" dirty="0"/>
              <a:t>Weekly updates and patches were now automated with a single command. No more repetitive tasks eating into the team’s time.</a:t>
            </a:r>
            <a:endParaRPr lang="en-US" b="1" dirty="0"/>
          </a:p>
          <a:p>
            <a:r>
              <a:rPr lang="en-US" b="1" dirty="0"/>
              <a:t>Error-Free Deployments:</a:t>
            </a:r>
          </a:p>
          <a:p>
            <a:r>
              <a:rPr lang="en-US" dirty="0"/>
              <a:t>Ansible’s idempotent nature meant that tasks were performed only if needed, reducing errors and ensuring consistent deployments.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980AC-BC91-F078-9D93-DC587D48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EA6D9-2ED0-DDE5-D54B-3836EA93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0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7864-D538-1374-89E3-557B742A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B392-E9AB-EDC3-8DB7-D9B8E68F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0DA1-C09C-868D-F0D0-5AD9FEB05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Team Collaboration</a:t>
            </a:r>
            <a:r>
              <a:rPr lang="en-US" dirty="0"/>
              <a:t>:</a:t>
            </a:r>
          </a:p>
          <a:p>
            <a:r>
              <a:rPr lang="en-US" dirty="0"/>
              <a:t>The Playbooks were stored in a Git repository, allowing the team to collaborate, review changes, and maintain a versioned history of their infrastructure.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2CD48-50B0-AFA0-63D1-CC052E20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76630-2169-9335-9864-9A9747F9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7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HAPPY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Soon, the chaos faded away:</a:t>
            </a:r>
          </a:p>
          <a:p>
            <a:r>
              <a:rPr lang="en-US" dirty="0"/>
              <a:t>With Ansible, </a:t>
            </a:r>
            <a:r>
              <a:rPr lang="en-US" b="1" dirty="0"/>
              <a:t>InnovateTechNepal </a:t>
            </a:r>
            <a:r>
              <a:rPr lang="en-US" dirty="0"/>
              <a:t>transformed their infrastructure management. </a:t>
            </a:r>
          </a:p>
          <a:p>
            <a:r>
              <a:rPr lang="en-US" dirty="0"/>
              <a:t>What was once a source of stress became a well-oiled, automated process. The team </a:t>
            </a:r>
            <a:r>
              <a:rPr lang="en-US" b="1" dirty="0">
                <a:solidFill>
                  <a:srgbClr val="00B050"/>
                </a:solidFill>
              </a:rPr>
              <a:t>delivered features faster, scaled effortlessly</a:t>
            </a:r>
            <a:r>
              <a:rPr lang="en-US" dirty="0"/>
              <a:t>, and easily maintained their servers.</a:t>
            </a:r>
          </a:p>
          <a:p>
            <a:r>
              <a:rPr lang="en-US" dirty="0"/>
              <a:t>Ansible became their trusted automation wizard, enabling them to focus on innovation instead of firefighting.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7B1B-1A6B-305D-8054-7357762F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CACEF-ACFE-1A19-08FD-009B15A3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59AAF-21FA-4822-268F-E1C0AA6A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B37B2-6020-06F9-0007-5093A6983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886256"/>
          </a:xfrm>
        </p:spPr>
        <p:txBody>
          <a:bodyPr>
            <a:normAutofit/>
          </a:bodyPr>
          <a:lstStyle/>
          <a:p>
            <a:r>
              <a:rPr lang="en-US" dirty="0"/>
              <a:t>Ansible is an </a:t>
            </a:r>
            <a:r>
              <a:rPr lang="en-US" b="1" dirty="0"/>
              <a:t>open-source automation tool </a:t>
            </a:r>
            <a:r>
              <a:rPr lang="en-US" dirty="0"/>
              <a:t>that enables IT professionals to </a:t>
            </a:r>
            <a:r>
              <a:rPr lang="en-US" b="1" dirty="0"/>
              <a:t>automate provisioning</a:t>
            </a:r>
            <a:r>
              <a:rPr lang="en-US" dirty="0"/>
              <a:t>, </a:t>
            </a:r>
            <a:r>
              <a:rPr lang="en-US" b="1" dirty="0"/>
              <a:t>configuration management</a:t>
            </a:r>
            <a:r>
              <a:rPr lang="en-US" dirty="0"/>
              <a:t>, </a:t>
            </a:r>
            <a:r>
              <a:rPr lang="en-US" b="1" dirty="0"/>
              <a:t>application deployment</a:t>
            </a:r>
            <a:r>
              <a:rPr lang="en-US" dirty="0"/>
              <a:t>, and </a:t>
            </a:r>
            <a:r>
              <a:rPr lang="en-US" b="1" dirty="0"/>
              <a:t>orchestration of complex systems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b="1" dirty="0"/>
              <a:t>agentless</a:t>
            </a:r>
            <a:r>
              <a:rPr lang="en-US" dirty="0"/>
              <a:t>, meaning it does not require any software to be installed on the managed nodes, making it easy to use and maintain.</a:t>
            </a:r>
          </a:p>
          <a:p>
            <a:r>
              <a:rPr lang="en-US" dirty="0"/>
              <a:t>Ansible is a tool for Infrastructure as Code (</a:t>
            </a:r>
            <a:r>
              <a:rPr lang="en-US" dirty="0" err="1"/>
              <a:t>IaC</a:t>
            </a:r>
            <a:r>
              <a:rPr lang="en-US" dirty="0"/>
              <a:t>).</a:t>
            </a:r>
          </a:p>
          <a:p>
            <a:r>
              <a:rPr lang="en-US" dirty="0" err="1"/>
              <a:t>IaC</a:t>
            </a:r>
            <a:r>
              <a:rPr lang="en-US" dirty="0"/>
              <a:t> is a way to manage and provision computing infrastructure using machine-readable configuration files.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80090-5F6E-7938-A2BD-A8C97A24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</a:t>
            </a:r>
          </a:p>
        </p:txBody>
      </p:sp>
    </p:spTree>
    <p:extLst>
      <p:ext uri="{BB962C8B-B14F-4D97-AF65-F5344CB8AC3E}">
        <p14:creationId xmlns:p14="http://schemas.microsoft.com/office/powerpoint/2010/main" val="87929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B9C1-4FAC-3C59-EE87-6585A2E7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FE46-CB19-248D-9127-D20D3B32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83D9B-C8A5-AAF7-6960-FD5B6DC0A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Ansible uses a simple </a:t>
            </a:r>
            <a:r>
              <a:rPr lang="en-US" b="1" dirty="0"/>
              <a:t>YAML-based</a:t>
            </a:r>
            <a:r>
              <a:rPr lang="en-US" dirty="0"/>
              <a:t> language called </a:t>
            </a:r>
            <a:r>
              <a:rPr lang="en-US" b="1" dirty="0"/>
              <a:t>Ansible Playbooks.</a:t>
            </a:r>
          </a:p>
          <a:p>
            <a:r>
              <a:rPr lang="en-US" dirty="0"/>
              <a:t>It</a:t>
            </a:r>
            <a:r>
              <a:rPr lang="en-US" b="1" dirty="0"/>
              <a:t> </a:t>
            </a:r>
            <a:r>
              <a:rPr lang="en-US" dirty="0"/>
              <a:t>makes automation tasks human-readable and easy to understand.</a:t>
            </a:r>
          </a:p>
          <a:p>
            <a:r>
              <a:rPr lang="en-US" dirty="0"/>
              <a:t>It primarily operates over </a:t>
            </a:r>
            <a:r>
              <a:rPr lang="en-US" b="1" dirty="0"/>
              <a:t>SSH</a:t>
            </a:r>
            <a:r>
              <a:rPr lang="en-US" dirty="0"/>
              <a:t> (for Linux) and </a:t>
            </a:r>
            <a:r>
              <a:rPr lang="en-US" b="1" dirty="0" err="1"/>
              <a:t>WinRM</a:t>
            </a:r>
            <a:r>
              <a:rPr lang="en-US" dirty="0"/>
              <a:t> (for Windows), allowing seamless remote execution of commands.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F46BE-92EB-09E8-0AED-C119D796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450FD-6DAC-BAAD-F0C9-CC137B1C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3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EA87-58F0-0649-247F-A6D89C745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A508-A0D6-6792-EF39-2FF65B46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AE4F-A008-26AC-4F34-795B2BD24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backed by </a:t>
            </a:r>
            <a:r>
              <a:rPr lang="en-US" dirty="0" err="1"/>
              <a:t>Redhat</a:t>
            </a:r>
            <a:r>
              <a:rPr lang="en-US" dirty="0"/>
              <a:t>, which was acquired by IBM on 2021.</a:t>
            </a:r>
          </a:p>
          <a:p>
            <a:r>
              <a:rPr lang="en-US" dirty="0"/>
              <a:t>It has a loyal open source community that actively contributes to its development and maintenance.</a:t>
            </a:r>
          </a:p>
          <a:p>
            <a:r>
              <a:rPr lang="en-US" b="0" i="0" dirty="0">
                <a:effectLst/>
                <a:latin typeface="Nunito Sans" pitchFamily="2" charset="0"/>
              </a:rPr>
              <a:t>It’s mostly addressed to IT operators, administrators, and decision-makers, helping them achieve operational excellence across their entire infrastructure ecosystem.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C795-8FC4-38F4-1A8C-96F9008A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8BAA-A4B2-65C8-9A03-75748732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7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0917-A3A8-1421-2725-2E5917C7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121F-55A7-B46A-0549-8FAD423A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9C6F-2FA7-F9E8-64F4-BBCCE97D7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Agentless</a:t>
            </a:r>
            <a:r>
              <a:rPr lang="en-US" dirty="0"/>
              <a:t> – No need to install software on managed nodes.</a:t>
            </a:r>
          </a:p>
          <a:p>
            <a:r>
              <a:rPr lang="en-US" b="1" dirty="0"/>
              <a:t>Simple YAML syntax</a:t>
            </a:r>
            <a:r>
              <a:rPr lang="en-US" dirty="0"/>
              <a:t> – Uses human-readable </a:t>
            </a:r>
            <a:r>
              <a:rPr lang="en-US" b="1" dirty="0"/>
              <a:t>playbooks</a:t>
            </a:r>
            <a:r>
              <a:rPr lang="en-US" dirty="0"/>
              <a:t> for automation.</a:t>
            </a:r>
          </a:p>
          <a:p>
            <a:r>
              <a:rPr lang="en-US" b="1" dirty="0"/>
              <a:t>Scalable</a:t>
            </a:r>
            <a:r>
              <a:rPr lang="en-US" dirty="0"/>
              <a:t> – Works for small and large infrastructures.</a:t>
            </a:r>
          </a:p>
          <a:p>
            <a:r>
              <a:rPr lang="en-US" b="1" dirty="0"/>
              <a:t>Secure</a:t>
            </a:r>
            <a:r>
              <a:rPr lang="en-US" dirty="0"/>
              <a:t> – Uses </a:t>
            </a:r>
            <a:r>
              <a:rPr lang="en-US" b="1" dirty="0"/>
              <a:t>SSH</a:t>
            </a:r>
            <a:r>
              <a:rPr lang="en-US" dirty="0"/>
              <a:t> for communication instead of running persistent agents.</a:t>
            </a:r>
          </a:p>
          <a:p>
            <a:r>
              <a:rPr lang="en-US" b="1" dirty="0"/>
              <a:t>Extensible</a:t>
            </a:r>
            <a:r>
              <a:rPr lang="en-US" dirty="0"/>
              <a:t> – Supports </a:t>
            </a:r>
            <a:r>
              <a:rPr lang="en-US" b="1" dirty="0"/>
              <a:t>plugins and modules</a:t>
            </a:r>
            <a:r>
              <a:rPr lang="en-US" dirty="0"/>
              <a:t> for various tasks.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02CA2-D58D-CAE2-AE7D-D2DE2EAA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5B3A0-22BF-A243-5189-005A7D42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64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FB3A-4E32-ED63-943B-33BDBE55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BF3F-DA37-28ED-220C-40565724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AEE-7BE6-008C-EC41-0ECCD789C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Control</a:t>
            </a:r>
            <a:r>
              <a:rPr lang="en-US" dirty="0"/>
              <a:t> </a:t>
            </a:r>
            <a:r>
              <a:rPr lang="en-US" b="1" dirty="0"/>
              <a:t>Node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machine where Ansible is installed and from which automation tasks are executed.</a:t>
            </a:r>
          </a:p>
          <a:p>
            <a:pPr lvl="1"/>
            <a:r>
              <a:rPr lang="en-US" dirty="0"/>
              <a:t>Runs </a:t>
            </a:r>
            <a:r>
              <a:rPr lang="en-US" b="1" dirty="0"/>
              <a:t>playbooks</a:t>
            </a:r>
            <a:r>
              <a:rPr lang="en-US" dirty="0"/>
              <a:t> and sends instructions to managed nodes.</a:t>
            </a:r>
          </a:p>
          <a:p>
            <a:r>
              <a:rPr lang="en-US" b="1" dirty="0"/>
              <a:t>Managed</a:t>
            </a:r>
            <a:r>
              <a:rPr lang="en-US" dirty="0"/>
              <a:t> </a:t>
            </a:r>
            <a:r>
              <a:rPr lang="en-US" b="1" dirty="0"/>
              <a:t>Nodes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target systems that Ansible controls (servers, network devices, etc.).</a:t>
            </a:r>
          </a:p>
          <a:p>
            <a:pPr lvl="1"/>
            <a:r>
              <a:rPr lang="en-US" dirty="0"/>
              <a:t>These nodes do not need Ansible installed; they just need SSH access.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10EAD-F65C-BDA4-98A7-567346C4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7BC1D-EBF4-D0FC-2138-5B8B4254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7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191D9-1BBB-B03A-DD31-2C870133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72F1-453F-EA9E-4FEE-105C44CC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20EDF-697C-DC38-EDFC-15BF2DAB1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Inventory</a:t>
            </a:r>
            <a:r>
              <a:rPr lang="en-US" dirty="0"/>
              <a:t>: A file that contains a list of managed nodes (IP addresses, hosts, groups).</a:t>
            </a:r>
          </a:p>
          <a:p>
            <a:r>
              <a:rPr lang="en-US" b="1" dirty="0"/>
              <a:t>Host</a:t>
            </a:r>
            <a:r>
              <a:rPr lang="en-US" dirty="0"/>
              <a:t>: A remote machine managed by Ansible.</a:t>
            </a:r>
          </a:p>
          <a:p>
            <a:r>
              <a:rPr lang="en-US" b="1" dirty="0"/>
              <a:t>Group</a:t>
            </a:r>
            <a:r>
              <a:rPr lang="en-US" dirty="0"/>
              <a:t>: Several hosts grouped together that share a common attribute.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E979F-3363-74F4-999A-094C33AC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9FBCA-1C6D-786A-0F3A-9E11D7B7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31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A558-C71E-DAC7-CD05-8655C6F0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E9EA-28AC-EA58-70CB-E39E69C0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B724A-FE98-15E1-45DE-08055CF8D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Modules</a:t>
            </a:r>
            <a:r>
              <a:rPr lang="en-US" dirty="0"/>
              <a:t>: Pre-built scripts that perform specific tasks (e.g., install packages, modify files, restart services).</a:t>
            </a:r>
          </a:p>
          <a:p>
            <a:r>
              <a:rPr lang="en-US" b="1" dirty="0"/>
              <a:t>Playbooks</a:t>
            </a:r>
            <a:r>
              <a:rPr lang="en-US" dirty="0"/>
              <a:t>: </a:t>
            </a:r>
            <a:r>
              <a:rPr lang="en-US" b="0" i="0" dirty="0">
                <a:effectLst/>
                <a:latin typeface="Nunito Sans" pitchFamily="2" charset="0"/>
              </a:rPr>
              <a:t>An ordered list of tasks (YAML scripts) </a:t>
            </a:r>
            <a:r>
              <a:rPr lang="en-US" dirty="0"/>
              <a:t>that define </a:t>
            </a:r>
            <a:r>
              <a:rPr lang="en-US" b="1" dirty="0"/>
              <a:t>automation tasks</a:t>
            </a:r>
            <a:r>
              <a:rPr lang="en-US" dirty="0"/>
              <a:t> using a set of </a:t>
            </a:r>
            <a:r>
              <a:rPr lang="en-US" b="1" dirty="0"/>
              <a:t>plays and tasks</a:t>
            </a:r>
            <a:r>
              <a:rPr lang="en-US" b="0" i="0" dirty="0">
                <a:effectLst/>
                <a:latin typeface="Nunito Sans" pitchFamily="2" charset="0"/>
              </a:rPr>
              <a:t>.</a:t>
            </a:r>
            <a:endParaRPr lang="en-US" dirty="0"/>
          </a:p>
          <a:p>
            <a:r>
              <a:rPr lang="en-US" b="1" dirty="0"/>
              <a:t>Tasks</a:t>
            </a:r>
            <a:r>
              <a:rPr lang="en-US" dirty="0"/>
              <a:t>: Individual actions performed on managed nodes (e.g., copying files, running commands).</a:t>
            </a:r>
          </a:p>
          <a:p>
            <a:r>
              <a:rPr lang="en-US" b="1" dirty="0"/>
              <a:t>Handlers</a:t>
            </a:r>
            <a:r>
              <a:rPr lang="en-US" dirty="0"/>
              <a:t>: Special tasks that execute only when notified (e.g., restarting a service after a config change).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00CC1-175B-6B89-8966-811F4737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D64F7-B2A2-B980-C402-56260DEB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97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D732-27C9-1E19-2C05-E01D8F3F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61DB-565B-EF73-8AE5-0A18284A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D220-FF7B-24F6-9AE0-A1C571547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Roles</a:t>
            </a:r>
            <a:r>
              <a:rPr lang="en-US" dirty="0"/>
              <a:t>: A way to organize playbooks into reusable components for better maintainability.</a:t>
            </a:r>
          </a:p>
          <a:p>
            <a:r>
              <a:rPr lang="en-US" b="1" dirty="0"/>
              <a:t>Plugins</a:t>
            </a:r>
            <a:r>
              <a:rPr lang="en-US" dirty="0"/>
              <a:t>: Extend Ansible’s functionality (e.g., connection plugins for different protocols).</a:t>
            </a:r>
          </a:p>
          <a:p>
            <a:r>
              <a:rPr lang="en-US" b="1" dirty="0"/>
              <a:t>Facts</a:t>
            </a:r>
            <a:r>
              <a:rPr lang="en-US" dirty="0"/>
              <a:t>: Gather system information (e.g., OS version, network settings) before running tasks.</a:t>
            </a:r>
          </a:p>
          <a:p>
            <a:r>
              <a:rPr lang="en-US" b="1" dirty="0"/>
              <a:t>YAML</a:t>
            </a:r>
            <a:r>
              <a:rPr lang="en-US" dirty="0"/>
              <a:t>: A popular and simple data format that is very clean and understandable by humans.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4854-46CD-768B-4C54-2D9DD849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C294E-9BFC-DA66-5CF6-783DA9BB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24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CEE7-AD4D-0DBA-70D1-C7BD1CC5F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B1A1-95A4-EBDA-9B66-7D78D688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56743-7AD4-3D41-6008-524474BCA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Ansible follows a simple client-server model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Control Machine</a:t>
            </a:r>
            <a:r>
              <a:rPr lang="en-US" dirty="0"/>
              <a:t> (Ansible Server) manages remote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Managed Nodes</a:t>
            </a:r>
            <a:r>
              <a:rPr lang="en-US" dirty="0"/>
              <a:t> (Target Servers) are the machines Ansible configures.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D7EA7-5E9E-492D-3C80-930CADA92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9D9CC-5A54-C3BB-353C-5B85CBCA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53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5E20-E8A6-3094-3AE8-4EB5F693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4169-1C35-6A44-CF26-38F10C60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6B634-0475-16BE-1DB8-C6FC12168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Control Machine Requirements</a:t>
            </a:r>
          </a:p>
          <a:p>
            <a:pPr lvl="1"/>
            <a:r>
              <a:rPr lang="en-US" dirty="0"/>
              <a:t>Must have </a:t>
            </a:r>
            <a:r>
              <a:rPr lang="en-US" b="1" dirty="0"/>
              <a:t>Python 3</a:t>
            </a:r>
            <a:r>
              <a:rPr lang="en-US" dirty="0"/>
              <a:t> installed (Ansible is written in Python).</a:t>
            </a:r>
          </a:p>
          <a:p>
            <a:pPr lvl="1"/>
            <a:r>
              <a:rPr lang="en-US" dirty="0"/>
              <a:t>Can run on </a:t>
            </a:r>
            <a:r>
              <a:rPr lang="en-US" b="1" dirty="0"/>
              <a:t>Linux/macOS</a:t>
            </a:r>
            <a:r>
              <a:rPr lang="en-US" dirty="0"/>
              <a:t> (Windows is not officially supported as a control node).</a:t>
            </a:r>
          </a:p>
          <a:p>
            <a:pPr lvl="1"/>
            <a:r>
              <a:rPr lang="en-US" dirty="0"/>
              <a:t>Needs </a:t>
            </a:r>
            <a:r>
              <a:rPr lang="en-US" b="1" dirty="0"/>
              <a:t>SSH access</a:t>
            </a:r>
            <a:r>
              <a:rPr lang="en-US" dirty="0"/>
              <a:t> to managed nodes.</a:t>
            </a:r>
          </a:p>
          <a:p>
            <a:r>
              <a:rPr lang="en-US" b="1" dirty="0"/>
              <a:t>Managed Node Requirements</a:t>
            </a:r>
          </a:p>
          <a:p>
            <a:pPr lvl="1"/>
            <a:r>
              <a:rPr lang="en-US" dirty="0"/>
              <a:t>Any system running </a:t>
            </a:r>
            <a:r>
              <a:rPr lang="en-US" b="1" dirty="0"/>
              <a:t>Linux/Unix</a:t>
            </a:r>
            <a:r>
              <a:rPr lang="en-US" dirty="0"/>
              <a:t> (Windows requires extra setup).</a:t>
            </a:r>
          </a:p>
          <a:p>
            <a:pPr lvl="1"/>
            <a:r>
              <a:rPr lang="en-US" dirty="0"/>
              <a:t>Must have </a:t>
            </a:r>
            <a:r>
              <a:rPr lang="en-US" b="1" dirty="0"/>
              <a:t>Python</a:t>
            </a:r>
            <a:r>
              <a:rPr lang="en-US" dirty="0"/>
              <a:t> installed for most modules to work.</a:t>
            </a:r>
          </a:p>
          <a:p>
            <a:pPr lvl="1"/>
            <a:r>
              <a:rPr lang="en-US" dirty="0"/>
              <a:t>Requires </a:t>
            </a:r>
            <a:r>
              <a:rPr lang="en-US" b="1" dirty="0"/>
              <a:t>SSH access</a:t>
            </a:r>
            <a:r>
              <a:rPr lang="en-US" dirty="0"/>
              <a:t> from the control node.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31EA5-37FF-BA69-837A-92C6DC05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144BD-9BE4-56D8-3B8B-7C0928EF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92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D3EF-D881-86F5-1C62-CDD6CDDD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99E4-0F84-5E6B-A717-8F1101B5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Ansible Works? (Simple Workflow)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5C87-5196-9ECE-6918-391D7ADBE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Ansible on the </a:t>
            </a:r>
            <a:r>
              <a:rPr lang="en-US" b="1" dirty="0"/>
              <a:t>control node</a:t>
            </a:r>
            <a:r>
              <a:rPr lang="en-US" dirty="0"/>
              <a:t>.</a:t>
            </a:r>
          </a:p>
          <a:p>
            <a:r>
              <a:rPr lang="en-US" dirty="0"/>
              <a:t>Define the </a:t>
            </a:r>
            <a:r>
              <a:rPr lang="en-US" b="1" dirty="0"/>
              <a:t>inventory file</a:t>
            </a:r>
            <a:r>
              <a:rPr lang="en-US" dirty="0"/>
              <a:t> with managed nodes.</a:t>
            </a:r>
          </a:p>
          <a:p>
            <a:r>
              <a:rPr lang="en-US" dirty="0"/>
              <a:t>Create a </a:t>
            </a:r>
            <a:r>
              <a:rPr lang="en-US" b="1" dirty="0"/>
              <a:t>playbook</a:t>
            </a:r>
            <a:r>
              <a:rPr lang="en-US" dirty="0"/>
              <a:t> to specify tasks.</a:t>
            </a:r>
          </a:p>
          <a:p>
            <a:r>
              <a:rPr lang="en-US" dirty="0"/>
              <a:t>Run ansible-playbook to execute automation.</a:t>
            </a:r>
          </a:p>
          <a:p>
            <a:r>
              <a:rPr lang="en-US" dirty="0"/>
              <a:t>Ansible </a:t>
            </a:r>
            <a:r>
              <a:rPr lang="en-US" b="1" dirty="0"/>
              <a:t>connects via SSH</a:t>
            </a:r>
            <a:r>
              <a:rPr lang="en-US" dirty="0"/>
              <a:t>, runs tasks, and reports results.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7A739-43ED-2C6A-8A86-7F27594F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0247D-7650-ECAB-62C1-07159437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14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D119-089D-9CBB-92E1-4819DA45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FA32-A83A-C02D-5A2D-6B6238F8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Inventory: Hosts &amp;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2764-CBC2-DEBC-15B9-C0816AD50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inventory</a:t>
            </a:r>
            <a:r>
              <a:rPr lang="en-US" dirty="0"/>
              <a:t> is a file that defines the </a:t>
            </a:r>
            <a:r>
              <a:rPr lang="en-US" b="1" dirty="0"/>
              <a:t>hosts (managed nodes)</a:t>
            </a:r>
            <a:r>
              <a:rPr lang="en-US" dirty="0"/>
              <a:t> Ansible will control.</a:t>
            </a:r>
          </a:p>
          <a:p>
            <a:r>
              <a:rPr lang="en-US" dirty="0"/>
              <a:t>It allows you to organize machines into </a:t>
            </a:r>
            <a:r>
              <a:rPr lang="en-US" b="1" dirty="0"/>
              <a:t>groups</a:t>
            </a:r>
            <a:r>
              <a:rPr lang="en-US" dirty="0"/>
              <a:t> for easier management.</a:t>
            </a:r>
          </a:p>
          <a:p>
            <a:r>
              <a:rPr lang="en-US" dirty="0"/>
              <a:t>Ansible's default inventory file is usually located at /</a:t>
            </a:r>
            <a:r>
              <a:rPr lang="en-US" dirty="0" err="1"/>
              <a:t>etc</a:t>
            </a:r>
            <a:r>
              <a:rPr lang="en-US" dirty="0"/>
              <a:t>/ansible/hosts, but you can specify a custom file.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7E024-8EBB-2811-BAC4-24762242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75663-F30D-8CE8-7189-683390DE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34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BC41-4AEF-0D2D-87E0-C95B5CC8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420D-9B03-7229-7E12-888B094B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Inventory: Hosts &amp;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3F1B-F000-A7ED-67A4-856829350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3124197" cy="4663439"/>
          </a:xfrm>
        </p:spPr>
        <p:txBody>
          <a:bodyPr>
            <a:normAutofit/>
          </a:bodyPr>
          <a:lstStyle/>
          <a:p>
            <a:r>
              <a:rPr lang="en-US" sz="2000" dirty="0"/>
              <a:t>Simple Inventory File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[webservers]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192.168.1.10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192.168.1.11</a:t>
            </a:r>
          </a:p>
          <a:p>
            <a:pPr marL="274320" lvl="1" indent="0">
              <a:lnSpc>
                <a:spcPct val="120000"/>
              </a:lnSpc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[</a:t>
            </a:r>
            <a:r>
              <a:rPr lang="en-US" sz="2000" b="1" i="1" dirty="0" err="1">
                <a:solidFill>
                  <a:srgbClr val="FF0000"/>
                </a:solidFill>
              </a:rPr>
              <a:t>dbservers</a:t>
            </a:r>
            <a:r>
              <a:rPr lang="en-US" sz="2000" b="1" i="1" dirty="0">
                <a:solidFill>
                  <a:srgbClr val="FF0000"/>
                </a:solidFill>
              </a:rPr>
              <a:t>]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db1.example.com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db2.example.com</a:t>
            </a:r>
          </a:p>
          <a:p>
            <a:pPr marL="274320" lvl="1" indent="0">
              <a:lnSpc>
                <a:spcPct val="120000"/>
              </a:lnSpc>
              <a:buNone/>
            </a:pPr>
            <a:endParaRPr lang="en-US" sz="2000" b="1" i="1" dirty="0">
              <a:solidFill>
                <a:srgbClr val="FF0000"/>
              </a:solidFill>
            </a:endParaRP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[</a:t>
            </a:r>
            <a:r>
              <a:rPr lang="en-US" sz="2000" b="1" i="1" dirty="0" err="1">
                <a:solidFill>
                  <a:srgbClr val="FF0000"/>
                </a:solidFill>
              </a:rPr>
              <a:t>all_servers:children</a:t>
            </a:r>
            <a:r>
              <a:rPr lang="en-US" sz="2000" b="1" i="1" dirty="0">
                <a:solidFill>
                  <a:srgbClr val="FF0000"/>
                </a:solidFill>
              </a:rPr>
              <a:t>]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webservers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sz="2000" b="1" i="1" dirty="0" err="1">
                <a:solidFill>
                  <a:srgbClr val="FF0000"/>
                </a:solidFill>
              </a:rPr>
              <a:t>dbservers</a:t>
            </a:r>
            <a:endParaRPr lang="en-US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2E404-2F0E-E479-04E0-8ADDB3BD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816DB-C452-E08F-650B-CBDEAB69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DC33BB-E482-B4B2-F38A-807988611688}"/>
              </a:ext>
            </a:extLst>
          </p:cNvPr>
          <p:cNvSpPr txBox="1">
            <a:spLocks/>
          </p:cNvSpPr>
          <p:nvPr/>
        </p:nvSpPr>
        <p:spPr>
          <a:xfrm>
            <a:off x="3886200" y="1828800"/>
            <a:ext cx="6934200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Explanation:</a:t>
            </a:r>
          </a:p>
          <a:p>
            <a:r>
              <a:rPr lang="en-US" dirty="0"/>
              <a:t>[webservers] &amp; [</a:t>
            </a:r>
            <a:r>
              <a:rPr lang="en-US" dirty="0" err="1"/>
              <a:t>dbservers</a:t>
            </a:r>
            <a:r>
              <a:rPr lang="en-US" dirty="0"/>
              <a:t>] → Define groups of hosts.</a:t>
            </a:r>
          </a:p>
          <a:p>
            <a:r>
              <a:rPr lang="en-US" dirty="0" err="1"/>
              <a:t>all_servers</a:t>
            </a:r>
            <a:r>
              <a:rPr lang="en-US" dirty="0"/>
              <a:t> → Groups both webservers and </a:t>
            </a:r>
            <a:r>
              <a:rPr lang="en-US" dirty="0" err="1"/>
              <a:t>dbservers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0662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C49F-782B-6406-0AF3-DD78834CB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E8706-C57D-A792-057E-6A179697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are </a:t>
            </a:r>
            <a:r>
              <a:rPr lang="en-US" b="1" dirty="0"/>
              <a:t>predefined scripts</a:t>
            </a:r>
            <a:r>
              <a:rPr lang="en-US" dirty="0"/>
              <a:t> that allow Ansible to perform tasks like installing software, managing files, and configuring services.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04B79-46E6-B905-F023-DB43EBF4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375C3-37F4-EF5B-5F62-1C0511ED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98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5549-0899-4D84-694F-653FF2E6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3E34-D1BE-6E46-FF2D-EA7B2832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Ansible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B5BB6-684A-7873-16AE-26A47F27E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Command Modules </a:t>
            </a:r>
            <a:r>
              <a:rPr lang="en-US" dirty="0"/>
              <a:t>– Run shell commands (command, shell)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File Modules </a:t>
            </a:r>
            <a:r>
              <a:rPr lang="en-US" dirty="0"/>
              <a:t>– Manage files (copy, file, stat)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Package Modules </a:t>
            </a:r>
            <a:r>
              <a:rPr lang="en-US" dirty="0"/>
              <a:t>– Install packages (apt, yum, </a:t>
            </a:r>
            <a:r>
              <a:rPr lang="en-US" dirty="0" err="1"/>
              <a:t>dnf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User Modules </a:t>
            </a:r>
            <a:r>
              <a:rPr lang="en-US" dirty="0"/>
              <a:t>– Manage users (user, group)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Service Modules </a:t>
            </a:r>
            <a:r>
              <a:rPr lang="en-US" dirty="0"/>
              <a:t>– Manage services (service, system)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Networking Modules </a:t>
            </a:r>
            <a:r>
              <a:rPr lang="en-US" dirty="0"/>
              <a:t>– Configure network devices (</a:t>
            </a:r>
            <a:r>
              <a:rPr lang="en-US" dirty="0" err="1"/>
              <a:t>ios_config</a:t>
            </a:r>
            <a:r>
              <a:rPr lang="en-US" dirty="0"/>
              <a:t>, </a:t>
            </a:r>
            <a:r>
              <a:rPr lang="en-US" dirty="0" err="1"/>
              <a:t>net_vlan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Cloud Modules </a:t>
            </a:r>
            <a:r>
              <a:rPr lang="en-US" dirty="0"/>
              <a:t>– Manage cloud resources (aws_ec2, </a:t>
            </a:r>
            <a:r>
              <a:rPr lang="en-US" dirty="0" err="1"/>
              <a:t>azure_rm</a:t>
            </a:r>
            <a:r>
              <a:rPr lang="en-US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C8D3F-392B-61A5-C456-2773DFBE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FC984-130A-ED03-3C95-5204B644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24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A4A4-7D66-A344-53E7-B4E25A38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28003-770C-6BA6-D8E8-D9EF5733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0F1DA-C588-4F42-6784-91505398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EBAE775-EE58-865C-FECD-38E561A7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vs Ansible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94D20353-0501-BC10-C994-8C8D3DB8554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816721051"/>
              </p:ext>
            </p:extLst>
          </p:nvPr>
        </p:nvGraphicFramePr>
        <p:xfrm>
          <a:off x="685800" y="1663700"/>
          <a:ext cx="9875520" cy="502920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63381338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950003237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797145822"/>
                    </a:ext>
                  </a:extLst>
                </a:gridCol>
              </a:tblGrid>
              <a:tr h="447649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Kubernetes</a:t>
                      </a:r>
                      <a:r>
                        <a:rPr lang="en-US" sz="2000" dirty="0">
                          <a:latin typeface="Nunito" pitchFamily="2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Ansible</a:t>
                      </a:r>
                      <a:r>
                        <a:rPr lang="en-US" sz="2000" dirty="0">
                          <a:latin typeface="Nunito" pitchFamily="2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004256"/>
                  </a:ext>
                </a:extLst>
              </a:tr>
              <a:tr h="711998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Orchestrates and manages </a:t>
                      </a:r>
                      <a:r>
                        <a:rPr lang="en-US" sz="2000" b="1" dirty="0">
                          <a:latin typeface="Nunito" pitchFamily="2" charset="0"/>
                        </a:rPr>
                        <a:t>containerized applications</a:t>
                      </a:r>
                      <a:endParaRPr lang="en-US" sz="2000" dirty="0">
                        <a:latin typeface="Nunito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Automates </a:t>
                      </a:r>
                      <a:r>
                        <a:rPr lang="en-US" sz="2000" b="1" dirty="0">
                          <a:latin typeface="Nunito" pitchFamily="2" charset="0"/>
                        </a:rPr>
                        <a:t>IT infrastructure management &amp; configuration</a:t>
                      </a:r>
                      <a:endParaRPr lang="en-US" sz="2000" dirty="0">
                        <a:latin typeface="Nunito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166332"/>
                  </a:ext>
                </a:extLst>
              </a:tr>
              <a:tr h="711998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Focus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Application Deployment &amp; Scaling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Configuration Management &amp; Provisioning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420115"/>
                  </a:ext>
                </a:extLst>
              </a:tr>
              <a:tr h="711998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Works with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Containers</a:t>
                      </a:r>
                      <a:r>
                        <a:rPr lang="en-US" sz="2000" dirty="0">
                          <a:latin typeface="Nunito" pitchFamily="2" charset="0"/>
                        </a:rPr>
                        <a:t> (Docker, </a:t>
                      </a:r>
                      <a:r>
                        <a:rPr lang="en-US" sz="2000" dirty="0" err="1">
                          <a:latin typeface="Nunito" pitchFamily="2" charset="0"/>
                        </a:rPr>
                        <a:t>containerd</a:t>
                      </a:r>
                      <a:r>
                        <a:rPr lang="en-US" sz="2000" dirty="0">
                          <a:latin typeface="Nunito" pitchFamily="2" charset="0"/>
                        </a:rPr>
                        <a:t>, etc.)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Servers, VMs, Cloud Instances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286619"/>
                  </a:ext>
                </a:extLst>
              </a:tr>
              <a:tr h="102156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State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Maintains desired state of containers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Pushes configuration changes but does not continuously enforce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639650"/>
                  </a:ext>
                </a:extLst>
              </a:tr>
              <a:tr h="40243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Execution Mode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Continuous </a:t>
                      </a:r>
                      <a:r>
                        <a:rPr lang="en-US" sz="2000" b="1" dirty="0">
                          <a:latin typeface="Nunito" pitchFamily="2" charset="0"/>
                        </a:rPr>
                        <a:t>orchestration</a:t>
                      </a:r>
                      <a:endParaRPr lang="en-US" sz="2000" dirty="0">
                        <a:latin typeface="Nunito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On-demand automation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028773"/>
                  </a:ext>
                </a:extLst>
              </a:tr>
              <a:tr h="102156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Nunito" pitchFamily="2" charset="0"/>
                        </a:rPr>
                        <a:t>Ideal Use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Managing </a:t>
                      </a:r>
                      <a:r>
                        <a:rPr lang="en-US" sz="2000" b="1" dirty="0">
                          <a:latin typeface="Nunito" pitchFamily="2" charset="0"/>
                        </a:rPr>
                        <a:t>microservices &amp; cloud-native applications</a:t>
                      </a:r>
                      <a:endParaRPr lang="en-US" sz="2000" dirty="0">
                        <a:latin typeface="Nunito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Nunito" pitchFamily="2" charset="0"/>
                        </a:rPr>
                        <a:t>Automating server setups, software installations, and system updates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24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071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F322-BB5A-35FC-24CC-F08E918C8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C623-3D63-3078-D881-AAE2A024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Ansible Playbook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21989-5246-2905-597B-3EC97A979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Ansible Playbook</a:t>
            </a:r>
            <a:r>
              <a:rPr lang="en-US" dirty="0"/>
              <a:t> is like a </a:t>
            </a:r>
            <a:r>
              <a:rPr lang="en-US" b="1"/>
              <a:t>to-do list</a:t>
            </a:r>
            <a:r>
              <a:rPr lang="en-US"/>
              <a:t> </a:t>
            </a:r>
            <a:r>
              <a:rPr lang="en-US" dirty="0"/>
              <a:t>for automating tasks on multiple servers.</a:t>
            </a:r>
          </a:p>
          <a:p>
            <a:r>
              <a:rPr lang="en-US" dirty="0"/>
              <a:t>Instead of manually setting up software, copying files, or changing configurations, you write a </a:t>
            </a:r>
            <a:r>
              <a:rPr lang="en-US" b="1" dirty="0"/>
              <a:t>playbook</a:t>
            </a:r>
            <a:r>
              <a:rPr lang="en-US" dirty="0"/>
              <a:t> that tells Ansible what to do!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2E65F3-0AF0-A206-84C0-67C5A805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EC0F3-43F2-7F81-B82A-F6FE8C04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03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7CCC-6CD9-E38D-76B3-4EA9B2B6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9F75-9554-3DD6-28DC-623468A7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Ansible Playbook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FC0FC-A20C-7F0B-3015-F88DAD15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Example Use Case</a:t>
            </a:r>
          </a:p>
          <a:p>
            <a:r>
              <a:rPr lang="en-US" dirty="0"/>
              <a:t>Imagine you have </a:t>
            </a:r>
            <a:r>
              <a:rPr lang="en-US" b="1" dirty="0"/>
              <a:t>10 servers</a:t>
            </a:r>
            <a:r>
              <a:rPr lang="en-US" dirty="0"/>
              <a:t> and you need to:</a:t>
            </a:r>
          </a:p>
          <a:p>
            <a:pPr lvl="1"/>
            <a:r>
              <a:rPr lang="en-US" dirty="0"/>
              <a:t>Install </a:t>
            </a:r>
            <a:r>
              <a:rPr lang="en-US" b="1" dirty="0"/>
              <a:t>Nginx</a:t>
            </a:r>
          </a:p>
          <a:p>
            <a:pPr lvl="1"/>
            <a:r>
              <a:rPr lang="en-US" dirty="0"/>
              <a:t>Copy a </a:t>
            </a:r>
            <a:r>
              <a:rPr lang="en-US" b="1" dirty="0"/>
              <a:t>configuration file</a:t>
            </a:r>
          </a:p>
          <a:p>
            <a:pPr lvl="1"/>
            <a:r>
              <a:rPr lang="en-US" dirty="0"/>
              <a:t>Start the </a:t>
            </a:r>
            <a:r>
              <a:rPr lang="en-US" b="1" dirty="0"/>
              <a:t>Nginx service</a:t>
            </a:r>
            <a:endParaRPr lang="en-US" dirty="0"/>
          </a:p>
          <a:p>
            <a:r>
              <a:rPr lang="en-US" dirty="0"/>
              <a:t>Instead of logging into each server manually, you can write an Ansible </a:t>
            </a:r>
            <a:r>
              <a:rPr lang="en-US" b="1" dirty="0"/>
              <a:t>playbook</a:t>
            </a:r>
            <a:r>
              <a:rPr lang="en-US" dirty="0"/>
              <a:t> and run it in one command!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FB43A-1B10-929A-0AEE-4D92A316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D6F29-7BC9-50FC-FC37-722CC0B8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64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F426B-91B8-A3F8-E66D-5D454B7E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7B9F-7430-16AA-2727-4F3B5B8C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Ansible Playbook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93F3-ADBB-7AAD-C061-4CF84E0A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3886198" cy="466343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---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- name: Install and start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hosts: </a:t>
            </a:r>
            <a:r>
              <a:rPr lang="en-US" sz="1400" b="1" i="1" dirty="0" err="1">
                <a:solidFill>
                  <a:srgbClr val="FF0000"/>
                </a:solidFill>
              </a:rPr>
              <a:t>web_servers</a:t>
            </a:r>
            <a:endParaRPr lang="en-US" sz="14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become: yes  # Run as </a:t>
            </a:r>
            <a:r>
              <a:rPr lang="en-US" sz="1400" b="1" i="1" dirty="0" err="1">
                <a:solidFill>
                  <a:srgbClr val="FF0000"/>
                </a:solidFill>
              </a:rPr>
              <a:t>sudo</a:t>
            </a:r>
            <a:r>
              <a:rPr lang="en-US" sz="1400" b="1" i="1" dirty="0">
                <a:solidFill>
                  <a:srgbClr val="FF0000"/>
                </a:solidFill>
              </a:rPr>
              <a:t>/admin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tasks: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- name: Install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apt: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  name: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  state: present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- name: Copy custom config file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copy: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  src: </a:t>
            </a:r>
            <a:r>
              <a:rPr lang="en-US" sz="1400" b="1" i="1" dirty="0" err="1">
                <a:solidFill>
                  <a:srgbClr val="FF0000"/>
                </a:solidFill>
              </a:rPr>
              <a:t>nginx.conf</a:t>
            </a:r>
            <a:endParaRPr lang="en-US" sz="14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  </a:t>
            </a:r>
            <a:r>
              <a:rPr lang="en-US" sz="1400" b="1" i="1" dirty="0" err="1">
                <a:solidFill>
                  <a:srgbClr val="FF0000"/>
                </a:solidFill>
              </a:rPr>
              <a:t>dest</a:t>
            </a:r>
            <a:r>
              <a:rPr lang="en-US" sz="1400" b="1" i="1" dirty="0">
                <a:solidFill>
                  <a:srgbClr val="FF0000"/>
                </a:solidFill>
              </a:rPr>
              <a:t>: /</a:t>
            </a:r>
            <a:r>
              <a:rPr lang="en-US" sz="1400" b="1" i="1" dirty="0" err="1">
                <a:solidFill>
                  <a:srgbClr val="FF0000"/>
                </a:solidFill>
              </a:rPr>
              <a:t>etc</a:t>
            </a:r>
            <a:r>
              <a:rPr lang="en-US" sz="1400" b="1" i="1" dirty="0">
                <a:solidFill>
                  <a:srgbClr val="FF0000"/>
                </a:solidFill>
              </a:rPr>
              <a:t>/nginx/</a:t>
            </a:r>
            <a:r>
              <a:rPr lang="en-US" sz="1400" b="1" i="1" dirty="0" err="1">
                <a:solidFill>
                  <a:srgbClr val="FF0000"/>
                </a:solidFill>
              </a:rPr>
              <a:t>nginx.conf</a:t>
            </a:r>
            <a:endParaRPr lang="en-US" sz="14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4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- name: Restart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service: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  name: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        state: restarted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8B5A5-77CA-7033-B5A8-24AAB1D6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4C539-5F4B-9FCC-6501-DEA568AB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01F10E-9ACD-3AED-D840-89603C1F688A}"/>
              </a:ext>
            </a:extLst>
          </p:cNvPr>
          <p:cNvSpPr txBox="1">
            <a:spLocks/>
          </p:cNvSpPr>
          <p:nvPr/>
        </p:nvSpPr>
        <p:spPr>
          <a:xfrm>
            <a:off x="4953000" y="1828800"/>
            <a:ext cx="5943600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What’s Happening Here?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playbook runs on all servers in the </a:t>
            </a:r>
            <a:r>
              <a:rPr lang="en-US" dirty="0" err="1"/>
              <a:t>web_servers</a:t>
            </a:r>
            <a:r>
              <a:rPr lang="en-US" dirty="0"/>
              <a:t> group.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It installs Nginx.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It copies a custom configuration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It restarts Nginx to apply changes.</a:t>
            </a:r>
          </a:p>
        </p:txBody>
      </p:sp>
    </p:spTree>
    <p:extLst>
      <p:ext uri="{BB962C8B-B14F-4D97-AF65-F5344CB8AC3E}">
        <p14:creationId xmlns:p14="http://schemas.microsoft.com/office/powerpoint/2010/main" val="638882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7CDA7-2716-93E7-F20E-212F2B9D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BECB-4ABC-CC6E-7158-B8F8D50E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How to Run This Playbook?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9631F-2921-A9AE-B5A3-12E7E9E8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Just run:</a:t>
            </a:r>
          </a:p>
          <a:p>
            <a:pPr marL="27432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ansible-playbook my-</a:t>
            </a:r>
            <a:r>
              <a:rPr lang="en-US" b="1" i="1" dirty="0" err="1">
                <a:solidFill>
                  <a:srgbClr val="FF0000"/>
                </a:solidFill>
              </a:rPr>
              <a:t>playbook.yml</a:t>
            </a:r>
            <a:endParaRPr lang="en-US" b="1" i="1" dirty="0">
              <a:solidFill>
                <a:srgbClr val="FF0000"/>
              </a:solidFill>
            </a:endParaRPr>
          </a:p>
          <a:p>
            <a:r>
              <a:rPr lang="en-US" dirty="0"/>
              <a:t>And, All your servers are configured automatically.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A7FFD-0E99-680D-C531-4A7C64D0E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E92DB-F477-CCF6-7922-C591F9CA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62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939E-9A75-D367-008F-172CFECB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1E33-1556-A068-7C6F-F74F127E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Ansible Playbook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0B81E-7E7D-5DC6-2CA3-ACBBF778E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Installs </a:t>
            </a:r>
            <a:r>
              <a:rPr lang="en-US" b="1" dirty="0"/>
              <a:t>Apache (httpd)</a:t>
            </a:r>
          </a:p>
          <a:p>
            <a:r>
              <a:rPr lang="en-US" dirty="0"/>
              <a:t>Sets up a </a:t>
            </a:r>
            <a:r>
              <a:rPr lang="en-US" b="1" dirty="0"/>
              <a:t>custom index.html</a:t>
            </a:r>
            <a:r>
              <a:rPr lang="en-US" dirty="0"/>
              <a:t> file</a:t>
            </a:r>
          </a:p>
          <a:p>
            <a:r>
              <a:rPr lang="en-US" dirty="0"/>
              <a:t>Restarts Apache </a:t>
            </a:r>
            <a:r>
              <a:rPr lang="en-US" b="1" dirty="0"/>
              <a:t>only if needed</a:t>
            </a:r>
            <a:r>
              <a:rPr lang="en-US" dirty="0"/>
              <a:t> using a </a:t>
            </a:r>
            <a:r>
              <a:rPr lang="en-US" b="1" dirty="0"/>
              <a:t>handler</a:t>
            </a:r>
          </a:p>
          <a:p>
            <a:r>
              <a:rPr lang="en-US" dirty="0"/>
              <a:t>Uses </a:t>
            </a:r>
            <a:r>
              <a:rPr lang="en-US" b="1" dirty="0"/>
              <a:t>variables</a:t>
            </a:r>
            <a:r>
              <a:rPr lang="en-US" dirty="0"/>
              <a:t> for package names and file paths</a:t>
            </a:r>
          </a:p>
          <a:p>
            <a:r>
              <a:rPr lang="en-US" dirty="0"/>
              <a:t>Runs with </a:t>
            </a:r>
            <a:r>
              <a:rPr lang="en-US" b="1" dirty="0"/>
              <a:t>privilege escalation (</a:t>
            </a:r>
            <a:r>
              <a:rPr lang="en-US" b="1" dirty="0" err="1"/>
              <a:t>sudo</a:t>
            </a:r>
            <a:r>
              <a:rPr lang="en-US" b="1" dirty="0"/>
              <a:t>/root access)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C0905-1248-ABE7-6A11-BA16391C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2F44D-03D9-DB36-F0F7-1B1E9D72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6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0871-B200-8C3C-4C49-210B9E01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253C-15AC-F2DD-3F91-BA94C705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Ansible Playbook: </a:t>
            </a:r>
            <a:r>
              <a:rPr lang="en-US" dirty="0" err="1"/>
              <a:t>install_apache.yml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BD03C-95BA-2A38-AFE2-2DD09C173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4724398" cy="4663439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---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- name: Install and Configure Apache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hosts: </a:t>
            </a:r>
            <a:r>
              <a:rPr lang="en-US" b="1" i="1" dirty="0" err="1">
                <a:solidFill>
                  <a:srgbClr val="FF0000"/>
                </a:solidFill>
              </a:rPr>
              <a:t>web_servers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become: yes  # Enable privilege escalation (</a:t>
            </a:r>
            <a:r>
              <a:rPr lang="en-US" b="1" i="1" dirty="0" err="1">
                <a:solidFill>
                  <a:srgbClr val="FF0000"/>
                </a:solidFill>
              </a:rPr>
              <a:t>sudo</a:t>
            </a:r>
            <a:r>
              <a:rPr lang="en-US" b="1" i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vars: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</a:t>
            </a:r>
            <a:r>
              <a:rPr lang="en-US" b="1" i="1" dirty="0" err="1">
                <a:solidFill>
                  <a:srgbClr val="FF0000"/>
                </a:solidFill>
              </a:rPr>
              <a:t>apache_package</a:t>
            </a:r>
            <a:r>
              <a:rPr lang="en-US" b="1" i="1" dirty="0">
                <a:solidFill>
                  <a:srgbClr val="FF0000"/>
                </a:solidFill>
              </a:rPr>
              <a:t>: "httpd"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</a:t>
            </a:r>
            <a:r>
              <a:rPr lang="en-US" b="1" i="1" dirty="0" err="1">
                <a:solidFill>
                  <a:srgbClr val="FF0000"/>
                </a:solidFill>
              </a:rPr>
              <a:t>web_root</a:t>
            </a:r>
            <a:r>
              <a:rPr lang="en-US" b="1" i="1" dirty="0">
                <a:solidFill>
                  <a:srgbClr val="FF0000"/>
                </a:solidFill>
              </a:rPr>
              <a:t>: "/var/www/html"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</a:t>
            </a:r>
            <a:r>
              <a:rPr lang="en-US" b="1" i="1" dirty="0" err="1">
                <a:solidFill>
                  <a:srgbClr val="FF0000"/>
                </a:solidFill>
              </a:rPr>
              <a:t>index_file</a:t>
            </a:r>
            <a:r>
              <a:rPr lang="en-US" b="1" i="1" dirty="0">
                <a:solidFill>
                  <a:srgbClr val="FF0000"/>
                </a:solidFill>
              </a:rPr>
              <a:t>: "index.html"</a:t>
            </a:r>
          </a:p>
          <a:p>
            <a:pPr marL="0" indent="0">
              <a:lnSpc>
                <a:spcPct val="120000"/>
              </a:lnSpc>
              <a:buNone/>
            </a:pP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tasks: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Install Apache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yum: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name: "{{ </a:t>
            </a:r>
            <a:r>
              <a:rPr lang="en-US" b="1" i="1" dirty="0" err="1">
                <a:solidFill>
                  <a:srgbClr val="FF0000"/>
                </a:solidFill>
              </a:rPr>
              <a:t>apache_package</a:t>
            </a:r>
            <a:r>
              <a:rPr lang="en-US" b="1" i="1" dirty="0">
                <a:solidFill>
                  <a:srgbClr val="FF0000"/>
                </a:solidFill>
              </a:rPr>
              <a:t> }}"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state: present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9E486-BA58-4373-DB94-29A960C5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81880-AE18-BC95-50B6-E004AA3C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17D89-02BA-A200-5AE3-BE22BE4EBBC7}"/>
              </a:ext>
            </a:extLst>
          </p:cNvPr>
          <p:cNvSpPr txBox="1">
            <a:spLocks/>
          </p:cNvSpPr>
          <p:nvPr/>
        </p:nvSpPr>
        <p:spPr>
          <a:xfrm>
            <a:off x="5486400" y="1828800"/>
            <a:ext cx="4724398" cy="4663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Deploy Custom Index Page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copy: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src: "{{ </a:t>
            </a:r>
            <a:r>
              <a:rPr lang="en-US" b="1" i="1" dirty="0" err="1">
                <a:solidFill>
                  <a:srgbClr val="FF0000"/>
                </a:solidFill>
              </a:rPr>
              <a:t>index_file</a:t>
            </a:r>
            <a:r>
              <a:rPr lang="en-US" b="1" i="1" dirty="0">
                <a:solidFill>
                  <a:srgbClr val="FF0000"/>
                </a:solidFill>
              </a:rPr>
              <a:t> }}"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</a:t>
            </a:r>
            <a:r>
              <a:rPr lang="en-US" b="1" i="1" dirty="0" err="1">
                <a:solidFill>
                  <a:srgbClr val="FF0000"/>
                </a:solidFill>
              </a:rPr>
              <a:t>dest</a:t>
            </a:r>
            <a:r>
              <a:rPr lang="en-US" b="1" i="1" dirty="0">
                <a:solidFill>
                  <a:srgbClr val="FF0000"/>
                </a:solidFill>
              </a:rPr>
              <a:t>: "{{ </a:t>
            </a:r>
            <a:r>
              <a:rPr lang="en-US" b="1" i="1" dirty="0" err="1">
                <a:solidFill>
                  <a:srgbClr val="FF0000"/>
                </a:solidFill>
              </a:rPr>
              <a:t>web_root</a:t>
            </a:r>
            <a:r>
              <a:rPr lang="en-US" b="1" i="1" dirty="0">
                <a:solidFill>
                  <a:srgbClr val="FF0000"/>
                </a:solidFill>
              </a:rPr>
              <a:t> }}/index.html"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notify: Restart Apache  # Calls the handler only if file changes</a:t>
            </a:r>
          </a:p>
          <a:p>
            <a:pPr marL="0" indent="0">
              <a:lnSpc>
                <a:spcPct val="120000"/>
              </a:lnSpc>
              <a:buNone/>
            </a:pP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handlers: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Restart Apache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service: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name: "{{ </a:t>
            </a:r>
            <a:r>
              <a:rPr lang="en-US" b="1" i="1" dirty="0" err="1">
                <a:solidFill>
                  <a:srgbClr val="FF0000"/>
                </a:solidFill>
              </a:rPr>
              <a:t>apache_package</a:t>
            </a:r>
            <a:r>
              <a:rPr lang="en-US" b="1" i="1" dirty="0">
                <a:solidFill>
                  <a:srgbClr val="FF0000"/>
                </a:solidFill>
              </a:rPr>
              <a:t> }}"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state: restarted</a:t>
            </a:r>
          </a:p>
          <a:p>
            <a:pPr marL="0" indent="0">
              <a:lnSpc>
                <a:spcPct val="120000"/>
              </a:lnSpc>
              <a:buNone/>
            </a:pP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490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425A-942F-C1C8-6480-360DD4CA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Explanation: </a:t>
            </a:r>
            <a:r>
              <a:rPr lang="en-US" dirty="0" err="1"/>
              <a:t>install_apache.yml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1A65E-8D9B-4C9F-E7F8-47E476BF8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Variables (vars)</a:t>
            </a:r>
            <a:r>
              <a:rPr lang="en-US" dirty="0"/>
              <a:t>: Store values like package names &amp; file paths for easy reuse</a:t>
            </a:r>
          </a:p>
          <a:p>
            <a:r>
              <a:rPr lang="en-US" b="1" dirty="0"/>
              <a:t>Tasks (tasks)</a:t>
            </a:r>
            <a:r>
              <a:rPr lang="en-US" dirty="0"/>
              <a:t>: Define what actions to perform (install, copy files, etc.)</a:t>
            </a:r>
          </a:p>
          <a:p>
            <a:r>
              <a:rPr lang="en-US" b="1" dirty="0"/>
              <a:t>Handlers (handlers)</a:t>
            </a:r>
            <a:r>
              <a:rPr lang="en-US" dirty="0"/>
              <a:t>: Run only if notified (e.g., restart Apache after a config change)</a:t>
            </a:r>
          </a:p>
          <a:p>
            <a:r>
              <a:rPr lang="en-US" b="1" dirty="0"/>
              <a:t>Privilege Escalation (become: yes)</a:t>
            </a:r>
            <a:r>
              <a:rPr lang="en-US" dirty="0"/>
              <a:t>: Runs tasks with </a:t>
            </a:r>
            <a:r>
              <a:rPr lang="en-US" dirty="0" err="1"/>
              <a:t>sudo</a:t>
            </a:r>
            <a:r>
              <a:rPr lang="en-US" dirty="0"/>
              <a:t>/root access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CA6-A353-1A29-F4C8-C0335740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062FA-E871-87C8-354C-A2B1A4EA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01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Ansible | Lecture 16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16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Ansible Practical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Ansible | Lecture 16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</TotalTime>
  <Words>2263</Words>
  <Application>Microsoft Office PowerPoint</Application>
  <PresentationFormat>Widescreen</PresentationFormat>
  <Paragraphs>308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Century Schoolbook</vt:lpstr>
      <vt:lpstr>Nunito</vt:lpstr>
      <vt:lpstr>Nunito Sans</vt:lpstr>
      <vt:lpstr>Roboto</vt:lpstr>
      <vt:lpstr>Wingdings 2</vt:lpstr>
      <vt:lpstr>1_View</vt:lpstr>
      <vt:lpstr>PowerPoint Presentation</vt:lpstr>
      <vt:lpstr>Unit 8: Ansible (8hrs)</vt:lpstr>
      <vt:lpstr>Once upon a time</vt:lpstr>
      <vt:lpstr>The CHAOS</vt:lpstr>
      <vt:lpstr>The PROBLEM</vt:lpstr>
      <vt:lpstr>The PROBLEM</vt:lpstr>
      <vt:lpstr>Enter Ansible: The Automation Wizard</vt:lpstr>
      <vt:lpstr>The Transformation</vt:lpstr>
      <vt:lpstr>The Transformation</vt:lpstr>
      <vt:lpstr>The Transformation</vt:lpstr>
      <vt:lpstr>The HAPPY ENDING</vt:lpstr>
      <vt:lpstr>Ansible</vt:lpstr>
      <vt:lpstr>Ansible</vt:lpstr>
      <vt:lpstr>Ansible</vt:lpstr>
      <vt:lpstr>Why Ansible?</vt:lpstr>
      <vt:lpstr>Ansible Concepts</vt:lpstr>
      <vt:lpstr>Ansible Concepts</vt:lpstr>
      <vt:lpstr>Ansible Concepts</vt:lpstr>
      <vt:lpstr>Ansible Concepts</vt:lpstr>
      <vt:lpstr>Ansible Architecture</vt:lpstr>
      <vt:lpstr>Ansible Architecture</vt:lpstr>
      <vt:lpstr>How Ansible Works? (Simple Workflow)</vt:lpstr>
      <vt:lpstr>Ansible Inventory: Hosts &amp; Groups</vt:lpstr>
      <vt:lpstr>Ansible Inventory: Hosts &amp; Groups</vt:lpstr>
      <vt:lpstr>Ansible Modules</vt:lpstr>
      <vt:lpstr>Types of Ansible Modules</vt:lpstr>
      <vt:lpstr>Kubernetes vs Ansible</vt:lpstr>
      <vt:lpstr>Ansible Playbook</vt:lpstr>
      <vt:lpstr>Ansible Playbook</vt:lpstr>
      <vt:lpstr>Ansible Playbook</vt:lpstr>
      <vt:lpstr>How to Run This Playbook?</vt:lpstr>
      <vt:lpstr>Ansible Playbook</vt:lpstr>
      <vt:lpstr>Ansible Playbook: install_apache.yml</vt:lpstr>
      <vt:lpstr>Explanation: install_apache.yml</vt:lpstr>
      <vt:lpstr>End of Lecture 16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100</cp:revision>
  <dcterms:created xsi:type="dcterms:W3CDTF">2021-11-23T15:23:57Z</dcterms:created>
  <dcterms:modified xsi:type="dcterms:W3CDTF">2025-07-22T09:34:31Z</dcterms:modified>
</cp:coreProperties>
</file>