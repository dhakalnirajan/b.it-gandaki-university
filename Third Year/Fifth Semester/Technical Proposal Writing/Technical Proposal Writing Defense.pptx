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Poppins"/>
      <p:regular r:id="rId21"/>
      <p:bold r:id="rId22"/>
      <p:italic r:id="rId23"/>
      <p:boldItalic r:id="rId24"/>
    </p:embeddedFont>
    <p:embeddedFont>
      <p:font typeface="Poppins SemiBold"/>
      <p:regular r:id="rId25"/>
      <p:bold r:id="rId26"/>
      <p:italic r:id="rId27"/>
      <p:boldItalic r:id="rId28"/>
    </p:embeddedFont>
    <p:embeddedFont>
      <p:font typeface="Poppins ExtraBold"/>
      <p:bold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995B89-7F6D-4379-B5DB-4B23D8278A9B}">
  <a:tblStyle styleId="{B3995B89-7F6D-4379-B5DB-4B23D8278A9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SemiBold-bold.fntdata"/><Relationship Id="rId25" Type="http://schemas.openxmlformats.org/officeDocument/2006/relationships/font" Target="fonts/PoppinsSemiBold-regular.fntdata"/><Relationship Id="rId28" Type="http://schemas.openxmlformats.org/officeDocument/2006/relationships/font" Target="fonts/PoppinsSemiBold-boldItalic.fntdata"/><Relationship Id="rId27" Type="http://schemas.openxmlformats.org/officeDocument/2006/relationships/font" Target="fonts/PoppinsSemiBold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Extra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PoppinsExtra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3809a1716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3809a1716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809a1716b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809a1716b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3809a1716b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3809a1716b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3809a1716b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3809a1716b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3328c43907_2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3328c43907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809a1716b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3809a1716b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328c43907_2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328c43907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Text Encoder: Converts input graphemes into linguistic features using a transformer with relative positional encoding (Shaw et al., 2018).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Duration Predictor: Estimates phoneme durations to enable parallel decoding.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Prosody Model: Captures pitch (F0), energy variations at phoneme, word, and sentence levels.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HiFi-GAN Vocoder: Synthesizes high-fidelity waveforms from mel-spectrograms.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328c43907_2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328c43907_2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328c43907_2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3328c43907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809a1716b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809a1716b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328c43907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3328c43907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328c43907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3328c43907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809a1716b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3809a1716b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809a1716b_1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809a1716b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hyperlink" Target="https://proceedings.mlr.press/v139/kim21f.html" TargetMode="External"/><Relationship Id="rId10" Type="http://schemas.openxmlformats.org/officeDocument/2006/relationships/hyperlink" Target="https://doi.org/10.21437/Interspeech.2021-117" TargetMode="External"/><Relationship Id="rId13" Type="http://schemas.openxmlformats.org/officeDocument/2006/relationships/hyperlink" Target="https://proceedings.neurips.cc/paper/2020/hash/c5d736809766d46260d816d8dbc9eb44-Abstract.html" TargetMode="External"/><Relationship Id="rId12" Type="http://schemas.openxmlformats.org/officeDocument/2006/relationships/hyperlink" Target="https://proceedings.mlr.press/v139/kim21f.html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i.org/10.48550/arXiv.2112.02418" TargetMode="External"/><Relationship Id="rId4" Type="http://schemas.openxmlformats.org/officeDocument/2006/relationships/hyperlink" Target="https://doi.org/10.48550/arXiv.2112.02418" TargetMode="External"/><Relationship Id="rId9" Type="http://schemas.openxmlformats.org/officeDocument/2006/relationships/hyperlink" Target="https://doi.org/10.21437/Interspeech.2021-117" TargetMode="External"/><Relationship Id="rId15" Type="http://schemas.openxmlformats.org/officeDocument/2006/relationships/hyperlink" Target="https://doi.org/10.48550/arXiv.2212.04421" TargetMode="External"/><Relationship Id="rId14" Type="http://schemas.openxmlformats.org/officeDocument/2006/relationships/hyperlink" Target="https://proceedings.neurips.cc/paper/2020/hash/c5d736809766d46260d816d8dbc9eb44-Abstract.html" TargetMode="External"/><Relationship Id="rId17" Type="http://schemas.openxmlformats.org/officeDocument/2006/relationships/hyperlink" Target="https://doi.org/10.21437/Interspeech.2017-1386" TargetMode="External"/><Relationship Id="rId16" Type="http://schemas.openxmlformats.org/officeDocument/2006/relationships/hyperlink" Target="https://doi.org/10.48550/arXiv.2212.04421" TargetMode="External"/><Relationship Id="rId5" Type="http://schemas.openxmlformats.org/officeDocument/2006/relationships/hyperlink" Target="https://doi.org/10.1109/JSTSP.2022.3188113" TargetMode="External"/><Relationship Id="rId6" Type="http://schemas.openxmlformats.org/officeDocument/2006/relationships/hyperlink" Target="https://doi.org/10.1109/JSTSP.2022.3188113" TargetMode="External"/><Relationship Id="rId18" Type="http://schemas.openxmlformats.org/officeDocument/2006/relationships/hyperlink" Target="https://doi.org/10.21437/Interspeech.2017-1386" TargetMode="External"/><Relationship Id="rId7" Type="http://schemas.openxmlformats.org/officeDocument/2006/relationships/hyperlink" Target="https://huggingface.co/datasets/IRIISNEPAL/Nepali-Text-Corpus" TargetMode="External"/><Relationship Id="rId8" Type="http://schemas.openxmlformats.org/officeDocument/2006/relationships/hyperlink" Target="https://huggingface.co/datasets/IRIISNEPAL/Nepali-Text-Corpu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867500"/>
            <a:ext cx="8520600" cy="108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1810">
                <a:solidFill>
                  <a:srgbClr val="FF00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NON-AUTOREGRESSIVE TRANSFORMER TEXT-TO-SPEECH (TTS) MODEL FOR LOW-RESOURCE NEPALI: BALANCING EFFICIENCY AND PROSODY</a:t>
            </a:r>
            <a:endParaRPr sz="1810">
              <a:solidFill>
                <a:srgbClr val="FF0000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367525"/>
            <a:ext cx="8520600" cy="8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SUBMITTED BY 								</a:t>
            </a:r>
            <a:r>
              <a:rPr b="1" lang="en" sz="20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SUBMITTED TO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Nirajan Dhakal								Suresh Raj Dhakal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5000" y="292325"/>
            <a:ext cx="2694000" cy="58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069900" y="875225"/>
            <a:ext cx="3004200" cy="25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RAJCHAUTARA - 32, POKHARA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3543300" y="4254975"/>
            <a:ext cx="2057400" cy="6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BIT PROGRAM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2025</a:t>
            </a:r>
            <a:endParaRPr b="1" sz="18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" name="Google Shape;59;p13"/>
          <p:cNvSpPr txBox="1"/>
          <p:nvPr>
            <p:ph type="ctrTitle"/>
          </p:nvPr>
        </p:nvSpPr>
        <p:spPr>
          <a:xfrm>
            <a:off x="2824199" y="1509099"/>
            <a:ext cx="3495600" cy="30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1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 PROPOSAL ON</a:t>
            </a:r>
            <a:endParaRPr sz="1410">
              <a:solidFill>
                <a:srgbClr val="00000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207300"/>
            <a:ext cx="8520600" cy="56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 sz="3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948050"/>
            <a:ext cx="8520600" cy="39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Literature Review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Methodology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Estimated Budget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Timeline of Operation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Ethical Considerations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Expected Outcomes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 b="1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847675"/>
            <a:ext cx="8520600" cy="399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just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Poppins"/>
              <a:buChar char="★"/>
            </a:pPr>
            <a:r>
              <a:rPr b="1" lang="en" sz="1400">
                <a:solidFill>
                  <a:srgbClr val="980000"/>
                </a:solidFill>
                <a:latin typeface="Poppins"/>
                <a:ea typeface="Poppins"/>
                <a:cs typeface="Poppins"/>
                <a:sym typeface="Poppins"/>
              </a:rPr>
              <a:t>Nepali TTS Gap</a:t>
            </a:r>
            <a:r>
              <a:rPr b="1"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Despite 17+ million speakers, Nepali lacks robust Text-to-Speech (TTS) systems, creating a significant technological access gap.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just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Poppins"/>
              <a:buChar char="★"/>
            </a:pPr>
            <a:r>
              <a:rPr b="1" lang="en" sz="1400">
                <a:solidFill>
                  <a:srgbClr val="980000"/>
                </a:solidFill>
                <a:latin typeface="Poppins"/>
                <a:ea typeface="Poppins"/>
                <a:cs typeface="Poppins"/>
                <a:sym typeface="Poppins"/>
              </a:rPr>
              <a:t>Linguistic Complexity</a:t>
            </a:r>
            <a:r>
              <a:rPr b="1"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Nepali's tonal nature and diverse dialects (Eastern, Western, Central) pose major challenges for accurate and natural speech synthesis.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just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Poppins"/>
              <a:buChar char="★"/>
            </a:pPr>
            <a:r>
              <a:rPr b="1" lang="en" sz="1400">
                <a:solidFill>
                  <a:srgbClr val="980000"/>
                </a:solidFill>
                <a:latin typeface="Poppins"/>
                <a:ea typeface="Poppins"/>
                <a:cs typeface="Poppins"/>
                <a:sym typeface="Poppins"/>
              </a:rPr>
              <a:t>Low-Resource Constraints</a:t>
            </a:r>
            <a:r>
              <a:rPr b="1"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Limited availability of high-quality, annotated Nepali speech data hinders the development of effective TTS models.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just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Poppins"/>
              <a:buChar char="★"/>
            </a:pPr>
            <a:r>
              <a:rPr b="1" lang="en" sz="1400">
                <a:solidFill>
                  <a:srgbClr val="980000"/>
                </a:solidFill>
                <a:latin typeface="Poppins"/>
                <a:ea typeface="Poppins"/>
                <a:cs typeface="Poppins"/>
                <a:sym typeface="Poppins"/>
              </a:rPr>
              <a:t>Autoregressive Model Limitations</a:t>
            </a:r>
            <a:r>
              <a:rPr b="1"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Traditional TTS models, like autoregressive ones, are computationally expensive and inefficient for low-resource languages like Nepali.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just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Poppins"/>
              <a:buChar char="★"/>
            </a:pPr>
            <a:r>
              <a:rPr b="1" lang="en" sz="1400">
                <a:solidFill>
                  <a:srgbClr val="980000"/>
                </a:solidFill>
                <a:latin typeface="Poppins"/>
                <a:ea typeface="Poppins"/>
                <a:cs typeface="Poppins"/>
                <a:sym typeface="Poppins"/>
              </a:rPr>
              <a:t>Proposed Solution</a:t>
            </a:r>
            <a:r>
              <a:rPr b="1"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b="1" lang="en" sz="14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Non-Autoregressive Transformers</a:t>
            </a:r>
            <a:r>
              <a:rPr b="1"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Utilizing non-autoregressive transformer architectures to enhance speed and resource efficiency while maintaining prosodic accuracy.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just">
              <a:spcBef>
                <a:spcPts val="1000"/>
              </a:spcBef>
              <a:spcAft>
                <a:spcPts val="1000"/>
              </a:spcAft>
              <a:buClr>
                <a:srgbClr val="1F1F1F"/>
              </a:buClr>
              <a:buSzPts val="1400"/>
              <a:buFont typeface="Poppins"/>
              <a:buChar char="★"/>
            </a:pPr>
            <a:r>
              <a:rPr b="1" lang="en" sz="1400">
                <a:solidFill>
                  <a:srgbClr val="980000"/>
                </a:solidFill>
                <a:latin typeface="Poppins"/>
                <a:ea typeface="Poppins"/>
                <a:cs typeface="Poppins"/>
                <a:sym typeface="Poppins"/>
              </a:rPr>
              <a:t>Community-Driven &amp; Inclusive Development</a:t>
            </a:r>
            <a:r>
              <a:rPr b="1"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Emphasizing community collaboration for data curation and aiming to democratize technology access and preserve Nepali linguistic heritage.</a:t>
            </a:r>
            <a:endParaRPr sz="1400">
              <a:solidFill>
                <a:srgbClr val="1F1F1F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Literature Review: Theoretical Review</a:t>
            </a:r>
            <a:endParaRPr b="1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064025"/>
            <a:ext cx="8520600" cy="38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Char char="★"/>
            </a:pPr>
            <a:r>
              <a:rPr b="1" lang="en" sz="1900">
                <a:solidFill>
                  <a:srgbClr val="990000"/>
                </a:solidFill>
                <a:latin typeface="Poppins"/>
                <a:ea typeface="Poppins"/>
                <a:cs typeface="Poppins"/>
                <a:sym typeface="Poppins"/>
              </a:rPr>
              <a:t>Transformers</a:t>
            </a:r>
            <a:r>
              <a:rPr b="1" lang="en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9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(Vaswani et al., 2017):</a:t>
            </a:r>
            <a:r>
              <a:rPr lang="en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Parallel processing, speed.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Char char="★"/>
            </a:pPr>
            <a:r>
              <a:rPr b="1" lang="en" sz="1900">
                <a:solidFill>
                  <a:srgbClr val="990000"/>
                </a:solidFill>
                <a:latin typeface="Poppins"/>
                <a:ea typeface="Poppins"/>
                <a:cs typeface="Poppins"/>
                <a:sym typeface="Poppins"/>
              </a:rPr>
              <a:t>FastSpeech</a:t>
            </a:r>
            <a:r>
              <a:rPr b="1" lang="en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9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(Ren et al., 2019):</a:t>
            </a:r>
            <a:r>
              <a:rPr lang="en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Duration-based, faster synthesis.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Char char="★"/>
            </a:pPr>
            <a:r>
              <a:rPr b="1" lang="en" sz="1900">
                <a:solidFill>
                  <a:srgbClr val="990000"/>
                </a:solidFill>
                <a:latin typeface="Poppins"/>
                <a:ea typeface="Poppins"/>
                <a:cs typeface="Poppins"/>
                <a:sym typeface="Poppins"/>
              </a:rPr>
              <a:t>VITS</a:t>
            </a:r>
            <a:r>
              <a:rPr b="1" lang="en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9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(Kim </a:t>
            </a:r>
            <a:r>
              <a:rPr b="1" lang="en" sz="19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et al., 2021</a:t>
            </a:r>
            <a:r>
              <a:rPr b="1" lang="en" sz="19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):</a:t>
            </a:r>
            <a:r>
              <a:rPr lang="en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High-fidelity, end-to-end VAE.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Char char="★"/>
            </a:pPr>
            <a:r>
              <a:rPr b="1" lang="en" sz="1900">
                <a:solidFill>
                  <a:srgbClr val="990000"/>
                </a:solidFill>
                <a:latin typeface="Poppins"/>
                <a:ea typeface="Poppins"/>
                <a:cs typeface="Poppins"/>
                <a:sym typeface="Poppins"/>
              </a:rPr>
              <a:t>StyleTTS 2</a:t>
            </a:r>
            <a:r>
              <a:rPr b="1" lang="en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9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(Liu </a:t>
            </a:r>
            <a:r>
              <a:rPr b="1" lang="en" sz="19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et al., 2022</a:t>
            </a:r>
            <a:r>
              <a:rPr b="1" lang="en" sz="19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):</a:t>
            </a:r>
            <a:r>
              <a:rPr lang="en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Advanced prosody, naturalness.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900"/>
              <a:buFont typeface="Poppins"/>
              <a:buChar char="★"/>
            </a:pPr>
            <a:r>
              <a:rPr b="1" lang="en" sz="1900">
                <a:solidFill>
                  <a:srgbClr val="990000"/>
                </a:solidFill>
                <a:latin typeface="Poppins"/>
                <a:ea typeface="Poppins"/>
                <a:cs typeface="Poppins"/>
                <a:sym typeface="Poppins"/>
              </a:rPr>
              <a:t>Key Idea:</a:t>
            </a:r>
            <a:r>
              <a:rPr lang="en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Shift to non-autoregressive models for efficiency.</a:t>
            </a:r>
            <a:endParaRPr sz="19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Literature Review: Empirical Review</a:t>
            </a:r>
            <a:endParaRPr b="1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759225"/>
            <a:ext cx="8520600" cy="380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★"/>
            </a:pPr>
            <a:r>
              <a:rPr b="1" lang="en">
                <a:solidFill>
                  <a:srgbClr val="990000"/>
                </a:solidFill>
                <a:latin typeface="Poppins"/>
                <a:ea typeface="Poppins"/>
                <a:cs typeface="Poppins"/>
                <a:sym typeface="Poppins"/>
              </a:rPr>
              <a:t>Transfer Learning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(Jia et al., 2021):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Hindi to Nepali success.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★"/>
            </a:pPr>
            <a:r>
              <a:rPr b="1" lang="en">
                <a:solidFill>
                  <a:srgbClr val="990000"/>
                </a:solidFill>
                <a:latin typeface="Poppins"/>
                <a:ea typeface="Poppins"/>
                <a:cs typeface="Poppins"/>
                <a:sym typeface="Poppins"/>
              </a:rPr>
              <a:t>Self-Supervised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(WavLM- Chen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et al., 2021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):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Unlabeled data power.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★"/>
            </a:pPr>
            <a:r>
              <a:rPr b="1" lang="en">
                <a:solidFill>
                  <a:srgbClr val="990000"/>
                </a:solidFill>
                <a:latin typeface="Poppins"/>
                <a:ea typeface="Poppins"/>
                <a:cs typeface="Poppins"/>
                <a:sym typeface="Poppins"/>
              </a:rPr>
              <a:t>Zero-Shot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(XTTS- Casanova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et al., 2022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):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Multilingual adaptation.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★"/>
            </a:pPr>
            <a:r>
              <a:rPr b="1" lang="en">
                <a:solidFill>
                  <a:srgbClr val="990000"/>
                </a:solidFill>
                <a:latin typeface="Poppins"/>
                <a:ea typeface="Poppins"/>
                <a:cs typeface="Poppins"/>
                <a:sym typeface="Poppins"/>
              </a:rPr>
              <a:t>Key Idea: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Leveraging existing data for under-resourced languages.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★"/>
            </a:pPr>
            <a:r>
              <a:rPr b="1" lang="en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Impact: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Increased accessibility.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Methodology</a:t>
            </a:r>
            <a:endParaRPr b="1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695275"/>
            <a:ext cx="8520600" cy="43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 Collection and Preparation: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★"/>
            </a:pPr>
            <a:r>
              <a:rPr b="1" lang="en" sz="1500">
                <a:solidFill>
                  <a:srgbClr val="990000"/>
                </a:solidFill>
                <a:latin typeface="Poppins"/>
                <a:ea typeface="Poppins"/>
                <a:cs typeface="Poppins"/>
                <a:sym typeface="Poppins"/>
              </a:rPr>
              <a:t>Multimodal dataset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combining text and speech data.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★"/>
            </a:pPr>
            <a:r>
              <a:rPr b="1" lang="en" sz="1500">
                <a:solidFill>
                  <a:srgbClr val="990000"/>
                </a:solidFill>
                <a:latin typeface="Poppins"/>
                <a:ea typeface="Poppins"/>
                <a:cs typeface="Poppins"/>
                <a:sym typeface="Poppins"/>
              </a:rPr>
              <a:t>NepaliText Corpus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13 million text sequences.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★"/>
            </a:pPr>
            <a:r>
              <a:rPr b="1" lang="en" sz="1500">
                <a:solidFill>
                  <a:srgbClr val="990000"/>
                </a:solidFill>
                <a:latin typeface="Poppins"/>
                <a:ea typeface="Poppins"/>
                <a:cs typeface="Poppins"/>
                <a:sym typeface="Poppins"/>
              </a:rPr>
              <a:t>Audio data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recorded using textual data from NepaliText Corpus.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★"/>
            </a:pPr>
            <a:r>
              <a:rPr b="1" lang="en" sz="1500">
                <a:solidFill>
                  <a:srgbClr val="990000"/>
                </a:solidFill>
                <a:latin typeface="Poppins"/>
                <a:ea typeface="Poppins"/>
                <a:cs typeface="Poppins"/>
                <a:sym typeface="Poppins"/>
              </a:rPr>
              <a:t>Community Collaboration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Native speakers across Nepal's Eastern, Western, and Central regions will contribute dialect-specific recordings.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★"/>
            </a:pPr>
            <a:r>
              <a:rPr b="1" lang="en" sz="1500">
                <a:solidFill>
                  <a:srgbClr val="990000"/>
                </a:solidFill>
                <a:latin typeface="Poppins"/>
                <a:ea typeface="Poppins"/>
                <a:cs typeface="Poppins"/>
                <a:sym typeface="Poppins"/>
              </a:rPr>
              <a:t>Synthetic Data Generation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using the rule-based synthesizer espeak-ng.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 Preprocessing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★"/>
            </a:pPr>
            <a:r>
              <a:rPr b="1" lang="en" sz="1500">
                <a:solidFill>
                  <a:srgbClr val="990000"/>
                </a:solidFill>
                <a:latin typeface="Poppins"/>
                <a:ea typeface="Poppins"/>
                <a:cs typeface="Poppins"/>
                <a:sym typeface="Poppins"/>
              </a:rPr>
              <a:t>Text Normalization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Expanding numbers, abbreviations, and symbols into their spoken equivalents.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500"/>
              <a:buChar char="★"/>
            </a:pPr>
            <a:r>
              <a:rPr b="1" lang="en" sz="1500">
                <a:solidFill>
                  <a:srgbClr val="990000"/>
                </a:solidFill>
                <a:latin typeface="Poppins"/>
                <a:ea typeface="Poppins"/>
                <a:cs typeface="Poppins"/>
                <a:sym typeface="Poppins"/>
              </a:rPr>
              <a:t>Forced Alignment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using the Montreal Forced Aligner (MFA; McAuliffe et al., 2017).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Methodology</a:t>
            </a:r>
            <a:endParaRPr b="1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111400" y="534825"/>
            <a:ext cx="273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Model Architecture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3">
            <a:alphaModFix/>
          </a:blip>
          <a:srcRect b="20845" l="1979" r="6796" t="6999"/>
          <a:stretch/>
        </p:blipFill>
        <p:spPr>
          <a:xfrm>
            <a:off x="572725" y="1348025"/>
            <a:ext cx="7597150" cy="24797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2049450" y="4068275"/>
            <a:ext cx="504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1: Architecture of the proposed Text-To-Speech model.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Methodology</a:t>
            </a:r>
            <a:endParaRPr b="1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695275"/>
            <a:ext cx="8520600" cy="40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Training Pipeline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★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Pretraining on a Hindi TTS dataset using the XTTS framework (Casanova et al., 2022).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★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Fine-tuning specifically for Nepali datasets.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Evaluation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★"/>
            </a:pPr>
            <a:r>
              <a:rPr b="1" lang="en" sz="1600">
                <a:solidFill>
                  <a:srgbClr val="990000"/>
                </a:solidFill>
                <a:latin typeface="Poppins"/>
                <a:ea typeface="Poppins"/>
                <a:cs typeface="Poppins"/>
                <a:sym typeface="Poppins"/>
              </a:rPr>
              <a:t>Subjective Evaluation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Native speakers will rate synthetic speech on a 1-5 Mean Opinion Score (MOS) scale.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★"/>
            </a:pPr>
            <a:r>
              <a:rPr b="1" lang="en" sz="1600">
                <a:solidFill>
                  <a:srgbClr val="990000"/>
                </a:solidFill>
                <a:latin typeface="Poppins"/>
                <a:ea typeface="Poppins"/>
                <a:cs typeface="Poppins"/>
                <a:sym typeface="Poppins"/>
              </a:rPr>
              <a:t>Objective Metrics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Word Error Rate (WER) and Prosody Distance.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Estimated Budget</a:t>
            </a:r>
            <a:endParaRPr b="1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109" name="Google Shape;109;p21"/>
          <p:cNvGraphicFramePr/>
          <p:nvPr/>
        </p:nvGraphicFramePr>
        <p:xfrm>
          <a:off x="952500" y="11046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{B3995B89-7F6D-4379-B5DB-4B23D8278A9B}</a:tableStyleId>
              </a:tblPr>
              <a:tblGrid>
                <a:gridCol w="3619500"/>
                <a:gridCol w="3619500"/>
              </a:tblGrid>
              <a:tr h="43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Category</a:t>
                      </a:r>
                      <a:endParaRPr b="1" sz="1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Amount (Rs.)</a:t>
                      </a:r>
                      <a:endParaRPr b="1" sz="1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Investigators (3) + </a:t>
                      </a:r>
                      <a:r>
                        <a:rPr lang="en" sz="16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Linguistic</a:t>
                      </a:r>
                      <a:r>
                        <a:rPr lang="en" sz="16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Consultants (3)</a:t>
                      </a:r>
                      <a:endParaRPr sz="16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800,000</a:t>
                      </a:r>
                      <a:endParaRPr sz="16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Cloud Computing Credits</a:t>
                      </a:r>
                      <a:endParaRPr sz="16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1,000,000</a:t>
                      </a:r>
                      <a:endParaRPr sz="16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Conference Travel, Registration and Publication Fees</a:t>
                      </a:r>
                      <a:endParaRPr sz="16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400,000</a:t>
                      </a:r>
                      <a:endParaRPr sz="16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Contingency</a:t>
                      </a:r>
                      <a:endParaRPr sz="16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50,000</a:t>
                      </a:r>
                      <a:endParaRPr sz="16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Total</a:t>
                      </a:r>
                      <a:endParaRPr b="1" sz="16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2,250,000</a:t>
                      </a:r>
                      <a:endParaRPr b="1" sz="16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b"/>
                </a:tc>
              </a:tr>
            </a:tbl>
          </a:graphicData>
        </a:graphic>
      </p:graphicFrame>
      <p:sp>
        <p:nvSpPr>
          <p:cNvPr id="110" name="Google Shape;110;p21"/>
          <p:cNvSpPr txBox="1"/>
          <p:nvPr/>
        </p:nvSpPr>
        <p:spPr>
          <a:xfrm>
            <a:off x="952350" y="4358100"/>
            <a:ext cx="7239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1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Estimated budget costing for the project. This table in the slide does not represent true values here. Please refer to the proposal document for accurate representation of estimated budget.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Timeline of Operation</a:t>
            </a:r>
            <a:endParaRPr b="1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89125"/>
            <a:ext cx="8839199" cy="338234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 txBox="1"/>
          <p:nvPr/>
        </p:nvSpPr>
        <p:spPr>
          <a:xfrm>
            <a:off x="2049450" y="4068275"/>
            <a:ext cx="504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2: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Gantt Chart showing the timeline of the project.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8327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Ethical Considerations</a:t>
            </a:r>
            <a:endParaRPr b="1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695275"/>
            <a:ext cx="8520600" cy="42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 Privacy and Informed Consent:</a:t>
            </a:r>
            <a:endParaRPr b="1"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★"/>
            </a:pP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All participants will provide informed consent.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★"/>
            </a:pP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personal identifying information will be collected without explicit consent.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Cultural Sensitivity and Respect:</a:t>
            </a:r>
            <a:endParaRPr b="1"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★"/>
            </a:pP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research team will engage closely with linguistic communities.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★"/>
            </a:pP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 collection and model development will respect cultural and linguistic nuances.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Open-Source Contribution and Accessibility:</a:t>
            </a:r>
            <a:endParaRPr b="1"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★"/>
            </a:pP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TTS model, datasets, and code will be released under an open-source license.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★"/>
            </a:pP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Ensures that its outcomes are accessible to the widest possible audience.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Dual Use and Misuse:</a:t>
            </a:r>
            <a:endParaRPr b="1"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★"/>
            </a:pP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research team will implement safeguards against potential misuse.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★"/>
            </a:pP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Users will be educated about potential misuses.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Expected Outcomes</a:t>
            </a:r>
            <a:endParaRPr b="1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695275"/>
            <a:ext cx="8520600" cy="42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Speech Quality: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★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Mean Opinion Score (MOS) ≥ 4.0.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★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Ensures speech is indistinguishable from human speech in terms of naturalness and intelligibility.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Speaker Embeddings for Dialects: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★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Supports Eastern, Western, and Central Nepali dialects.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★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Allows users to choose the preferred pronunciation style, enhancing linguistic accuracy and cultural representation.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Computational Efficiency: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★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Performs real-time inference on low-cost hardware.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★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Accessible and affordable for underserved communities in Nepal.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Open-Source Code Release: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★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Codebases, datasets, and model weights released under an open-source license.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★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Fosters collaboration with researchers, educators, and developers globally.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Conclusions</a:t>
            </a:r>
            <a:endParaRPr b="1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771475"/>
            <a:ext cx="8520600" cy="40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The proposal presents a plan to develop a Nepali Text-to-Speech (TTS) system.</a:t>
            </a:r>
            <a:endParaRPr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100"/>
              <a:buChar char="★"/>
            </a:pPr>
            <a:r>
              <a:rPr lang="en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The project will address both technological and linguistic challenges.</a:t>
            </a:r>
            <a:endParaRPr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Char char="★"/>
            </a:pPr>
            <a:r>
              <a:rPr lang="en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It will integrate advanced machine learning with linguistic expertise.</a:t>
            </a:r>
            <a:endParaRPr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Char char="★"/>
            </a:pPr>
            <a:r>
              <a:rPr lang="en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The project will prioritize efficiency, prosody, and dialect inclusivity.</a:t>
            </a:r>
            <a:endParaRPr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Char char="★"/>
            </a:pPr>
            <a:r>
              <a:rPr lang="en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It will also aim to democratize speech technology for Nepali speakers.</a:t>
            </a:r>
            <a:endParaRPr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Char char="★"/>
            </a:pPr>
            <a:r>
              <a:rPr lang="en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The project will serve as a model for other underrepresented languages, contributing to global NLP research.</a:t>
            </a:r>
            <a:endParaRPr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54393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619075"/>
            <a:ext cx="8520600" cy="44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Casanova, E., Weber, J., Shulby, C., Junior, A. C., Gölge, E., &amp; Ponti, M. A. (2022). YourTTS: Towards zero-shot multi-speaker TTS and zero-shot voice conversion for everyone.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arXiv preprint arXiv:2112.02418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https://doi.org/10.48550/arXiv.2112.02418</a:t>
            </a:r>
            <a:endParaRPr sz="1100" u="sng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Chen, S., Wang, C., Chen, Z., Wu, Y., Liu, S., Chen, Z., ... &amp; Wei, F. (2022). WavLM: Large-scale self-supervised pre-training for full stack speech processing.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IEEE Journal of Selected Topics in Signal Processing, 16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(6), 1505–1518.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https://doi.org/10.1109/JSTSP.2022.3188113</a:t>
            </a:r>
            <a:endParaRPr sz="1100" u="sng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IRIISNEPAL. (2023).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Nepali-Text-Corpus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[Dataset]. Hugging Face.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https://huggingface.co/datasets/IRIISNEPAL/Nepali-Text-Corpus</a:t>
            </a:r>
            <a:endParaRPr sz="1100" u="sng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Jia, Y., Zhang, Y., Weiss, R. J., Shen, J., Ren, F., Chen, Z., ... &amp; Wu, Y. (2021). Transfer learning for low-resource TTS using global and local feature embeddings.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Interspeech 2021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1927–1931.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https://doi.org/10.21437/Interspeech.2021-117</a:t>
            </a:r>
            <a:endParaRPr sz="1100" u="sng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Kim, J., Kong, J., &amp; Son, J. (2021). VITS: Conditional variational autoencoder with adversarial learning for end-to-end text-to-speech.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Proceedings of the 38th International Conference on Machine Learning (ICML)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5560–5570.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https://proceedings.mlr.press/v139/kim21f.html</a:t>
            </a:r>
            <a:endParaRPr sz="1100" u="sng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Kong, J., Kim, J., &amp; Bae, J. (2020). HiFi-GAN: Generative adversarial networks for efficient and high-fidelity speech synthesis.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Advances in Neural Information Processing Systems, 33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17022–17033.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https://proceedings.neurips.cc/paper/2020/hash/c5d736809766d46260d816d8dbc9eb44-Abstract.html</a:t>
            </a:r>
            <a:endParaRPr sz="1100" u="sng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Liu, X., Li, M., Wang, Y., Wu, X., Meng, L., &amp; Qin, T. (2022). StyleTTS 2: Human-level text-to-speech through style diffusion and adversarial training.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arXiv preprint arXiv:2212.04421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https://doi.org/10.48550/arXiv.2212.04421</a:t>
            </a:r>
            <a:endParaRPr sz="1100" u="sng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McAuliffe, M., Socolof, M., Mihuc, S., Wagner, M., &amp; Sonderegger, M. (2017). Montreal Forced Aligner: Trainable text-speech alignment using Kaldi.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Interspeech 2017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498–502.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https://doi.org/10.21437/Interspeech.2017-1386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